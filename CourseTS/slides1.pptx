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notesMaster" Target="notesMasters/notesMaster1.xml" /><Relationship Id="rId62" Type="http://schemas.openxmlformats.org/officeDocument/2006/relationships/viewProps" Target="viewProps.xml" /><Relationship Id="rId61" Type="http://schemas.openxmlformats.org/officeDocument/2006/relationships/presProps" Target="presProps.xml" /><Relationship Id="rId1" Type="http://schemas.openxmlformats.org/officeDocument/2006/relationships/slideMaster" Target="slideMasters/slideMaster1.xml" /><Relationship Id="rId64" Type="http://schemas.openxmlformats.org/officeDocument/2006/relationships/tableStyles" Target="tableStyles.xml" /><Relationship Id="rId6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almost every tool only implements the additive case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 a seed: the log of a LINEAR trend is concave. The multiplicative twin now has an exponential trend, so its log is straight.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NaN is the honest answer, and the missing points are the most recent ones.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second term in step 3 is what makes the seasonal component sum to zero over a cycle. Without it the season would carry part of the level.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Weight the neighbours, fit a straight line, keep the single value above </a:t>
            </a:r>
            <a:r>
              <a:rPr/>
              <a:t>t_0</a:t>
            </a:r>
            <a:r>
              <a:rPr/>
              <a:t>, then move </a:t>
            </a:r>
            <a:r>
              <a:rPr/>
              <a:t>t_0</a:t>
            </a:r>
            <a:r>
              <a:rPr/>
              <a:t> along.</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moving average is the special case: flat weights, and a local constant instead of a local line.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inner loop alternates between estimating the season and estimating the trend. The outer loop re-runs it with outliers down-weighted.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planted outlier. Its residual is nine times the typical one, so the bisquare weight sends it to almost zero and the next pass fits as if it were not there.</a:t>
            </a:r>
          </a:p>
          <a:p>
            <a:pPr lvl="0" indent="0" marL="0">
              <a:buNone/>
            </a:pPr>
          </a:p>
          <a:p>
            <a:pPr lvl="0" indent="0" marL="0">
              <a:buNone/>
            </a:pPr>
            <a:r>
              <a:rPr/>
              <a:t>Set </a:t>
            </a:r>
            <a:r>
              <a:rPr/>
              <a:t>n_o = 0</a:t>
            </a:r>
            <a:r>
              <a:rPr/>
              <a:t> when the data is clean: each robustness pass costs a full inner loop.</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cycle is the one they get wrong: it wanders, it looks like it trends in places, and it is stationary.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stationarity is the assumption that makes one long series a usable substitute for many short ones.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reference process: constant mean, constant variance, zero covariance at every lag. Stationary by inspection, and nothing in it to predict.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a fraction </a:t>
            </a:r>
            <a:r>
              <a:rPr/>
              <a:t>\phi</a:t>
            </a:r>
            <a:r>
              <a:rPr/>
              <a:t> of where you were, add a fresh shock. A regression whose only feature is the series itself, one step back.</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shock is worth </a:t>
            </a:r>
            <a:r>
              <a:rPr/>
              <a:t>\phi^h</a:t>
            </a:r>
            <a:r>
              <a:rPr/>
              <a:t> after </a:t>
            </a:r>
            <a:r>
              <a:rPr/>
              <a:t>h</a:t>
            </a:r>
            <a:r>
              <a:rPr/>
              <a:t> steps, so </a:t>
            </a:r>
            <a:r>
              <a:rPr/>
              <a:t>\phi</a:t>
            </a:r>
            <a:r>
              <a:rPr/>
              <a:t> decides how long the process remembers.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\phi = 1</a:t>
            </a:r>
            <a:r>
              <a:rPr/>
              <a:t>: nothing decays, so the level is the running total of every shock ever received. That is the bridge to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y scales across the four panels: the last one is three orders of magnitude bigger than the others.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idea with </a:t>
            </a:r>
            <a:r>
              <a:rPr/>
              <a:t>p</a:t>
            </a:r>
            <a:r>
              <a:rPr/>
              <a:t> lags. Still a linear regression, but stationarity is no longer a condition you can read off a single number.</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t>
            </a:r>
            <a:r>
              <a:rPr/>
              <a:t> shifts one step back and composes like a number, which turns the recursion into a single polynomial applied to the series.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Replace </a:t>
            </a:r>
            <a:r>
              <a:rPr/>
              <a:t>B</a:t>
            </a:r>
            <a:r>
              <a:rPr/>
              <a:t> by a complex number </a:t>
            </a:r>
            <a:r>
              <a:rPr/>
              <a:t>z</a:t>
            </a:r>
            <a:r>
              <a:rPr/>
              <a:t> and solve. Every root outside the unit circle means stationary. For AR(1) it is </a:t>
            </a:r>
            <a:r>
              <a:rPr/>
              <a:t>|\phi| &lt; 1</a:t>
            </a:r>
            <a:r>
              <a:rPr/>
              <a:t> written differently.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cases, three behaviours. Note the log scale on the explosive panel: at </a:t>
            </a:r>
            <a:r>
              <a:rPr/>
              <a:t>\phi = 2</a:t>
            </a:r>
            <a:r>
              <a:rPr/>
              <a:t> the series passes </a:t>
            </a:r>
            <a:r>
              <a:rPr/>
              <a:t>10^{45}</a:t>
            </a:r>
            <a:r>
              <a:rPr/>
              <a:t> within 150 steps.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other way to build a process out of white noise, and the last building block we need.</a:t>
            </a:r>
          </a:p>
          <a:p>
            <a:pPr lvl="0" indent="0" marL="0">
              <a:buNone/>
            </a:pPr>
          </a:p>
          <a:p>
            <a:pPr lvl="0" indent="0" marL="0">
              <a:buNone/>
            </a:pPr>
            <a:r>
              <a:rPr/>
              <a:t>AR fed the shocks through a recursion, so the memory decays forever. MA just adds up the last q shocks and stops. That gives a memory of exactly q steps: </a:t>
            </a:r>
            <a:r>
              <a:rPr/>
              <a:t>y_t</a:t>
            </a:r>
            <a:r>
              <a:rPr/>
              <a:t> and </a:t>
            </a:r>
            <a:r>
              <a:rPr/>
              <a:t>y_{t-q-1}</a:t>
            </a:r>
            <a:r>
              <a:rPr/>
              <a:t> have no shock in common at all, so their covariance is exactly zero and the ACF cuts off. That cut-off is the property the identification table later in the session is built on.</a:t>
            </a:r>
          </a:p>
          <a:p>
            <a:pPr lvl="0" indent="0" marL="0">
              <a:buNone/>
            </a:pPr>
          </a:p>
          <a:p>
            <a:pPr lvl="0" indent="0" marL="0">
              <a:buNone/>
            </a:pPr>
            <a:r>
              <a:rPr/>
              <a:t>Two things to insist on. First, the inputs are invisible — you observe </a:t>
            </a:r>
            <a:r>
              <a:rPr/>
              <a:t>y_t</a:t>
            </a:r>
            <a:r>
              <a:rPr/>
              <a:t>, you never observe </a:t>
            </a:r>
            <a:r>
              <a:rPr/>
              <a:t>\varepsilon_t</a:t>
            </a:r>
            <a:r>
              <a:rPr/>
              <a:t>. That is why fitting an MA needs maximum likelihood rather than least squares: you cannot regress on something you have not measured. Second, it is always stationary, with no conditions on θ: a finite sum of finite-variance terms always has finite variance.</a:t>
            </a:r>
          </a:p>
          <a:p>
            <a:pPr lvl="0" indent="0" marL="0">
              <a:buNone/>
            </a:pPr>
          </a:p>
          <a:p>
            <a:pPr lvl="0" indent="0" marL="0">
              <a:buNone/>
            </a:pPr>
            <a:r>
              <a:rPr/>
              <a:t>Now the name, because it is genuinely confusing and they will trip on it. This is NOT the moving average from the decomposition section. That one averages OBSERVED values to pull a trend out of data; this one is a MODEL of how the data arose, and what it averages cannot be seen. The arithmetic is the same shape, which is why the name got reused — run a moving-average filter over white noise and what comes out IS an MA process. The two-point average of white noise has ρ(1) = 0.5, which is exactly the MA(1) with θ = 1.</a:t>
            </a:r>
          </a:p>
          <a:p>
            <a:pPr lvl="0" indent="0" marL="0">
              <a:buNone/>
            </a:pPr>
          </a:p>
          <a:p>
            <a:pPr lvl="0" indent="0" marL="0">
              <a:buNone/>
            </a:pPr>
            <a:r>
              <a:rPr/>
              <a:t>That connection is worth one sentence and no more; the important thing is that they do not read MA(2) as “a two-point moving average”.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two series. I generated them with two separate random number streams. There is no mechanism connecting them, none, (I wrote the code).</a:t>
            </a:r>
          </a:p>
          <a:p>
            <a:pPr lvl="0" indent="0" marL="0">
              <a:buNone/>
            </a:pPr>
          </a:p>
          <a:p>
            <a:pPr lvl="0" indent="0" marL="0">
              <a:buNone/>
            </a:pPr>
            <a:r>
              <a:rPr/>
              <a:t>Middle: scatter the levels against each other and get a correlation around 0.9. A regression would get a large coefficient, a tiny p-value, and a high R². Every diagnostic a naive analyst checks would be green.</a:t>
            </a:r>
          </a:p>
          <a:p>
            <a:pPr lvl="0" indent="0" marL="0">
              <a:buNone/>
            </a:pPr>
          </a:p>
          <a:p>
            <a:pPr lvl="0" indent="0" marL="0">
              <a:buNone/>
            </a:pPr>
            <a:r>
              <a:rPr/>
              <a:t>The reason is that both series have a slowly moving level, so both spend long stretches high and long stretches low. Any two series with wandering levels will appear to move together over a finite sample.</a:t>
            </a:r>
          </a:p>
          <a:p>
            <a:pPr lvl="0" indent="0" marL="0">
              <a:buNone/>
            </a:pPr>
          </a:p>
          <a:p>
            <a:pPr lvl="0" indent="0" marL="0">
              <a:buNone/>
            </a:pPr>
            <a:r>
              <a:rPr/>
              <a:t>Right: difference both and scatter again. The correlation collapses to nearly zero, which is the truth.</a:t>
            </a:r>
          </a:p>
          <a:p>
            <a:pPr lvl="0" indent="0" marL="0">
              <a:buNone/>
            </a:pPr>
          </a:p>
          <a:p>
            <a:pPr lvl="0" indent="0" marL="0">
              <a:buNone/>
            </a:pPr>
            <a:r>
              <a:rPr/>
              <a:t>The rule: never regress one non-stationary series on another. Difference first, or use the proper apparatus for it, which is cointegration and is beyond today.</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whole test in one sentence: does the LEVEL tell you anything about the next CHANGE?</a:t>
            </a:r>
          </a:p>
          <a:p>
            <a:pPr lvl="0" indent="0" marL="0">
              <a:buNone/>
            </a:pPr>
          </a:p>
          <a:p>
            <a:pPr lvl="0" indent="0" marL="0">
              <a:buNone/>
            </a:pPr>
            <a:r>
              <a:rPr/>
              <a:t>If the series is stationary it is pulled back towards its mean, so a high value tends to be followed by a fall and a low value by a rise. Regress the change on the level and the coefficient comes out negative.</a:t>
            </a:r>
          </a:p>
          <a:p>
            <a:pPr lvl="0" indent="0" marL="0">
              <a:buNone/>
            </a:pPr>
          </a:p>
          <a:p>
            <a:pPr lvl="0" indent="0" marL="0">
              <a:buNone/>
            </a:pPr>
            <a:r>
              <a:rPr/>
              <a:t>If it is a random walk there is no mean to return to. Where you are now says nothing about which way you go next, so that coefficient is zero.</a:t>
            </a:r>
          </a:p>
          <a:p>
            <a:pPr lvl="0" indent="0" marL="0">
              <a:buNone/>
            </a:pPr>
          </a:p>
          <a:p>
            <a:pPr lvl="0" indent="0" marL="0">
              <a:buNone/>
            </a:pPr>
            <a:r>
              <a:rPr/>
              <a:t>The two scatter plots are that sentence made visible, on real draws. Left: slope −0.400, and the theory says it should be φ − 1 = −0.4. Right: slope −0.000.</a:t>
            </a:r>
          </a:p>
          <a:p>
            <a:pPr lvl="0" indent="0" marL="0">
              <a:buNone/>
            </a:pPr>
          </a:p>
          <a:p>
            <a:pPr lvl="0" indent="0" marL="0">
              <a:buNone/>
            </a:pPr>
            <a:r>
              <a:rPr/>
              <a:t>So the test is just: fit that line, and ask whether the slope is meaningfully negative.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algebra, and it is two lines. Start from </a:t>
            </a:r>
            <a:r>
              <a:rPr/>
              <a:t>y_t = \phi y_{t-1} + \varepsilon_t</a:t>
            </a:r>
            <a:r>
              <a:rPr/>
              <a:t>, subtract </a:t>
            </a:r>
            <a:r>
              <a:rPr/>
              <a:t>y_{t-1}</a:t>
            </a:r>
            <a:r>
              <a:rPr/>
              <a:t> from both sides, and the equation becomes </a:t>
            </a:r>
            <a:r>
              <a:rPr/>
              <a:t>\Delta y_t = (\phi - 1) y_{t-1} + \varepsilon_t</a:t>
            </a:r>
            <a:r>
              <a:rPr/>
              <a:t>. Write γ = φ − 1 and the unit root question — is φ = 1? — has become an ordinary question about one regression coefficient: is γ = 0?</a:t>
            </a:r>
          </a:p>
          <a:p>
            <a:pPr lvl="0" indent="0" marL="0">
              <a:buNone/>
            </a:pPr>
          </a:p>
          <a:p>
            <a:pPr lvl="0" indent="0" marL="0">
              <a:buNone/>
            </a:pPr>
            <a:r>
              <a:rPr/>
              <a:t>It is one-sided. γ &gt; 0 would mean explosive, which we are not entertaining, so only large NEGATIVE values count against the null.</a:t>
            </a:r>
          </a:p>
          <a:p>
            <a:pPr lvl="0" indent="0" marL="0">
              <a:buNone/>
            </a:pPr>
          </a:p>
          <a:p>
            <a:pPr lvl="0" indent="0" marL="0">
              <a:buNone/>
            </a:pPr>
            <a:r>
              <a:rPr/>
              <a:t>Middle: three versions, and the choice is yours to make. No constant at all, a constant, or a constant and a trend. That last one is testing against TREND-stationarity, which is a different alternative. Each has its own table.</a:t>
            </a:r>
          </a:p>
          <a:p>
            <a:pPr lvl="0" indent="0" marL="0">
              <a:buNone/>
            </a:pPr>
          </a:p>
          <a:p>
            <a:pPr lvl="0" indent="0" marL="0">
              <a:buNone/>
            </a:pPr>
            <a:r>
              <a:rPr/>
              <a:t>Right, and this is the part that surprises people: you cannot look the statistic up in a </a:t>
            </a:r>
            <a:r>
              <a:rPr/>
              <a:t>t</a:t>
            </a:r>
            <a:r>
              <a:rPr/>
              <a:t> table. Under the null the regressor </a:t>
            </a:r>
            <a:r>
              <a:rPr/>
              <a:t>y_{t-1}</a:t>
            </a:r>
            <a:r>
              <a:rPr/>
              <a:t> is itself a random walk, which breaks the usual asymptotics. The distribution is shifted well to the left — I simulated it from 4000 random walks — and the 5% critical value is about −2.9 rather than −1.96. Using the </a:t>
            </a:r>
            <a:r>
              <a:rPr/>
              <a:t>t</a:t>
            </a:r>
            <a:r>
              <a:rPr/>
              <a:t> table would reject far too often.</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chain of reasoning, left to right.</a:t>
            </a:r>
          </a:p>
          <a:p>
            <a:pPr lvl="0" indent="0" marL="0">
              <a:buNone/>
            </a:pPr>
          </a:p>
          <a:p>
            <a:pPr lvl="0" indent="0" marL="0">
              <a:buNone/>
            </a:pPr>
            <a:r>
              <a:rPr/>
              <a:t>The plain test assumes its errors are white noise. A real series is rarely an AR(1), so its increments are usually correlated, and then that assumption is false. Why does that matter? Because se</a:t>
            </a:r>
            <a:r>
              <a:rPr/>
              <a:t>(\hat\gamma)</a:t>
            </a:r>
            <a:r>
              <a:rPr/>
              <a:t> — the number we divided by on the last slide — is computed FROM that assumption. A wrong se gives a wrong </a:t>
            </a:r>
            <a:r>
              <a:rPr/>
              <a:t>t</a:t>
            </a:r>
            <a:r>
              <a:rPr/>
              <a:t>, and a wrong </a:t>
            </a:r>
            <a:r>
              <a:rPr/>
              <a:t>t</a:t>
            </a:r>
            <a:r>
              <a:rPr/>
              <a:t> gives a wrong decision.</a:t>
            </a:r>
          </a:p>
          <a:p>
            <a:pPr lvl="0" indent="0" marL="0">
              <a:buNone/>
            </a:pPr>
          </a:p>
          <a:p>
            <a:pPr lvl="0" indent="0" marL="0">
              <a:buNone/>
            </a:pPr>
            <a:r>
              <a:rPr/>
              <a:t>The middle panel measures how wrong, and this is the slide’s point. Every series in it genuinely HAS a unit root, so the null is true and the test should reject 5% of the time. With iid increments the plain test does: 4%. Make the increments correlated and it rejects 34%, then 82%. You would conclude “stationary” on four out of five series that are nothing of the sort.</a:t>
            </a:r>
          </a:p>
          <a:p>
            <a:pPr lvl="0" indent="0" marL="0">
              <a:buNone/>
            </a:pPr>
          </a:p>
          <a:p>
            <a:pPr lvl="0" indent="0" marL="0">
              <a:buNone/>
            </a:pPr>
            <a:r>
              <a:rPr/>
              <a:t>The green bars are the same series run through ADF with 8 lags: 3% every time.</a:t>
            </a:r>
          </a:p>
          <a:p>
            <a:pPr lvl="0" indent="0" marL="0">
              <a:buNone/>
            </a:pPr>
          </a:p>
          <a:p>
            <a:pPr lvl="0" indent="0" marL="0">
              <a:buNone/>
            </a:pPr>
            <a:r>
              <a:rPr/>
              <a:t>Right: the fix and its limits. The δ terms are the only new thing, γ still answers the same question, and the null distribution is UNCHANGED — the same table we simulated two slides ago. Adding lags repairs the standard error; it does not change what you compare against.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Six steps on the left, and the right half exists to stop step 1 being read as paperwork.</a:t>
            </a:r>
          </a:p>
          <a:p>
            <a:pPr lvl="0" indent="0" marL="0">
              <a:buNone/>
            </a:pPr>
          </a:p>
          <a:p>
            <a:pPr lvl="0" indent="0" marL="0">
              <a:buNone/>
            </a:pPr>
            <a:r>
              <a:rPr/>
              <a:t>The series top right is a straight line plus noise. It is not stationary — the mean climbs — but it IS trend-stationary: take the line out and what is left is white noise.</a:t>
            </a:r>
          </a:p>
          <a:p>
            <a:pPr lvl="0" indent="0" marL="0">
              <a:buNone/>
            </a:pPr>
          </a:p>
          <a:p>
            <a:pPr lvl="0" indent="0" marL="0">
              <a:buNone/>
            </a:pPr>
            <a:r>
              <a:rPr/>
              <a:t>Now run the test twice on that one series. Under “c” the statistic is −0.79 against a critical value of −2.87, so you do not reject, and you would report “it has a unit root”. Under “ct” the same data gives −5.06 against −3.42, so you reject and report “trend-stationary”.</a:t>
            </a:r>
          </a:p>
          <a:p>
            <a:pPr lvl="0" indent="0" marL="0">
              <a:buNone/>
            </a:pPr>
          </a:p>
          <a:p>
            <a:pPr lvl="0" indent="0" marL="0">
              <a:buNone/>
            </a:pPr>
            <a:r>
              <a:rPr/>
              <a:t>Same series, same code, opposite conclusions. The choice in step 1 is not a setting, it is the question you are asking: “c” asks whether the series returns to a constant, “ct” asks whether it returns to a line. Decide which one you meant BEFORE you look at the p-value.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mirror of the Dickey-Fuller intuition slide, and the same trick: ask one question of the data and let the test be the answer.</a:t>
            </a:r>
          </a:p>
          <a:p>
            <a:pPr lvl="0" indent="0" marL="0">
              <a:buNone/>
            </a:pPr>
          </a:p>
          <a:p>
            <a:pPr lvl="0" indent="0" marL="0">
              <a:buNone/>
            </a:pPr>
            <a:r>
              <a:rPr/>
              <a:t>A stationary series is pulled back to its mean, so its deviations from that mean have to keep changing sign — it cannot stay above for long without coming back. Add those deviations up as you go and the running total keeps getting cancelled. Left column: 111 sign changes, and the running total never gets past 20.</a:t>
            </a:r>
          </a:p>
          <a:p>
            <a:pPr lvl="0" indent="0" marL="0">
              <a:buNone/>
            </a:pPr>
          </a:p>
          <a:p>
            <a:pPr lvl="0" indent="0" marL="0">
              <a:buNone/>
            </a:pPr>
            <a:r>
              <a:rPr/>
              <a:t>A series with a random walk in it has no mean to return to. Its deviations keep the same sign for long stretches, so the running total accumulates instead of cancelling. Right column: only 22 sign changes, and the total reaches 1474.</a:t>
            </a:r>
          </a:p>
          <a:p>
            <a:pPr lvl="0" indent="0" marL="0">
              <a:buNone/>
            </a:pPr>
          </a:p>
          <a:p>
            <a:pPr lvl="0" indent="0" marL="0">
              <a:buNone/>
            </a:pPr>
            <a:r>
              <a:rPr/>
              <a:t>That is the entire test. LM is essentially the area under the squared running total, scaled so it does not grow with n: 0.05 against 3.46 here.</a:t>
            </a:r>
          </a:p>
          <a:p>
            <a:pPr lvl="0" indent="0" marL="0">
              <a:buNone/>
            </a:pPr>
          </a:p>
          <a:p>
            <a:pPr lvl="0" indent="0" marL="0">
              <a:buNone/>
            </a:pPr>
            <a:r>
              <a:rPr/>
              <a:t>Say the direction out loud, because it is the opposite of ADF: a BIG statistic means the sums ran away, which means NOT stationary. KPSS rejects in the upper tail.</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five series, so the two tables can be read against each other.</a:t>
            </a:r>
          </a:p>
          <a:p>
            <a:pPr lvl="0" indent="0" marL="0">
              <a:buNone/>
            </a:pPr>
          </a:p>
          <a:p>
            <a:pPr lvl="0" indent="0" marL="0">
              <a:buNone/>
            </a:pPr>
            <a:r>
              <a:rPr/>
              <a:t>Note the direction: KPSS rejects in the UPPER tail, because a large LM means the partial sums wander. And row 3 is wrong here too, in the opposite direction — φ = 0.95 gets flagged as non-stationary when it is not.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tests, and the thing students get wrong is that their nulls are opposite.</a:t>
            </a:r>
          </a:p>
          <a:p>
            <a:pPr lvl="0" indent="0" marL="0">
              <a:buNone/>
            </a:pPr>
          </a:p>
          <a:p>
            <a:pPr lvl="0" indent="0" marL="0">
              <a:buNone/>
            </a:pPr>
            <a:r>
              <a:rPr/>
              <a:t>ADF, Augmented Dickey-Fuller: the null is that there IS a unit root, so non-stationary. Rejecting is the good outcome. KPSS: the null is that the series IS stationary. Rejecting is the bad outcome.</a:t>
            </a:r>
          </a:p>
          <a:p>
            <a:pPr lvl="0" indent="0" marL="0">
              <a:buNone/>
            </a:pPr>
          </a:p>
          <a:p>
            <a:pPr lvl="0" indent="0" marL="0">
              <a:buNone/>
            </a:pPr>
            <a:r>
              <a:rPr/>
              <a:t>So a small p-value is good news from ADF and bad news from KPSS. Say that twice; it is the most common error in this part of the course.</a:t>
            </a:r>
          </a:p>
          <a:p>
            <a:pPr lvl="0" indent="0" marL="0">
              <a:buNone/>
            </a:pPr>
          </a:p>
          <a:p>
            <a:pPr lvl="0" indent="0" marL="0">
              <a:buNone/>
            </a:pPr>
            <a:r>
              <a:rPr/>
              <a:t>Right, the 2×2, which is how you should actually use them. Top left, ADF rejects and KPSS does not: both tests agree on stationary, proceed. Top right, the mirror image: both agree on non-stationary, difference it. Bottom left, both reject: usually a variance problem rather than a mean problem, so look at a transform, or a structural break. Bottom right, neither rejects: you do not have enough data to distinguish, and no amount of testing will fix that.</a:t>
            </a:r>
          </a:p>
          <a:p>
            <a:pPr lvl="0" indent="0" marL="0">
              <a:buNone/>
            </a:pPr>
          </a:p>
          <a:p>
            <a:pPr lvl="0" indent="0" marL="0">
              <a:buNone/>
            </a:pPr>
            <a:r>
              <a:rPr/>
              <a:t>Then the caveat in red, which applies to every test in the session. Failing to reject is not evidence for the null. And these tests have famously poor power against φ = 0.95, which we just looked at. Plot the series first. Your eyes are a better instrument than the p-value here, and the tests are there to check your eyes, not to replace them.</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standard tool, and there are exactly two kinds.</a:t>
            </a:r>
          </a:p>
          <a:p>
            <a:pPr lvl="0" indent="0" marL="0">
              <a:buNone/>
            </a:pPr>
          </a:p>
          <a:p>
            <a:pPr lvl="0" indent="0" marL="0">
              <a:buNone/>
            </a:pPr>
            <a:r>
              <a:rPr/>
              <a:t>Top left: the raw series, trend and seasonality both present.</a:t>
            </a:r>
          </a:p>
          <a:p>
            <a:pPr lvl="0" indent="0" marL="0">
              <a:buNone/>
            </a:pPr>
          </a:p>
          <a:p>
            <a:pPr lvl="0" indent="0" marL="0">
              <a:buNone/>
            </a:pPr>
            <a:r>
              <a:rPr/>
              <a:t>Top right: the first difference, y_t − y_{t−1}. The trend is gone: a linear trend differenced once becomes a constant but the twelve-step oscillation is still plainly there.</a:t>
            </a:r>
          </a:p>
          <a:p>
            <a:pPr lvl="0" indent="0" marL="0">
              <a:buNone/>
            </a:pPr>
          </a:p>
          <a:p>
            <a:pPr lvl="0" indent="0" marL="0">
              <a:buNone/>
            </a:pPr>
            <a:r>
              <a:rPr/>
              <a:t>Bottom left: the seasonal difference, y_t − y_{t−12}. The seasonality is gone. Comparing each point to the same phase one year earlier. This is the “year over year change”.</a:t>
            </a:r>
          </a:p>
          <a:p>
            <a:pPr lvl="0" indent="0" marL="0">
              <a:buNone/>
            </a:pPr>
          </a:p>
          <a:p>
            <a:pPr lvl="0" indent="0" marL="0">
              <a:buNone/>
            </a:pPr>
            <a:r>
              <a:rPr/>
              <a:t>Bottom right: both, applied one after the other. Noise around zero, and that is what the ARMA machinery wants as input.</a:t>
            </a:r>
          </a:p>
          <a:p>
            <a:pPr lvl="0" indent="0" marL="0">
              <a:buNone/>
            </a:pPr>
          </a:p>
          <a:p>
            <a:pPr lvl="0" indent="0" marL="0">
              <a:buNone/>
            </a:pPr>
            <a:r>
              <a:rPr/>
              <a:t>Two practical notes. The order does not matter, ∆∆₁₂ = ∆₁₂∆.</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counterweight to the previous slide.</a:t>
            </a:r>
          </a:p>
          <a:p>
            <a:pPr lvl="0" indent="0" marL="0">
              <a:buNone/>
            </a:pPr>
          </a:p>
          <a:p>
            <a:pPr lvl="0" indent="0" marL="0">
              <a:buNone/>
            </a:pPr>
            <a:r>
              <a:rPr/>
              <a:t>Start from a series that is ALREADY stationary — an AR(1) with φ = 0.2, top left, variance 1.11.</a:t>
            </a:r>
          </a:p>
          <a:p>
            <a:pPr lvl="0" indent="0" marL="0">
              <a:buNone/>
            </a:pPr>
          </a:p>
          <a:p>
            <a:pPr lvl="0" indent="0" marL="0">
              <a:buNone/>
            </a:pPr>
            <a:r>
              <a:rPr/>
              <a:t>Difference it once: the variance goes UP, to 1.74. Difference it twice: up again, to 4.90. Differencing amplifies high-frequency noise.</a:t>
            </a:r>
          </a:p>
          <a:p>
            <a:pPr lvl="0" indent="0" marL="0">
              <a:buNone/>
            </a:pPr>
          </a:p>
          <a:p>
            <a:pPr lvl="0" indent="0" marL="0">
              <a:buNone/>
            </a:pPr>
            <a:r>
              <a:rPr/>
              <a:t>The factor is exact: Var(∆x) = 2(1 − φ) Var(x). So it only inflates the variance when φ &lt; 0.5. Above that the series is smooth enough that differencing SHRINKS it — which is the whole point of differencing a trending series in the first place. The cost that is always present is the one in the bottom row.</a:t>
            </a:r>
          </a:p>
          <a:p>
            <a:pPr lvl="0" indent="0" marL="0">
              <a:buNone/>
            </a:pPr>
          </a:p>
          <a:p>
            <a:pPr lvl="0" indent="0" marL="0">
              <a:buNone/>
            </a:pPr>
            <a:r>
              <a:rPr/>
              <a:t>Now the bottom row, which is the diagnostic. The ACF of the over-differenced series has a large NEGATIVE spike at lag 1 that was not there before.</a:t>
            </a:r>
          </a:p>
          <a:p>
            <a:pPr lvl="0" indent="0" marL="0">
              <a:buNone/>
            </a:pPr>
          </a:p>
          <a:p>
            <a:pPr lvl="0" indent="0" marL="0">
              <a:buNone/>
            </a:pPr>
            <a:r>
              <a:rPr/>
              <a:t>That is not a discovery about the data, it is an artefact.</a:t>
            </a:r>
          </a:p>
          <a:p>
            <a:pPr lvl="0" indent="0" marL="0">
              <a:buNone/>
            </a:pPr>
          </a:p>
          <a:p>
            <a:pPr lvl="0" indent="0" marL="0">
              <a:buNone/>
            </a:pPr>
            <a:r>
              <a:rPr/>
              <a:t>Differencing white noise produces a process with lag-1 autocorrelation of exactly −0.5, an MA(1) unit root. It is mathematically impossible to invert.</a:t>
            </a:r>
          </a:p>
          <a:p>
            <a:pPr lvl="0" indent="0" marL="0">
              <a:buNone/>
            </a:pPr>
          </a:p>
          <a:p>
            <a:pPr lvl="0" indent="0" marL="0">
              <a:buNone/>
            </a:pPr>
            <a:r>
              <a:rPr/>
              <a:t>Difference the minimum number of times that makes the series stationary.</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goal is a series whose VARIANCE no longer depends on its LEVEL. Measure the spread early and late: 11 against 54 before the transform, 1.28 against 1.21 after it.</a:t>
            </a:r>
          </a:p>
          <a:p>
            <a:pPr lvl="0" indent="0" marL="0">
              <a:buNone/>
            </a:pPr>
          </a:p>
          <a:p>
            <a:pPr lvl="0" indent="0" marL="0">
              <a:buNone/>
            </a:pPr>
            <a:r>
              <a:rPr/>
              <a:t>That is what the rest of the session assumes — constant variance is one of the three stationarity conditions, an additive decomposition needs a constant seasonal swing, and a prediction interval reuses one error size at every horizon.</a:t>
            </a:r>
          </a:p>
          <a:p>
            <a:pPr lvl="0" indent="0" marL="0">
              <a:buNone/>
            </a:pPr>
          </a:p>
          <a:p>
            <a:pPr lvl="0" indent="0" marL="0">
              <a:buNone/>
            </a:pPr>
            <a:r>
              <a:rPr/>
              <a:t>Differencing fixes the mean; this fixes the spread.</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λ is a dial saying how hard to compress the large values. λ = 1 leaves the series alone, λ = 0 is the log, and anything below 1 pulls the big values in, which is exactly what a fanning spread needs.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Try a λ, transform, fit the model you actually intend to use, record how well it fits, correct for the change of scale, repeat. The best λ is the maximum of that curve.</a:t>
            </a:r>
          </a:p>
          <a:p>
            <a:pPr lvl="0" indent="0" marL="0">
              <a:buNone/>
            </a:pPr>
          </a:p>
          <a:p>
            <a:pPr lvl="0" indent="0" marL="0">
              <a:buNone/>
            </a:pPr>
            <a:r>
              <a:rPr/>
              <a:t>Step 5 is the one people drop. Without the Jacobian term </a:t>
            </a:r>
            <a:r>
              <a:rPr/>
              <a:t>(λ-1)\sum_t \log y_t</a:t>
            </a:r>
            <a:r>
              <a:rPr/>
              <a:t> you would always choose the λ that squashes the series flattest, because a smaller series trivially has a smaller variance.</a:t>
            </a:r>
          </a:p>
          <a:p>
            <a:pPr lvl="0" indent="0" marL="0">
              <a:buNone/>
            </a:pPr>
          </a:p>
          <a:p>
            <a:pPr lvl="0" indent="0" marL="0">
              <a:buNone/>
            </a:pPr>
            <a:r>
              <a:rPr/>
              <a:t>Here the maximum is at −0.02 with a 95% interval of [−0.09, 0.04], so report λ = 0 and take the log. The series was built as </a:t>
            </a:r>
            <a:r>
              <a:rPr/>
              <a:t>e^{\,0.013t}</a:t>
            </a:r>
            <a:r>
              <a:rPr/>
              <a:t> times lognormal noise, so that is the right answer.</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y_{t-h}</a:t>
            </a:r>
            <a:r>
              <a:rPr/>
              <a:t> is the value </a:t>
            </a:r>
            <a:r>
              <a:rPr/>
              <a:t>h</a:t>
            </a:r>
            <a:r>
              <a:rPr/>
              <a:t> steps earlier. Shifting costs you the first </a:t>
            </a:r>
            <a:r>
              <a:rPr/>
              <a:t>h</a:t>
            </a:r>
            <a:r>
              <a:rPr/>
              <a:t> rows, which is why a lag-12 feature throws away a year.</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lines, building up.</a:t>
            </a:r>
          </a:p>
          <a:p>
            <a:pPr lvl="0" indent="0" marL="0">
              <a:buNone/>
            </a:pPr>
          </a:p>
          <a:p>
            <a:pPr lvl="0" indent="0" marL="0">
              <a:buNone/>
            </a:pPr>
            <a:r>
              <a:rPr/>
              <a:t>The autocovariance γ(h) is the covariance between the series and itself h steps later. Point at the notation and make the stationarity link explicit: we can write γ(h) with one argument only BECAUSE we assumed stationarity. Without it we would need γ(t, h), a different number for every starting point, and it would be unestimable.</a:t>
            </a:r>
          </a:p>
          <a:p>
            <a:pPr lvl="0" indent="0" marL="0">
              <a:buNone/>
            </a:pPr>
          </a:p>
          <a:p>
            <a:pPr lvl="0" indent="0" marL="0">
              <a:buNone/>
            </a:pPr>
            <a:r>
              <a:rPr/>
              <a:t>Dividing by γ(0), which is the variance, gives ρ(h), the autocorrelation. Unit-free, between −1 and 1, and ρ(0) = 1 always.</a:t>
            </a:r>
          </a:p>
          <a:p>
            <a:pPr lvl="0" indent="0" marL="0">
              <a:buNone/>
            </a:pPr>
          </a:p>
          <a:p>
            <a:pPr lvl="0" indent="0" marL="0">
              <a:buNone/>
            </a:pPr>
            <a:r>
              <a:rPr/>
              <a:t>The estimator at the bottom has one oddity worth naming, because they will notice it and assume it is a typo. The numerator has n − h terms; the denominator has n. This is the biased estimator, and it is the one every package uses. The reason is that it guarantees the resulting sequence is a valid autocorrelation function — positive semi-definite — which the unbiased version does not. The cost is that estimates at large h are shrunk towards zero, which is a feature, since those are the noisiest ones anyway.</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correlation of the series with its own lagged copy. One number per lag; the whole set is the ACF. We come back to the estimator and its pitfalls later.</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exists to stop the ACF being a magic plot.</a:t>
            </a:r>
          </a:p>
          <a:p>
            <a:pPr lvl="0" indent="0" marL="0">
              <a:buNone/>
            </a:pPr>
          </a:p>
          <a:p>
            <a:pPr lvl="0" indent="0" marL="0">
              <a:buNone/>
            </a:pPr>
            <a:r>
              <a:rPr/>
              <a:t>First three panels: take the series, pair each point with the point one step later, and scatter. That is a scatterplot like any other, and it has a correlation coefficient, 0.74 here. Do the same at lag 2, and at lag 8, and the cloud gets rounder as the correlation falls.</a:t>
            </a:r>
          </a:p>
          <a:p>
            <a:pPr lvl="0" indent="0" marL="0">
              <a:buNone/>
            </a:pPr>
          </a:p>
          <a:p>
            <a:pPr lvl="0" indent="0" marL="0">
              <a:buNone/>
            </a:pPr>
            <a:r>
              <a:rPr/>
              <a:t>Fourth panel: put those correlations on one axis, one stem per lag. That is the correlogram. Nothing else is going on.</a:t>
            </a:r>
          </a:p>
          <a:p>
            <a:pPr lvl="0" indent="0" marL="0">
              <a:buNone/>
            </a:pPr>
          </a:p>
          <a:p>
            <a:pPr lvl="0" indent="0" marL="0">
              <a:buNone/>
            </a:pPr>
            <a:r>
              <a:rPr/>
              <a:t>Two reading conventions to state once. Lag 0 is always 1 and is conventionally hidden — I drop it in all of these plots. The shaded band is the region where you would expect an estimate to land if the truth were zero; we come back to it in two slides.</a:t>
            </a:r>
          </a:p>
          <a:p>
            <a:pPr lvl="0" indent="0" marL="0">
              <a:buNone/>
            </a:pPr>
          </a:p>
          <a:p>
            <a:pPr lvl="0" indent="0" marL="0">
              <a:buNone/>
            </a:pPr>
            <a:r>
              <a:rPr/>
              <a:t>Make sure the scatterplot picture sticks, because it makes the next two slides readable without any new machinery.</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vocabulary slide. Four series on top, their correlograms below, and the goal is recognition on sight.</a:t>
            </a:r>
          </a:p>
          <a:p>
            <a:pPr lvl="0" indent="0" marL="0">
              <a:buNone/>
            </a:pPr>
          </a:p>
          <a:p>
            <a:pPr lvl="0" indent="0" marL="0">
              <a:buNone/>
            </a:pPr>
            <a:r>
              <a:rPr/>
              <a:t>White noise: everything inside the band. There is nothing to model.</a:t>
            </a:r>
          </a:p>
          <a:p>
            <a:pPr lvl="0" indent="0" marL="0">
              <a:buNone/>
            </a:pPr>
          </a:p>
          <a:p>
            <a:pPr lvl="0" indent="0" marL="0">
              <a:buNone/>
            </a:pPr>
            <a:r>
              <a:rPr/>
              <a:t>Trend: slow decay, everything positive out to high lags. Say why in one sentence: if the series is drifting upwards, then any two points close in time are both above the overall mean or both below it, so every short-lag correlation is positive. A slowly decaying, all-positive ACF is a signature of a trend, not of long memory, and the fix is differencing.</a:t>
            </a:r>
          </a:p>
          <a:p>
            <a:pPr lvl="0" indent="0" marL="0">
              <a:buNone/>
            </a:pPr>
          </a:p>
          <a:p>
            <a:pPr lvl="0" indent="0" marL="0">
              <a:buNone/>
            </a:pPr>
            <a:r>
              <a:rPr/>
              <a:t>Seasonal: spikes at 12, 24, 36. The period is readable straight off the plot, which is the fastest way to find m when nobody told you what it is.</a:t>
            </a:r>
          </a:p>
          <a:p>
            <a:pPr lvl="0" indent="0" marL="0">
              <a:buNone/>
            </a:pPr>
          </a:p>
          <a:p>
            <a:pPr lvl="0" indent="0" marL="0">
              <a:buNone/>
            </a:pPr>
            <a:r>
              <a:rPr/>
              <a:t>AR(1) with φ = 0.8: geometric decay, ρ(h) = 0.8^h. Compare with the trend panel and note they look similar at short lags — which is exactly why “does this series have a trend or is it a highly autocorrelated stationary process” is a genuinely hard question, and why unit root tests exist.</a:t>
            </a:r>
          </a:p>
          <a:p>
            <a:pPr lvl="0" indent="0" marL="0">
              <a:buNone/>
            </a:pPr>
          </a:p>
          <a:p>
            <a:pPr lvl="0" indent="0" marL="0">
              <a:buNone/>
            </a:pPr>
            <a:r>
              <a:rPr/>
              <a:t>Real data usually shows two or three of these at once. Trend plus seasonality is the standard case, and you difference both away before reading anything else.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short slide about not over-reading a plot they are about to use constantly.</a:t>
            </a:r>
          </a:p>
          <a:p>
            <a:pPr lvl="0" indent="0" marL="0">
              <a:buNone/>
            </a:pPr>
          </a:p>
          <a:p>
            <a:pPr lvl="0" indent="0" marL="0">
              <a:buNone/>
            </a:pPr>
            <a:r>
              <a:rPr/>
              <a:t>Left: pure white noise, 200 points, and two or three lags poke outside the band. Nothing is happening in that data — I generated it with a normal random number generator.</a:t>
            </a:r>
          </a:p>
          <a:p>
            <a:pPr lvl="0" indent="0" marL="0">
              <a:buNone/>
            </a:pPr>
          </a:p>
          <a:p>
            <a:pPr lvl="0" indent="0" marL="0">
              <a:buNone/>
            </a:pPr>
            <a:r>
              <a:rPr/>
              <a:t>Middle: where the band comes from. Under the null that the series is white noise, each sample autocorrelation is approximately normal with variance 1/n, so the 95% band is ±1.96/√n. Note the consequence at the bottom: the band shrinks with n, so with a million observations a correlation of 0.003 is “significant”. Significant and large are different things, and on this plot you read the HEIGHT.</a:t>
            </a:r>
          </a:p>
          <a:p>
            <a:pPr lvl="0" indent="0" marL="0">
              <a:buNone/>
            </a:pPr>
          </a:p>
          <a:p>
            <a:pPr lvl="0" indent="0" marL="0">
              <a:buNone/>
            </a:pPr>
            <a:r>
              <a:rPr/>
              <a:t>Right, the two traps. The band is a per-lag 5% test, so across 40 lags you expect about two excursions by chance — exactly what the left panel shows. And the band’s derivation assumes white noise, so once lag 1 is large the band is not valid for the later lags anyway.</a:t>
            </a:r>
          </a:p>
          <a:p>
            <a:pPr lvl="0" indent="0" marL="0">
              <a:buNone/>
            </a:pPr>
          </a:p>
          <a:p>
            <a:pPr lvl="0" indent="0" marL="0">
              <a:buNone/>
            </a:pPr>
            <a:r>
              <a:rPr/>
              <a:t>The fix for both is a portmanteau test, which tests the whole correlogram at once. That is Ljung-Box, and we get to it at the end of this section.</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PACF is the one students nod along to and cannot explain afterwards. The left panel is the explanation.</a:t>
            </a:r>
          </a:p>
          <a:p>
            <a:pPr lvl="0" indent="0" marL="0">
              <a:buNone/>
            </a:pPr>
          </a:p>
          <a:p>
            <a:pPr lvl="0" indent="0" marL="0">
              <a:buNone/>
            </a:pPr>
            <a:r>
              <a:rPr/>
              <a:t>An AR(1): y_t depends on y_{t−1} and on nothing else. Look at the diagram — there is a blue arrow from t−2 to t−1, and from t−1 to t, and NO arrow from t−2 to t. By construction.</a:t>
            </a:r>
          </a:p>
          <a:p>
            <a:pPr lvl="0" indent="0" marL="0">
              <a:buNone/>
            </a:pPr>
          </a:p>
          <a:p>
            <a:pPr lvl="0" indent="0" marL="0">
              <a:buNone/>
            </a:pPr>
            <a:r>
              <a:rPr/>
              <a:t>But ρ(2) is not zero, it is about 0.64. The correlation between y_t and y_{t−2} is real; it is just entirely inherited. They are correlated because both are tied to y_{t−1}.</a:t>
            </a:r>
          </a:p>
          <a:p>
            <a:pPr lvl="0" indent="0" marL="0">
              <a:buNone/>
            </a:pPr>
          </a:p>
          <a:p>
            <a:pPr lvl="0" indent="0" marL="0">
              <a:buNone/>
            </a:pPr>
            <a:r>
              <a:rPr/>
              <a:t>The PACF asks a different question: what is the correlation between y_t and y_{t−2} AFTER removing everything explained by the points in between? Formally, regress both on y_{t−1}, and correlate the residuals. For this process the answer is exactly zero, and the third panel shows that.</a:t>
            </a:r>
          </a:p>
          <a:p>
            <a:pPr lvl="0" indent="0" marL="0">
              <a:buNone/>
            </a:pPr>
          </a:p>
          <a:p>
            <a:pPr lvl="0" indent="0" marL="0">
              <a:buNone/>
            </a:pPr>
            <a:r>
              <a:rPr/>
              <a:t>So: ACF measures total association, direct plus inherited. PACF measures direct association only. Anyone who has met partial correlation or “controlling for a confounder” in a regression course has met this idea already — say that, it lands.</a:t>
            </a:r>
          </a:p>
          <a:p>
            <a:pPr lvl="0" indent="0" marL="0">
              <a:buNone/>
            </a:pPr>
          </a:p>
          <a:p>
            <a:pPr lvl="0" indent="0" marL="0">
              <a:buNone/>
            </a:pPr>
            <a:r>
              <a:rPr/>
              <a:t>One implementation note if anyone asks: you do not actually run those regressions. The Durbin-Levinson recursion computes the whole PACF from the ACF, and that is what my helper does.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definition in one line: regress </a:t>
            </a:r>
            <a:r>
              <a:rPr/>
              <a:t>y_t</a:t>
            </a:r>
            <a:r>
              <a:rPr/>
              <a:t> on its first </a:t>
            </a:r>
            <a:r>
              <a:rPr/>
              <a:t>h</a:t>
            </a:r>
            <a:r>
              <a:rPr/>
              <a:t> lags and keep the LAST coefficient, </a:t>
            </a:r>
            <a:r>
              <a:rPr/>
              <a:t>\phi_{hh}</a:t>
            </a:r>
            <a:r>
              <a:rPr/>
              <a:t>. Everything else in that regression is there only to be controlled for.</a:t>
            </a:r>
          </a:p>
          <a:p>
            <a:pPr lvl="0" indent="0" marL="0">
              <a:buNone/>
            </a:pPr>
          </a:p>
          <a:p>
            <a:pPr lvl="0" indent="0" marL="0">
              <a:buNone/>
            </a:pPr>
            <a:r>
              <a:rPr/>
              <a:t>The middle panel is the proof, not an illustration: I fit AR(1) through AR(5) to the same series and print the last coefficient beside the value my PACF routine returns. They agree to three decimals.</a:t>
            </a:r>
          </a:p>
          <a:p>
            <a:pPr lvl="0" indent="0" marL="0">
              <a:buNone/>
            </a:pPr>
          </a:p>
          <a:p>
            <a:pPr lvl="0" indent="0" marL="0">
              <a:buNone/>
            </a:pPr>
            <a:r>
              <a:rPr/>
              <a:t>At </a:t>
            </a:r>
            <a:r>
              <a:rPr/>
              <a:t>h = 1</a:t>
            </a:r>
            <a:r>
              <a:rPr/>
              <a:t> there is nothing in between, so </a:t>
            </a:r>
            <a:r>
              <a:rPr/>
              <a:t>\phi_{11} = \rho(1)</a:t>
            </a:r>
            <a:r>
              <a:rPr/>
              <a:t> — the ACF and the PACF always start at the same number.</a:t>
            </a:r>
          </a:p>
          <a:p>
            <a:pPr lvl="0" indent="0" marL="0">
              <a:buNone/>
            </a:pPr>
          </a:p>
          <a:p>
            <a:pPr lvl="0" indent="0" marL="0">
              <a:buNone/>
            </a:pPr>
            <a:r>
              <a:rPr/>
              <a:t>And the cut-off falls straight out: an AR(2) needs no third lag, so once lags 1 and 2 are in the model the coefficient on the third is zero. That is the property the identification table on the next slide is built on.</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payoff of the last two slides, and the reason Box and Jenkins built the method this way.</a:t>
            </a:r>
          </a:p>
          <a:p>
            <a:pPr lvl="0" indent="0" marL="0">
              <a:buNone/>
            </a:pPr>
          </a:p>
          <a:p>
            <a:pPr lvl="0" indent="0" marL="0">
              <a:buNone/>
            </a:pPr>
            <a:r>
              <a:rPr/>
              <a:t>Top row: an AR(2). Its ACF tails off gradually — there is no lag after which it is zero. Its PACF has two significant spikes and then stops dead. The order is readable: p = 2.</a:t>
            </a:r>
          </a:p>
          <a:p>
            <a:pPr lvl="0" indent="0" marL="0">
              <a:buNone/>
            </a:pPr>
          </a:p>
          <a:p>
            <a:pPr lvl="0" indent="0" marL="0">
              <a:buNone/>
            </a:pPr>
            <a:r>
              <a:rPr/>
              <a:t>Bottom row: an MA(2). Exactly the reverse. The ACF cuts off after lag 2 — and that is mechanical, since y_t and y_{t−3} share no shocks at all, so their covariance is exactly zero. The PACF tails off.</a:t>
            </a:r>
          </a:p>
          <a:p>
            <a:pPr lvl="0" indent="0" marL="0">
              <a:buNone/>
            </a:pPr>
          </a:p>
          <a:p>
            <a:pPr lvl="0" indent="0" marL="0">
              <a:buNone/>
            </a:pPr>
            <a:r>
              <a:rPr/>
              <a:t>Right, the table. AR: ACF tails, PACF cuts off at p. MA: ACF cuts off at q, PACF tails. ARMA: both tail off, and neither plot gives you the order, which is why in practice people fit a small grid and compare AIC.</a:t>
            </a:r>
          </a:p>
          <a:p>
            <a:pPr lvl="0" indent="0" marL="0">
              <a:buNone/>
            </a:pPr>
          </a:p>
          <a:p>
            <a:pPr lvl="0" indent="0" marL="0">
              <a:buNone/>
            </a:pPr>
            <a:r>
              <a:rPr/>
              <a:t>Then the red line, which matters more than the table. These are 600-point simulations from the exact model. Real data gives you 80 points from a process that is not in the family, and the plots are ambiguous. Use the table to pick two or three candidates. Use a backtest to choose between them.</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intuition slide in the same shape as the other two: ask one question, and let the statistic be the answer.</a:t>
            </a:r>
          </a:p>
          <a:p>
            <a:pPr lvl="0" indent="0" marL="0">
              <a:buNone/>
            </a:pPr>
          </a:p>
          <a:p>
            <a:pPr lvl="0" indent="0" marL="0">
              <a:buNone/>
            </a:pPr>
            <a:r>
              <a:rPr/>
              <a:t>The problem first. A correlogram with 24 lags is 24 separate judgements, and you have to come out of it with ONE decision: is this model finished or not? Counting how many bars poke out of the band does not work, because a few always do by chance — that is what a 95% band means.</a:t>
            </a:r>
          </a:p>
          <a:p>
            <a:pPr lvl="0" indent="0" marL="0">
              <a:buNone/>
            </a:pPr>
          </a:p>
          <a:p>
            <a:pPr lvl="0" indent="0" marL="0">
              <a:buNone/>
            </a:pPr>
            <a:r>
              <a:rPr/>
              <a:t>Look at the two top panels and try to call it by eye. White noise on the left has 2 bars outside; the AR(1) on the right has 5. Nothing about “2 versus 5” is convincing, and on a different draw the numbers would swap around.</a:t>
            </a:r>
          </a:p>
          <a:p>
            <a:pPr lvl="0" indent="0" marL="0">
              <a:buNone/>
            </a:pPr>
          </a:p>
          <a:p>
            <a:pPr lvl="0" indent="0" marL="0">
              <a:buNone/>
            </a:pPr>
            <a:r>
              <a:rPr/>
              <a:t>So stop judging bars. Square every one of them and add them up, weighted so that each contributes on the same scale. One big spike makes the total large; so do many small ones that all point the same way. That total is Q.</a:t>
            </a:r>
          </a:p>
          <a:p>
            <a:pPr lvl="0" indent="0" marL="0">
              <a:buNone/>
            </a:pPr>
          </a:p>
          <a:p>
            <a:pPr lvl="0" indent="0" marL="0">
              <a:buNone/>
            </a:pPr>
            <a:r>
              <a:rPr/>
              <a:t>The bottom row is that sum being accumulated lag by lag. The white-noise total drifts up to 25 and stays under the 5% threshold of 36.4. The AR(1) total crosses it around lag 8 and finishes at 55. Same picture, one number, one decision.</a:t>
            </a:r>
          </a:p>
          <a:p>
            <a:pPr lvl="0" indent="0" marL="0">
              <a:buNone/>
            </a:pPr>
          </a:p>
          <a:p>
            <a:pPr lvl="0" indent="0" marL="0">
              <a:buNone/>
            </a:pPr>
            <a:r>
              <a:rPr/>
              <a:t>Note what the left-hand series shows: two bars outside the band and yet Q says there is nothing there. That is the slide’s point.</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null is a joint one: every autocorrelation from lag 1 to lag m is zero, all at once. That is the point of a portmanteau test — reading 40 individual bands gives you about two false alarms by construction, and this gives you one decision.</a:t>
            </a:r>
          </a:p>
          <a:p>
            <a:pPr lvl="0" indent="0" marL="0">
              <a:buNone/>
            </a:pPr>
          </a:p>
          <a:p>
            <a:pPr lvl="0" indent="0" marL="0">
              <a:buNone/>
            </a:pPr>
            <a:r>
              <a:rPr/>
              <a:t>The middle panel builds the statistic rather than asserting it. Under the null each sample autocorrelation has variance roughly (n−h)/(n(n+2)); standardise, square, and add m of them, and a sum of m squared standard normals is a chi-squared with m degrees of freedom. The n(n+2)/(n−h) weight is just that standardisation.</a:t>
            </a:r>
          </a:p>
          <a:p>
            <a:pPr lvl="0" indent="0" marL="0">
              <a:buNone/>
            </a:pPr>
          </a:p>
          <a:p>
            <a:pPr lvl="0" indent="0" marL="0">
              <a:buNone/>
            </a:pPr>
            <a:r>
              <a:rPr/>
              <a:t>The right panel checks it: 4000 white-noise series, and the histogram of Q sits on the chi-squared density. Slightly heavy in the far tail, which is the known small-sample behaviour.</a:t>
            </a:r>
          </a:p>
          <a:p>
            <a:pPr lvl="0" indent="0" marL="0">
              <a:buNone/>
            </a:pPr>
          </a:p>
          <a:p>
            <a:pPr lvl="0" indent="0" marL="0">
              <a:buNone/>
            </a:pPr>
            <a:r>
              <a:rPr/>
              <a:t>Box-Pierce is the same idea with the weight dropped; Ljung and Box added it because the approximation was poor at the sample sizes people actually have.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Six steps. Step 1 is the one people get wrong: this goes on RESIDUALS, never on the raw series — on raw data it will reject for any series with a trend, which tells you nothing.</a:t>
            </a:r>
          </a:p>
          <a:p>
            <a:pPr lvl="0" indent="0" marL="0">
              <a:buNone/>
            </a:pPr>
          </a:p>
          <a:p>
            <a:pPr lvl="0" indent="0" marL="0">
              <a:buNone/>
            </a:pPr>
            <a:r>
              <a:rPr/>
              <a:t>Step 5 is the other one. The m − k correction subtracts the ARMA parameters, p + q. A regression on a trend and seasonal dummies fits no ARMA terms at all, so k = 0 here, and df = 24 in both rows.</a:t>
            </a:r>
          </a:p>
          <a:p>
            <a:pPr lvl="0" indent="0" marL="0">
              <a:buNone/>
            </a:pPr>
          </a:p>
          <a:p>
            <a:pPr lvl="0" indent="0" marL="0">
              <a:buNone/>
            </a:pPr>
            <a:r>
              <a:rPr/>
              <a:t>The two rows are the same series under two models: forget the seasonality and Q is 1406; model it and Q is 21 against 24 degrees of freedom, p = 0.63. That is what “no evidence against white” looks like.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7.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8.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9.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10.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1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1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15.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16.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7.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8.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9.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20.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22.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23.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24.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25.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26.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27.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2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3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3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image" Target="../media/image32.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33.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34.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35.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36.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37.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38.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image" Target="../media/image39.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40.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41.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42.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43.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44.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image" Target="../media/image45.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46.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image" Target="../media/image47.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rId3" Type="http://schemas.openxmlformats.org/officeDocument/2006/relationships/image" Target="../media/image48.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image" Target="../media/image49.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image" Target="../media/image50.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image" Target="../media/image51.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image" Target="../media/image5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5 — Part 1</a:t>
            </a:r>
            <a:br/>
            <a:r>
              <a:rPr/>
              <a:t>Time Series: Structure</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5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The rows of our table are no longer exchangeable.</a:t>
            </a:r>
          </a:p>
          <a:p>
            <a:pPr lvl="0" indent="0" marL="0" algn="ctr">
              <a:buNone/>
            </a:pPr>
            <a:r>
              <a:rPr sz="2000"/>
              <a:t>What changes when the rows are ordered?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Time series</a:t>
            </a:r>
          </a:p>
        </p:txBody>
      </p:sp>
      <p:pic>
        <p:nvPicPr>
          <p:cNvPr descr="img/ts_zoo.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order carries the signal</a:t>
            </a:r>
          </a:p>
        </p:txBody>
      </p:sp>
      <p:pic>
        <p:nvPicPr>
          <p:cNvPr descr="img/iid_broken.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Series decomposition</a:t>
            </a:r>
          </a:p>
        </p:txBody>
      </p:sp>
      <p:pic>
        <p:nvPicPr>
          <p:cNvPr descr="img/components.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Additive or multiplicative</a:t>
            </a:r>
          </a:p>
        </p:txBody>
      </p:sp>
      <p:pic>
        <p:nvPicPr>
          <p:cNvPr descr="img/eq_decompos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Additive, multiplicative, and the log</a:t>
            </a:r>
          </a:p>
        </p:txBody>
      </p:sp>
      <p:pic>
        <p:nvPicPr>
          <p:cNvPr descr="img/add_vs_mul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Estimating the trend</a:t>
            </a:r>
          </a:p>
        </p:txBody>
      </p:sp>
      <p:pic>
        <p:nvPicPr>
          <p:cNvPr descr="img/moving_average.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ends of a moving average</a:t>
            </a:r>
          </a:p>
        </p:txBody>
      </p:sp>
      <p:pic>
        <p:nvPicPr>
          <p:cNvPr descr="img/ma_edg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Classical decomposition, step by step</a:t>
            </a:r>
          </a:p>
        </p:txBody>
      </p:sp>
      <p:pic>
        <p:nvPicPr>
          <p:cNvPr descr="img/classical_decom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Loess = LOcally Estimated Scatterplot Smoothing</a:t>
            </a:r>
          </a:p>
        </p:txBody>
      </p:sp>
      <p:pic>
        <p:nvPicPr>
          <p:cNvPr descr="img/loess_buil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Loess: the weights and the span</a:t>
            </a:r>
          </a:p>
        </p:txBody>
      </p:sp>
      <p:pic>
        <p:nvPicPr>
          <p:cNvPr descr="img/loess_spa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Seasonal Trend decomposition with Loess</a:t>
            </a:r>
          </a:p>
        </p:txBody>
      </p:sp>
      <p:pic>
        <p:nvPicPr>
          <p:cNvPr descr="img/st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STL inner loop</a:t>
            </a:r>
          </a:p>
        </p:txBody>
      </p:sp>
      <p:pic>
        <p:nvPicPr>
          <p:cNvPr descr="img/stl_inner.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STL: the outer loop</a:t>
            </a:r>
          </a:p>
        </p:txBody>
      </p:sp>
      <p:pic>
        <p:nvPicPr>
          <p:cNvPr descr="img/stl_outer.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Stationary Time Series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Stationary Time Series</a:t>
            </a:r>
          </a:p>
        </p:txBody>
      </p:sp>
      <p:pic>
        <p:nvPicPr>
          <p:cNvPr descr="img/eq_stationarity.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Stationary Time Series</a:t>
            </a:r>
          </a:p>
        </p:txBody>
      </p:sp>
      <p:pic>
        <p:nvPicPr>
          <p:cNvPr descr="img/stationary_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Benefits of Stationary Time Series</a:t>
            </a:r>
          </a:p>
        </p:txBody>
      </p:sp>
      <p:pic>
        <p:nvPicPr>
          <p:cNvPr descr="img/why_stationar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White noise</a:t>
            </a:r>
          </a:p>
        </p:txBody>
      </p:sp>
      <p:pic>
        <p:nvPicPr>
          <p:cNvPr descr="img/white_nois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Auto Regressive process AR</a:t>
            </a:r>
          </a:p>
        </p:txBody>
      </p:sp>
      <p:pic>
        <p:nvPicPr>
          <p:cNvPr descr="img/ar_intr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φ is a memory dial</a:t>
            </a:r>
          </a:p>
        </p:txBody>
      </p:sp>
      <p:pic>
        <p:nvPicPr>
          <p:cNvPr descr="img/ar_memo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Random walk</a:t>
            </a:r>
          </a:p>
        </p:txBody>
      </p:sp>
      <p:pic>
        <p:nvPicPr>
          <p:cNvPr descr="img/random_walk_intr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Variance of random walks &amp; auto regression</a:t>
            </a:r>
          </a:p>
        </p:txBody>
      </p:sp>
      <p:pic>
        <p:nvPicPr>
          <p:cNvPr descr="img/random_walk.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φ values for auto regression</a:t>
            </a:r>
          </a:p>
        </p:txBody>
      </p:sp>
      <p:pic>
        <p:nvPicPr>
          <p:cNvPr descr="img/unit_roo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Auto Regressive process of higher orders AR(p)</a:t>
            </a:r>
          </a:p>
        </p:txBody>
      </p:sp>
      <p:pic>
        <p:nvPicPr>
          <p:cNvPr descr="img/ar_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backshift operator</a:t>
            </a:r>
          </a:p>
        </p:txBody>
      </p:sp>
      <p:pic>
        <p:nvPicPr>
          <p:cNvPr descr="img/backshif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characteristic equation</a:t>
            </a:r>
          </a:p>
        </p:txBody>
      </p:sp>
      <p:pic>
        <p:nvPicPr>
          <p:cNvPr descr="img/char_eq.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Root cases</a:t>
            </a:r>
          </a:p>
        </p:txBody>
      </p:sp>
      <p:pic>
        <p:nvPicPr>
          <p:cNvPr descr="img/root_cas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Moving average process MA(q)</a:t>
            </a:r>
          </a:p>
        </p:txBody>
      </p:sp>
      <p:pic>
        <p:nvPicPr>
          <p:cNvPr descr="img/ma_intr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Spurious regression</a:t>
            </a:r>
          </a:p>
        </p:txBody>
      </p:sp>
      <p:pic>
        <p:nvPicPr>
          <p:cNvPr descr="img/spurious_regress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Stationarity tests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Dickey-Fuller intuition</a:t>
            </a:r>
          </a:p>
        </p:txBody>
      </p:sp>
      <p:pic>
        <p:nvPicPr>
          <p:cNvPr descr="img/df_intu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Dickey-Fuller test</a:t>
            </a:r>
          </a:p>
        </p:txBody>
      </p:sp>
      <p:pic>
        <p:nvPicPr>
          <p:cNvPr descr="img/df_tes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From DF to ADF</a:t>
            </a:r>
          </a:p>
        </p:txBody>
      </p:sp>
      <p:pic>
        <p:nvPicPr>
          <p:cNvPr descr="img/adf_tes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ADF, step by step</a:t>
            </a:r>
          </a:p>
        </p:txBody>
      </p:sp>
      <p:pic>
        <p:nvPicPr>
          <p:cNvPr descr="img/adf_recip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KPSS intuition</a:t>
            </a:r>
          </a:p>
        </p:txBody>
      </p:sp>
      <p:pic>
        <p:nvPicPr>
          <p:cNvPr descr="img/kpss_intu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Kwiatkowski Phillips Schmidt Shin (KPSS) test</a:t>
            </a:r>
          </a:p>
        </p:txBody>
      </p:sp>
      <p:pic>
        <p:nvPicPr>
          <p:cNvPr descr="img/kpss_recip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ADF and KPSS</a:t>
            </a:r>
          </a:p>
        </p:txBody>
      </p:sp>
      <p:pic>
        <p:nvPicPr>
          <p:cNvPr descr="img/adf_kps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Making a time series stationary</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Differencing</a:t>
            </a:r>
          </a:p>
        </p:txBody>
      </p:sp>
      <p:pic>
        <p:nvPicPr>
          <p:cNvPr descr="img/differenc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Over differencing</a:t>
            </a:r>
          </a:p>
        </p:txBody>
      </p:sp>
      <p:pic>
        <p:nvPicPr>
          <p:cNvPr descr="img/over_differenc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Box-Cox: fixing the variance</a:t>
            </a:r>
          </a:p>
        </p:txBody>
      </p:sp>
      <p:pic>
        <p:nvPicPr>
          <p:cNvPr descr="img/box_cox_wh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Box-Cox: what λ does</a:t>
            </a:r>
          </a:p>
        </p:txBody>
      </p:sp>
      <p:pic>
        <p:nvPicPr>
          <p:cNvPr descr="img/box_cox_lambd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Box-Cox: choosing λ</a:t>
            </a:r>
          </a:p>
        </p:txBody>
      </p:sp>
      <p:pic>
        <p:nvPicPr>
          <p:cNvPr descr="img/box_cox_choi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Autocorrelation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Lag</a:t>
            </a:r>
          </a:p>
        </p:txBody>
      </p:sp>
      <p:pic>
        <p:nvPicPr>
          <p:cNvPr descr="img/lag_def.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Correlation with the past</a:t>
            </a:r>
          </a:p>
        </p:txBody>
      </p:sp>
      <p:pic>
        <p:nvPicPr>
          <p:cNvPr descr="img/eq_acf.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Auto Correlation</a:t>
            </a:r>
          </a:p>
        </p:txBody>
      </p:sp>
      <p:pic>
        <p:nvPicPr>
          <p:cNvPr descr="img/acf_def.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Correlogram</a:t>
            </a:r>
          </a:p>
        </p:txBody>
      </p:sp>
      <p:pic>
        <p:nvPicPr>
          <p:cNvPr descr="img/acf_buil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Shapes worth recognising</a:t>
            </a:r>
          </a:p>
        </p:txBody>
      </p:sp>
      <p:pic>
        <p:nvPicPr>
          <p:cNvPr descr="img/acf_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band</a:t>
            </a:r>
          </a:p>
        </p:txBody>
      </p:sp>
      <p:pic>
        <p:nvPicPr>
          <p:cNvPr descr="img/acf_band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ACF vs PACF</a:t>
            </a:r>
          </a:p>
        </p:txBody>
      </p:sp>
      <p:pic>
        <p:nvPicPr>
          <p:cNvPr descr="img/pacf_ide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PACF</a:t>
            </a:r>
          </a:p>
        </p:txBody>
      </p:sp>
      <p:pic>
        <p:nvPicPr>
          <p:cNvPr descr="img/pacf_def.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identification table</a:t>
            </a:r>
          </a:p>
        </p:txBody>
      </p:sp>
      <p:pic>
        <p:nvPicPr>
          <p:cNvPr descr="img/acf_pacf_signatur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Ljung-Box intuition</a:t>
            </a:r>
          </a:p>
        </p:txBody>
      </p:sp>
      <p:pic>
        <p:nvPicPr>
          <p:cNvPr descr="img/ljung_box_intui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Ljung-Box test</a:t>
            </a:r>
          </a:p>
        </p:txBody>
      </p:sp>
      <p:pic>
        <p:nvPicPr>
          <p:cNvPr descr="img/ljung_box_nu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Ljung-Box steps</a:t>
            </a:r>
          </a:p>
        </p:txBody>
      </p:sp>
      <p:pic>
        <p:nvPicPr>
          <p:cNvPr descr="img/ljung_box_recip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5 — Part 1 Time Series: Structure</dc:title>
  <dc:creator>Paul Dubois</dc:creator>
  <cp:keywords/>
  <dcterms:created xsi:type="dcterms:W3CDTF">2026-09-27T22:44:36Z</dcterms:created>
  <dcterms:modified xsi:type="dcterms:W3CDTF">2026-09-27T22:44:36Z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5 — Lecture</vt:lpwstr>
  </property>
  <property fmtid="{D5CDD505-2E9C-101B-9397-08002B2CF9AE}" pid="3" name="subtitle">
    <vt:lpwstr>Advanced Data Science · NYU Paris · 2026</vt:lpwstr>
  </property>
</Properties>
</file>