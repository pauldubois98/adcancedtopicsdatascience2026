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Session 5 — Part 2</a:t>
            </a:r>
            <a:br/>
            <a:r>
              <a:rPr/>
              <a:t>Time Series: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Advanced Data Science · NYU Paris · 2026</a:t>
            </a:r>
            <a:br/>
            <a:br/>
            <a:r>
              <a:rPr/>
              <a:t>Paul Dubois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Week 5 — Lecture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Forecasting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Task and rule</a:t>
            </a:r>
          </a:p>
        </p:txBody>
      </p:sp>
      <p:pic>
        <p:nvPicPr>
          <p:cNvPr descr="img/forecast_ta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Four basic forecasts</a:t>
            </a:r>
          </a:p>
        </p:txBody>
      </p:sp>
      <p:pic>
        <p:nvPicPr>
          <p:cNvPr descr="img/baselin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Naive forecast</a:t>
            </a:r>
          </a:p>
        </p:txBody>
      </p:sp>
      <p:pic>
        <p:nvPicPr>
          <p:cNvPr descr="img/naive_de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Naive for white noise</a:t>
            </a:r>
          </a:p>
        </p:txBody>
      </p:sp>
      <p:pic>
        <p:nvPicPr>
          <p:cNvPr descr="img/naive_stro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Choosing a metric</a:t>
            </a:r>
          </a:p>
        </p:txBody>
      </p:sp>
      <p:pic>
        <p:nvPicPr>
          <p:cNvPr descr="img/metr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MASE</a:t>
            </a:r>
          </a:p>
        </p:txBody>
      </p:sp>
      <p:pic>
        <p:nvPicPr>
          <p:cNvPr descr="img/eq_m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Backtesting</a:t>
            </a:r>
          </a:p>
        </p:txBody>
      </p:sp>
      <p:pic>
        <p:nvPicPr>
          <p:cNvPr descr="img/backte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Random k-fold</a:t>
            </a:r>
          </a:p>
        </p:txBody>
      </p:sp>
      <p:pic>
        <p:nvPicPr>
          <p:cNvPr descr="img/cv_wro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Forecasting an interval</a:t>
            </a:r>
          </a:p>
        </p:txBody>
      </p:sp>
      <p:pic>
        <p:nvPicPr>
          <p:cNvPr descr="img/interva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ARIMA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AR and MA, recap</a:t>
            </a:r>
          </a:p>
        </p:txBody>
      </p:sp>
      <p:pic>
        <p:nvPicPr>
          <p:cNvPr descr="img/arma_rec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ARMA vs AR</a:t>
            </a:r>
          </a:p>
        </p:txBody>
      </p:sp>
      <p:pic>
        <p:nvPicPr>
          <p:cNvPr descr="img/arima_intu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ARIMA(p, d, q) model</a:t>
            </a:r>
          </a:p>
        </p:txBody>
      </p:sp>
      <p:pic>
        <p:nvPicPr>
          <p:cNvPr descr="img/eq_ari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 first, then p and q</a:t>
            </a:r>
          </a:p>
        </p:txBody>
      </p:sp>
      <p:pic>
        <p:nvPicPr>
          <p:cNvPr descr="img/arima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Seasonality problem</a:t>
            </a:r>
          </a:p>
        </p:txBody>
      </p:sp>
      <p:pic>
        <p:nvPicPr>
          <p:cNvPr descr="img/sarima_probl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SARIMA</a:t>
            </a:r>
          </a:p>
        </p:txBody>
      </p:sp>
      <p:pic>
        <p:nvPicPr>
          <p:cNvPr descr="img/sari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Box-Jenkins loop</a:t>
            </a:r>
          </a:p>
        </p:txBody>
      </p:sp>
      <p:pic>
        <p:nvPicPr>
          <p:cNvPr descr="img/box_jenki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Penalty on parameters</a:t>
            </a:r>
          </a:p>
        </p:txBody>
      </p:sp>
      <p:pic>
        <p:nvPicPr>
          <p:cNvPr descr="img/ic_motiv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Choosing the orders</a:t>
            </a:r>
          </a:p>
        </p:txBody>
      </p:sp>
      <p:pic>
        <p:nvPicPr>
          <p:cNvPr descr="img/aic_b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Residual diagnostics</a:t>
            </a:r>
          </a:p>
        </p:txBody>
      </p:sp>
      <p:pic>
        <p:nvPicPr>
          <p:cNvPr descr="img/residual_dia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ARIMAX</a:t>
            </a:r>
          </a:p>
        </p:txBody>
      </p:sp>
      <p:pic>
        <p:nvPicPr>
          <p:cNvPr descr="img/arima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ARIMA’s weakness</a:t>
            </a:r>
          </a:p>
        </p:txBody>
      </p:sp>
      <p:pic>
        <p:nvPicPr>
          <p:cNvPr descr="img/arima_lim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Prophet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Fitting a curve to time</a:t>
            </a:r>
          </a:p>
        </p:txBody>
      </p:sp>
      <p:pic>
        <p:nvPicPr>
          <p:cNvPr descr="img/prophet_mod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Trend and changepoints</a:t>
            </a:r>
          </a:p>
        </p:txBody>
      </p:sp>
      <p:pic>
        <p:nvPicPr>
          <p:cNvPr descr="img/prophet_tre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Shrinking the changepoints</a:t>
            </a:r>
          </a:p>
        </p:txBody>
      </p:sp>
      <p:pic>
        <p:nvPicPr>
          <p:cNvPr descr="img/prophet_shrink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Seasonality as Fourier terms</a:t>
            </a:r>
          </a:p>
        </p:txBody>
      </p:sp>
      <p:pic>
        <p:nvPicPr>
          <p:cNvPr descr="img/fourier_seasona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Events</a:t>
            </a:r>
          </a:p>
        </p:txBody>
      </p:sp>
      <p:pic>
        <p:nvPicPr>
          <p:cNvPr descr="img/prophet_eve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Prophet against ARIMA</a:t>
            </a:r>
          </a:p>
        </p:txBody>
      </p:sp>
      <p:pic>
        <p:nvPicPr>
          <p:cNvPr descr="img/prophet_vs_arim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— Part 2 Time Series: Forecasting</dc:title>
  <dc:creator>Paul Dubois</dc:creator>
  <cp:keywords/>
  <dcterms:created xsi:type="dcterms:W3CDTF">2026-09-29T16:47:01Z</dcterms:created>
  <dcterms:modified xsi:type="dcterms:W3CDTF">2026-09-29T16:47:01Z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Week 5 — Lecture</vt:lpwstr>
  </property>
  <property fmtid="{D5CDD505-2E9C-101B-9397-08002B2CF9AE}" pid="3" name="subtitle">
    <vt:lpwstr>Advanced Data Science · NYU Paris · 2026</vt:lpwstr>
  </property>
</Properties>
</file>