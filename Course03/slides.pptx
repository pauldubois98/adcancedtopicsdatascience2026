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notesMaster" Target="notesMasters/notesMaster1.xml" /><Relationship Id="rId89" Type="http://schemas.openxmlformats.org/officeDocument/2006/relationships/viewProps" Target="viewProps.xml" /><Relationship Id="rId88" Type="http://schemas.openxmlformats.org/officeDocument/2006/relationships/presProps" Target="presProps.xml" /><Relationship Id="rId1" Type="http://schemas.openxmlformats.org/officeDocument/2006/relationships/slideMaster" Target="slideMasters/slideMaster1.xml" /><Relationship Id="rId91" Type="http://schemas.openxmlformats.org/officeDocument/2006/relationships/tableStyles" Target="tableStyles.xml" /><Relationship Id="rId9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frame: this is not nine disconnected topics, it is one story. Session 2 built the feature table and dealt with missing data. Today: what do we do with it. Running example throughout: 30-day readmission risk from that same tabular record. Tell them the deck is deliberately light on text — the text is me.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down the left column, not the right. Each row is a problem a student will actually hit this semester; the right column is only the name of the answer. Promise them we come back to this exact table at the end.</a:t>
            </a:r>
          </a:p>
          <a:p>
            <a:pPr lvl="0" indent="0" marL="0">
              <a:buNone/>
            </a:pPr>
          </a:p>
          <a:p>
            <a:pPr lvl="0" indent="0" marL="0">
              <a:buNone/>
            </a:pPr>
            <a:r>
              <a:rPr/>
              <a:t>Two rows are worth pausing on because they are the ones students do not expect. “More parameters than rows” is not a mistake to avoid — it is a regime with its own behaviour, and double descent is the whole of section 3. And “not cheating” is not a footnote: it is why the last section spends two slides on where the split goes.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error falls monotonically. Test error is U-shaped, classically. The gap between them is the generalization gap. Point at the two ends and name them: underfitting on the left, overfitting on the right. The sweet spot is not a constant — it moves with sample size, which I’ll show in two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18 points from sin(2πx) plus noise. Degree 1 cannot bend. Degree 3 is about right. Degree 15 passes through every single point and oscillates wildly between them. This is the single most memorable picture of overfitting — let it sit. Ask before revealing the next slide: which of these has the lowest TRAINING error?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MSE collapses toward zero. Test MSE bottoms out around degree 3 and then explodes — note the log axis, this is orders of magnitude. The dotted line is the noise floor σ²: no model can beat it. A model that appears to beat it is leaking.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diagnostic habit I want them to build: always look at both numbers. More capacity fixes the first and makes the second worse. More data fixes the second and does nothing for the first. Naming which one you have is the whole job.</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questions, three terms. Not “which algorithm is best” — that question has no answer. Transition straight into the decomposition.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Fix a test point. Imagine drawing many training sets from the same distribution and fitting one model on each. Bias is where the cluster sits; variance is how wide it is. Stress hard: these are properties of a PROCEDURE over hypothetical datasets, not of the one model you fitted. Students consistently misread this. Ask which panel they would rather have — the answer depends on the noise level.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Expectation over both the noise AND the random training set. Do not derive it — add and subtract the mean prediction inside the square, cross term vanishes, done. Three minutes maximum. It matters as vocabulary, not as an exercise. σ² is the floor and cannot be reduced by any model. The other two trade off.</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thin line is one fit on one resampled dataset; the thick line is their average. Left: all 40 fits agree with each other and all are wrong — that is bias. Right: the average is nearly perfect but no individual fit is anywhere near it — that is variance. Read the printed numbers aloud; they are computed, not invented.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Bias² falls, variance rises, noise is flat, and the sum is the test error with its minimum at the dashed line. Everything here is measured over 120 resampled datasets, not asserted. The optimum is a property of the problem AND the sample size: with ten times more data the minimum shifts right. Capacity should scale with n — “which degree is best” has no answer without 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so far said: past the sweet spot, more capacity is worse. That is true in the shaded region, and it is where nearly all classical statistics lives. But keep pushing capacity and something else happens. The peak sits where the model has just barely enough parameters to fit the training data exactly — the interpolation threshold — and past it the test error comes DOWN again. Flag that this is a schematic; the next slide is the real experiment.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experiment first, so they know it is not a cartoon: 50 training points, targets from a linear teacher plus noise, and p random ReLU features. Fit by least squares with NO regularization; where p &gt; n take the minimum-norm solution. Sweep p, average over 20 seeds. Both panels share the x-axis: p / n, so 1 is the threshold. Walk the three badges left to right, they are the whole slide. ① p &lt; n: fewer knobs than data points. No exact fit exists, least squares has to compromise, and compromising averages the noise away. Flat, and roughly as good as it gets classically — that is the green dotted line. ② p = n: the system is square. Exactly ONE setting passes through all 50 points, the model has no freedom left, and to hit noisy targets it contorts. 614x worse. ③ p &gt; n: underdetermined. Infinitely many settings give zero training error, they are NOT equally good, and least squares hands you the smallest one. Error falls, and from p/n ≈ 1.8 (the green dot) it is better than anything ① could reach. Now the right panel — ask them to predict it before you show it. Same three phases, same peak in the same place, but the quantity is the size of the fitted weights. That is the whole explanation: the blow-up is not mysterious, it is the coefficients going 106x larger than anywhere else on the sweep, and coming back down once there are enough features to spread the fit over. Symptom left, cause right.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picture before the point. Same twelve training points on both sides, same unknown sine underneath. Every curve drawn here — the red one, the green one, and the four thin grey ones in between — passes exactly through all twelve points, so every one of them has training MSE zero. Read the two boxes aloud: identical training loss, test loss 10x apart. The grey curves are there to say the choice is not binary — there are infinitely many exact interpolants, and blending any two of them gives another one. So the loss no longer determines the solution: it is satisfied by all of them equally. What breaks the tie is the optimizer. Least squares takes the minimum-norm solution; gradient descent from a small initialization drifts to much the same place — that is the green curve, and nothing in the objective asked for it. That implicit preference for small, smooth solutions is doing the work of a regularizer that nobody wrote down. So “zero training error” no longer implies “memorized the noise” — it depends entirely on WHICH zero-error solution you landed on. The training procedure has become part of the model specification. Worth saying out loud: this is why parameter count is a bad measure of capacity. What matters is how strongly the fit is constrained, not how many knobs exist.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experiment, same sweep, the only change is a ridge penalty on the weights — i.e. we now forbid exactly the thing the previous slide identified as the cause. Left: four sweeps. Right: the same four runs reduced to one number each, the worst test error anywhere on the sweep. Read the bars, they are the argument: 618, 24, 2.3, 1.0. A penalty of 10⁻³ — almost nothing — already kills 96% of the spike, and with λ tuned the worst point on the whole curve is just the ordinary error level; the green curve falls monotonically, there is no peak at all. Note the far right of the left panel: once p ≫ n all four coincide. The penalty only matters near the threshold, which is exactly where the weights blow up. The honest summary: double descent is a symptom of interpolating WITHOUT regularization. It is real, and it explains why huge models work, but it is not a reason to skip regularization — it is an argument for it. Which is section 4. Practical caveat for their own work: if you see a bump in a validation curve near where parameters ≈ observations, that is this phenomenon, not a bug — and the fix is on this slide. Close the section on the through-line: complexity is not inherently bad, UNCONTROLLED complexity is. Three ways to control it, which is the rest of the session — constrain the model (regularization), choose the constraints well (hyperparameter optimization), average away what is left (ensembles).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Plain ERM over a rich family chases the noise: with enough capacity the empirical risk hits zero while the true risk is terrible. So make some members of the family more expensive than others. λ = 0 is plain ERM; λ → ∞ collapses to the simplest member. λ is a hyperparameter, not a parameter — that distinction is section 7.</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45 observations, 30 features, ridge. Left edge: low bias, high variance, the fit is chasing noise. Right edge: everything shrunk to nothing, high bias. The minimum is where trading variance for bias stops being profitable. You find it on a VALIDATION set — never on the training curve, which just slopes down forever.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Ridge has a closed form, (XᵀX + λI)⁻¹Xᵀy, always invertible even when p &gt; n. Lasso has none — coordinate descent or LARS. Practical warnings, say them now: standardize first, because the penalty is scale-dependent and an unscaled feature is effectively unregularized; do not penalize the intercept; put the scaler inside the pipeline so it refits in every CV fold; scan λ on a log grid.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Red are the four truly nonzero coefficients, grey the six truly zero ones. Ridge shrinks everything smoothly and nothing ever reaches zero. Lasso switches them off one at a time, and by the right-hand edge only the strongest survives. That is feature selection for free. Caveat for clinical data: among correlated predictors lasso keeps one and drops the rest, which is why elastic net exists.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solution is where the loss contour first touches the constraint set. The L2 ball is smooth, so contact happens generically off the axes. The L1 ball has corners ON the axes, and corners stick out — contact at a corner means a coefficient is exactly zero. In p dimensions the L1 ball has corners, edges and faces, most of them low-dimensional. Sparsity is geometry, not a thresholding hack.</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Anything that restricts what the fit can do, trading a little bias for a lot of variance. It does not have to appear in the objective: it can be a constraint, injected noise, a stopping rule, or extra data. Every model here has at least one such knob, none has a default that is right for your dataset, and they interact. Augmentation is a claim about an invariance — a horizontal flip on a chest X-ray is wrong, because dextrocardia is real. A wrong invariance adds bias.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Depth 1 is a single line. Depth 4 recovers the moons. Unbounded depth carves out islands around individual noisy points — a lookup table, zero bias, maximal variance. In practice min_samples_leaf is the more robust knob than max_depth.</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Gradient boosting on Friedman-1. Training MSE keeps falling forever. Test MSE bottoms out and climbs. Stopping at the green line IS regularization — nothing was added to the objective. This is also exactly how you should choose the number of trees in part VI, so flag it now.</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θ is learned by fitting; λ is chosen before fitting. Why can’t we learn λ the same way? Because minimizing TRAINING loss over λ gives the degenerate answer every time: λ = 0, max_depth = ∞, as many trees as you can afford. Those are exactly the settings that let the model memorize. Hyperparameters must be scored on data the fit has not seen. Preprocessing choices count too: scaler, encoder, imputer.</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 gradient with respect to λ. Each evaluation is a full model fit or a full CV loop. Conditional structure means the space is a TREE, not a box: gamma only exists if the kernel is RBF. Grid search cannot express that; Optuna can.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range, same number of draws. Uniform sampling puts almost nothing below 0.01 — read the counts. Learning rates, regularization strengths, C, gamma: always log. Depths, counts, folds: linear integers. This one line of code is the difference between a search that works and one that mysteriously does not.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Smooth and roughly convex on a LOG scale — which is why we search orders of magnitude, not increments. Nearly flat near the optimum: everything in the green band is statistically indistinguishable, so chasing the exact minimum is wasted budget. And the red dots are what you actually measure: the objective is noisy.</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good region is a diagonal RIDGE, not a point: learning rate and depth trade off against each other. Consequence — tuning one knob at a time is unreliable, because the best depth depends on the learning rate you happened to fix.</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surface, same 25-trial budget. Grid is regular and coarse. Random covers. Bayesian starts random then concentrates on the ridge — look at the clustering. Honesty slide: with 1000 cheap parallel fits, random search is hard to beat. Bayesian optimization is inherently sequential, and that is its cost. Use it when fits take minutes, the budget is 50–500 trials, and you have 3–20 knobs.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scene: the function we are minimizing is “hyperparameters in, validation score out”, and one evaluation is a full cross-validation — minutes. We can afford a few dozen calls, no more, and we get no gradient. Left: after three trials that is literally all we know — three isolated numbers. Right: fit a cheap probabilistic model, the surrogate, to those three points. A Gaussian process is the usual choice; think of it as smooth interpolation that also reports how sure it is. It answers in milliseconds, so we can ask it about thousands of candidate settings for free — that asymmetry is what the method exploits. Two outputs at every x: a mean (best guess) and a band (how wrong the guess could be). Note the band pinches to nothing at the three measured points.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true curve, more evaluations. The band is the honest part of the model: wide where nothing has been measured, and shrinking everywhere a point is added — read the printed average width, 1.46 down to 0.17. By twelve points the surrogate has essentially recovered the curve. Two remarks students always ask about. Far from any data the mean drifts back to the prior (flat here) — with no evidence the model returns to its default belief. And the band never closes completely, because evaluations are noisy: a different CV split gives a slightly different score. This is the ingredient random search does not have. Random search cannot say “I have never looked between 0.5 and 0.9”; the surrogate can, and the next slide turns that into a decision.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“how” behind the previous two slides. A Gaussian process is not one curve, it is a probability distribution over curves, and both panels show six draws from it. Left, before any data: the prior. Every curve is smooth — that is the only thing we have assumed — and they scatter around a flat mean. Say out loud that the flat line is a default belief, not a prediction. Right, after three evaluations: keep only the curves that agree with what we measured. That is all conditioning is. The thick line is the average of the survivors — that is the mean — and their spread is the band. Where the survivors still disagree we are uncertain; at a measured point they all pass through it, so the band pinches shut. If someone asks why the curves do not pass EXACTLY through the dots: the model allows for noise in the measurement, which is honest — a different CV split would have given a slightly different score.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only thing you choose when you build the surrogate is the kernel: a function saying how similar two hyperparameter settings are. Left panel, the standard choice — squared exponential — similarity 1 at zero distance, decaying with a length-scale ℓ. Read ℓ as “how far a measurement’s influence reaches”. The three panels use the same four points and differ only in ℓ. ℓ too short: each point informs nothing but itself, the mean snaps straight back to the prior between trials, the band is wide everywhere. The surrogate is a lookup table and the search degenerates to random. ℓ too long: everything is assumed similar to everything, the real structure is smoothed into one broad bowl, and the band is falsely narrow — overconfident. About right: smooth where we have evidence, uncertain where we do not. Two practical consequences. One, this is why you search learning rates on a LOG scale: “nearby” has to be measured in the units in which the loss actually behaves. Two, ℓ is a hyperparameter of the hyperparameter search — libraries fit it to the observed trials by maximizing the marginal likelihood, so you never set it by hand. Note the honest recursion here and move on.</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arithmetic seen as a curve instead of a table. Rearranged, μ(x) = Σ αᵢ k(x, xᵢ): one kernel bump per trial, centred on that trial, and the only freedom is each bump’s height αᵢ. Left panel: those five bumps. Note two are negative — a trial can pull the curve down, which is how the model represents “the neighbour already accounted for this”. Right: add them up and you get exactly the blue mean curve we have been staring at since the start of the section, passing through all five measurements. Two consequences worth stating. Far from every trial all the bumps have decayed to zero, so the mean returns to the prior — that is the flat region students ask about. And the width of a bump is the length-scale: it is literally how far one measurement’s influence reaches, which is the previous slide seen from the other side.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Beside the length-scale there is σ, how much measurement noise the model assumes, the σ²I added to the diagonal. Same nine trials, same kernel, three values. σ ≈ 0: the curve is forced through every score exactly, so it invents oscillations between nearby trials to reconcile scores that only differ by CV noise. It is overfitting, in the same sense as the first section of today’s lecture. σ far too large: the model treats the scores as mostly noise, keeps a wide band even where it has measured, and flattens toward the prior. It learns nothing. Matched to the real noise: smooth through the trials, tight band at them, honest between them. This matters because our scores ARE noisy — resplit the CV and the number moves. Ask the room what σ ≈ 0 does to the acquisition function: it drives uncertainty to zero at every measured point and makes the search chase artefacts. Libraries fit σ along with ℓ by maximizing the marginal likelihood; the reason to know it exists is that it is the knob that decides whether the surrogate interpolates or smooths.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Deliberately a text slide: this is the conceptual jump of the whole section. We never optimize the expensive function directly. We optimize a cheap surrogate score over the whole space, spend one real evaluation at its argmax, then update. Ask the room what happens if we only use the mean — someone will say “it gets stuck where it already looked”, which is exactly right and is the greedy failure we come back to in two slides. The acquisition also solves a practical problem: it turns a search over a space we cannot differentiate into maximizing a closed-form function we can evaluate at thousands of points for nothing.</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ways to score a candidate. Expected Improvement is large where the mean is good OR the uncertainty is big, and balances the two with no knob. UCB gives you an explicit dial κ: zero is pure greed, large is near-random, and it is often annealed down as budget is consumed. Too greedy misses the global optimum; too exploratory never converges. That trade-off is all an acquisition function is.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a Gaussian process gives a mean and an uncertainty band at every untried point — uncertainty is zero at evaluated points and grows away from them. Bottom: the acquisition function scores each candidate, and its maximum is the next point to evaluate. That evaluation is expensive; the acquisition is cheap, so we can optimize it densely. Follow one iteration across all three columns.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method, and every library implements exactly this. Three things to say. One: </a:t>
            </a:r>
            <a:r>
              <a:rPr>
                <a:latin typeface="Courier"/>
              </a:rPr>
              <a:t>evaluate</a:t>
            </a:r>
            <a:r>
              <a:rPr/>
              <a:t> is the only expensive line — one full cross-validation per pass of the loop, everything else is arithmetic on a few dozen points. Two: the random start is not optional; with no data the surrogate has nothing to model, which is why Optuna’s TPE ignores its model for the first ten trials. Three: the loop is sequential by construction — trial t+1 needs trial t’s answer. That is the price we pay for the sample efficiency, and it is why random search still wins when you have a hundred machines and cheap fits.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Define-by-run: the search space IS Python code, evaluated while the trial runs. Note log=True. Default sampler is TPE — instead of modelling p(y|x) it splits past trials into good and bad, fits a density over x for each, and proposes values that look like the good ones and unlike the bad ones. Cheaper than a GP and native with categorical and conditional spaces.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Grey dots are trials, red is best-so-far. First ten are random start-up — TPE needs data before it can model anything. The green region is the question this plot exists to answer: the curve is flat, more budget is not buying anything, stop.</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 an intermediate score each round; if it is below the median of past trials at the same step, raise TrialPruned. Effectively multiplies the budget by 2–5×. The danger: prune too early and you kill slow starters — a small learning rate looks terrible at round 20 and wins at round 800.</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the equation, the picture it summarises. Every grey curve is one model fitted on a slightly different sample: each is unbiased — right on average — but wildly wrong at any given point. That is exactly a deep tree. Green is their average, and it tracks the truth far better than any grey curve does. Right panel: freeze one input. Fifteen predictions, spread σ around the truth. Some are too high, some too low, and the errors partly cancel when you add them up — the average lands much closer, with spread σ/√M. Averaging M models is the same arithmetic as averaging M noisy measurements of the same quantity. Say the two conditions out loud now, because the next slide is about breaking them: the models must be roughly unbiased, and their errors must be independent.</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fifteen models, same amount of error each, three levels of agreement. Left: identical models. Every one is wrong by the same amount in the same direction, so the average is wrong by exactly that amount. Fifteen models bought nothing — and 500 would buy nothing either. This is the answer to “what if I bag 500 copies of the same linear regression”. Middle: the realistic case. Part of the error is shared — every tree splits first on the same dominant feature — and only the private part cancels. Some benefit, not the full benefit. Right: diverse models. The errors point in different directions and mostly wipe each other out. So the quantity that matters is not how many models you have, it is how much of their error is shared. That number has a name: ρ, the pairwise error correlation. Keep ρ as vocabulary for the rest of the section: it is the reason more trees hit a wall, and max_features in a random forest is the knob that lowers it.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ways to spend many trees, set side by side before we look at either closely. Bagging: independent, parallel, deep trees, averaged — it is the picture from the last two slides, and it attacks VARIANCE. Boosting: sequential, shallow trees, each one fitting the errors of the sum so far — it attacks BIAS. The consequence to flag now and cash in later: more trees cannot hurt a bagged model, and more trees CAN overfit a boosted one, which is why early stopping came up two sections ago. Next slide takes the left column, then we spend the rest of the section on the right one.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deep tree: jagged, high variance. Bagged: much smoother, same bias — averaging is doing exactly what the dot strip promised. Random forest adds max_features, so each split only considers a random subset — without it every tree splits first on the same dominant feature and ρ stays high. max_features is literally the ρ knob from the correlation slide: it does not make any single tree better, it makes the trees disagree, which is the only thing that lowers the floor. Bootstrap detail worth saying: each sample omits about 37% of rows, which gives the out-of-bag error estimate for free. And n_estimators cannot overfit — more is only slower. That stops being true for boosting, which is the rest of the section.</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row: the running model F_m. Bottom row: the residuals it has not explained yet, and the depth-2 tree being fitted to them. Follow one column top to bottom, then move right. By the fourth panel the residuals are nearly flat — done. A depth-2 tree is barely better than guessing; the SUM of many is very flexible. Bagging averages strong learners; boosting sums weak ones.</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F_m has been on the last two slides without a definition — fix that now, because everything after this is written in terms of it. Say the title as “F sub m”. F_m is not “the model at step m” in some abstract sense: it is literally the sum of the first m trees, plus a starting constant. F_0 is that constant — the base rate, the one number you would predict for everybody. h_1 is a small tree fitted to what F_0 got wrong, h_2 a tree fitted to what F_0 + eta*h_1 still gets wrong, and so on. So a fitted boosting model is a LIST of trees, and predicting means running the patient down all M of them and adding the M numbers up. There is no single tree to look at, which is why these models need SHAP or importance plots to be read. Two properties worth saying out loud, both consequences of the plus sign. One: nothing is ever revised. Tree 3 cannot correct tree 1 by editing it — it can only add something on top. That is why the order matters and why the fit is sequential. Two: F_m for every m is available for free from the same fitted model, just stop adding early. That is exactly what early stopping does, and what staged_predict gives you in sklearn.</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the tuning curve, the mechanism. Boosting’s update is one line: the new model is the old one plus η times the tree just fitted. η is not a speed setting — it decides how much of each tree’s opinion actually makes it into the model. Left, η = 1: each tree is added at full size. Three trees in, the fit already has big steps in it; sixty trees in it is tracking individual points. Nothing later can undo an early tree’s overreach, because boosting only ever adds. Right, η = 0.1, the same sixty trees: every tree moves the fit a little, so it takes many of them to reach the same shape — and what it reaches is the smooth signal rather than the noise. That is why η is called shrinkage, and why it is a regularizer: it limits how much any one tree can contribute, exactly as ridge limits how large any one coefficient can be. The price is that you need more trees to get anywhere — which is the trade-off the next slide measures. Worth flagging: this figure holds the tree count fixed to compare shapes. In practice you do not fix it — you let early stopping choose it, per η.</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variable being optimized is the FUNCTION. The negative gradient is known only at the training points; the tree h_m generalizes it everywhere, so the tree IS the step direction and η is the step size. For squared loss the pseudo-residual is the plain residual; for log loss it is y − p. Note the tree is always a REGRESSION tree, whatever the task.</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η = 0.5 drops fast and then climbs — it overfits. η = 0.05 is slower and reaches a LOWER minimum. Shrinkage keeps any single tree from dominating. η and M are one knob in two halves: halve η, roughly double M. So do not tune both blindly — fix η small and choose M by early stopping.</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left to right. First term: the usual loss, but measured on the model we already have plus the tree we are about to add — h is what we are solving for. Second term: γ times T, the number of leaves — every leaf costs γ, so a leaf has to earn its keep. Third term: λ times the sum of squared leaf values w_j — the same ridge penalty as in section 2, applied to what each leaf outputs, so no single leaf can shout.</a:t>
            </a:r>
          </a:p>
          <a:p>
            <a:pPr lvl="0" indent="0" marL="0">
              <a:buNone/>
            </a:pPr>
          </a:p>
          <a:p>
            <a:pPr lvl="0" indent="0" marL="0">
              <a:buNone/>
            </a:pPr>
            <a:r>
              <a:rPr/>
              <a:t>The point to make here is structural: the complexity of the tree is written into the thing being minimized. Other implementations grow a tree and then prune it; here there is nothing to bolt on afterwards, because the price of a leaf is already in the objective. Next slide: what falls out when you actually minimize it.</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the section with the thing a tree actually spends its time doing, then spend the rest of the section explaining the y axis of the bottom panel. A candidate split is a pair: one feature, one threshold. For a feature, sort the rows by its value and take the midpoint between every pair of consecutive values — n rows give n−1 candidates — and do that for every feature. There is nothing adaptive about the list; it is enumeration.</a:t>
            </a:r>
          </a:p>
          <a:p>
            <a:pPr lvl="0" indent="0" marL="0">
              <a:buNone/>
            </a:pPr>
          </a:p>
          <a:p>
            <a:pPr lvl="0" indent="0" marL="0">
              <a:buNone/>
            </a:pPr>
            <a:r>
              <a:rPr/>
              <a:t>Top panel: 40 rows on one feature, coloured by label, so at the first tree g is +0.5 for one class and −0.5 for the other and h is 0.25 for everyone. The tick marks are the candidates. Bottom panel: the gain of every one of them, for all three features. Sweep the threshold left to right and G_L and H_L are just running sums, which is why the whole scan costs one pass per feature after sorting, not one refit per candidate.</a:t>
            </a:r>
          </a:p>
          <a:p>
            <a:pPr lvl="0" indent="0" marL="0">
              <a:buNone/>
            </a:pPr>
          </a:p>
          <a:p>
            <a:pPr lvl="0" indent="0" marL="0">
              <a:buNone/>
            </a:pPr>
            <a:r>
              <a:rPr/>
              <a:t>The gain is the number we build up over the next four slides; for now say only that it is “how much better off the node is after this split, net of what the extra leaf costs”. The winner is the argmax over the whole picture — over thresholds AND over features. Here it lands at x₁ &lt; 0.56, close to where the classes actually separate, and the other two features never get near it. Note the ends of the curve: a threshold that puts one or two rows on a side has almost no gain, because λ in the denominator kills a leaf with no evidence behind it. And where the gain goes below zero the split buys less than the γ it costs, so it is not made at all.</a:t>
            </a:r>
          </a:p>
          <a:p>
            <a:pPr lvl="0" indent="0" marL="0">
              <a:buNone/>
            </a:pPr>
          </a:p>
          <a:p>
            <a:pPr lvl="0" indent="0" marL="0">
              <a:buNone/>
            </a:pPr>
            <a:r>
              <a:rPr/>
              <a:t>If asked about cost: exact scanning is O(n log n) per feature per node for the sort. This is precisely the step LightGBM replaces by binning the feature into ~255 buckets, so the scan is over bins rather than over rows.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Spend the first minute on the three symbols along the top, because two of them share a letter and that trips everybody.</a:t>
            </a:r>
          </a:p>
          <a:p>
            <a:pPr lvl="0" indent="0" marL="0">
              <a:buNone/>
            </a:pPr>
          </a:p>
          <a:p>
            <a:pPr lvl="0" indent="0" marL="0">
              <a:buNone/>
            </a:pPr>
            <a:r>
              <a:rPr/>
              <a:t>h(x_i), with an argument, is the NEW TREE — the thing we are solving for. It is a function: give it a row, it returns a number. That is the same h_m as in the boosting section, the tree being added to F_{m-1}.</a:t>
            </a:r>
          </a:p>
          <a:p>
            <a:pPr lvl="0" indent="0" marL="0">
              <a:buNone/>
            </a:pPr>
          </a:p>
          <a:p>
            <a:pPr lvl="0" indent="0" marL="0">
              <a:buNone/>
            </a:pPr>
            <a:r>
              <a:rPr/>
              <a:t>g_i and h_i, with a subscript, are NUMBERS, one pair per row, and they are already known before the tree exists: they are the first and second derivative of that row’s loss, evaluated at the prediction the current model already makes. Say the concrete case out loud — for squared loss g_i is the residual and h_i is 1; for log loss g_i = p_i − y_i and h_i = p_i(1 − p_i). Slide 64 is entirely about them.</a:t>
            </a:r>
          </a:p>
          <a:p>
            <a:pPr lvl="0" indent="0" marL="0">
              <a:buNone/>
            </a:pPr>
          </a:p>
          <a:p>
            <a:pPr lvl="0" indent="0" marL="0">
              <a:buNone/>
            </a:pPr>
            <a:r>
              <a:rPr/>
              <a:t>So in the second line, g_i·h(x_i) is a known number times the unknown tree output, and ½h_i·h(x_i)² is a known number times that output squared. The unknown appears only as h(x_i) — everything else is data. That is why it turns into a quadratic. If anyone reads ½h_i h(x_i)² as “the tree squared times the tree”, stop and separate the two h’s again.</a:t>
            </a:r>
          </a:p>
          <a:p>
            <a:pPr lvl="0" indent="0" marL="0">
              <a:buNone/>
            </a:pPr>
          </a:p>
          <a:p>
            <a:pPr lvl="0" indent="0" marL="0">
              <a:buNone/>
            </a:pPr>
            <a:r>
              <a:rPr/>
              <a:t>Now the moves. One: the loss term is awkward because the new tree sits inside ℓ. Taylor-expand to second order around the model we already have — g_i and h_i are exactly the coefficients that expansion produces. The leftover term ℓ(y_i, F_{m-1}) has no tree in it at all, so as far as choosing this tree is concerned it is a constant and can be dropped.</a:t>
            </a:r>
          </a:p>
          <a:p>
            <a:pPr lvl="0" indent="0" marL="0">
              <a:buNone/>
            </a:pPr>
          </a:p>
          <a:p>
            <a:pPr lvl="0" indent="0" marL="0">
              <a:buNone/>
            </a:pPr>
            <a:r>
              <a:rPr/>
              <a:t>Two: use what a tree actually is. A tree is a piecewise-constant function — every row landing in leaf j gets the same output w_j. So instead of summing over rows, sum over leaves and collect the rows inside each. All the row-level detail collapses into two numbers per leaf: G_j, the sum of the g’s in that leaf, and H_j, the sum of the h’s. Note where λ went: the ridge penalty on w_j merges into the quadratic coefficient, which is why it will turn up as H_j + λ everywhere from here on.</a:t>
            </a:r>
          </a:p>
          <a:p>
            <a:pPr lvl="0" indent="0" marL="0">
              <a:buNone/>
            </a:pPr>
          </a:p>
          <a:p>
            <a:pPr lvl="0" indent="0" marL="0">
              <a:buNone/>
            </a:pPr>
            <a:r>
              <a:rPr/>
              <a:t>Three, the payoff: look at the sum and notice that w_j appears in exactly one of its terms. Nothing couples the leaves — the choice of value in leaf 3 has no bearing on leaf 5. So minimising the whole objective over the whole tree is not one T-dimensional problem, it is T separate one-dimensional problems, one per leaf, and each is a plain quadratic in a single unknown.</a:t>
            </a:r>
          </a:p>
          <a:p>
            <a:pPr lvl="0" indent="0" marL="0">
              <a:buNone/>
            </a:pPr>
          </a:p>
          <a:p>
            <a:pPr lvl="0" indent="0" marL="0">
              <a:buNone/>
            </a:pPr>
            <a:r>
              <a:rPr/>
              <a:t>That is what makes everything after this slide possible. A quadratic in one variable has a closed-form minimum, and its value at that minimum is a number you can score a set of rows with — which is the next two slides.</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step most people never see, and it is short. Restrict the objective to a single leaf: as a function of that leaf’s value w it is G_j·w + ½(H_j+λ)w² + γ — a plain one-dimensional quadratic. Minimise it and you get w</a:t>
            </a:r>
            <a:r>
              <a:rPr i="1"/>
              <a:t>. But now substitute w</a:t>
            </a:r>
            <a:r>
              <a:rPr/>
              <a:t> back in: the w disappears and what is left is a pure number, −½·G²/(H+λ) + γ, that depends only on which rows are in the leaf.</a:t>
            </a:r>
          </a:p>
          <a:p>
            <a:pPr lvl="0" indent="0" marL="0">
              <a:buNone/>
            </a:pPr>
          </a:p>
          <a:p>
            <a:pPr lvl="0" indent="0" marL="0">
              <a:buNone/>
            </a:pPr>
            <a:r>
              <a:rPr/>
              <a:t>So define the score of a set of rows as G²/(H+λ). Splitting replaces one set of rows by two, and the gain is the score after minus the score before, halved, minus γ for the extra leaf. Every candidate split — every feature, every threshold — is ranked by that one number, and the node is not split at all if no candidate gets it above zero.</a:t>
            </a:r>
          </a:p>
          <a:p>
            <a:pPr lvl="0" indent="0" marL="0">
              <a:buNone/>
            </a:pPr>
          </a:p>
          <a:p>
            <a:pPr lvl="0" indent="0" marL="0">
              <a:buNone/>
            </a:pPr>
            <a:r>
              <a:rPr/>
              <a:t>Be explicit about one thing, because it is the usual confusion: w* does not choose the split. w* is what a leaf outputs. What chooses the split is the SCORE, which is the value the objective reaches once the leaf is filled with w* — that is the only role the substitution plays here. Thresholds are not solved for at all; they are found by trying every candidate, which is the scan we opened the section with. Go back to that slide here if the room wants to see the y axis land.</a:t>
            </a:r>
          </a:p>
          <a:p>
            <a:pPr lvl="0" indent="0" marL="0">
              <a:buNone/>
            </a:pPr>
          </a:p>
          <a:p>
            <a:pPr lvl="0" indent="0" marL="0">
              <a:buNone/>
            </a:pPr>
            <a:r>
              <a:rPr/>
              <a:t>The punchline is worth saying out loud: the quantity the tree will later output is the same quantity used to decide the tree’s shape. That is what people mean when they say XGBoost’s pruning is “derived from the objective” — and it is why λ and γ change not just the leaf values but which splits exist at all. Ask them what happens to the gain as λ grows: every score shrinks, weakly-evidenced splits shrink fastest, and the tree gets smaller on its own.</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the leaf-value formula, say what is in it. Take one row and freeze everything else: the model has a current prediction for that row, and the loss has a value, a slope and a curvature at that prediction. The slope is g_i — which way the prediction should move and how badly. The curvature is h_i — how fast that slope changes, so how far it is safe to move.</a:t>
            </a:r>
          </a:p>
          <a:p>
            <a:pPr lvl="0" indent="0" marL="0">
              <a:buNone/>
            </a:pPr>
          </a:p>
          <a:p>
            <a:pPr lvl="0" indent="0" marL="0">
              <a:buNone/>
            </a:pPr>
            <a:r>
              <a:rPr/>
              <a:t>The table is the part to memorise. For squared loss g is just the residual and h is 1, which is why plain gradient boosting on squared loss looks like “fit the residuals” — it is the same algorithm with h = 1 everywhere. For log loss g = p − y and h = p(1−p), so a confident row has h ≈ 0 and hardly counts, while an uncertain row near p = 0.5 counts fully.</a:t>
            </a:r>
          </a:p>
          <a:p>
            <a:pPr lvl="0" indent="0" marL="0">
              <a:buNone/>
            </a:pPr>
          </a:p>
          <a:p>
            <a:pPr lvl="0" indent="0" marL="0">
              <a:buNone/>
            </a:pPr>
            <a:r>
              <a:rPr/>
              <a:t>Two things to stress. First, g and h are recomputed for every row before every tree, from the current predictions. Second, once they are computed the tree never looks at y again: the whole tree-building problem is expressed in g and h. That is what makes swapping the loss cheap.</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row through, left to right. The splits do one job only: they decide which leaf the row ends in. They carry no numbers of their own. Once the row is in a leaf, that leaf’s w* IS the tree’s output for it — a regression tree, whatever the task, and every row in that leaf gets the same value.</a:t>
            </a:r>
          </a:p>
          <a:p>
            <a:pPr lvl="0" indent="0" marL="0">
              <a:buNone/>
            </a:pPr>
          </a:p>
          <a:p>
            <a:pPr lvl="0" indent="0" marL="0">
              <a:buNone/>
            </a:pPr>
            <a:r>
              <a:rPr/>
              <a:t>The right side is the arithmetic across trees. Start from F_0, the base score (the mean for regression, the log-odds of the base rate for classification). Each tree contributes exactly one leaf value, scaled by η, and the predictions accumulate. Point out that with η = 0.3 a leaf that solved for −1.2 only moves the row by −0.36 — the tree’s own answer is deliberately not taken in full.</a:t>
            </a:r>
          </a:p>
          <a:p>
            <a:pPr lvl="0" indent="0" marL="0">
              <a:buNone/>
            </a:pPr>
          </a:p>
          <a:p>
            <a:pPr lvl="0" indent="0" marL="0">
              <a:buNone/>
            </a:pPr>
            <a:r>
              <a:rPr/>
              <a:t>Two things they should be able to state after this slide. First, a boosted model’s prediction for a row is a base score plus one number per tree — that is why inference is fast and why you can stop at any M. Second, this is all in score space: for classification the sigmoid is applied once at the very end, never between trees, which is exactly why the trees can stay regression trees.</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first what LightGBM does NOT change: the objective, the gain, the closed-form leaf value — every line of the XGBoost section still holds. What changes is the cost of the scan we opened with, because that scan is where a GBDT spends its life: features × candidates × nodes × trees.</a:t>
            </a:r>
          </a:p>
          <a:p>
            <a:pPr lvl="0" indent="0" marL="0">
              <a:buNone/>
            </a:pPr>
          </a:p>
          <a:p>
            <a:pPr lvl="0" indent="0" marL="0">
              <a:buNone/>
            </a:pPr>
            <a:r>
              <a:rPr/>
              <a:t>The idea is to stop asking the exact question. Sort each feature once, up front, and cut it into at most 255 bins. Then one pass over the rows fills a histogram: per bin, Σg, Σh and a count — which, if you look back at the gain formula, is exactly and only what a split needs. Nothing else about the rows is ever consulted again.</a:t>
            </a:r>
          </a:p>
          <a:p>
            <a:pPr lvl="0" indent="0" marL="0">
              <a:buNone/>
            </a:pPr>
          </a:p>
          <a:p>
            <a:pPr lvl="0" indent="0" marL="0">
              <a:buNone/>
            </a:pPr>
            <a:r>
              <a:rPr/>
              <a:t>Two side effects worth naming. Memory: a bin index is one byte where the raw value was four or eight, so far more of the data stays in cache. And the binning is itself mild regularization — a threshold can no longer be tuned between two adjacent rows, which is the “regularization is broader than a penalty” idea again.</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what the histogram is FOR, in one picture. The gain formula never asks for rows — it asks for four numbers: G_L, H_L, G_R, H_R. So the histogram stores two things per bin, Σg and Σh, and everything else on this slide is addition.</a:t>
            </a:r>
          </a:p>
          <a:p>
            <a:pPr lvl="0" indent="0" marL="0">
              <a:buNone/>
            </a:pPr>
          </a:p>
          <a:p>
            <a:pPr lvl="0" indent="0" marL="0">
              <a:buNone/>
            </a:pPr>
            <a:r>
              <a:rPr/>
              <a:t>Top two rows: the histogram itself, filled by one pass over the node’s rows. Bottom two rows: the running totals of each, left to right. Do the Σg one out loud — 2.5, 3.0, 5.0, 6.0, 6.5 — and the Σh one alongside — 1.25, 2.50, 3.50, 5.00, 7.25. Each column of those two rows is a complete candidate split: the entry under bin 4 says that cutting there puts G_L = +6.5 and H_L = 7.25 on the left. The right side is free, because the last cell of each running row is the whole node: G = +1.0 and H = 10.00, so G_R = 1.0 − 6.5 = −5.5 and H_R = 10.00 − 7.25 = 2.75.</a:t>
            </a:r>
          </a:p>
          <a:p>
            <a:pPr lvl="0" indent="0" marL="0">
              <a:buNone/>
            </a:pPr>
          </a:p>
          <a:p>
            <a:pPr lvl="0" indent="0" marL="0">
              <a:buNone/>
            </a:pPr>
            <a:r>
              <a:rPr/>
              <a:t>Now substitute, and show every step rather than quoting the answer. s(G,H) is G²/(H+λ) with λ = 1, so the left child scores 6.5²/8.25 = 5.12, the right child (−5.5)²/3.75 = 8.07, and the unsplit node 1.0²/11 = 0.09. Half of (5.12 + 8.07 − 0.09) is 6.55, minus γ = 0.5, giving a gain of +6.05 — which is exactly the peak you will see on the next slide, because it is the same node and the same numbers.</a:t>
            </a:r>
          </a:p>
          <a:p>
            <a:pPr lvl="0" indent="0" marL="0">
              <a:buNone/>
            </a:pPr>
          </a:p>
          <a:p>
            <a:pPr lvl="0" indent="0" marL="0">
              <a:buNone/>
            </a:pPr>
            <a:r>
              <a:rPr/>
              <a:t>Point out the sign trap while it is on screen: G_R is negative, and it is squared, so a child pulling hard downward scores just as well as one pulling upward. The gain rewards SEPARATION, not positivity.</a:t>
            </a:r>
          </a:p>
          <a:p>
            <a:pPr lvl="0" indent="0" marL="0">
              <a:buNone/>
            </a:pPr>
          </a:p>
          <a:p>
            <a:pPr lvl="0" indent="0" marL="0">
              <a:buNone/>
            </a:pPr>
            <a:r>
              <a:rPr/>
              <a:t>Two things to draw out. Building the histogram costs one pass over the node’s rows; after that the scan costs one pass over 255 numbers no matter whether the node holds a thousand rows or a million. And the histogram is a sufficient statistic here: it is not an approximation of the rows, it is exactly and only what the gain can consume, which is why nothing is lost by throwing the rows away.</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node, same gain formula, two candidate lists. Grey is the exact scan from the start of the section: 39 midpoints. Green is the binned scan: 7 bin edges, and each of its points is computed from the histogram alone, in constant time per bin.</a:t>
            </a:r>
          </a:p>
          <a:p>
            <a:pPr lvl="0" indent="0" marL="0">
              <a:buNone/>
            </a:pPr>
          </a:p>
          <a:p>
            <a:pPr lvl="0" indent="0" marL="0">
              <a:buNone/>
            </a:pPr>
            <a:r>
              <a:rPr/>
              <a:t>Be honest about what is lost. The exact optimum, 0.56, is not on the grid, so the binned scan returns 0.62 — the edge beside it. I have drawn 8 bins so you can see that; with LightGBM’s default 255 the two winners are indistinguishable in practice, and the empirical answer to “does it hurt accuracy” is no.</a:t>
            </a:r>
          </a:p>
          <a:p>
            <a:pPr lvl="0" indent="0" marL="0">
              <a:buNone/>
            </a:pPr>
          </a:p>
          <a:p>
            <a:pPr lvl="0" indent="0" marL="0">
              <a:buNone/>
            </a:pPr>
            <a:r>
              <a:rPr/>
              <a:t>The scaling is the point: exact costs one sort per feature per node, binned costs one pass to fill and then a walk over 255 numbers no matter how many rows there are. On a million rows that is the difference between minutes and seconds.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First answer the question this slide begs: what is a child’s histogram FOR? A split does not finish the tree — each child is itself a node that must be split next, and to choose ITS split you run the same scan again, which reads a histogram built from only the rows that landed in that child. So a histogram is not built once per feature; it is built once per node, per feature, all the way down. That is the cost this slide is attacking.</a:t>
            </a:r>
          </a:p>
          <a:p>
            <a:pPr lvl="0" indent="0" marL="0">
              <a:buNone/>
            </a:pPr>
          </a:p>
          <a:p>
            <a:pPr lvl="0" indent="0" marL="0">
              <a:buNone/>
            </a:pPr>
            <a:r>
              <a:rPr/>
              <a:t>Head off the question that always follows: does a child get fewer bins? No. The bin edges are a property of the FEATURE, chosen once from its quantiles before any tree exists, and frozen for the whole run. Every node uses the same 255 bins. What a split divides is the rows — 256 rows might go 120 and 136 — while both children still carry a 255-long array, just with smaller sums in it, and with the bins on the far side of the threshold empty. That identical binning is exactly what makes parent[b] = left[b] + right[b] true, and hence what makes the subtraction legal at all.</a:t>
            </a:r>
          </a:p>
          <a:p>
            <a:pPr lvl="0" indent="0" marL="0">
              <a:buNone/>
            </a:pPr>
          </a:p>
          <a:p>
            <a:pPr lvl="0" indent="0" marL="0">
              <a:buNone/>
            </a:pPr>
            <a:r>
              <a:rPr/>
              <a:t>Two consequences worth stating. The cost of a node is O(bins x features) no matter how few rows it holds, so as the tree deepens the rows shrink but the histogram work does not — which is why halving it matters. And a node holding nine rows still pays for a 255-bin histogram, which is a second reason min_data_in_leaf exists.</a:t>
            </a:r>
          </a:p>
          <a:p>
            <a:pPr lvl="0" indent="0" marL="0">
              <a:buNone/>
            </a:pPr>
          </a:p>
          <a:p>
            <a:pPr lvl="0" indent="0" marL="0">
              <a:buNone/>
            </a:pPr>
            <a:r>
              <a:rPr/>
              <a:t>Now the saving, and it is free. A split sends every row of the parent to exactly one of the two children, so the two children’s histograms add up to the parent’s, bin by bin. Build the smaller child by scanning its rows, and get the other by subtracting it from the parent you already have — no rows touched.</a:t>
            </a:r>
          </a:p>
          <a:p>
            <a:pPr lvl="0" indent="0" marL="0">
              <a:buNone/>
            </a:pPr>
          </a:p>
          <a:p>
            <a:pPr lvl="0" indent="0" marL="0">
              <a:buNone/>
            </a:pPr>
            <a:r>
              <a:rPr/>
              <a:t>Always scan the smaller side, so at worst you touch half the rows at each level, and it compounds down the tree. It is also why the histogram stores sums rather than something non-additive like a median: the whole trick rests on Σg over disjoint sets adding up.</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strategies are handed the same candidate list and the same gain formula. They differ only in which node they apply it to next.</a:t>
            </a:r>
          </a:p>
          <a:p>
            <a:pPr lvl="0" indent="0" marL="0">
              <a:buNone/>
            </a:pPr>
          </a:p>
          <a:p>
            <a:pPr lvl="0" indent="0" marL="0">
              <a:buNone/>
            </a:pPr>
            <a:r>
              <a:rPr/>
              <a:t>Level-wise finishes a level before starting the next, so every node at that depth gets split — including one whose best candidate is worth 0.3. The tree stays balanced and depth is a meaningful control.</a:t>
            </a:r>
          </a:p>
          <a:p>
            <a:pPr lvl="0" indent="0" marL="0">
              <a:buNone/>
            </a:pPr>
          </a:p>
          <a:p>
            <a:pPr lvl="0" indent="0" marL="0">
              <a:buNone/>
            </a:pPr>
            <a:r>
              <a:rPr/>
              <a:t>Leaf-wise keeps a queue of leaves and always splits whichever leaf offers the largest gain anywhere in the tree. Same four leaves, but the two extra splits went where the gain still was: 4.1 rather than 0.3. The tree comes out deep and lopsided, so max_depth stops being the natural control — num_leaves is.</a:t>
            </a:r>
          </a:p>
          <a:p>
            <a:pPr lvl="0" indent="0" marL="0">
              <a:buNone/>
            </a:pPr>
          </a:p>
          <a:p>
            <a:pPr lvl="0" indent="0" marL="0">
              <a:buNone/>
            </a:pPr>
            <a:r>
              <a:rPr/>
              <a:t>Ask before turning the page: if leaf-wise always takes the better split, why is it not simply better?</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cost to attack is the number of rows. Plain subsampling throws away rows uniformly, which is wasteful in boosting: after a few trees most rows are nearly fitted and carry a tiny |g|, and it is the badly-fitted rows that determine where the next split should go.</a:t>
            </a:r>
          </a:p>
          <a:p>
            <a:pPr lvl="0" indent="0" marL="0">
              <a:buNone/>
            </a:pPr>
          </a:p>
          <a:p>
            <a:pPr lvl="0" indent="0" marL="0">
              <a:buNone/>
            </a:pPr>
            <a:r>
              <a:rPr/>
              <a:t>GOSS keeps every row in the top a of |g| — a = 20% here — and takes a random b = 10% of the rest, so the scan runs on 28% of the rows. The trick is the last step: the sampled rows have their g and h multiplied by (1−a)/b = 8, so they stand in for the ones left behind. Without that factor the small-gradient region would be under-represented and the gain would be biased toward splitting the hard rows apart.</a:t>
            </a:r>
          </a:p>
          <a:p>
            <a:pPr lvl="0" indent="0" marL="0">
              <a:buNone/>
            </a:pPr>
          </a:p>
          <a:p>
            <a:pPr lvl="0" indent="0" marL="0">
              <a:buNone/>
            </a:pPr>
            <a:r>
              <a:rPr/>
              <a:t>The right panel shows the two gain curves, full data and GOSS, on the same node. They sit on top of each other, including the location of the maximum — which is the only part that actually matters, since the scan only uses the argmax. Note this is sampling per iteration, not once: every tree gets a fresh draw, so a row that is skipped now is available later, and its own gradient decides that.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this one on the board, it takes two minutes and the rest of the section follows from it.</a:t>
            </a:r>
          </a:p>
          <a:p>
            <a:pPr lvl="0" indent="0" marL="0">
              <a:buNone/>
            </a:pPr>
          </a:p>
          <a:p>
            <a:pPr lvl="0" indent="0" marL="0">
              <a:buNone/>
            </a:pPr>
            <a:r>
              <a:rPr/>
              <a:t>Five customers, one column: their country. A tree cannot split on a string, and one-hot on a column with hundreds of countries or cities gives hundreds of nearly empty columns. So the natural move is target encoding: replace each country by P(Buy = 1 | country). France: two of the three French customers bought, so 2/3. Germany: neither bought, so 0.</a:t>
            </a:r>
          </a:p>
          <a:p>
            <a:pPr lvl="0" indent="0" marL="0">
              <a:buNone/>
            </a:pPr>
          </a:p>
          <a:p>
            <a:pPr lvl="0" indent="0" marL="0">
              <a:buNone/>
            </a:pPr>
            <a:r>
              <a:rPr/>
              <a:t>Now ask what customer 4 has been handed. Its feature is 0.00, and that 0.00 is the average of two labels, one of which is customer 4’s own Buy. The same for customer 5. For the French rows the effect is diluted but still there: each contributed a third of its own encoding.</a:t>
            </a:r>
          </a:p>
          <a:p>
            <a:pPr lvl="0" indent="0" marL="0">
              <a:buNone/>
            </a:pPr>
          </a:p>
          <a:p>
            <a:pPr lvl="0" indent="0" marL="0">
              <a:buNone/>
            </a:pPr>
            <a:r>
              <a:rPr/>
              <a:t>State the principle plainly: if you use the target y_i of an observation to encode that same observation, you leak the target into the features. The column will look excellent in cross-validation and know nothing in production, because the leak lives inside the feature and travels with it across any split you make.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makes the previous one inevitable rather than anecdotal. Take any country with three customers. The encoding they all receive is the average of three numbers — and for each of them, one of those three numbers is their OWN Buy. Write it as (y_i + y_j + y_k)/3 and put y_i in bold: my own answer is a third of my own feature.</a:t>
            </a:r>
          </a:p>
          <a:p>
            <a:pPr lvl="0" indent="0" marL="0">
              <a:buNone/>
            </a:pPr>
          </a:p>
          <a:p>
            <a:pPr lvl="0" indent="0" marL="0">
              <a:buNone/>
            </a:pPr>
            <a:r>
              <a:rPr/>
              <a:t>Now enumerate, which takes ten seconds. The encoding can only be 0, 1/3, 2/3 or 1, because it counts how many of the three bought. If it is 0.00, nobody bought, so I did not buy — certainty, not a hint. If it is 1.00, everybody bought, so I did. And in between: given the encoding is 1/3, I am one of three customers of whom exactly one bought, so my chance of being that one is 1/3.</a:t>
            </a:r>
          </a:p>
          <a:p>
            <a:pPr lvl="0" indent="0" marL="0">
              <a:buNone/>
            </a:pPr>
          </a:p>
          <a:p>
            <a:pPr lvl="0" indent="0" marL="0">
              <a:buNone/>
            </a:pPr>
            <a:r>
              <a:rPr/>
              <a:t>Read the last two columns together: P(Buy = 1 | encoding) = encoding, exactly. The feature is not correlated with the label by accident — it is a direct readout of it. Say the general version: with k rows per category, the encoding pins the label down to within 1/k, and high-cardinality columns are exactly the ones where k is small.</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CatBoost’s answer is to impose an order. Shuffle the rows into a random permutation — call them A, B, C, D, E — and pretend they arrive one at a time. When you encode a row, you may look only at the rows that arrived before it:</a:t>
            </a:r>
          </a:p>
          <a:p>
            <a:pPr lvl="0" indent="0" marL="0">
              <a:buNone/>
            </a:pPr>
          </a:p>
          <a:p>
            <a:pPr lvl="0" indent="0" marL="0">
              <a:buNone/>
            </a:pPr>
            <a:r>
              <a:rPr/>
              <a:t>for B, use A; for C, use A and B; for D, use A, B and C; and so on.</a:t>
            </a:r>
          </a:p>
          <a:p>
            <a:pPr lvl="0" indent="0" marL="0">
              <a:buNone/>
            </a:pPr>
          </a:p>
          <a:p>
            <a:pPr lvl="0" indent="0" marL="0">
              <a:buNone/>
            </a:pPr>
            <a:r>
              <a:rPr/>
              <a:t>A row’s own target is therefore never in its own encoding. That is the whole innovation, and everything else is bookkeeping.</a:t>
            </a:r>
          </a:p>
          <a:p>
            <a:pPr lvl="0" indent="0" marL="0">
              <a:buNone/>
            </a:pPr>
          </a:p>
          <a:p>
            <a:pPr lvl="0" indent="0" marL="0">
              <a:buNone/>
            </a:pPr>
            <a:r>
              <a:rPr/>
              <a:t>Walk the table with the same five customers, in the shuffled order. A is the first French row, so there is no history at all: it gets the prior p, the base rate 0.4, smoothed with weight a = 1. B is French and has seen one earlier French customer who did not buy, so (0 + 0.4)/(1 + 1) = 0.20 — and note B itself bought, and that 1 appears nowhere. C is the first German row: prior again, 0.40, instead of the 0.00 the naive encoding gave. D has two earlier French rows, one of which bought: (1 + 0.4)/(2 + 1) = 0.47.</a:t>
            </a:r>
          </a:p>
          <a:p>
            <a:pPr lvl="0" indent="0" marL="0">
              <a:buNone/>
            </a:pPr>
          </a:p>
          <a:p>
            <a:pPr lvl="0" indent="0" marL="0">
              <a:buNone/>
            </a:pPr>
            <a:r>
              <a:rPr/>
              <a:t>Three things to point out. The encoding of a country now MOVES down the column as evidence accumulates, instead of being one constant per country. Early rows are noisy — they lean on the prior — which is the price, and it is why a is a smoothing parameter worth tuning. And a fresh permutation is drawn for every tree, so no single row is permanently unlucky in being early.</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reading the panels, agree on how to read ONE BAR, because the chart is a conditional probability and that is not a shape people read fluently. Take all the rows whose encoded value falls in a given slice of the x axis, and ask what fraction of them actually bought. That is the bar’s height. Now the key: if the feature genuinely knows nothing about a row’s own label, then slicing the rows by it tells you nothing either, so every bar sits at the base rate, 0.5. A feature that leaks makes the bars climb.</a:t>
            </a:r>
          </a:p>
          <a:p>
            <a:pPr lvl="0" indent="0" marL="0">
              <a:buNone/>
            </a:pPr>
          </a:p>
          <a:p>
            <a:pPr lvl="0" indent="0" marL="0">
              <a:buNone/>
            </a:pPr>
            <a:r>
              <a:rPr/>
              <a:t>All three panels show that same statistic on the same 200-country dataset where Buy was a coin flip. Only the encoding changes.</a:t>
            </a:r>
          </a:p>
          <a:p>
            <a:pPr lvl="0" indent="0" marL="0">
              <a:buNone/>
            </a:pPr>
          </a:p>
          <a:p>
            <a:pPr lvl="0" indent="0" marL="0">
              <a:buNone/>
            </a:pPr>
            <a:r>
              <a:rPr/>
              <a:t>Left: the greedy encoding on the rows it was built from. The bars climb 0, 1/3, 2/3, 1 — the ramp from two slides ago — and the correlation with y is +0.58 on a feature that is provably pure noise.</a:t>
            </a:r>
          </a:p>
          <a:p>
            <a:pPr lvl="0" indent="0" marL="0">
              <a:buNone/>
            </a:pPr>
          </a:p>
          <a:p>
            <a:pPr lvl="0" indent="0" marL="0">
              <a:buNone/>
            </a:pPr>
            <a:r>
              <a:rPr/>
              <a:t>Middle: the ordered encoding, same rows, same labels. The bars are back on the base rate and the correlation is +0.04. Nothing about the data changed; only the rule for computing a row’s encoding did.</a:t>
            </a:r>
          </a:p>
          <a:p>
            <a:pPr lvl="0" indent="0" marL="0">
              <a:buNone/>
            </a:pPr>
          </a:p>
          <a:p>
            <a:pPr lvl="0" indent="0" marL="0">
              <a:buNone/>
            </a:pPr>
            <a:r>
              <a:rPr/>
              <a:t>Right, and this is the panel that makes the point: 600 customers the model has never seen. Note the title — EITHER encoding. At prediction time both approaches do the same thing, encoding a new row from the whole training table, so this panel was never broken and is not what we fixed. It is the reference: this is what an honest feature looks like.</a:t>
            </a:r>
          </a:p>
          <a:p>
            <a:pPr lvl="0" indent="0" marL="0">
              <a:buNone/>
            </a:pPr>
          </a:p>
          <a:p>
            <a:pPr lvl="0" indent="0" marL="0">
              <a:buNone/>
            </a:pPr>
            <a:r>
              <a:rPr/>
              <a:t>So say the conclusion in those terms rather than as “the leak is gone”: ordered target statistics make a TRAINING row behave like a row the model has never seen. That is the property the model needs, because during fitting every row is a training row, and if training rows flatter the feature the model will trust it and then be wrong in production.</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difference is the tree shape, and it is the one people notice first because it looks wrong. In a CatBoost tree, every node at a given depth tests the SAME feature against the SAME threshold. A depth-6 tree therefore has 6 tests total, not 63.</a:t>
            </a:r>
          </a:p>
          <a:p>
            <a:pPr lvl="0" indent="0" marL="0">
              <a:buNone/>
            </a:pPr>
          </a:p>
          <a:p>
            <a:pPr lvl="0" indent="0" marL="0">
              <a:buNone/>
            </a:pPr>
            <a:r>
              <a:rPr/>
              <a:t>That makes prediction trivial: run the 6 comparisons, read the results as 6 bits, and that binary number is an index into an array of 64 leaf values. No branching, no pointer chasing, identical work for every row — which vectorises, and is why CatBoost’s inference is unusually fast. If a deployment constraint is latency, this is the reason to look at it.</a:t>
            </a:r>
          </a:p>
          <a:p>
            <a:pPr lvl="0" indent="0" marL="0">
              <a:buNone/>
            </a:pPr>
          </a:p>
          <a:p>
            <a:pPr lvl="0" indent="0" marL="0">
              <a:buNone/>
            </a:pPr>
            <a:r>
              <a:rPr/>
              <a:t>And it is a strong constraint, so it regularizes: far fewer trees fit this shape, which is a bias-variance trade paid on purpose. Compare with the previous section — LightGBM’s leaf-wise growth is the opposite bet, maximum flexibility per leaf. Same objective, opposite instincts about what to constrain.</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summary slide, and the one worth photographing. Read the header first: the objective, the gain and the closed-form leaf value are identical in all three. Everything in the table is an engineering answer to “how do we afford that”, or a different guess about what should be constrained.</a:t>
            </a:r>
          </a:p>
          <a:p>
            <a:pPr lvl="0" indent="0" marL="0">
              <a:buNone/>
            </a:pPr>
          </a:p>
          <a:p>
            <a:pPr lvl="0" indent="0" marL="0">
              <a:buNone/>
            </a:pPr>
            <a:r>
              <a:rPr/>
              <a:t>One row I have not drawn: LightGBM’s EFB, which packs features that are never non-zero on the same row into one, cutting the effective feature count in a wide sparse matrix. And CatBoost’s learned feature combinations, which build new categorical features by combining existing ones as the tree grows — the reason it often needs no manual interaction engineering.</a:t>
            </a:r>
          </a:p>
          <a:p>
            <a:pPr lvl="0" indent="0" marL="0">
              <a:buNone/>
            </a:pPr>
          </a:p>
          <a:p>
            <a:pPr lvl="0" indent="0" marL="0">
              <a:buNone/>
            </a:pPr>
            <a:r>
              <a:rPr/>
              <a:t>Practical advice to close the section on. Large tabular data and you care about wall-clock: LightGBM, and set num_leaves and min_data_in_leaf. Many high-cardinality categoricals, or a small dataset where prediction shift bites, or strict inference latency: CatBoost, and let it handle the categorical columns. Small data and you want the most forgiving defaults: XGBoost. All three take the same hyperparameters conceptually, so the search from section 5–8 transfers unchanged — which is the point of having done the maths once.</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Instead of fixed averaging weights, train a meta-model on the base models’ predictions. Averaging is the special case g = mean. Recall the variance formula: different model FAMILIES lower ρ far more than different seeds of one model. Keep the meta-learner simple — non-negative least squares or logistic regression — because it trains on few, highly correlated columns and will overfit instantly otherwise. Typical gain is small but real, and it costs k models to train, tune, serve and monitor. Do not stack until you have one genuinely well-tuned model.</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base models predict the rows they were trained on, so their predictions are unrealistically good and the meta-model learns to trust whoever memorized best. Nothing errors, nothing warns you. Right: out-of-fold — every row’s prediction comes from a model that never saw it. At test time, refit the base models on all the training data. In sklearn this is the cv=5 argument to StackingClassifier, and it is not a detail: it is the entire correctness argument.</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Getting the grouping wrong is the most common leak in clinical data. Same patient in train and test and you are measuring memorization. Stratify for imbalanced classification, group by patient for repeated measures, and split by time whenever there is a temporal order — random splits leak the future.</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Outer loop estimates performance, inner loop selects hyperparameters. The search is part of the model, so it belongs inside the outer split. Cost is outer × inner × trials, so use it to REPORT performance and a single split to ITERATE quickly.</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it top-down once, quickly. Black boxes are the concepts, coloured boxes are the tools. Generalization is CONTROLLED by two things — model complexity and data — and ANALYSED by a third, the bias–variance decomposition, with double descent as the modern amendment to it on the right.</a:t>
            </a:r>
          </a:p>
          <a:p>
            <a:pPr lvl="0" indent="0" marL="0">
              <a:buNone/>
            </a:pPr>
          </a:p>
          <a:p>
            <a:pPr lvl="0" indent="0" marL="0">
              <a:buNone/>
            </a:pPr>
            <a:r>
              <a:rPr/>
              <a:t>Down the left: complexity is controlled by regularization and by ensembles. Ensembles split into bagging and boosting; boosting into the three libraries. Hyperparameter optimization hangs off regularization because it is how you choose λ. Everything feeds stacking at the bottom, and the line under stacking is the part that makes any of it trustworthy: out-of-fold predictions and nested cross-validation.</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3.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4.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8.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20.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2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22.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23.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4.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5.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6.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27.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28.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29.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30.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31.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32.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image" Target="../media/image33.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image" Target="../media/image3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image" Target="../media/image35.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image" Target="../media/image36.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image" Target="../media/image37.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image" Target="../media/image38.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 Id="rId3" Type="http://schemas.openxmlformats.org/officeDocument/2006/relationships/image" Target="../media/image39.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image" Target="../media/image40.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image" Target="../media/image41.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 Id="rId3" Type="http://schemas.openxmlformats.org/officeDocument/2006/relationships/image" Target="../media/image42.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image" Target="../media/image43.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 Id="rId3" Type="http://schemas.openxmlformats.org/officeDocument/2006/relationships/image" Target="../media/image44.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 Id="rId3" Type="http://schemas.openxmlformats.org/officeDocument/2006/relationships/image" Target="../media/image45.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 Id="rId3" Type="http://schemas.openxmlformats.org/officeDocument/2006/relationships/image" Target="../media/image46.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image" Target="../media/image47.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image" Target="../media/image48.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image" Target="../media/image49.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image" Target="../media/image50.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 Id="rId3" Type="http://schemas.openxmlformats.org/officeDocument/2006/relationships/image" Target="../media/image51.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image" Target="../media/image52.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rId3" Type="http://schemas.openxmlformats.org/officeDocument/2006/relationships/image" Target="../media/image53.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image" Target="../media/image54.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 Id="rId3" Type="http://schemas.openxmlformats.org/officeDocument/2006/relationships/image" Target="../media/image55.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image" Target="../media/image56.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 Id="rId3" Type="http://schemas.openxmlformats.org/officeDocument/2006/relationships/image" Target="../media/image57.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 Id="rId3" Type="http://schemas.openxmlformats.org/officeDocument/2006/relationships/image" Target="../media/image58.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 Id="rId3" Type="http://schemas.openxmlformats.org/officeDocument/2006/relationships/image" Target="../media/image59.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 Id="rId3" Type="http://schemas.openxmlformats.org/officeDocument/2006/relationships/image" Target="../media/image60.png"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 Id="rId3" Type="http://schemas.openxmlformats.org/officeDocument/2006/relationships/image" Target="../media/image61.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 Id="rId3" Type="http://schemas.openxmlformats.org/officeDocument/2006/relationships/image" Target="../media/image62.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0.xml" /><Relationship Id="rId3" Type="http://schemas.openxmlformats.org/officeDocument/2006/relationships/image" Target="../media/image63.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 Id="rId3" Type="http://schemas.openxmlformats.org/officeDocument/2006/relationships/image" Target="../media/image64.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 Id="rId3" Type="http://schemas.openxmlformats.org/officeDocument/2006/relationships/image" Target="../media/image65.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3.xml" /><Relationship Id="rId3" Type="http://schemas.openxmlformats.org/officeDocument/2006/relationships/image" Target="../media/image66.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 Id="rId3" Type="http://schemas.openxmlformats.org/officeDocument/2006/relationships/image" Target="../media/image6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3</a:t>
            </a:r>
            <a:br/>
            <a:r>
              <a:rPr/>
              <a:t>Generalization, Regularization &amp; Ensembles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3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We have a dataset and a fixed computational budget.</a:t>
            </a:r>
          </a:p>
          <a:p>
            <a:pPr lvl="0" indent="0" marL="0" algn="ctr">
              <a:buNone/>
            </a:pPr>
            <a:r>
              <a:rPr sz="2000"/>
              <a:t>How to systematically build the </a:t>
            </a:r>
            <a:r>
              <a:rPr sz="2000" b="1"/>
              <a:t>best-generalizing</a:t>
            </a:r>
            <a:r>
              <a:rPr sz="2000"/>
              <a:t> model?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Every topic answers one piece</a:t>
            </a:r>
          </a:p>
        </p:txBody>
      </p:sp>
      <p:pic>
        <p:nvPicPr>
          <p:cNvPr descr="img/rec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From training error to generalization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Training error vs test error</a:t>
            </a:r>
          </a:p>
        </p:txBody>
      </p:sp>
      <p:pic>
        <p:nvPicPr>
          <p:cNvPr descr="img/train_tes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 dataset, three capacities</a:t>
            </a:r>
          </a:p>
        </p:txBody>
      </p:sp>
      <p:pic>
        <p:nvPicPr>
          <p:cNvPr descr="img/poly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Polynomial fit</a:t>
            </a:r>
          </a:p>
        </p:txBody>
      </p:sp>
      <p:pic>
        <p:nvPicPr>
          <p:cNvPr descr="img/polyfit_curv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different failures</a:t>
            </a:r>
          </a:p>
        </p:txBody>
      </p:sp>
      <p:sp>
        <p:nvSpPr>
          <p:cNvPr id="3" name="Content Placeholder 2"/>
          <p:cNvSpPr>
            <a:spLocks noGrp="1"/>
          </p:cNvSpPr>
          <p:nvPr>
            <p:ph idx="1"/>
          </p:nvPr>
        </p:nvSpPr>
        <p:spPr/>
        <p:txBody>
          <a:bodyPr>
            <a:normAutofit/>
          </a:bodyPr>
          <a:lstStyle/>
          <a:p>
            <a:pPr lvl="0"/>
            <a:r>
              <a:rPr/>
              <a:t>High training error, high test → the model </a:t>
            </a:r>
            <a:r>
              <a:rPr b="1"/>
              <a:t>cannot</a:t>
            </a:r>
            <a:r>
              <a:rPr/>
              <a:t> represent the signal</a:t>
            </a:r>
          </a:p>
          <a:p>
            <a:pPr lvl="0"/>
            <a:r>
              <a:rPr/>
              <a:t>Low training, high test → the model represents the </a:t>
            </a:r>
            <a:r>
              <a:rPr b="1"/>
              <a:t>noise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makes a model generalize?</a:t>
            </a:r>
          </a:p>
        </p:txBody>
      </p:sp>
      <p:sp>
        <p:nvSpPr>
          <p:cNvPr id="3" name="Content Placeholder 2"/>
          <p:cNvSpPr>
            <a:spLocks noGrp="1"/>
          </p:cNvSpPr>
          <p:nvPr>
            <p:ph idx="1"/>
          </p:nvPr>
        </p:nvSpPr>
        <p:spPr/>
        <p:txBody>
          <a:bodyPr anchor="ctr">
            <a:normAutofit/>
          </a:bodyPr>
          <a:lstStyle/>
          <a:p>
            <a:pPr lvl="0" indent="0" marL="0" algn="ctr">
              <a:buNone/>
            </a:pPr>
            <a:r>
              <a:rPr sz="2000"/>
              <a:t>How </a:t>
            </a:r>
            <a:r>
              <a:rPr sz="2000" b="1"/>
              <a:t>wrong on average</a:t>
            </a:r>
            <a:r>
              <a:rPr sz="2000"/>
              <a:t> is my model family?</a:t>
            </a:r>
          </a:p>
          <a:p>
            <a:pPr lvl="0" indent="0" marL="0" algn="ctr">
              <a:buNone/>
            </a:pPr>
            <a:r>
              <a:rPr sz="2000"/>
              <a:t>How much does it </a:t>
            </a:r>
            <a:r>
              <a:rPr sz="2000" b="1"/>
              <a:t>move</a:t>
            </a:r>
            <a:r>
              <a:rPr sz="2000"/>
              <a:t> when I resample the data?</a:t>
            </a:r>
          </a:p>
          <a:p>
            <a:pPr lvl="0" indent="0" marL="0" algn="ctr">
              <a:buNone/>
            </a:pPr>
            <a:r>
              <a:rPr sz="2000"/>
              <a:t>How much of the target is simply </a:t>
            </a:r>
            <a:r>
              <a:rPr sz="2000" b="1"/>
              <a:t>unpredictable</a:t>
            </a:r>
            <a:r>
              <a:rPr sz="2000"/>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The bias–variance tradeoff</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Thought experiment</a:t>
            </a:r>
          </a:p>
        </p:txBody>
      </p:sp>
      <p:pic>
        <p:nvPicPr>
          <p:cNvPr descr="img/bv_targe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Expected prediction error</a:t>
            </a:r>
          </a:p>
        </p:txBody>
      </p:sp>
      <p:pic>
        <p:nvPicPr>
          <p:cNvPr descr="img/eq_bias_vari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40 datasets, each giving a different fit</a:t>
            </a:r>
          </a:p>
        </p:txBody>
      </p:sp>
      <p:pic>
        <p:nvPicPr>
          <p:cNvPr descr="img/bv_fi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Bias-variance decomposition</a:t>
            </a:r>
          </a:p>
        </p:txBody>
      </p:sp>
      <p:pic>
        <p:nvPicPr>
          <p:cNvPr descr="img/bv_decompos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The modern view</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Beyond the classical regime</a:t>
            </a:r>
          </a:p>
        </p:txBody>
      </p:sp>
      <p:pic>
        <p:nvPicPr>
          <p:cNvPr descr="img/double_descen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Double descent</a:t>
            </a:r>
          </a:p>
        </p:txBody>
      </p:sp>
      <p:pic>
        <p:nvPicPr>
          <p:cNvPr descr="img/double_descent_measur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optimizer is crucial for under-determined cases</a:t>
            </a:r>
          </a:p>
        </p:txBody>
      </p:sp>
      <p:pic>
        <p:nvPicPr>
          <p:cNvPr descr="img/interpola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Regularize can reduce the peak</a:t>
            </a:r>
          </a:p>
        </p:txBody>
      </p:sp>
      <p:pic>
        <p:nvPicPr>
          <p:cNvPr descr="img/dd_ridg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Regularization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Regularized empirical risk minimization</a:t>
            </a:r>
          </a:p>
        </p:txBody>
      </p:sp>
      <p:pic>
        <p:nvPicPr>
          <p:cNvPr descr="img/eq_er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λ is the bias–variance dial</a:t>
            </a:r>
          </a:p>
        </p:txBody>
      </p:sp>
      <p:pic>
        <p:nvPicPr>
          <p:cNvPr descr="img/lambda_curv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Ridge and lasso</a:t>
            </a:r>
          </a:p>
        </p:txBody>
      </p:sp>
      <p:pic>
        <p:nvPicPr>
          <p:cNvPr descr="img/eq_ridge_lass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Ridge and lasso effect on coefficients</a:t>
            </a:r>
          </a:p>
        </p:txBody>
      </p:sp>
      <p:pic>
        <p:nvPicPr>
          <p:cNvPr descr="img/reg_pat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Ridge’s and lasso’s geometry</a:t>
            </a:r>
          </a:p>
        </p:txBody>
      </p:sp>
      <p:pic>
        <p:nvPicPr>
          <p:cNvPr descr="img/l1_l2_geomet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Regularization can be done in many ways</a:t>
            </a:r>
          </a:p>
        </p:txBody>
      </p:sp>
      <p:pic>
        <p:nvPicPr>
          <p:cNvPr descr="img/reg_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Depth can be used as regularization</a:t>
            </a:r>
          </a:p>
        </p:txBody>
      </p:sp>
      <p:pic>
        <p:nvPicPr>
          <p:cNvPr descr="img/tree_dept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Early stopping can also be used as regularization</a:t>
            </a:r>
          </a:p>
        </p:txBody>
      </p:sp>
      <p:pic>
        <p:nvPicPr>
          <p:cNvPr descr="img/early_stopp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The hyper-parameter landscape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Parameters vs hyper-parameters</a:t>
            </a:r>
          </a:p>
        </p:txBody>
      </p:sp>
      <p:pic>
        <p:nvPicPr>
          <p:cNvPr descr="img/eq_param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Hyperparameter search is hard</a:t>
            </a:r>
          </a:p>
        </p:txBody>
      </p:sp>
      <p:sp>
        <p:nvSpPr>
          <p:cNvPr id="3" name="Content Placeholder 2"/>
          <p:cNvSpPr>
            <a:spLocks noGrp="1"/>
          </p:cNvSpPr>
          <p:nvPr>
            <p:ph idx="1"/>
          </p:nvPr>
        </p:nvSpPr>
        <p:spPr/>
        <p:txBody>
          <a:bodyPr>
            <a:normAutofit/>
          </a:bodyPr>
          <a:lstStyle/>
          <a:p>
            <a:pPr lvl="0"/>
            <a:r>
              <a:rPr/>
              <a:t>Expensive evaluations</a:t>
            </a:r>
          </a:p>
          <a:p>
            <a:pPr lvl="0"/>
            <a:r>
              <a:rPr/>
              <a:t>Noisy</a:t>
            </a:r>
          </a:p>
          <a:p>
            <a:pPr lvl="0"/>
            <a:r>
              <a:rPr/>
              <a:t>Non-convex</a:t>
            </a:r>
          </a:p>
          <a:p>
            <a:pPr lvl="0"/>
            <a:r>
              <a:rPr/>
              <a:t>Mixed continuous / integer / categorical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Search on a linear / log scale</a:t>
            </a:r>
          </a:p>
        </p:txBody>
      </p:sp>
      <p:pic>
        <p:nvPicPr>
          <p:cNvPr descr="img/log_scal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1D landscape</a:t>
            </a:r>
          </a:p>
        </p:txBody>
      </p:sp>
      <p:pic>
        <p:nvPicPr>
          <p:cNvPr descr="img/landscape_1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2D landscape</a:t>
            </a:r>
          </a:p>
        </p:txBody>
      </p:sp>
      <p:pic>
        <p:nvPicPr>
          <p:cNvPr descr="img/landscape_2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hyper-parameters search strategies</a:t>
            </a:r>
          </a:p>
        </p:txBody>
      </p:sp>
      <p:pic>
        <p:nvPicPr>
          <p:cNvPr descr="img/search_compa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Bayesian optimization</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Replace the expensive loss function by a cheap surrogate</a:t>
            </a:r>
          </a:p>
        </p:txBody>
      </p:sp>
      <p:pic>
        <p:nvPicPr>
          <p:cNvPr descr="img/bo_surrogat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surrogate knows what it does not know</a:t>
            </a:r>
          </a:p>
        </p:txBody>
      </p:sp>
      <p:pic>
        <p:nvPicPr>
          <p:cNvPr descr="img/bo_uncertain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Building the surrogate: a distribution over curves</a:t>
            </a:r>
          </a:p>
        </p:txBody>
      </p:sp>
      <p:pic>
        <p:nvPicPr>
          <p:cNvPr descr="img/bo_prior_posterior.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Kernels for modeling</a:t>
            </a:r>
          </a:p>
        </p:txBody>
      </p:sp>
      <p:pic>
        <p:nvPicPr>
          <p:cNvPr descr="img/bo_kerne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Sum of the bumps</a:t>
            </a:r>
          </a:p>
        </p:txBody>
      </p:sp>
      <p:pic>
        <p:nvPicPr>
          <p:cNvPr descr="img/bo_kernel_basi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Noises levels</a:t>
            </a:r>
          </a:p>
        </p:txBody>
      </p:sp>
      <p:pic>
        <p:nvPicPr>
          <p:cNvPr descr="img/bo_noi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Decide where to spend the next fit on</a:t>
            </a:r>
          </a:p>
        </p:txBody>
      </p:sp>
      <p:sp>
        <p:nvSpPr>
          <p:cNvPr id="3" name="Content Placeholder 2"/>
          <p:cNvSpPr>
            <a:spLocks noGrp="1"/>
          </p:cNvSpPr>
          <p:nvPr>
            <p:ph idx="1"/>
          </p:nvPr>
        </p:nvSpPr>
        <p:spPr/>
        <p:txBody>
          <a:bodyPr>
            <a:normAutofit/>
          </a:bodyPr>
          <a:lstStyle/>
          <a:p>
            <a:pPr lvl="0"/>
            <a:r>
              <a:rPr/>
              <a:t>The </a:t>
            </a:r>
            <a:r>
              <a:rPr b="1"/>
              <a:t>mean</a:t>
            </a:r>
            <a:r>
              <a:rPr/>
              <a:t> says where the loss is </a:t>
            </a:r>
            <a:r>
              <a:rPr i="1"/>
              <a:t>probably</a:t>
            </a:r>
            <a:r>
              <a:rPr/>
              <a:t> low → </a:t>
            </a:r>
            <a:r>
              <a:rPr b="1"/>
              <a:t>exploit</a:t>
            </a:r>
          </a:p>
          <a:p>
            <a:pPr lvl="0"/>
            <a:r>
              <a:rPr/>
              <a:t>The </a:t>
            </a:r>
            <a:r>
              <a:rPr b="1"/>
              <a:t>band</a:t>
            </a:r>
            <a:r>
              <a:rPr/>
              <a:t> says where it </a:t>
            </a:r>
            <a:r>
              <a:rPr i="1"/>
              <a:t>could</a:t>
            </a:r>
            <a:r>
              <a:rPr/>
              <a:t> be low → </a:t>
            </a:r>
            <a:r>
              <a:rPr b="1"/>
              <a:t>explore</a:t>
            </a:r>
          </a:p>
          <a:p>
            <a:pPr lvl="0"/>
            <a:r>
              <a:rPr/>
              <a:t>Maximize the </a:t>
            </a:r>
            <a:r>
              <a:rPr i="1"/>
              <a:t>acquisition</a:t>
            </a:r>
            <a:r>
              <a:rPr/>
              <a:t>, not the model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Exploration vs exploitation</a:t>
            </a:r>
          </a:p>
        </p:txBody>
      </p:sp>
      <p:pic>
        <p:nvPicPr>
          <p:cNvPr descr="img/acquis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Full algorithm</a:t>
            </a:r>
          </a:p>
        </p:txBody>
      </p:sp>
      <p:pic>
        <p:nvPicPr>
          <p:cNvPr descr="img/bayesop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loop (simplified)</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5-10 random trials to begin</a:t>
            </a:r>
            <a:br/>
            <a:r>
              <a:rPr>
                <a:latin typeface="Courier"/>
              </a:rPr>
              <a:t>D </a:t>
            </a:r>
            <a:r>
              <a:rPr>
                <a:solidFill>
                  <a:srgbClr val="666666"/>
                </a:solidFill>
                <a:latin typeface="Courier"/>
              </a:rPr>
              <a:t>=</a:t>
            </a:r>
            <a:r>
              <a:rPr>
                <a:latin typeface="Courier"/>
              </a:rPr>
              <a:t> [(x, evaluate(x)) </a:t>
            </a:r>
            <a:r>
              <a:rPr b="1">
                <a:solidFill>
                  <a:srgbClr val="007020"/>
                </a:solidFill>
                <a:latin typeface="Courier"/>
              </a:rPr>
              <a:t>for</a:t>
            </a:r>
            <a:r>
              <a:rPr>
                <a:latin typeface="Courier"/>
              </a:rPr>
              <a:t> x </a:t>
            </a:r>
            <a:r>
              <a:rPr b="1">
                <a:solidFill>
                  <a:srgbClr val="007020"/>
                </a:solidFill>
                <a:latin typeface="Courier"/>
              </a:rPr>
              <a:t>in</a:t>
            </a:r>
            <a:r>
              <a:rPr>
                <a:latin typeface="Courier"/>
              </a:rPr>
              <a:t> random_start]</a:t>
            </a:r>
            <a:br/>
            <a:br/>
            <a:r>
              <a:rPr b="1">
                <a:solidFill>
                  <a:srgbClr val="007020"/>
                </a:solidFill>
                <a:latin typeface="Courier"/>
              </a:rPr>
              <a:t>for</a:t>
            </a:r>
            <a:r>
              <a:rPr>
                <a:latin typeface="Courier"/>
              </a:rPr>
              <a:t> t </a:t>
            </a:r>
            <a:r>
              <a:rPr b="1">
                <a:solidFill>
                  <a:srgbClr val="007020"/>
                </a:solidFill>
                <a:latin typeface="Courier"/>
              </a:rPr>
              <a:t>in</a:t>
            </a:r>
            <a:r>
              <a:rPr>
                <a:latin typeface="Courier"/>
              </a:rPr>
              <a:t> </a:t>
            </a:r>
            <a:r>
              <a:rPr>
                <a:solidFill>
                  <a:srgbClr val="008000"/>
                </a:solidFill>
                <a:latin typeface="Courier"/>
              </a:rPr>
              <a:t>range</a:t>
            </a:r>
            <a:r>
              <a:rPr>
                <a:latin typeface="Courier"/>
              </a:rPr>
              <a:t>(budget):</a:t>
            </a:r>
            <a:br/>
            <a:r>
              <a:rPr>
                <a:latin typeface="Courier"/>
              </a:rPr>
              <a:t>    </a:t>
            </a:r>
            <a:r>
              <a:rPr i="1">
                <a:solidFill>
                  <a:srgbClr val="60A0B0"/>
                </a:solidFill>
                <a:latin typeface="Courier"/>
              </a:rPr>
              <a:t># cheap: compute fit and expected improvement</a:t>
            </a:r>
            <a:br/>
            <a:r>
              <a:rPr>
                <a:latin typeface="Courier"/>
              </a:rPr>
              <a:t>    model  </a:t>
            </a:r>
            <a:r>
              <a:rPr>
                <a:solidFill>
                  <a:srgbClr val="666666"/>
                </a:solidFill>
                <a:latin typeface="Courier"/>
              </a:rPr>
              <a:t>=</a:t>
            </a:r>
            <a:r>
              <a:rPr>
                <a:latin typeface="Courier"/>
              </a:rPr>
              <a:t> fit_surrogate(D)</a:t>
            </a:r>
            <a:br/>
            <a:r>
              <a:rPr>
                <a:latin typeface="Courier"/>
              </a:rPr>
              <a:t>    score  </a:t>
            </a:r>
            <a:r>
              <a:rPr>
                <a:solidFill>
                  <a:srgbClr val="666666"/>
                </a:solidFill>
                <a:latin typeface="Courier"/>
              </a:rPr>
              <a:t>=</a:t>
            </a:r>
            <a:r>
              <a:rPr>
                <a:latin typeface="Courier"/>
              </a:rPr>
              <a:t> </a:t>
            </a:r>
            <a:r>
              <a:rPr b="1">
                <a:solidFill>
                  <a:srgbClr val="007020"/>
                </a:solidFill>
                <a:latin typeface="Courier"/>
              </a:rPr>
              <a:t>lambda</a:t>
            </a:r>
            <a:r>
              <a:rPr>
                <a:latin typeface="Courier"/>
              </a:rPr>
              <a:t> x: expected_improvement(model, x, best(D))</a:t>
            </a:r>
            <a:br/>
            <a:r>
              <a:rPr>
                <a:latin typeface="Courier"/>
              </a:rPr>
              <a:t>    </a:t>
            </a:r>
            <a:r>
              <a:rPr i="1">
                <a:solidFill>
                  <a:srgbClr val="60A0B0"/>
                </a:solidFill>
                <a:latin typeface="Courier"/>
              </a:rPr>
              <a:t># cheap: find best candidate</a:t>
            </a:r>
            <a:br/>
            <a:r>
              <a:rPr>
                <a:latin typeface="Courier"/>
              </a:rPr>
              <a:t>    x_next </a:t>
            </a:r>
            <a:r>
              <a:rPr>
                <a:solidFill>
                  <a:srgbClr val="666666"/>
                </a:solidFill>
                <a:latin typeface="Courier"/>
              </a:rPr>
              <a:t>=</a:t>
            </a:r>
            <a:r>
              <a:rPr>
                <a:latin typeface="Courier"/>
              </a:rPr>
              <a:t> argmax(score, over</a:t>
            </a:r>
            <a:r>
              <a:rPr>
                <a:solidFill>
                  <a:srgbClr val="666666"/>
                </a:solidFill>
                <a:latin typeface="Courier"/>
              </a:rPr>
              <a:t>=</a:t>
            </a:r>
            <a:r>
              <a:rPr>
                <a:latin typeface="Courier"/>
              </a:rPr>
              <a:t>search_space)</a:t>
            </a:r>
            <a:br/>
            <a:r>
              <a:rPr>
                <a:latin typeface="Courier"/>
              </a:rPr>
              <a:t>    </a:t>
            </a:r>
            <a:r>
              <a:rPr i="1">
                <a:solidFill>
                  <a:srgbClr val="60A0B0"/>
                </a:solidFill>
                <a:latin typeface="Courier"/>
              </a:rPr>
              <a:t># expensive: one full CV run</a:t>
            </a:r>
            <a:br/>
            <a:r>
              <a:rPr>
                <a:latin typeface="Courier"/>
              </a:rPr>
              <a:t>    D.append((x_next, evaluate(x_next)))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Optuna</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def</a:t>
            </a:r>
            <a:r>
              <a:rPr>
                <a:latin typeface="Courier"/>
              </a:rPr>
              <a:t> objective(trial):</a:t>
            </a:r>
            <a:br/>
            <a:r>
              <a:rPr>
                <a:latin typeface="Courier"/>
              </a:rPr>
              <a:t>    depth </a:t>
            </a:r>
            <a:r>
              <a:rPr>
                <a:solidFill>
                  <a:srgbClr val="666666"/>
                </a:solidFill>
                <a:latin typeface="Courier"/>
              </a:rPr>
              <a:t>=</a:t>
            </a:r>
            <a:r>
              <a:rPr>
                <a:latin typeface="Courier"/>
              </a:rPr>
              <a:t> trial.suggest_int(</a:t>
            </a:r>
            <a:r>
              <a:rPr>
                <a:solidFill>
                  <a:srgbClr val="4070A0"/>
                </a:solidFill>
                <a:latin typeface="Courier"/>
              </a:rPr>
              <a:t>"depth"</a:t>
            </a:r>
            <a:r>
              <a:rPr>
                <a:latin typeface="Courier"/>
              </a:rPr>
              <a:t>, </a:t>
            </a:r>
            <a:r>
              <a:rPr>
                <a:solidFill>
                  <a:srgbClr val="40A070"/>
                </a:solidFill>
                <a:latin typeface="Courier"/>
              </a:rPr>
              <a:t>3</a:t>
            </a:r>
            <a:r>
              <a:rPr>
                <a:latin typeface="Courier"/>
              </a:rPr>
              <a:t>, </a:t>
            </a:r>
            <a:r>
              <a:rPr>
                <a:solidFill>
                  <a:srgbClr val="40A070"/>
                </a:solidFill>
                <a:latin typeface="Courier"/>
              </a:rPr>
              <a:t>12</a:t>
            </a:r>
            <a:r>
              <a:rPr>
                <a:latin typeface="Courier"/>
              </a:rPr>
              <a:t>)</a:t>
            </a:r>
            <a:br/>
            <a:r>
              <a:rPr>
                <a:latin typeface="Courier"/>
              </a:rPr>
              <a:t>    lr    </a:t>
            </a:r>
            <a:r>
              <a:rPr>
                <a:solidFill>
                  <a:srgbClr val="666666"/>
                </a:solidFill>
                <a:latin typeface="Courier"/>
              </a:rPr>
              <a:t>=</a:t>
            </a:r>
            <a:r>
              <a:rPr>
                <a:latin typeface="Courier"/>
              </a:rPr>
              <a:t> trial.suggest_float(</a:t>
            </a:r>
            <a:r>
              <a:rPr>
                <a:solidFill>
                  <a:srgbClr val="4070A0"/>
                </a:solidFill>
                <a:latin typeface="Courier"/>
              </a:rPr>
              <a:t>"lr"</a:t>
            </a:r>
            <a:r>
              <a:rPr>
                <a:latin typeface="Courier"/>
              </a:rPr>
              <a:t>, </a:t>
            </a:r>
            <a:r>
              <a:rPr>
                <a:solidFill>
                  <a:srgbClr val="40A070"/>
                </a:solidFill>
                <a:latin typeface="Courier"/>
              </a:rPr>
              <a:t>1e-4</a:t>
            </a:r>
            <a:r>
              <a:rPr>
                <a:latin typeface="Courier"/>
              </a:rPr>
              <a:t>, </a:t>
            </a:r>
            <a:r>
              <a:rPr>
                <a:solidFill>
                  <a:srgbClr val="40A070"/>
                </a:solidFill>
                <a:latin typeface="Courier"/>
              </a:rPr>
              <a:t>0.3</a:t>
            </a:r>
            <a:r>
              <a:rPr>
                <a:latin typeface="Courier"/>
              </a:rPr>
              <a:t>, log</a:t>
            </a:r>
            <a:r>
              <a:rPr>
                <a:solidFill>
                  <a:srgbClr val="666666"/>
                </a:solidFill>
                <a:latin typeface="Courier"/>
              </a:rPr>
              <a:t>=</a:t>
            </a:r>
            <a:r>
              <a:rPr>
                <a:solidFill>
                  <a:srgbClr val="19177C"/>
                </a:solidFill>
                <a:latin typeface="Courier"/>
              </a:rPr>
              <a:t>True</a:t>
            </a:r>
            <a:r>
              <a:rPr>
                <a:latin typeface="Courier"/>
              </a:rPr>
              <a:t>)</a:t>
            </a:r>
            <a:br/>
            <a:br/>
            <a:r>
              <a:rPr>
                <a:latin typeface="Courier"/>
              </a:rPr>
              <a:t>    model </a:t>
            </a:r>
            <a:r>
              <a:rPr>
                <a:solidFill>
                  <a:srgbClr val="666666"/>
                </a:solidFill>
                <a:latin typeface="Courier"/>
              </a:rPr>
              <a:t>=</a:t>
            </a:r>
            <a:r>
              <a:rPr>
                <a:latin typeface="Courier"/>
              </a:rPr>
              <a:t> XGBClassifier(max_depth</a:t>
            </a:r>
            <a:r>
              <a:rPr>
                <a:solidFill>
                  <a:srgbClr val="666666"/>
                </a:solidFill>
                <a:latin typeface="Courier"/>
              </a:rPr>
              <a:t>=</a:t>
            </a:r>
            <a:r>
              <a:rPr>
                <a:latin typeface="Courier"/>
              </a:rPr>
              <a:t>depth, learning_rate</a:t>
            </a:r>
            <a:r>
              <a:rPr>
                <a:solidFill>
                  <a:srgbClr val="666666"/>
                </a:solidFill>
                <a:latin typeface="Courier"/>
              </a:rPr>
              <a:t>=</a:t>
            </a:r>
            <a:r>
              <a:rPr>
                <a:latin typeface="Courier"/>
              </a:rPr>
              <a:t>lr)</a:t>
            </a:r>
            <a:br/>
            <a:r>
              <a:rPr>
                <a:latin typeface="Courier"/>
              </a:rPr>
              <a:t>    </a:t>
            </a:r>
            <a:r>
              <a:rPr b="1">
                <a:solidFill>
                  <a:srgbClr val="007020"/>
                </a:solidFill>
                <a:latin typeface="Courier"/>
              </a:rPr>
              <a:t>return</a:t>
            </a:r>
            <a:r>
              <a:rPr>
                <a:latin typeface="Courier"/>
              </a:rPr>
              <a:t> cross_val_score(model, X, y, cv</a:t>
            </a:r>
            <a:r>
              <a:rPr>
                <a:solidFill>
                  <a:srgbClr val="666666"/>
                </a:solidFill>
                <a:latin typeface="Courier"/>
              </a:rPr>
              <a:t>=</a:t>
            </a:r>
            <a:r>
              <a:rPr>
                <a:solidFill>
                  <a:srgbClr val="40A070"/>
                </a:solidFill>
                <a:latin typeface="Courier"/>
              </a:rPr>
              <a:t>5</a:t>
            </a:r>
            <a:r>
              <a:rPr>
                <a:latin typeface="Courier"/>
              </a:rPr>
              <a:t>,</a:t>
            </a:r>
            <a:br/>
            <a:r>
              <a:rPr>
                <a:latin typeface="Courier"/>
              </a:rPr>
              <a:t>                           scoring</a:t>
            </a:r>
            <a:r>
              <a:rPr>
                <a:solidFill>
                  <a:srgbClr val="666666"/>
                </a:solidFill>
                <a:latin typeface="Courier"/>
              </a:rPr>
              <a:t>=</a:t>
            </a:r>
            <a:r>
              <a:rPr>
                <a:solidFill>
                  <a:srgbClr val="4070A0"/>
                </a:solidFill>
                <a:latin typeface="Courier"/>
              </a:rPr>
              <a:t>"roc_auc"</a:t>
            </a:r>
            <a:r>
              <a:rPr>
                <a:latin typeface="Courier"/>
              </a:rPr>
              <a:t>).mean()</a:t>
            </a:r>
            <a:br/>
            <a:br/>
            <a:r>
              <a:rPr>
                <a:latin typeface="Courier"/>
              </a:rPr>
              <a:t>study </a:t>
            </a:r>
            <a:r>
              <a:rPr>
                <a:solidFill>
                  <a:srgbClr val="666666"/>
                </a:solidFill>
                <a:latin typeface="Courier"/>
              </a:rPr>
              <a:t>=</a:t>
            </a:r>
            <a:r>
              <a:rPr>
                <a:latin typeface="Courier"/>
              </a:rPr>
              <a:t> optuna.create_study(direction</a:t>
            </a:r>
            <a:r>
              <a:rPr>
                <a:solidFill>
                  <a:srgbClr val="666666"/>
                </a:solidFill>
                <a:latin typeface="Courier"/>
              </a:rPr>
              <a:t>=</a:t>
            </a:r>
            <a:r>
              <a:rPr>
                <a:solidFill>
                  <a:srgbClr val="4070A0"/>
                </a:solidFill>
                <a:latin typeface="Courier"/>
              </a:rPr>
              <a:t>"maximize"</a:t>
            </a:r>
            <a:r>
              <a:rPr>
                <a:latin typeface="Courier"/>
              </a:rPr>
              <a:t>)</a:t>
            </a:r>
            <a:br/>
            <a:r>
              <a:rPr>
                <a:latin typeface="Courier"/>
              </a:rPr>
              <a:t>study.optimize(objective, n_trials</a:t>
            </a:r>
            <a:r>
              <a:rPr>
                <a:solidFill>
                  <a:srgbClr val="666666"/>
                </a:solidFill>
                <a:latin typeface="Courier"/>
              </a:rPr>
              <a:t>=</a:t>
            </a:r>
            <a:r>
              <a:rPr>
                <a:solidFill>
                  <a:srgbClr val="40A070"/>
                </a:solidFill>
                <a:latin typeface="Courier"/>
              </a:rPr>
              <a:t>100</a:t>
            </a:r>
            <a:r>
              <a:rPr>
                <a:latin typeface="Courier"/>
              </a:rPr>
              <a: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Reading the optimization history</a:t>
            </a:r>
          </a:p>
        </p:txBody>
      </p:sp>
      <p:pic>
        <p:nvPicPr>
          <p:cNvPr descr="img/optuna_histo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Pruning</a:t>
            </a:r>
          </a:p>
        </p:txBody>
      </p:sp>
      <p:pic>
        <p:nvPicPr>
          <p:cNvPr descr="img/prun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Ensembles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Averaging</a:t>
            </a:r>
          </a:p>
        </p:txBody>
      </p:sp>
      <p:pic>
        <p:nvPicPr>
          <p:cNvPr descr="img/ensemble_avg_dem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Only mistakes that </a:t>
            </a:r>
            <a:r>
              <a:rPr i="1"/>
              <a:t>differ</a:t>
            </a:r>
            <a:r>
              <a:rPr/>
              <a:t> cancel</a:t>
            </a:r>
          </a:p>
        </p:txBody>
      </p:sp>
      <p:pic>
        <p:nvPicPr>
          <p:cNvPr descr="img/ensemble_correlation.png" id="0" name="Picture 1"/>
          <p:cNvPicPr>
            <a:picLocks noGrp="1" noChangeAspect="1"/>
          </p:cNvPicPr>
          <p:nvPr/>
        </p:nvPicPr>
        <p:blipFill>
          <a:blip r:embed="rId3"/>
          <a:stretch>
            <a:fillRect/>
          </a:stretch>
        </p:blipFill>
        <p:spPr bwMode="auto">
          <a:xfrm>
            <a:off x="457200" y="1193800"/>
            <a:ext cx="8216900" cy="33909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Bagging vs boosting</a:t>
            </a:r>
          </a:p>
        </p:txBody>
      </p:sp>
      <p:pic>
        <p:nvPicPr>
          <p:cNvPr descr="img/bagging_vs_boost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Bagging</a:t>
            </a:r>
          </a:p>
        </p:txBody>
      </p:sp>
      <p:pic>
        <p:nvPicPr>
          <p:cNvPr descr="img/bagging_bounda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Boosting</a:t>
            </a:r>
          </a:p>
        </p:txBody>
      </p:sp>
      <p:pic>
        <p:nvPicPr>
          <p:cNvPr descr="img/boosting_stag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Boosting</a:t>
            </a:r>
          </a:p>
        </p:txBody>
      </p:sp>
      <p:pic>
        <p:nvPicPr>
          <p:cNvPr descr="img/additive_mode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Shrinkage</a:t>
            </a:r>
          </a:p>
        </p:txBody>
      </p:sp>
      <p:pic>
        <p:nvPicPr>
          <p:cNvPr descr="img/shrinkag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Boosting is gradient descent in function space</a:t>
            </a:r>
          </a:p>
        </p:txBody>
      </p:sp>
      <p:pic>
        <p:nvPicPr>
          <p:cNvPr descr="img/eq_boost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learning rate is a regularizer</a:t>
            </a:r>
          </a:p>
        </p:txBody>
      </p:sp>
      <p:pic>
        <p:nvPicPr>
          <p:cNvPr descr="img/learning_rat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XGBoost, LightGBM, CatBoost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XGBoost: regularization inside the tree objective</a:t>
            </a:r>
          </a:p>
        </p:txBody>
      </p:sp>
      <p:pic>
        <p:nvPicPr>
          <p:cNvPr descr="img/eq_xgboos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Splitting candidates</a:t>
            </a:r>
          </a:p>
        </p:txBody>
      </p:sp>
      <p:pic>
        <p:nvPicPr>
          <p:cNvPr descr="img/xgb_split_searc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Loss simplification for one leaf</a:t>
            </a:r>
          </a:p>
        </p:txBody>
      </p:sp>
      <p:pic>
        <p:nvPicPr>
          <p:cNvPr descr="img/eq_leaf_objectiv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Scores candidate splits</a:t>
            </a:r>
          </a:p>
        </p:txBody>
      </p:sp>
      <p:pic>
        <p:nvPicPr>
          <p:cNvPr descr="img/xgb_leaf_sco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Gradient and Hessian</a:t>
            </a:r>
          </a:p>
        </p:txBody>
      </p:sp>
      <p:pic>
        <p:nvPicPr>
          <p:cNvPr descr="img/xgb_g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Summing trees to predicts the leaf value</a:t>
            </a:r>
          </a:p>
        </p:txBody>
      </p:sp>
      <p:pic>
        <p:nvPicPr>
          <p:cNvPr descr="img/xgb_leaf_predi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LightGBM: bin each feature once</a:t>
            </a:r>
          </a:p>
        </p:txBody>
      </p:sp>
      <p:pic>
        <p:nvPicPr>
          <p:cNvPr descr="img/lgbm_bi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Finding optimal cut in one sweep</a:t>
            </a:r>
          </a:p>
        </p:txBody>
      </p:sp>
      <p:pic>
        <p:nvPicPr>
          <p:cNvPr descr="img/lgbm_prefix.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Scan bin edges, not rows</a:t>
            </a:r>
          </a:p>
        </p:txBody>
      </p:sp>
      <p:pic>
        <p:nvPicPr>
          <p:cNvPr descr="img/lgbm_binned_sca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child’s histogram is the parent minus its sibling</a:t>
            </a:r>
          </a:p>
        </p:txBody>
      </p:sp>
      <p:pic>
        <p:nvPicPr>
          <p:cNvPr descr="img/lgbm_subtra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Leaf-wise growth: spend every split where it pays most</a:t>
            </a:r>
          </a:p>
        </p:txBody>
      </p:sp>
      <p:pic>
        <p:nvPicPr>
          <p:cNvPr descr="img/lgbm_leafwi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GOSS: sample the rows that are already fitted</a:t>
            </a:r>
          </a:p>
        </p:txBody>
      </p:sp>
      <p:pic>
        <p:nvPicPr>
          <p:cNvPr descr="img/lgbm_go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Categories: the target statistic problem</a:t>
            </a:r>
          </a:p>
        </p:txBody>
      </p:sp>
      <p:pic>
        <p:nvPicPr>
          <p:cNvPr descr="img/cat_exampl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Leak extreme values</a:t>
            </a:r>
          </a:p>
        </p:txBody>
      </p:sp>
      <p:pic>
        <p:nvPicPr>
          <p:cNvPr descr="img/cat_leak_w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Ordered target statistics: use only what came before</a:t>
            </a:r>
          </a:p>
        </p:txBody>
      </p:sp>
      <p:pic>
        <p:nvPicPr>
          <p:cNvPr descr="img/cat_chai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Ordered target statistics: removes the correlation</a:t>
            </a:r>
          </a:p>
        </p:txBody>
      </p:sp>
      <p:pic>
        <p:nvPicPr>
          <p:cNvPr descr="img/cat_ordered_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Oblivious trees: one split per level</a:t>
            </a:r>
          </a:p>
        </p:txBody>
      </p:sp>
      <p:pic>
        <p:nvPicPr>
          <p:cNvPr descr="img/cat_obliviou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XGBoost, LightGBM, CatBoost comparison</a:t>
            </a:r>
          </a:p>
        </p:txBody>
      </p:sp>
      <p:pic>
        <p:nvPicPr>
          <p:cNvPr descr="img/gbm_compa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Stacking</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Learn the combination</a:t>
            </a:r>
          </a:p>
        </p:txBody>
      </p:sp>
      <p:pic>
        <p:nvPicPr>
          <p:cNvPr descr="img/stack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Meta learning needs unseen data</a:t>
            </a:r>
          </a:p>
        </p:txBody>
      </p:sp>
      <p:pic>
        <p:nvPicPr>
          <p:cNvPr descr="img/oof.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Split correctly</a:t>
            </a:r>
          </a:p>
        </p:txBody>
      </p:sp>
      <p:pic>
        <p:nvPicPr>
          <p:cNvPr descr="img/cv_schem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Nested cross-validation</a:t>
            </a:r>
          </a:p>
        </p:txBody>
      </p:sp>
      <p:pic>
        <p:nvPicPr>
          <p:cNvPr descr="img/nested_cv.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Conclusion</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Tools map</a:t>
            </a:r>
          </a:p>
        </p:txBody>
      </p:sp>
      <p:pic>
        <p:nvPicPr>
          <p:cNvPr descr="img/concept_m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Generalization, Regularization &amp; Ensembles</dc:title>
  <dc:creator>Paul Dubois</dc:creator>
  <cp:keywords/>
  <dcterms:created xsi:type="dcterms:W3CDTF">2026-09-13T14:26:16Z</dcterms:created>
  <dcterms:modified xsi:type="dcterms:W3CDTF">2026-09-13T14:26:16Z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3 — Lecture</vt:lpwstr>
  </property>
  <property fmtid="{D5CDD505-2E9C-101B-9397-08002B2CF9AE}" pid="3" name="subtitle">
    <vt:lpwstr>Advanced Data Science · NYU Paris · 2026</vt:lpwstr>
  </property>
</Properties>
</file>