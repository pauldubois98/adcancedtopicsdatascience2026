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16.png" ContentType="image/png"/>
  <Override PartName="/ppt/media/image9.svg" ContentType="image/svg"/>
  <Override PartName="/ppt/media/image14.png" ContentType="image/png"/>
  <Override PartName="/ppt/media/image7.svg" ContentType="image/svg"/>
  <Override PartName="/ppt/media/image3.svg" ContentType="image/svg"/>
  <Override PartName="/ppt/media/image6.png" ContentType="image/png"/>
  <Override PartName="/ppt/media/image15.png" ContentType="image/png"/>
  <Override PartName="/ppt/media/image10.png" ContentType="image/png"/>
  <Override PartName="/ppt/media/image1.png" ContentType="image/png"/>
  <Override PartName="/ppt/media/image5.svg" ContentType="image/svg"/>
  <Override PartName="/ppt/media/image8.png" ContentType="image/png"/>
  <Override PartName="/ppt/media/image12.png" ContentType="image/png"/>
  <Override PartName="/ppt/media/image11.png" ContentType="image/png"/>
  <Override PartName="/ppt/media/image2.png" ContentType="image/pn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1620EE6-3EC6-4ED7-A159-18816DB546E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ldImg"/>
          </p:nvPr>
        </p:nvSpPr>
        <p:spPr>
          <a:xfrm>
            <a:off x="685800" y="1143000"/>
            <a:ext cx="5485680" cy="3085560"/>
          </a:xfrm>
          <a:prstGeom prst="rect">
            <a:avLst/>
          </a:prstGeom>
          <a:ln w="0">
            <a:noFill/>
          </a:ln>
        </p:spPr>
      </p:sp>
      <p:sp>
        <p:nvSpPr>
          <p:cNvPr id="10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1" lang="en-US" sz="2000" spc="-1" strike="noStrike">
                <a:solidFill>
                  <a:srgbClr val="5f6368"/>
                </a:solidFill>
                <a:latin typeface="arial"/>
              </a:rPr>
              <a:t>Inheritance</a:t>
            </a:r>
            <a:r>
              <a:rPr b="0" lang="en-US" sz="2000" spc="-1" strike="noStrike">
                <a:solidFill>
                  <a:srgbClr val="4d5156"/>
                </a:solidFill>
                <a:latin typeface="arial"/>
              </a:rPr>
              <a:t> allows us to define a </a:t>
            </a:r>
            <a:r>
              <a:rPr b="1" lang="en-US" sz="2000" spc="-1" strike="noStrike">
                <a:solidFill>
                  <a:srgbClr val="5f6368"/>
                </a:solidFill>
                <a:latin typeface="arial"/>
              </a:rPr>
              <a:t>class</a:t>
            </a:r>
            <a:r>
              <a:rPr b="0" lang="en-US" sz="2000" spc="-1" strike="noStrike">
                <a:solidFill>
                  <a:srgbClr val="4d5156"/>
                </a:solidFill>
                <a:latin typeface="arial"/>
              </a:rPr>
              <a:t> that inherits all the methods and properties from another </a:t>
            </a:r>
            <a:r>
              <a:rPr b="1" lang="en-US" sz="2000" spc="-1" strike="noStrike">
                <a:solidFill>
                  <a:srgbClr val="5f6368"/>
                </a:solidFill>
                <a:latin typeface="arial"/>
              </a:rPr>
              <a:t>class.</a:t>
            </a:r>
            <a:endParaRPr b="0" lang="en-US" sz="2000" spc="-1" strike="noStrike">
              <a:solidFill>
                <a:srgbClr val="000000"/>
              </a:solidFill>
              <a:latin typeface="Arial"/>
            </a:endParaRPr>
          </a:p>
        </p:txBody>
      </p:sp>
      <p:sp>
        <p:nvSpPr>
          <p:cNvPr id="106" name="PlaceHolder 3"/>
          <p:cNvSpPr>
            <a:spLocks noGrp="1"/>
          </p:cNvSpPr>
          <p:nvPr>
            <p:ph type="sldNum" idx="38"/>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5AF87CA-DF08-45D5-B02D-289B994CE0C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685800" y="1143000"/>
            <a:ext cx="5485680" cy="3085560"/>
          </a:xfrm>
          <a:prstGeom prst="rect">
            <a:avLst/>
          </a:prstGeom>
          <a:ln w="0">
            <a:noFill/>
          </a:ln>
        </p:spPr>
      </p:sp>
      <p:sp>
        <p:nvSpPr>
          <p:cNvPr id="10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No need for backward!</a:t>
            </a:r>
            <a:endParaRPr b="0" lang="en-US" sz="2000" spc="-1" strike="noStrike">
              <a:solidFill>
                <a:srgbClr val="000000"/>
              </a:solidFill>
              <a:latin typeface="Arial"/>
            </a:endParaRPr>
          </a:p>
        </p:txBody>
      </p:sp>
      <p:sp>
        <p:nvSpPr>
          <p:cNvPr id="109" name="PlaceHolder 3"/>
          <p:cNvSpPr>
            <a:spLocks noGrp="1"/>
          </p:cNvSpPr>
          <p:nvPr>
            <p:ph type="sldNum" idx="39"/>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79E2E21-0684-4816-B5C0-5D01B60CE4F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685800" y="1143000"/>
            <a:ext cx="5485680" cy="3085560"/>
          </a:xfrm>
          <a:prstGeom prst="rect">
            <a:avLst/>
          </a:prstGeom>
          <a:ln w="0">
            <a:noFill/>
          </a:ln>
        </p:spPr>
      </p:sp>
      <p:sp>
        <p:nvSpPr>
          <p:cNvPr id="11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Pas d’activation function sur la dernière couche, on a le droit ! On pourrait aussi en mettre une. </a:t>
            </a:r>
            <a:endParaRPr b="0" lang="en-US" sz="2000" spc="-1" strike="noStrike">
              <a:solidFill>
                <a:srgbClr val="000000"/>
              </a:solidFill>
              <a:latin typeface="Arial"/>
            </a:endParaRPr>
          </a:p>
        </p:txBody>
      </p:sp>
      <p:sp>
        <p:nvSpPr>
          <p:cNvPr id="112" name="PlaceHolder 3"/>
          <p:cNvSpPr>
            <a:spLocks noGrp="1"/>
          </p:cNvSpPr>
          <p:nvPr>
            <p:ph type="sldNum" idx="40"/>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1510729-9E30-451C-95CD-F7EF2F60332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685800" y="1143000"/>
            <a:ext cx="5485680" cy="3085560"/>
          </a:xfrm>
          <a:prstGeom prst="rect">
            <a:avLst/>
          </a:prstGeom>
          <a:ln w="0">
            <a:noFill/>
          </a:ln>
        </p:spPr>
      </p:sp>
      <p:sp>
        <p:nvSpPr>
          <p:cNvPr id="11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fr-FR" sz="2000" spc="-1" strike="noStrike">
                <a:solidFill>
                  <a:srgbClr val="000000"/>
                </a:solidFill>
                <a:latin typeface="Arial"/>
              </a:rPr>
              <a:t>For now, let’s just understand the difference between stochastic gradient descent and standard gradient descent.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292929"/>
                </a:solidFill>
                <a:latin typeface="source-serif-pro"/>
              </a:rPr>
              <a:t>Stochastic Gradient Descent is a probabilistic approximation of Gradient Descent. It is an approximation because, at each step, the algorithm calculates the gradient for one observation picked at random, instead of calculating the gradient for the entire dataset.</a:t>
            </a:r>
            <a:br>
              <a:rPr sz="2000"/>
            </a:br>
            <a:r>
              <a:rPr b="0" lang="en-US" sz="2000" spc="-1" strike="noStrike">
                <a:solidFill>
                  <a:srgbClr val="292929"/>
                </a:solidFill>
                <a:latin typeface="source-serif-pro"/>
              </a:rPr>
              <a:t>This represents a significant performance improvement, when the dataset contains millions of observations.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292929"/>
                </a:solidFill>
                <a:latin typeface="source-serif-pro"/>
              </a:rPr>
              <a:t>Compared to Gradient Descent, Stochastic Gradient Descent is much faster, and more suitable to large-scale datasets.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292929"/>
                </a:solidFill>
                <a:latin typeface="source-serif-pro"/>
              </a:rPr>
              <a:t>But since the gradient it’s not computed for the entire dataset, and only for one random point on each iteration, the updates have a higher variance. This makes the cost function fluctuate more on each iteration, when compared to Gradient Descent, making it harder for the algorithm to converge.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292929"/>
                </a:solidFill>
                <a:latin typeface="source-serif-pro"/>
              </a:rPr>
              <a:t>New variations of Stochastic Gradient Descent have been developed to tackle these problems. For example, </a:t>
            </a:r>
            <a:r>
              <a:rPr b="0" i="1" lang="en-US" sz="2000" spc="-1" strike="noStrike">
                <a:solidFill>
                  <a:srgbClr val="292929"/>
                </a:solidFill>
                <a:latin typeface="source-serif-pro"/>
              </a:rPr>
              <a:t>Mini-batch</a:t>
            </a:r>
            <a:r>
              <a:rPr b="0" lang="en-US" sz="2000" spc="-1" strike="noStrike">
                <a:solidFill>
                  <a:srgbClr val="292929"/>
                </a:solidFill>
                <a:latin typeface="source-serif-pro"/>
              </a:rPr>
              <a:t> Stochastic Gradient Descent, addresses the variance problem by picking a sample of </a:t>
            </a:r>
            <a:r>
              <a:rPr b="0" i="1" lang="en-US" sz="2000" spc="-1" strike="noStrike">
                <a:solidFill>
                  <a:srgbClr val="292929"/>
                </a:solidFill>
                <a:latin typeface="source-serif-pro"/>
              </a:rPr>
              <a:t>n </a:t>
            </a:r>
            <a:r>
              <a:rPr b="0" lang="en-US" sz="2000" spc="-1" strike="noStrike">
                <a:solidFill>
                  <a:srgbClr val="292929"/>
                </a:solidFill>
                <a:latin typeface="source-serif-pro"/>
              </a:rPr>
              <a:t>observations from the dataset in each iteration instead of just one</a:t>
            </a:r>
            <a:r>
              <a:rPr b="0" lang="fr-FR" sz="2000" spc="-1" strike="noStrike">
                <a:solidFill>
                  <a:srgbClr val="292929"/>
                </a:solidFill>
                <a:latin typeface="source-serif-pro"/>
              </a:rPr>
              <a: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Source Sans Pro"/>
              </a:rPr>
              <a:t>Suppose you have made an app and want to improve it by taking feedback from 100 customers. You can do it in two ways. First, you can give the app to the first customer and take his feedback then to the second one, then the third, and so on. After collecting feedback from all of them you can improve your app. But you can also improve the app as soon as you get feedback from the first customer. Then you give it to the second one and you improve again before giving it to the third one. Notice that in this way you are improving your app at a much faster rate and can reach an optimal point much earlier.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Source Sans Pro"/>
              </a:rPr>
              <a:t>Hopefully, you can tell that the first process is the Vanilla Gradient Descent and the second one is SGD.</a:t>
            </a:r>
            <a:endParaRPr b="0" lang="en-US" sz="2000" spc="-1" strike="noStrike">
              <a:solidFill>
                <a:srgbClr val="000000"/>
              </a:solidFill>
              <a:latin typeface="Arial"/>
            </a:endParaRPr>
          </a:p>
        </p:txBody>
      </p:sp>
      <p:sp>
        <p:nvSpPr>
          <p:cNvPr id="115" name="PlaceHolder 3"/>
          <p:cNvSpPr>
            <a:spLocks noGrp="1"/>
          </p:cNvSpPr>
          <p:nvPr>
            <p:ph type="sldNum" idx="41"/>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A552E93-450D-4AF2-9092-CF5478F6F23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685800" y="1143000"/>
            <a:ext cx="5485680" cy="3085560"/>
          </a:xfrm>
          <a:prstGeom prst="rect">
            <a:avLst/>
          </a:prstGeom>
          <a:ln w="0">
            <a:noFill/>
          </a:ln>
        </p:spPr>
      </p:sp>
      <p:sp>
        <p:nvSpPr>
          <p:cNvPr id="11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202124"/>
                </a:solidFill>
                <a:latin typeface="arial"/>
              </a:rPr>
              <a:t>Creating a PyTorch Dataset and managing it with Dataloader </a:t>
            </a:r>
            <a:r>
              <a:rPr b="1" lang="en-US" sz="2000" spc="-1" strike="noStrike">
                <a:solidFill>
                  <a:srgbClr val="202124"/>
                </a:solidFill>
                <a:latin typeface="arial"/>
              </a:rPr>
              <a:t>keeps your data manageable and helps to simplify your machine learning pipeline</a:t>
            </a:r>
            <a:r>
              <a:rPr b="0" lang="en-US" sz="2000" spc="-1" strike="noStrike">
                <a:solidFill>
                  <a:srgbClr val="202124"/>
                </a:solidFill>
                <a:latin typeface="arial"/>
              </a:rPr>
              <a:t>. A Dataset stores all your data, and Dataloader is can be used to iterate through the data, manage batches, </a:t>
            </a:r>
            <a:r>
              <a:rPr b="1" lang="en-US" sz="2000" spc="-1" strike="noStrike">
                <a:solidFill>
                  <a:srgbClr val="ff0000"/>
                </a:solidFill>
                <a:latin typeface="arial"/>
              </a:rPr>
              <a:t>transform the data</a:t>
            </a:r>
            <a:r>
              <a:rPr b="0" lang="en-US" sz="2000" spc="-1" strike="noStrike">
                <a:solidFill>
                  <a:srgbClr val="202124"/>
                </a:solidFill>
                <a:latin typeface="arial"/>
              </a:rPr>
              <a:t>, and much more.</a:t>
            </a:r>
            <a:endParaRPr b="0" lang="en-US" sz="2000" spc="-1" strike="noStrike">
              <a:solidFill>
                <a:srgbClr val="000000"/>
              </a:solidFill>
              <a:latin typeface="Arial"/>
            </a:endParaRPr>
          </a:p>
        </p:txBody>
      </p:sp>
      <p:sp>
        <p:nvSpPr>
          <p:cNvPr id="118" name="PlaceHolder 3"/>
          <p:cNvSpPr>
            <a:spLocks noGrp="1"/>
          </p:cNvSpPr>
          <p:nvPr>
            <p:ph type="sldNum" idx="42"/>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355DDB5-67CF-4D73-ABAA-B0452057EB0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C404348-17F7-4650-B1F9-110CC18AAD22}"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7B1C9BCE-BF09-4DF3-9C48-13416F6699ED}"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CECB1D5B-6217-4E4B-8CBD-1A34EE5D818C}"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838080" y="1825560"/>
            <a:ext cx="105148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0FE19A3F-2C54-4BCC-AFFD-3B235B946154}"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C63B3871-E2C2-4478-95FB-E492DBCAB24D}"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 name="PlaceHolder 2"/>
          <p:cNvSpPr>
            <a:spLocks noGrp="1"/>
          </p:cNvSpPr>
          <p:nvPr>
            <p:ph/>
          </p:nvPr>
        </p:nvSpPr>
        <p:spPr>
          <a:xfrm>
            <a:off x="83808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3"/>
          <p:cNvSpPr>
            <a:spLocks noGrp="1"/>
          </p:cNvSpPr>
          <p:nvPr>
            <p:ph/>
          </p:nvPr>
        </p:nvSpPr>
        <p:spPr>
          <a:xfrm>
            <a:off x="622620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C72C4DDE-FC3C-441A-9376-7FCB747C7648}"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4343FCA9-1700-4EEE-82A7-89FC327F062B}"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F1BCC394-75FD-4E27-A18F-F3651D4651E9}"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1969B39F-899E-4E4C-A2CD-9E56AE0424C3}"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6656086E-F5D0-49D0-9659-CDC0A6C9B51A}"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4374CC60-10EB-4A6C-9B31-B8136ED15F53}"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BC792008-B92D-4A9B-AB55-212E3E88220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0FBB21BF-E6E6-49EB-9886-F367E9567CD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3E96BEDC-38EA-401C-BB9F-5CC08A07FE6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4"/>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C63EF2C7-AA8F-4181-8DCB-C694C25105E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7" name="PlaceHolder 5"/>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51E15F90-9892-4696-9CF8-14C85E5C19C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 name="PlaceHolder 2"/>
          <p:cNvSpPr>
            <a:spLocks noGrp="1"/>
          </p:cNvSpPr>
          <p:nvPr>
            <p:ph type="body"/>
          </p:nvPr>
        </p:nvSpPr>
        <p:spPr>
          <a:xfrm>
            <a:off x="83808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3"/>
          <p:cNvSpPr>
            <a:spLocks noGrp="1"/>
          </p:cNvSpPr>
          <p:nvPr>
            <p:ph type="body"/>
          </p:nvPr>
        </p:nvSpPr>
        <p:spPr>
          <a:xfrm>
            <a:off x="622620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7EA9DEAF-5969-4C65-A56D-C38F8D9979A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8"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164EAD28-EF7B-4610-9CE9-0D552785167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146321B1-14B1-473B-93D6-5B586420849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8"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16858C91-E9B1-44B2-93FA-4438E21CB90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3"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01D41A1F-DCCB-4CDE-BDA2-7F7E2235381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19B5697E-B0D9-4570-B205-4BD63757BBB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1523880" y="1122480"/>
            <a:ext cx="9143280" cy="2386800"/>
          </a:xfrm>
          <a:prstGeom prst="rect">
            <a:avLst/>
          </a:prstGeom>
          <a:noFill/>
          <a:ln w="0">
            <a:noFill/>
          </a:ln>
        </p:spPr>
        <p:txBody>
          <a:bodyPr lIns="91440" rIns="91440" tIns="45720" bIns="45720" anchor="b">
            <a:normAutofit/>
          </a:bodyPr>
          <a:p>
            <a:pPr indent="0" algn="ctr" defTabSz="914400">
              <a:lnSpc>
                <a:spcPct val="90000"/>
              </a:lnSpc>
              <a:buNone/>
              <a:tabLst>
                <a:tab algn="l" pos="0"/>
              </a:tabLst>
            </a:pPr>
            <a:r>
              <a:rPr b="0" lang="en-US" sz="6000" spc="-1" strike="noStrike">
                <a:solidFill>
                  <a:schemeClr val="dk1"/>
                </a:solidFill>
                <a:latin typeface="Calibri Light"/>
              </a:rPr>
              <a:t>Session 5</a:t>
            </a:r>
            <a:br>
              <a:rPr sz="6000"/>
            </a:br>
            <a:r>
              <a:rPr b="0" lang="en-US" sz="6000" spc="-1" strike="noStrike">
                <a:solidFill>
                  <a:schemeClr val="dk1"/>
                </a:solidFill>
                <a:latin typeface="Calibri Light"/>
              </a:rPr>
              <a:t>PyTorch</a:t>
            </a:r>
            <a:endParaRPr b="0" lang="en-US" sz="6000" spc="-1" strike="noStrike">
              <a:solidFill>
                <a:srgbClr val="000000"/>
              </a:solidFill>
              <a:latin typeface="Arial"/>
            </a:endParaRPr>
          </a:p>
        </p:txBody>
      </p:sp>
      <p:sp>
        <p:nvSpPr>
          <p:cNvPr id="57" name="PlaceHolder 2"/>
          <p:cNvSpPr>
            <a:spLocks noGrp="1"/>
          </p:cNvSpPr>
          <p:nvPr>
            <p:ph type="subTitle"/>
          </p:nvPr>
        </p:nvSpPr>
        <p:spPr>
          <a:xfrm>
            <a:off x="1523880" y="3602160"/>
            <a:ext cx="9143280" cy="165492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b="0" lang="en-US" sz="2400" spc="-1" strike="noStrike">
                <a:solidFill>
                  <a:schemeClr val="dk1"/>
                </a:solidFill>
                <a:latin typeface="Calibri"/>
              </a:rPr>
              <a:t>Advanced Data Science · NYU Paris · 2026</a:t>
            </a:r>
            <a:br>
              <a:rPr sz="2400"/>
            </a:br>
            <a:br>
              <a:rPr sz="2400"/>
            </a:br>
            <a:r>
              <a:rPr b="0" lang="en-US" sz="2400" spc="-1" strike="noStrike">
                <a:solidFill>
                  <a:schemeClr val="dk1"/>
                </a:solidFill>
                <a:latin typeface="Calibri"/>
              </a:rPr>
              <a:t>Paul Dubois</a:t>
            </a:r>
            <a:endParaRPr b="0" lang="en-US" sz="2400" spc="-1" strike="noStrike">
              <a:solidFill>
                <a:srgbClr val="000000"/>
              </a:solidFill>
              <a:latin typeface="Arial"/>
            </a:endParaRPr>
          </a:p>
        </p:txBody>
      </p:sp>
      <p:sp>
        <p:nvSpPr>
          <p:cNvPr id="58" name="PlaceHolder 3"/>
          <p:cNvSpPr>
            <a:spLocks noGrp="1"/>
          </p:cNvSpPr>
          <p:nvPr>
            <p:ph type="dt" idx="37"/>
          </p:nvPr>
        </p:nvSpPr>
        <p:spPr>
          <a:xfrm>
            <a:off x="838080" y="6356520"/>
            <a:ext cx="2742480" cy="364320"/>
          </a:xfrm>
          <a:prstGeom prst="rect">
            <a:avLst/>
          </a:prstGeom>
          <a:noFill/>
          <a:ln w="0">
            <a:noFill/>
          </a:ln>
        </p:spPr>
        <p:txBody>
          <a:bodyPr lIns="91440" rIns="91440" tIns="45720" bIns="45720" anchor="ctr">
            <a:normAutofit/>
          </a:bodyPr>
          <a:lstStyle>
            <a:lvl1pPr indent="0" defTabSz="914400">
              <a:lnSpc>
                <a:spcPct val="100000"/>
              </a:lnSpc>
              <a:buNone/>
              <a:tabLst>
                <a:tab algn="l" pos="0"/>
              </a:tabLst>
              <a:defRPr b="0" lang="en-US" sz="1200" spc="-1" strike="noStrike">
                <a:solidFill>
                  <a:schemeClr val="dk1">
                    <a:tint val="75000"/>
                  </a:schemeClr>
                </a:solidFill>
                <a:latin typeface="Calibri"/>
              </a:defRPr>
            </a:lvl1pPr>
          </a:lstStyle>
          <a:p>
            <a:pPr indent="0" defTabSz="914400">
              <a:lnSpc>
                <a:spcPct val="100000"/>
              </a:lnSpc>
              <a:buNone/>
              <a:tabLst>
                <a:tab algn="l" pos="0"/>
              </a:tabLst>
            </a:pPr>
            <a:r>
              <a:rPr b="0" lang="en-US" sz="1200" spc="-1" strike="noStrike">
                <a:solidFill>
                  <a:schemeClr val="dk1">
                    <a:tint val="75000"/>
                  </a:schemeClr>
                </a:solidFill>
                <a:latin typeface="Calibri"/>
              </a:rPr>
              <a:t>Week 5 — Lecture</a:t>
            </a:r>
            <a:endParaRPr b="0" lang="en-US" sz="12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PyTorch in a few words…</a:t>
            </a:r>
            <a:endParaRPr b="0" lang="en-US" sz="4400" spc="-1" strike="noStrike">
              <a:solidFill>
                <a:srgbClr val="000000"/>
              </a:solidFill>
              <a:latin typeface="Arial"/>
            </a:endParaRPr>
          </a:p>
        </p:txBody>
      </p:sp>
      <p:sp>
        <p:nvSpPr>
          <p:cNvPr id="6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sngStrike">
                <a:solidFill>
                  <a:schemeClr val="dk1"/>
                </a:solidFill>
                <a:latin typeface="Calibri"/>
              </a:rPr>
              <a:t>Developed by </a:t>
            </a:r>
            <a:r>
              <a:rPr b="1" lang="en-US" sz="2800" spc="-1" strike="sngStrike">
                <a:solidFill>
                  <a:schemeClr val="dk1"/>
                </a:solidFill>
                <a:latin typeface="Calibri"/>
              </a:rPr>
              <a:t>Facebook’s AI research group</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a:t>
            </a:r>
            <a:r>
              <a:rPr b="0" lang="en-US" sz="2800" spc="-1" strike="noStrike">
                <a:solidFill>
                  <a:schemeClr val="dk1"/>
                </a:solidFill>
                <a:latin typeface="Calibri"/>
              </a:rPr>
              <a:t>rom </a:t>
            </a:r>
            <a:r>
              <a:rPr b="1" lang="en-US" sz="2800" spc="-1" strike="noStrike">
                <a:solidFill>
                  <a:schemeClr val="dk1"/>
                </a:solidFill>
                <a:latin typeface="Calibri"/>
              </a:rPr>
              <a:t>Meta</a:t>
            </a:r>
            <a:r>
              <a:rPr b="0" lang="en-US" sz="2800" spc="-1" strike="noStrike">
                <a:solidFill>
                  <a:schemeClr val="dk1"/>
                </a:solidFill>
                <a:latin typeface="Calibri"/>
              </a:rPr>
              <a:t> AI to the </a:t>
            </a:r>
            <a:r>
              <a:rPr b="1" lang="en-US" sz="2800" spc="-1" strike="noStrike">
                <a:solidFill>
                  <a:schemeClr val="dk1"/>
                </a:solidFill>
                <a:latin typeface="Calibri"/>
              </a:rPr>
              <a:t>PyTorch Foundation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sngStrike">
                <a:solidFill>
                  <a:schemeClr val="dk1"/>
                </a:solidFill>
                <a:latin typeface="Calibri"/>
              </a:rPr>
              <a:t>Getting</a:t>
            </a:r>
            <a:r>
              <a:rPr b="0" lang="en-US" sz="2800" spc="-1" strike="noStrike">
                <a:solidFill>
                  <a:schemeClr val="dk1"/>
                </a:solidFill>
                <a:latin typeface="Calibri"/>
              </a:rPr>
              <a:t> very </a:t>
            </a:r>
            <a:r>
              <a:rPr b="1" lang="en-US" sz="2800" spc="-1" strike="noStrike">
                <a:solidFill>
                  <a:schemeClr val="dk1"/>
                </a:solidFill>
                <a:latin typeface="Calibri"/>
              </a:rPr>
              <a:t>popular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Easy</a:t>
            </a:r>
            <a:r>
              <a:rPr b="0" lang="en-US" sz="2800" spc="-1" strike="noStrike">
                <a:solidFill>
                  <a:schemeClr val="dk1"/>
                </a:solidFill>
                <a:latin typeface="Calibri"/>
              </a:rPr>
              <a:t> to use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Good </a:t>
            </a:r>
            <a:r>
              <a:rPr b="1" lang="en-US" sz="2800" spc="-1" strike="noStrike">
                <a:solidFill>
                  <a:schemeClr val="dk1"/>
                </a:solidFill>
                <a:latin typeface="Calibri"/>
              </a:rPr>
              <a:t>performance</a:t>
            </a:r>
            <a:r>
              <a:rPr b="0" lang="en-US" sz="2800" spc="-1" strike="noStrike">
                <a:solidFill>
                  <a:schemeClr val="dk1"/>
                </a:solidFill>
                <a:latin typeface="Calibri"/>
              </a:rPr>
              <a:t> in production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Flexible</a:t>
            </a:r>
            <a:r>
              <a:rPr b="0" lang="en-US" sz="2800" spc="-1" strike="noStrike">
                <a:solidFill>
                  <a:schemeClr val="dk1"/>
                </a:solidFill>
                <a:latin typeface="Calibri"/>
              </a:rPr>
              <a:t> across a wide range of tasks</a:t>
            </a:r>
            <a:endParaRPr b="0" lang="en-US" sz="2800" spc="-1" strike="noStrike">
              <a:solidFill>
                <a:srgbClr val="000000"/>
              </a:solidFill>
              <a:latin typeface="Arial"/>
            </a:endParaRPr>
          </a:p>
          <a:p>
            <a:pPr marL="228600"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Provides tools for parallelizing &amp; distributing computations</a:t>
            </a:r>
            <a:endParaRPr b="0" lang="en-US" sz="2800" spc="-1" strike="noStrike">
              <a:solidFill>
                <a:srgbClr val="000000"/>
              </a:solidFill>
              <a:latin typeface="Arial"/>
            </a:endParaRPr>
          </a:p>
        </p:txBody>
      </p:sp>
      <p:pic>
        <p:nvPicPr>
          <p:cNvPr id="61" name="Picture 7" descr="Share of official paper implementations by framework, 2017-2025: PyTorch rises to about 90%, TensorFlow falls to about 3%"/>
          <p:cNvPicPr/>
          <p:nvPr/>
        </p:nvPicPr>
        <p:blipFill>
          <a:blip r:embed="rId1"/>
          <a:stretch/>
        </p:blipFill>
        <p:spPr>
          <a:xfrm>
            <a:off x="7294320" y="2286000"/>
            <a:ext cx="4897800" cy="31780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Key Concepts of PyTorch</a:t>
            </a:r>
            <a:endParaRPr b="0" lang="en-US" sz="4400" spc="-1" strike="noStrike">
              <a:solidFill>
                <a:srgbClr val="000000"/>
              </a:solidFill>
              <a:latin typeface="Arial"/>
            </a:endParaRPr>
          </a:p>
        </p:txBody>
      </p:sp>
      <p:sp>
        <p:nvSpPr>
          <p:cNvPr id="63"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Tensor</a:t>
            </a:r>
            <a:r>
              <a:rPr b="0" lang="en-US" sz="2800" spc="-1" strike="noStrike">
                <a:solidFill>
                  <a:schemeClr val="dk1"/>
                </a:solidFill>
                <a:latin typeface="Calibri"/>
              </a:rPr>
              <a:t>: multi-dimensional array of numbers</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Autograd</a:t>
            </a:r>
            <a:r>
              <a:rPr b="0" lang="en-US" sz="2800" spc="-1" strike="noStrike">
                <a:solidFill>
                  <a:schemeClr val="dk1"/>
                </a:solidFill>
                <a:latin typeface="Calibri"/>
              </a:rPr>
              <a:t>: </a:t>
            </a:r>
            <a:r>
              <a:rPr b="0" lang="fr-FR" sz="2800" spc="-1" strike="noStrike">
                <a:solidFill>
                  <a:srgbClr val="262626"/>
                </a:solidFill>
                <a:latin typeface="FreightSans"/>
              </a:rPr>
              <a:t>automatic differentiation engine (to avoid </a:t>
            </a:r>
            <a:r>
              <a:rPr b="0" lang="en-US" sz="2800" spc="-1" strike="noStrike">
                <a:solidFill>
                  <a:schemeClr val="dk1"/>
                </a:solidFill>
                <a:latin typeface="Calibri"/>
              </a:rPr>
              <a:t>manual computation of gradients, cf. last TD correction)</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Neural network module</a:t>
            </a:r>
            <a:r>
              <a:rPr b="0" lang="en-US" sz="2800" spc="-1" strike="noStrike">
                <a:solidFill>
                  <a:schemeClr val="dk1"/>
                </a:solidFill>
                <a:latin typeface="Calibri"/>
              </a:rPr>
              <a:t>: base class to inherit from for all our neural network classes</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Optimizer</a:t>
            </a:r>
            <a:r>
              <a:rPr b="0" lang="en-US" sz="2800" spc="-1" strike="noStrike">
                <a:solidFill>
                  <a:schemeClr val="dk1"/>
                </a:solidFill>
                <a:latin typeface="Calibri"/>
              </a:rPr>
              <a:t>: an algorithm that is used to </a:t>
            </a:r>
            <a:r>
              <a:rPr b="0" lang="en-US" sz="2800" spc="-1" strike="noStrike">
                <a:solidFill>
                  <a:srgbClr val="262626"/>
                </a:solidFill>
                <a:latin typeface="FreightSans"/>
              </a:rPr>
              <a:t>update the parameters based on the computed gradients and a given loss function</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Dataset/Dataloader</a:t>
            </a:r>
            <a:r>
              <a:rPr b="0" lang="en-US" sz="2800" spc="-1" strike="noStrike">
                <a:solidFill>
                  <a:schemeClr val="dk1"/>
                </a:solidFill>
                <a:latin typeface="Calibri"/>
              </a:rPr>
              <a:t>: a base class for our data</a:t>
            </a:r>
            <a:endParaRPr b="0" lang="en-US" sz="28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Tensor</a:t>
            </a:r>
            <a:endParaRPr b="0" lang="en-US" sz="4400" spc="-1" strike="noStrike">
              <a:solidFill>
                <a:srgbClr val="000000"/>
              </a:solidFill>
              <a:latin typeface="Arial"/>
            </a:endParaRPr>
          </a:p>
        </p:txBody>
      </p:sp>
      <p:pic>
        <p:nvPicPr>
          <p:cNvPr id="65" name="Graphic 16" descr=""/>
          <p:cNvPicPr/>
          <p:nvPr/>
        </p:nvPicPr>
        <p:blipFill>
          <a:blip r:embed="rId1">
            <a:extLst>
              <a:ext uri="{96DAC541-7B7A-43D3-8B79-37D633B846F1}">
                <asvg:svgBlip xmlns:asvg="http://schemas.microsoft.com/office/drawing/2016/SVG/main" r:embed="rId2"/>
              </a:ext>
            </a:extLst>
          </a:blip>
          <a:stretch/>
        </p:blipFill>
        <p:spPr>
          <a:xfrm>
            <a:off x="8497080" y="1778400"/>
            <a:ext cx="3599640" cy="3599640"/>
          </a:xfrm>
          <a:prstGeom prst="rect">
            <a:avLst/>
          </a:prstGeom>
          <a:ln w="0">
            <a:noFill/>
          </a:ln>
        </p:spPr>
      </p:pic>
      <p:pic>
        <p:nvPicPr>
          <p:cNvPr id="66" name="Graphic 18" descr=""/>
          <p:cNvPicPr/>
          <p:nvPr/>
        </p:nvPicPr>
        <p:blipFill>
          <a:blip r:embed="rId3">
            <a:extLst>
              <a:ext uri="{96DAC541-7B7A-43D3-8B79-37D633B846F1}">
                <asvg:svgBlip xmlns:asvg="http://schemas.microsoft.com/office/drawing/2016/SVG/main" r:embed="rId4"/>
              </a:ext>
            </a:extLst>
          </a:blip>
          <a:stretch/>
        </p:blipFill>
        <p:spPr>
          <a:xfrm>
            <a:off x="2094120" y="1778400"/>
            <a:ext cx="3599640" cy="3599640"/>
          </a:xfrm>
          <a:prstGeom prst="rect">
            <a:avLst/>
          </a:prstGeom>
          <a:ln w="0">
            <a:noFill/>
          </a:ln>
        </p:spPr>
      </p:pic>
      <p:pic>
        <p:nvPicPr>
          <p:cNvPr id="67" name="Graphic 20" descr=""/>
          <p:cNvPicPr/>
          <p:nvPr/>
        </p:nvPicPr>
        <p:blipFill>
          <a:blip r:embed="rId5">
            <a:extLst>
              <a:ext uri="{96DAC541-7B7A-43D3-8B79-37D633B846F1}">
                <asvg:svgBlip xmlns:asvg="http://schemas.microsoft.com/office/drawing/2016/SVG/main" r:embed="rId6"/>
              </a:ext>
            </a:extLst>
          </a:blip>
          <a:stretch/>
        </p:blipFill>
        <p:spPr>
          <a:xfrm>
            <a:off x="5076360" y="1778400"/>
            <a:ext cx="3599640" cy="3599640"/>
          </a:xfrm>
          <a:prstGeom prst="rect">
            <a:avLst/>
          </a:prstGeom>
          <a:ln w="0">
            <a:noFill/>
          </a:ln>
        </p:spPr>
      </p:pic>
      <p:pic>
        <p:nvPicPr>
          <p:cNvPr id="68" name="Graphic 22" descr=""/>
          <p:cNvPicPr/>
          <p:nvPr/>
        </p:nvPicPr>
        <p:blipFill>
          <a:blip r:embed="rId7">
            <a:extLst>
              <a:ext uri="{96DAC541-7B7A-43D3-8B79-37D633B846F1}">
                <asvg:svgBlip xmlns:asvg="http://schemas.microsoft.com/office/drawing/2016/SVG/main" r:embed="rId8"/>
              </a:ext>
            </a:extLst>
          </a:blip>
          <a:stretch/>
        </p:blipFill>
        <p:spPr>
          <a:xfrm>
            <a:off x="-727560" y="1778400"/>
            <a:ext cx="3599640" cy="3599640"/>
          </a:xfrm>
          <a:prstGeom prst="rect">
            <a:avLst/>
          </a:prstGeom>
          <a:ln w="0">
            <a:noFill/>
          </a:ln>
        </p:spPr>
      </p:pic>
      <p:sp>
        <p:nvSpPr>
          <p:cNvPr id="69" name="TextBox 23"/>
          <p:cNvSpPr/>
          <p:nvPr/>
        </p:nvSpPr>
        <p:spPr>
          <a:xfrm>
            <a:off x="518040" y="5563440"/>
            <a:ext cx="7308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Scalar</a:t>
            </a:r>
            <a:endParaRPr b="0" lang="en-US" sz="1800" spc="-1" strike="noStrike">
              <a:solidFill>
                <a:srgbClr val="000000"/>
              </a:solidFill>
              <a:latin typeface="Arial"/>
            </a:endParaRPr>
          </a:p>
        </p:txBody>
      </p:sp>
      <p:sp>
        <p:nvSpPr>
          <p:cNvPr id="70" name="TextBox 24"/>
          <p:cNvSpPr/>
          <p:nvPr/>
        </p:nvSpPr>
        <p:spPr>
          <a:xfrm>
            <a:off x="3105000" y="5563440"/>
            <a:ext cx="7826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Vector</a:t>
            </a:r>
            <a:endParaRPr b="0" lang="en-US" sz="1800" spc="-1" strike="noStrike">
              <a:solidFill>
                <a:srgbClr val="000000"/>
              </a:solidFill>
              <a:latin typeface="Arial"/>
            </a:endParaRPr>
          </a:p>
        </p:txBody>
      </p:sp>
      <p:sp>
        <p:nvSpPr>
          <p:cNvPr id="71" name="TextBox 25"/>
          <p:cNvSpPr/>
          <p:nvPr/>
        </p:nvSpPr>
        <p:spPr>
          <a:xfrm>
            <a:off x="6029280" y="5563440"/>
            <a:ext cx="7902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Matrix</a:t>
            </a:r>
            <a:endParaRPr b="0" lang="en-US" sz="1800" spc="-1" strike="noStrike">
              <a:solidFill>
                <a:srgbClr val="000000"/>
              </a:solidFill>
              <a:latin typeface="Arial"/>
            </a:endParaRPr>
          </a:p>
        </p:txBody>
      </p:sp>
      <p:sp>
        <p:nvSpPr>
          <p:cNvPr id="72" name="TextBox 26"/>
          <p:cNvSpPr/>
          <p:nvPr/>
        </p:nvSpPr>
        <p:spPr>
          <a:xfrm>
            <a:off x="9740880" y="5563440"/>
            <a:ext cx="79488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Tensor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Autograd</a:t>
            </a:r>
            <a:endParaRPr b="0" lang="en-US" sz="4400" spc="-1" strike="noStrike">
              <a:solidFill>
                <a:srgbClr val="000000"/>
              </a:solidFill>
              <a:latin typeface="Arial"/>
            </a:endParaRPr>
          </a:p>
        </p:txBody>
      </p:sp>
      <p:sp>
        <p:nvSpPr>
          <p:cNvPr id="7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Symbolic derivative </a:t>
            </a:r>
            <a:r>
              <a:rPr b="0" lang="en-US" sz="2800" spc="-1" strike="noStrike">
                <a:solidFill>
                  <a:schemeClr val="dk1"/>
                </a:solidFill>
                <a:latin typeface="Calibri"/>
              </a:rPr>
              <a:t>of a function is precise; however, as the function of interest become more complex, the symbolic derivative becomes increasingly </a:t>
            </a:r>
            <a:r>
              <a:rPr b="1" lang="en-US" sz="2800" spc="-1" strike="noStrike">
                <a:solidFill>
                  <a:schemeClr val="dk1"/>
                </a:solidFill>
                <a:latin typeface="Calibri"/>
              </a:rPr>
              <a:t>difficult to determine</a:t>
            </a:r>
            <a:r>
              <a:rPr b="0" lang="en-US" sz="2800" spc="-1" strike="noStrike">
                <a:solidFill>
                  <a:schemeClr val="dk1"/>
                </a:solidFill>
                <a:latin typeface="Calibri"/>
              </a:rPr>
              <a:t>. </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Finite difference </a:t>
            </a:r>
            <a:r>
              <a:rPr b="0" lang="en-US" sz="2800" spc="-1" strike="noStrike">
                <a:solidFill>
                  <a:schemeClr val="dk1"/>
                </a:solidFill>
                <a:latin typeface="Calibri"/>
              </a:rPr>
              <a:t>approach uses the definition of a derivative to estimate the derivative of a function; however, it suffers from </a:t>
            </a:r>
            <a:r>
              <a:rPr b="1" lang="en-US" sz="2800" spc="-1" strike="noStrike">
                <a:solidFill>
                  <a:schemeClr val="dk1"/>
                </a:solidFill>
                <a:latin typeface="Calibri"/>
              </a:rPr>
              <a:t>low accuracy </a:t>
            </a:r>
            <a:r>
              <a:rPr b="0" lang="en-US" sz="2800" spc="-1" strike="noStrike">
                <a:solidFill>
                  <a:schemeClr val="dk1"/>
                </a:solidFill>
                <a:latin typeface="Calibri"/>
              </a:rPr>
              <a:t>and instability.</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Automatic differentiation</a:t>
            </a:r>
            <a:r>
              <a:rPr b="0" lang="en-US" sz="2800" spc="-1" strike="noStrike">
                <a:solidFill>
                  <a:schemeClr val="dk1"/>
                </a:solidFill>
                <a:latin typeface="Calibri"/>
              </a:rPr>
              <a:t> is using the </a:t>
            </a:r>
            <a:r>
              <a:rPr b="1" lang="en-US" sz="2800" spc="-1" strike="noStrike">
                <a:solidFill>
                  <a:schemeClr val="dk1"/>
                </a:solidFill>
                <a:latin typeface="Calibri"/>
              </a:rPr>
              <a:t>chain rule </a:t>
            </a:r>
            <a:r>
              <a:rPr b="0" lang="en-US" sz="2800" spc="-1" strike="noStrike">
                <a:solidFill>
                  <a:schemeClr val="dk1"/>
                </a:solidFill>
                <a:latin typeface="Calibri"/>
              </a:rPr>
              <a:t>to break the computation of the derivative. It achieves </a:t>
            </a:r>
            <a:r>
              <a:rPr b="1" lang="en-US" sz="2800" spc="-1" strike="noStrike">
                <a:solidFill>
                  <a:schemeClr val="dk1"/>
                </a:solidFill>
                <a:latin typeface="Calibri"/>
              </a:rPr>
              <a:t>machine precision</a:t>
            </a:r>
            <a:r>
              <a:rPr b="0" lang="en-US" sz="2800" spc="-1" strike="noStrike">
                <a:solidFill>
                  <a:schemeClr val="dk1"/>
                </a:solidFill>
                <a:latin typeface="Calibri"/>
              </a:rPr>
              <a:t> accuracy.</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Symbolic derivative</a:t>
            </a:r>
            <a:endParaRPr b="0" lang="en-US" sz="4400" spc="-1" strike="noStrike">
              <a:solidFill>
                <a:srgbClr val="000000"/>
              </a:solidFill>
              <a:latin typeface="Arial"/>
            </a:endParaRPr>
          </a:p>
        </p:txBody>
      </p:sp>
      <p:sp>
        <p:nvSpPr>
          <p:cNvPr id="76" name="PlaceHolder 2"/>
          <p:cNvSpPr>
            <a:spLocks noGrp="1"/>
          </p:cNvSpPr>
          <p:nvPr>
            <p:ph/>
          </p:nvPr>
        </p:nvSpPr>
        <p:spPr>
          <a:xfrm>
            <a:off x="838080" y="1825560"/>
            <a:ext cx="10514880" cy="4350600"/>
          </a:xfrm>
          <a:prstGeom prst="rect">
            <a:avLst/>
          </a:prstGeom>
          <a:blipFill rotWithShape="0">
            <a:blip r:embed="rId1"/>
            <a:stretch/>
          </a:blip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rgbClr val="ffffff">
                    <a:alpha val="1000"/>
                  </a:srgbClr>
                </a:solidFill>
                <a:latin typeface="Calibri"/>
              </a:rPr>
              <a:t>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Finite differences</a:t>
            </a:r>
            <a:endParaRPr b="0" lang="en-US" sz="4400" spc="-1" strike="noStrike">
              <a:solidFill>
                <a:srgbClr val="000000"/>
              </a:solidFill>
              <a:latin typeface="Arial"/>
            </a:endParaRPr>
          </a:p>
        </p:txBody>
      </p:sp>
      <p:sp>
        <p:nvSpPr>
          <p:cNvPr id="78" name="PlaceHolder 2"/>
          <p:cNvSpPr>
            <a:spLocks noGrp="1"/>
          </p:cNvSpPr>
          <p:nvPr>
            <p:ph/>
          </p:nvPr>
        </p:nvSpPr>
        <p:spPr>
          <a:xfrm>
            <a:off x="838080" y="1825560"/>
            <a:ext cx="10514880" cy="4350600"/>
          </a:xfrm>
          <a:prstGeom prst="rect">
            <a:avLst/>
          </a:prstGeom>
          <a:blipFill rotWithShape="0">
            <a:blip r:embed="rId1"/>
            <a:stretch/>
          </a:blip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rgbClr val="ffffff">
                    <a:alpha val="1000"/>
                  </a:srgbClr>
                </a:solidFill>
                <a:latin typeface="Calibri"/>
              </a:rPr>
              <a:t>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TextBox 5"/>
          <p:cNvSpPr/>
          <p:nvPr/>
        </p:nvSpPr>
        <p:spPr>
          <a:xfrm>
            <a:off x="1176840" y="1951560"/>
            <a:ext cx="5804280" cy="912600"/>
          </a:xfrm>
          <a:prstGeom prst="rect">
            <a:avLst/>
          </a:prstGeom>
          <a:solidFill>
            <a:schemeClr val="tx1"/>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rgbClr val="d4d4d4"/>
                </a:solidFill>
                <a:latin typeface="Courier New"/>
              </a:rPr>
              <a:t>x = torch.tensor</a:t>
            </a:r>
            <a:r>
              <a:rPr b="0" lang="en-US" sz="1800" spc="-1" strike="noStrike">
                <a:solidFill>
                  <a:srgbClr val="dcdcdc"/>
                </a:solidFill>
                <a:latin typeface="Courier New"/>
              </a:rPr>
              <a:t>(</a:t>
            </a:r>
            <a:r>
              <a:rPr b="0" lang="en-US" sz="1800" spc="-1" strike="noStrike">
                <a:solidFill>
                  <a:srgbClr val="b5cea8"/>
                </a:solidFill>
                <a:latin typeface="Courier New"/>
              </a:rPr>
              <a:t>1.0</a:t>
            </a:r>
            <a:r>
              <a:rPr b="0" lang="en-US" sz="1800" spc="-1" strike="noStrike">
                <a:solidFill>
                  <a:srgbClr val="dcdcdc"/>
                </a:solidFill>
                <a:latin typeface="Courier New"/>
              </a:rPr>
              <a:t>,</a:t>
            </a:r>
            <a:r>
              <a:rPr b="0" lang="en-US" sz="1800" spc="-1" strike="noStrike">
                <a:solidFill>
                  <a:srgbClr val="d4d4d4"/>
                </a:solidFill>
                <a:latin typeface="Courier New"/>
              </a:rPr>
              <a:t> requires_grad=</a:t>
            </a:r>
            <a:r>
              <a:rPr b="0" lang="en-US" sz="1800" spc="-1" strike="noStrike">
                <a:solidFill>
                  <a:srgbClr val="569cd6"/>
                </a:solidFill>
                <a:latin typeface="Courier New"/>
              </a:rPr>
              <a:t>True</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pPr>
            <a:br>
              <a:rPr sz="1800"/>
            </a:br>
            <a:r>
              <a:rPr b="0" lang="en-US" sz="1800" spc="-1" strike="noStrike">
                <a:solidFill>
                  <a:srgbClr val="d4d4d4"/>
                </a:solidFill>
                <a:latin typeface="Courier New"/>
              </a:rPr>
              <a:t>z = </a:t>
            </a:r>
            <a:r>
              <a:rPr b="0" lang="en-US" sz="1800" spc="-1" strike="noStrike">
                <a:solidFill>
                  <a:srgbClr val="dcdcdc"/>
                </a:solidFill>
                <a:latin typeface="Courier New"/>
              </a:rPr>
              <a:t>((</a:t>
            </a:r>
            <a:r>
              <a:rPr b="0" lang="en-US" sz="1800" spc="-1" strike="noStrike">
                <a:solidFill>
                  <a:srgbClr val="d4d4d4"/>
                </a:solidFill>
                <a:latin typeface="Courier New"/>
              </a:rPr>
              <a:t>x**2)/5</a:t>
            </a:r>
            <a:r>
              <a:rPr b="0" lang="en-US" sz="1800" spc="-1" strike="noStrike">
                <a:solidFill>
                  <a:srgbClr val="dcdcdc"/>
                </a:solidFill>
                <a:latin typeface="Courier New"/>
              </a:rPr>
              <a:t>)</a:t>
            </a:r>
            <a:r>
              <a:rPr b="0" lang="en-US" sz="1800" spc="-1" strike="noStrike">
                <a:solidFill>
                  <a:srgbClr val="d4d4d4"/>
                </a:solidFill>
                <a:latin typeface="Courier New"/>
              </a:rPr>
              <a:t> + torch.cos</a:t>
            </a:r>
            <a:r>
              <a:rPr b="0" lang="en-US" sz="1800" spc="-1" strike="noStrike">
                <a:solidFill>
                  <a:srgbClr val="dcdcdc"/>
                </a:solidFill>
                <a:latin typeface="Courier New"/>
              </a:rPr>
              <a:t>(</a:t>
            </a:r>
            <a:r>
              <a:rPr b="0" lang="en-US" sz="1800" spc="-1" strike="noStrike">
                <a:solidFill>
                  <a:srgbClr val="d4d4d4"/>
                </a:solidFill>
                <a:latin typeface="Courier New"/>
              </a:rPr>
              <a:t>x</a:t>
            </a:r>
            <a:r>
              <a:rPr b="0" lang="en-US" sz="1800" spc="-1" strike="noStrike">
                <a:solidFill>
                  <a:srgbClr val="dcdcdc"/>
                </a:solidFill>
                <a:latin typeface="Courier New"/>
              </a:rPr>
              <a:t>)</a:t>
            </a:r>
            <a:endParaRPr b="0" lang="en-US" sz="1800" spc="-1" strike="noStrike">
              <a:solidFill>
                <a:srgbClr val="ffffff"/>
              </a:solidFill>
              <a:latin typeface="Arial"/>
            </a:endParaRPr>
          </a:p>
        </p:txBody>
      </p:sp>
      <p:sp>
        <p:nvSpPr>
          <p:cNvPr id="80" name="Arc 6"/>
          <p:cNvSpPr/>
          <p:nvPr/>
        </p:nvSpPr>
        <p:spPr>
          <a:xfrm>
            <a:off x="3515400" y="264240"/>
            <a:ext cx="7853040" cy="4926960"/>
          </a:xfrm>
          <a:prstGeom prst="arc">
            <a:avLst>
              <a:gd name="adj1" fmla="val 5750370"/>
              <a:gd name="adj2" fmla="val 10328801"/>
            </a:avLst>
          </a:prstGeom>
          <a:noFill/>
          <a:ln w="76200">
            <a:solidFill>
              <a:srgbClr val="4472c4"/>
            </a:solidFill>
            <a:headEnd len="med" type="arrow" w="me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81" name="Content Placeholder 17" descr=""/>
          <p:cNvPicPr/>
          <p:nvPr/>
        </p:nvPicPr>
        <p:blipFill>
          <a:blip r:embed="rId1"/>
          <a:stretch/>
        </p:blipFill>
        <p:spPr>
          <a:xfrm>
            <a:off x="7594560" y="618480"/>
            <a:ext cx="4437000" cy="5873400"/>
          </a:xfrm>
          <a:prstGeom prst="rect">
            <a:avLst/>
          </a:prstGeom>
          <a:ln w="0">
            <a:noFill/>
          </a:ln>
        </p:spPr>
      </p:pic>
      <p:sp>
        <p:nvSpPr>
          <p:cNvPr id="82" name="PlaceHolder 1"/>
          <p:cNvSpPr>
            <a:spLocks noGrp="1"/>
          </p:cNvSpPr>
          <p:nvPr>
            <p:ph type="title"/>
          </p:nvPr>
        </p:nvSpPr>
        <p:spPr>
          <a:xfrm>
            <a:off x="30996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Autograd (automatic differentiation)</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Symbolic derivative</a:t>
            </a:r>
            <a:endParaRPr b="0" lang="en-US" sz="4400" spc="-1" strike="noStrike">
              <a:solidFill>
                <a:srgbClr val="000000"/>
              </a:solidFill>
              <a:latin typeface="Arial"/>
            </a:endParaRPr>
          </a:p>
        </p:txBody>
      </p:sp>
      <p:sp>
        <p:nvSpPr>
          <p:cNvPr id="84" name="PlaceHolder 2"/>
          <p:cNvSpPr>
            <a:spLocks noGrp="1"/>
          </p:cNvSpPr>
          <p:nvPr>
            <p:ph/>
          </p:nvPr>
        </p:nvSpPr>
        <p:spPr>
          <a:xfrm>
            <a:off x="838080" y="1825560"/>
            <a:ext cx="10514880" cy="4350600"/>
          </a:xfrm>
          <a:prstGeom prst="rect">
            <a:avLst/>
          </a:prstGeom>
          <a:blipFill rotWithShape="0">
            <a:blip r:embed="rId1"/>
            <a:stretch/>
          </a:blip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rgbClr val="ffffff">
                    <a:alpha val="1000"/>
                  </a:srgbClr>
                </a:solidFill>
                <a:latin typeface="Calibri"/>
              </a:rPr>
              <a:t>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Finite differences</a:t>
            </a:r>
            <a:endParaRPr b="0" lang="en-US" sz="4400" spc="-1" strike="noStrike">
              <a:solidFill>
                <a:srgbClr val="000000"/>
              </a:solidFill>
              <a:latin typeface="Arial"/>
            </a:endParaRPr>
          </a:p>
        </p:txBody>
      </p:sp>
      <p:sp>
        <p:nvSpPr>
          <p:cNvPr id="86" name="PlaceHolder 2"/>
          <p:cNvSpPr>
            <a:spLocks noGrp="1"/>
          </p:cNvSpPr>
          <p:nvPr>
            <p:ph/>
          </p:nvPr>
        </p:nvSpPr>
        <p:spPr>
          <a:xfrm>
            <a:off x="838080" y="1825560"/>
            <a:ext cx="10514880" cy="4350600"/>
          </a:xfrm>
          <a:prstGeom prst="rect">
            <a:avLst/>
          </a:prstGeom>
          <a:blipFill rotWithShape="0">
            <a:blip r:embed="rId1"/>
            <a:stretch/>
          </a:blip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rgbClr val="ffffff">
                    <a:alpha val="1000"/>
                  </a:srgbClr>
                </a:solidFill>
                <a:latin typeface="Calibri"/>
              </a:rPr>
              <a:t>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Autograd</a:t>
            </a:r>
            <a:endParaRPr b="0" lang="en-US" sz="4400" spc="-1" strike="noStrike">
              <a:solidFill>
                <a:srgbClr val="000000"/>
              </a:solidFill>
              <a:latin typeface="Arial"/>
            </a:endParaRPr>
          </a:p>
        </p:txBody>
      </p:sp>
      <p:pic>
        <p:nvPicPr>
          <p:cNvPr id="88" name="Content Placeholder 4" descr="Diagram&#10;&#10;Description automatically generated"/>
          <p:cNvPicPr/>
          <p:nvPr/>
        </p:nvPicPr>
        <p:blipFill>
          <a:blip r:embed="rId1"/>
          <a:stretch/>
        </p:blipFill>
        <p:spPr>
          <a:xfrm>
            <a:off x="6095880" y="1951560"/>
            <a:ext cx="5944680" cy="4350600"/>
          </a:xfrm>
          <a:prstGeom prst="rect">
            <a:avLst/>
          </a:prstGeom>
          <a:ln w="0">
            <a:noFill/>
          </a:ln>
        </p:spPr>
      </p:pic>
      <p:sp>
        <p:nvSpPr>
          <p:cNvPr id="89" name="TextBox 5"/>
          <p:cNvSpPr/>
          <p:nvPr/>
        </p:nvSpPr>
        <p:spPr>
          <a:xfrm>
            <a:off x="275040" y="1951560"/>
            <a:ext cx="5804280" cy="1186920"/>
          </a:xfrm>
          <a:prstGeom prst="rect">
            <a:avLst/>
          </a:prstGeom>
          <a:solidFill>
            <a:schemeClr val="tx1"/>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rgbClr val="d4d4d4"/>
                </a:solidFill>
                <a:latin typeface="Courier New"/>
              </a:rPr>
              <a:t>x = torch.tensor</a:t>
            </a:r>
            <a:r>
              <a:rPr b="0" lang="en-US" sz="1800" spc="-1" strike="noStrike">
                <a:solidFill>
                  <a:srgbClr val="dcdcdc"/>
                </a:solidFill>
                <a:latin typeface="Courier New"/>
              </a:rPr>
              <a:t>(</a:t>
            </a:r>
            <a:r>
              <a:rPr b="0" lang="en-US" sz="1800" spc="-1" strike="noStrike">
                <a:solidFill>
                  <a:srgbClr val="b5cea8"/>
                </a:solidFill>
                <a:latin typeface="Courier New"/>
              </a:rPr>
              <a:t>1.0</a:t>
            </a:r>
            <a:r>
              <a:rPr b="0" lang="en-US" sz="1800" spc="-1" strike="noStrike">
                <a:solidFill>
                  <a:srgbClr val="dcdcdc"/>
                </a:solidFill>
                <a:latin typeface="Courier New"/>
              </a:rPr>
              <a:t>,</a:t>
            </a:r>
            <a:r>
              <a:rPr b="0" lang="en-US" sz="1800" spc="-1" strike="noStrike">
                <a:solidFill>
                  <a:srgbClr val="d4d4d4"/>
                </a:solidFill>
                <a:latin typeface="Courier New"/>
              </a:rPr>
              <a:t> requires_grad=</a:t>
            </a:r>
            <a:r>
              <a:rPr b="0" lang="en-US" sz="1800" spc="-1" strike="noStrike">
                <a:solidFill>
                  <a:srgbClr val="569cd6"/>
                </a:solidFill>
                <a:latin typeface="Courier New"/>
              </a:rPr>
              <a:t>True</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pPr>
            <a:r>
              <a:rPr b="0" lang="en-US" sz="1800" spc="-1" strike="noStrike">
                <a:solidFill>
                  <a:srgbClr val="d4d4d4"/>
                </a:solidFill>
                <a:latin typeface="Courier New"/>
              </a:rPr>
              <a:t>y = torch.tensor</a:t>
            </a:r>
            <a:r>
              <a:rPr b="0" lang="en-US" sz="1800" spc="-1" strike="noStrike">
                <a:solidFill>
                  <a:srgbClr val="dcdcdc"/>
                </a:solidFill>
                <a:latin typeface="Courier New"/>
              </a:rPr>
              <a:t>(</a:t>
            </a:r>
            <a:r>
              <a:rPr b="0" lang="en-US" sz="1800" spc="-1" strike="noStrike">
                <a:solidFill>
                  <a:srgbClr val="b5cea8"/>
                </a:solidFill>
                <a:latin typeface="Courier New"/>
              </a:rPr>
              <a:t>5.0</a:t>
            </a:r>
            <a:r>
              <a:rPr b="0" lang="en-US" sz="1800" spc="-1" strike="noStrike">
                <a:solidFill>
                  <a:srgbClr val="dcdcdc"/>
                </a:solidFill>
                <a:latin typeface="Courier New"/>
              </a:rPr>
              <a:t>,</a:t>
            </a:r>
            <a:r>
              <a:rPr b="0" lang="en-US" sz="1800" spc="-1" strike="noStrike">
                <a:solidFill>
                  <a:srgbClr val="d4d4d4"/>
                </a:solidFill>
                <a:latin typeface="Courier New"/>
              </a:rPr>
              <a:t> requires_grad=</a:t>
            </a:r>
            <a:r>
              <a:rPr b="0" lang="en-US" sz="1800" spc="-1" strike="noStrike">
                <a:solidFill>
                  <a:srgbClr val="569cd6"/>
                </a:solidFill>
                <a:latin typeface="Courier New"/>
              </a:rPr>
              <a:t>True</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pPr>
            <a:br>
              <a:rPr sz="1800"/>
            </a:br>
            <a:r>
              <a:rPr b="0" lang="en-US" sz="1800" spc="-1" strike="noStrike">
                <a:solidFill>
                  <a:srgbClr val="d4d4d4"/>
                </a:solidFill>
                <a:latin typeface="Courier New"/>
              </a:rPr>
              <a:t>z = </a:t>
            </a:r>
            <a:r>
              <a:rPr b="0" lang="en-US" sz="1800" spc="-1" strike="noStrike">
                <a:solidFill>
                  <a:srgbClr val="dcdcdc"/>
                </a:solidFill>
                <a:latin typeface="Courier New"/>
              </a:rPr>
              <a:t>(</a:t>
            </a:r>
            <a:r>
              <a:rPr b="0" lang="en-US" sz="1800" spc="-1" strike="noStrike">
                <a:solidFill>
                  <a:srgbClr val="d4d4d4"/>
                </a:solidFill>
                <a:latin typeface="Courier New"/>
              </a:rPr>
              <a:t>x/y</a:t>
            </a:r>
            <a:r>
              <a:rPr b="0" lang="en-US" sz="1800" spc="-1" strike="noStrike">
                <a:solidFill>
                  <a:srgbClr val="dcdcdc"/>
                </a:solidFill>
                <a:latin typeface="Courier New"/>
              </a:rPr>
              <a:t>)</a:t>
            </a:r>
            <a:r>
              <a:rPr b="0" lang="en-US" sz="1800" spc="-1" strike="noStrike">
                <a:solidFill>
                  <a:srgbClr val="d4d4d4"/>
                </a:solidFill>
                <a:latin typeface="Courier New"/>
              </a:rPr>
              <a:t> + torch.cos</a:t>
            </a:r>
            <a:r>
              <a:rPr b="0" lang="en-US" sz="1800" spc="-1" strike="noStrike">
                <a:solidFill>
                  <a:srgbClr val="dcdcdc"/>
                </a:solidFill>
                <a:latin typeface="Courier New"/>
              </a:rPr>
              <a:t>(</a:t>
            </a:r>
            <a:r>
              <a:rPr b="0" lang="en-US" sz="1800" spc="-1" strike="noStrike">
                <a:solidFill>
                  <a:srgbClr val="d4d4d4"/>
                </a:solidFill>
                <a:latin typeface="Courier New"/>
              </a:rPr>
              <a:t>x</a:t>
            </a:r>
            <a:r>
              <a:rPr b="0" lang="en-US" sz="1800" spc="-1" strike="noStrike">
                <a:solidFill>
                  <a:srgbClr val="dcdcdc"/>
                </a:solidFill>
                <a:latin typeface="Courier New"/>
              </a:rPr>
              <a:t>)</a:t>
            </a:r>
            <a:r>
              <a:rPr b="0" lang="en-US" sz="1800" spc="-1" strike="noStrike">
                <a:solidFill>
                  <a:srgbClr val="d4d4d4"/>
                </a:solidFill>
                <a:latin typeface="Courier New"/>
              </a:rPr>
              <a:t>*torch.sin</a:t>
            </a:r>
            <a:r>
              <a:rPr b="0" lang="en-US" sz="1800" spc="-1" strike="noStrike">
                <a:solidFill>
                  <a:srgbClr val="dcdcdc"/>
                </a:solidFill>
                <a:latin typeface="Courier New"/>
              </a:rPr>
              <a:t>(</a:t>
            </a:r>
            <a:r>
              <a:rPr b="0" lang="en-US" sz="1800" spc="-1" strike="noStrike">
                <a:solidFill>
                  <a:srgbClr val="d4d4d4"/>
                </a:solidFill>
                <a:latin typeface="Courier New"/>
              </a:rPr>
              <a:t>y</a:t>
            </a:r>
            <a:r>
              <a:rPr b="0" lang="en-US" sz="1800" spc="-1" strike="noStrike">
                <a:solidFill>
                  <a:srgbClr val="dcdcdc"/>
                </a:solidFill>
                <a:latin typeface="Courier New"/>
              </a:rPr>
              <a:t>)</a:t>
            </a:r>
            <a:endParaRPr b="0" lang="en-US" sz="1800" spc="-1" strike="noStrike">
              <a:solidFill>
                <a:srgbClr val="ffffff"/>
              </a:solidFill>
              <a:latin typeface="Arial"/>
            </a:endParaRPr>
          </a:p>
        </p:txBody>
      </p:sp>
      <p:sp>
        <p:nvSpPr>
          <p:cNvPr id="90" name="Arc 6"/>
          <p:cNvSpPr/>
          <p:nvPr/>
        </p:nvSpPr>
        <p:spPr>
          <a:xfrm>
            <a:off x="2682360" y="264240"/>
            <a:ext cx="6674400" cy="4916880"/>
          </a:xfrm>
          <a:prstGeom prst="arc">
            <a:avLst>
              <a:gd name="adj1" fmla="val 5750370"/>
              <a:gd name="adj2" fmla="val 10328801"/>
            </a:avLst>
          </a:prstGeom>
          <a:noFill/>
          <a:ln w="76200">
            <a:solidFill>
              <a:srgbClr val="4472c4"/>
            </a:solidFill>
            <a:headEnd len="med" type="arrow" w="me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91" name="TextBox 7"/>
          <p:cNvSpPr/>
          <p:nvPr/>
        </p:nvSpPr>
        <p:spPr>
          <a:xfrm>
            <a:off x="2689560" y="4490640"/>
            <a:ext cx="12002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(Internally)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Neural network module class</a:t>
            </a:r>
            <a:endParaRPr b="0" lang="en-US" sz="4400" spc="-1" strike="noStrike">
              <a:solidFill>
                <a:srgbClr val="000000"/>
              </a:solidFill>
              <a:latin typeface="Arial"/>
            </a:endParaRPr>
          </a:p>
        </p:txBody>
      </p:sp>
      <p:sp>
        <p:nvSpPr>
          <p:cNvPr id="93" name="PlaceHolder 2"/>
          <p:cNvSpPr>
            <a:spLocks noGrp="1"/>
          </p:cNvSpPr>
          <p:nvPr>
            <p:ph/>
          </p:nvPr>
        </p:nvSpPr>
        <p:spPr>
          <a:xfrm>
            <a:off x="838080" y="1825560"/>
            <a:ext cx="10514880" cy="4350600"/>
          </a:xfrm>
          <a:prstGeom prst="rect">
            <a:avLst/>
          </a:prstGeom>
          <a:solidFill>
            <a:srgbClr val="000000"/>
          </a:solidFill>
          <a:ln w="0">
            <a:noFill/>
          </a:ln>
        </p:spPr>
        <p:txBody>
          <a:bodyPr lIns="91440" rIns="91440" tIns="45720" bIns="45720" anchor="t">
            <a:normAutofit fontScale="68333"/>
          </a:bodyPr>
          <a:p>
            <a:pPr indent="0" defTabSz="914400">
              <a:lnSpc>
                <a:spcPct val="90000"/>
              </a:lnSpc>
              <a:spcBef>
                <a:spcPts val="1001"/>
              </a:spcBef>
              <a:buNone/>
              <a:tabLst>
                <a:tab algn="l" pos="0"/>
              </a:tabLst>
            </a:pPr>
            <a:r>
              <a:rPr b="0" lang="en-US" sz="2800" spc="-1" strike="noStrike">
                <a:solidFill>
                  <a:srgbClr val="569cd6"/>
                </a:solidFill>
                <a:latin typeface="Courier New"/>
              </a:rPr>
              <a:t>class</a:t>
            </a:r>
            <a:r>
              <a:rPr b="0" lang="en-US" sz="2800" spc="-1" strike="noStrike">
                <a:solidFill>
                  <a:srgbClr val="d4d4d4"/>
                </a:solidFill>
                <a:latin typeface="Courier New"/>
              </a:rPr>
              <a:t> </a:t>
            </a:r>
            <a:r>
              <a:rPr b="0" lang="en-US" sz="2800" spc="-1" strike="noStrike">
                <a:solidFill>
                  <a:srgbClr val="4ec9b0"/>
                </a:solidFill>
                <a:latin typeface="Courier New"/>
              </a:rPr>
              <a:t>Net</a:t>
            </a:r>
            <a:r>
              <a:rPr b="0" lang="en-US" sz="2800" spc="-1" strike="noStrike">
                <a:solidFill>
                  <a:srgbClr val="d4d4d4"/>
                </a:solidFill>
                <a:latin typeface="Courier New"/>
              </a:rPr>
              <a:t>(</a:t>
            </a:r>
            <a:r>
              <a:rPr b="0" lang="en-US" sz="2800" spc="-1" strike="noStrike">
                <a:solidFill>
                  <a:srgbClr val="4ec9b0"/>
                </a:solidFill>
                <a:latin typeface="Courier New"/>
              </a:rPr>
              <a:t>nn</a:t>
            </a:r>
            <a:r>
              <a:rPr b="0" lang="en-US" sz="2800" spc="-1" strike="noStrike">
                <a:solidFill>
                  <a:srgbClr val="d4d4d4"/>
                </a:solidFill>
                <a:latin typeface="Courier New"/>
              </a:rPr>
              <a:t>.</a:t>
            </a:r>
            <a:r>
              <a:rPr b="0" lang="en-US" sz="2800" spc="-1" strike="noStrike">
                <a:solidFill>
                  <a:srgbClr val="4ec9b0"/>
                </a:solidFill>
                <a:latin typeface="Courier New"/>
              </a:rPr>
              <a:t>Module</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569cd6"/>
                </a:solidFill>
                <a:latin typeface="Courier New"/>
              </a:rPr>
              <a:t>def</a:t>
            </a:r>
            <a:r>
              <a:rPr b="0" lang="en-US" sz="2800" spc="-1" strike="noStrike">
                <a:solidFill>
                  <a:srgbClr val="d4d4d4"/>
                </a:solidFill>
                <a:latin typeface="Courier New"/>
              </a:rPr>
              <a:t> </a:t>
            </a:r>
            <a:r>
              <a:rPr b="0" lang="en-US" sz="2800" spc="-1" strike="noStrike">
                <a:solidFill>
                  <a:srgbClr val="dcdcaa"/>
                </a:solidFill>
                <a:latin typeface="Courier New"/>
              </a:rPr>
              <a:t>__init__</a:t>
            </a:r>
            <a:r>
              <a:rPr b="0" lang="en-US" sz="2800" spc="-1" strike="noStrike">
                <a:solidFill>
                  <a:srgbClr val="d4d4d4"/>
                </a:solidFill>
                <a:latin typeface="Courier New"/>
              </a:rPr>
              <a:t>(</a:t>
            </a:r>
            <a:r>
              <a:rPr b="0" lang="en-US" sz="2800" spc="-1" strike="noStrike">
                <a:solidFill>
                  <a:srgbClr val="9cdcfe"/>
                </a:solidFill>
                <a:latin typeface="Courier New"/>
              </a:rPr>
              <a:t>self</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super</a:t>
            </a:r>
            <a:r>
              <a:rPr b="0" lang="en-US" sz="2800" spc="-1" strike="noStrike">
                <a:solidFill>
                  <a:srgbClr val="dcdcdc"/>
                </a:solidFill>
                <a:latin typeface="Courier New"/>
              </a:rPr>
              <a:t>()</a:t>
            </a:r>
            <a:r>
              <a:rPr b="0" lang="en-US" sz="2800" spc="-1" strike="noStrike">
                <a:solidFill>
                  <a:srgbClr val="d4d4d4"/>
                </a:solidFill>
                <a:latin typeface="Courier New"/>
              </a:rPr>
              <a:t>.</a:t>
            </a:r>
            <a:r>
              <a:rPr b="0" lang="en-US" sz="2800" spc="-1" strike="noStrike">
                <a:solidFill>
                  <a:srgbClr val="dcdcaa"/>
                </a:solidFill>
                <a:latin typeface="Courier New"/>
              </a:rPr>
              <a:t>__init__</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6aa94f"/>
                </a:solidFill>
                <a:latin typeface="Courier New"/>
              </a:rPr>
              <a:t># initialize here your neural network</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6aa94f"/>
                </a:solidFill>
                <a:latin typeface="Courier New"/>
              </a:rPr>
              <a:t>        </a:t>
            </a:r>
            <a:r>
              <a:rPr b="0" lang="en-US" sz="2800" spc="-1" strike="noStrike">
                <a:solidFill>
                  <a:srgbClr val="6aa94f"/>
                </a:solidFill>
                <a:latin typeface="Courier New"/>
              </a:rPr>
              <a:t># (define its layers, etc…)</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569cd6"/>
                </a:solidFill>
                <a:latin typeface="Courier New"/>
              </a:rPr>
              <a:t>def</a:t>
            </a:r>
            <a:r>
              <a:rPr b="0" lang="en-US" sz="2800" spc="-1" strike="noStrike">
                <a:solidFill>
                  <a:srgbClr val="d4d4d4"/>
                </a:solidFill>
                <a:latin typeface="Courier New"/>
              </a:rPr>
              <a:t> </a:t>
            </a:r>
            <a:r>
              <a:rPr b="0" lang="en-US" sz="2800" spc="-1" strike="noStrike">
                <a:solidFill>
                  <a:srgbClr val="dcdcaa"/>
                </a:solidFill>
                <a:latin typeface="Courier New"/>
              </a:rPr>
              <a:t>forward</a:t>
            </a:r>
            <a:r>
              <a:rPr b="0" lang="en-US" sz="2800" spc="-1" strike="noStrike">
                <a:solidFill>
                  <a:srgbClr val="d4d4d4"/>
                </a:solidFill>
                <a:latin typeface="Courier New"/>
              </a:rPr>
              <a:t>(</a:t>
            </a:r>
            <a:r>
              <a:rPr b="0" lang="en-US" sz="2800" spc="-1" strike="noStrike">
                <a:solidFill>
                  <a:srgbClr val="9cdcfe"/>
                </a:solidFill>
                <a:latin typeface="Courier New"/>
              </a:rPr>
              <a:t>self</a:t>
            </a:r>
            <a:r>
              <a:rPr b="0" lang="en-US" sz="2800" spc="-1" strike="noStrike">
                <a:solidFill>
                  <a:srgbClr val="d4d4d4"/>
                </a:solidFill>
                <a:latin typeface="Courier New"/>
              </a:rPr>
              <a:t>, </a:t>
            </a:r>
            <a:r>
              <a:rPr b="0" lang="en-US" sz="2800" spc="-1" strike="noStrike">
                <a:solidFill>
                  <a:srgbClr val="9cdcfe"/>
                </a:solidFill>
                <a:latin typeface="Courier New"/>
              </a:rPr>
              <a:t>x</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6aa94f"/>
                </a:solidFill>
                <a:latin typeface="Courier New"/>
              </a:rPr>
              <a:t># computes the outputs / predictions</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c586c0"/>
                </a:solidFill>
                <a:latin typeface="Courier New"/>
              </a:rPr>
              <a:t>return</a:t>
            </a:r>
            <a:r>
              <a:rPr b="0" lang="en-US" sz="2800" spc="-1" strike="noStrike">
                <a:solidFill>
                  <a:srgbClr val="d4d4d4"/>
                </a:solidFill>
                <a:latin typeface="Courier New"/>
              </a:rPr>
              <a:t> …</a:t>
            </a:r>
            <a:endParaRPr b="0" lang="en-US" sz="2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Neural network module class: an example</a:t>
            </a:r>
            <a:endParaRPr b="0" lang="en-US" sz="4400" spc="-1" strike="noStrike">
              <a:solidFill>
                <a:srgbClr val="000000"/>
              </a:solidFill>
              <a:latin typeface="Arial"/>
            </a:endParaRPr>
          </a:p>
        </p:txBody>
      </p:sp>
      <p:sp>
        <p:nvSpPr>
          <p:cNvPr id="95" name="PlaceHolder 2"/>
          <p:cNvSpPr>
            <a:spLocks noGrp="1"/>
          </p:cNvSpPr>
          <p:nvPr>
            <p:ph/>
          </p:nvPr>
        </p:nvSpPr>
        <p:spPr>
          <a:xfrm>
            <a:off x="838080" y="1825560"/>
            <a:ext cx="10514880" cy="4350600"/>
          </a:xfrm>
          <a:prstGeom prst="rect">
            <a:avLst/>
          </a:prstGeom>
          <a:solidFill>
            <a:srgbClr val="000000"/>
          </a:solidFill>
          <a:ln w="0">
            <a:noFill/>
          </a:ln>
        </p:spPr>
        <p:txBody>
          <a:bodyPr lIns="91440" rIns="91440" tIns="45720" bIns="45720" anchor="t">
            <a:normAutofit fontScale="71666"/>
          </a:bodyPr>
          <a:p>
            <a:pPr indent="0" defTabSz="914400">
              <a:lnSpc>
                <a:spcPct val="90000"/>
              </a:lnSpc>
              <a:spcBef>
                <a:spcPts val="1001"/>
              </a:spcBef>
              <a:buNone/>
              <a:tabLst>
                <a:tab algn="l" pos="0"/>
              </a:tabLst>
            </a:pPr>
            <a:r>
              <a:rPr b="0" lang="en-US" sz="2800" spc="-1" strike="noStrike">
                <a:solidFill>
                  <a:srgbClr val="569cd6"/>
                </a:solidFill>
                <a:latin typeface="Courier New"/>
              </a:rPr>
              <a:t>class</a:t>
            </a:r>
            <a:r>
              <a:rPr b="0" lang="en-US" sz="2800" spc="-1" strike="noStrike">
                <a:solidFill>
                  <a:srgbClr val="d4d4d4"/>
                </a:solidFill>
                <a:latin typeface="Courier New"/>
              </a:rPr>
              <a:t> </a:t>
            </a:r>
            <a:r>
              <a:rPr b="0" lang="en-US" sz="2800" spc="-1" strike="noStrike">
                <a:solidFill>
                  <a:srgbClr val="4ec9b0"/>
                </a:solidFill>
                <a:latin typeface="Courier New"/>
              </a:rPr>
              <a:t>Net</a:t>
            </a:r>
            <a:r>
              <a:rPr b="0" lang="en-US" sz="2800" spc="-1" strike="noStrike">
                <a:solidFill>
                  <a:srgbClr val="d4d4d4"/>
                </a:solidFill>
                <a:latin typeface="Courier New"/>
              </a:rPr>
              <a:t>(</a:t>
            </a:r>
            <a:r>
              <a:rPr b="0" lang="en-US" sz="2800" spc="-1" strike="noStrike">
                <a:solidFill>
                  <a:srgbClr val="4ec9b0"/>
                </a:solidFill>
                <a:latin typeface="Courier New"/>
              </a:rPr>
              <a:t>nn</a:t>
            </a:r>
            <a:r>
              <a:rPr b="0" lang="en-US" sz="2800" spc="-1" strike="noStrike">
                <a:solidFill>
                  <a:srgbClr val="d4d4d4"/>
                </a:solidFill>
                <a:latin typeface="Courier New"/>
              </a:rPr>
              <a:t>.</a:t>
            </a:r>
            <a:r>
              <a:rPr b="0" lang="en-US" sz="2800" spc="-1" strike="noStrike">
                <a:solidFill>
                  <a:srgbClr val="4ec9b0"/>
                </a:solidFill>
                <a:latin typeface="Courier New"/>
              </a:rPr>
              <a:t>Module</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569cd6"/>
                </a:solidFill>
                <a:latin typeface="Courier New"/>
              </a:rPr>
              <a:t>def</a:t>
            </a:r>
            <a:r>
              <a:rPr b="0" lang="en-US" sz="2800" spc="-1" strike="noStrike">
                <a:solidFill>
                  <a:srgbClr val="d4d4d4"/>
                </a:solidFill>
                <a:latin typeface="Courier New"/>
              </a:rPr>
              <a:t> </a:t>
            </a:r>
            <a:r>
              <a:rPr b="0" lang="en-US" sz="2800" spc="-1" strike="noStrike">
                <a:solidFill>
                  <a:srgbClr val="dcdcaa"/>
                </a:solidFill>
                <a:latin typeface="Courier New"/>
              </a:rPr>
              <a:t>__init__</a:t>
            </a:r>
            <a:r>
              <a:rPr b="0" lang="en-US" sz="2800" spc="-1" strike="noStrike">
                <a:solidFill>
                  <a:srgbClr val="d4d4d4"/>
                </a:solidFill>
                <a:latin typeface="Courier New"/>
              </a:rPr>
              <a:t>(</a:t>
            </a:r>
            <a:r>
              <a:rPr b="0" lang="en-US" sz="2800" spc="-1" strike="noStrike">
                <a:solidFill>
                  <a:srgbClr val="9cdcfe"/>
                </a:solidFill>
                <a:latin typeface="Courier New"/>
              </a:rPr>
              <a:t>self</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super</a:t>
            </a:r>
            <a:r>
              <a:rPr b="0" lang="en-US" sz="2800" spc="-1" strike="noStrike">
                <a:solidFill>
                  <a:srgbClr val="dcdcdc"/>
                </a:solidFill>
                <a:latin typeface="Courier New"/>
              </a:rPr>
              <a:t>(</a:t>
            </a:r>
            <a:r>
              <a:rPr b="0" lang="en-US" sz="2800" spc="-1" strike="noStrike">
                <a:solidFill>
                  <a:srgbClr val="d4d4d4"/>
                </a:solidFill>
                <a:latin typeface="Courier New"/>
              </a:rPr>
              <a:t>Net</a:t>
            </a:r>
            <a:r>
              <a:rPr b="0" lang="en-US" sz="2800" spc="-1" strike="noStrike">
                <a:solidFill>
                  <a:srgbClr val="dcdcdc"/>
                </a:solidFill>
                <a:latin typeface="Courier New"/>
              </a:rPr>
              <a:t>,</a:t>
            </a:r>
            <a:r>
              <a:rPr b="0" lang="en-US" sz="2800" spc="-1" strike="noStrike">
                <a:solidFill>
                  <a:srgbClr val="d4d4d4"/>
                </a:solidFill>
                <a:latin typeface="Courier New"/>
              </a:rPr>
              <a:t> </a:t>
            </a:r>
            <a:r>
              <a:rPr b="0" lang="en-US" sz="2800" spc="-1" strike="noStrike">
                <a:solidFill>
                  <a:srgbClr val="9cdcfe"/>
                </a:solidFill>
                <a:latin typeface="Courier New"/>
              </a:rPr>
              <a:t>self</a:t>
            </a:r>
            <a:r>
              <a:rPr b="0" lang="en-US" sz="2800" spc="-1" strike="noStrike">
                <a:solidFill>
                  <a:srgbClr val="dcdcdc"/>
                </a:solidFill>
                <a:latin typeface="Courier New"/>
              </a:rPr>
              <a:t>)</a:t>
            </a:r>
            <a:r>
              <a:rPr b="0" lang="en-US" sz="2800" spc="-1" strike="noStrike">
                <a:solidFill>
                  <a:srgbClr val="d4d4d4"/>
                </a:solidFill>
                <a:latin typeface="Courier New"/>
              </a:rPr>
              <a:t>.</a:t>
            </a:r>
            <a:r>
              <a:rPr b="0" lang="en-US" sz="2800" spc="-1" strike="noStrike">
                <a:solidFill>
                  <a:srgbClr val="dcdcaa"/>
                </a:solidFill>
                <a:latin typeface="Courier New"/>
              </a:rPr>
              <a:t>__init__</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9cdcfe"/>
                </a:solidFill>
                <a:latin typeface="Courier New"/>
              </a:rPr>
              <a:t>self</a:t>
            </a:r>
            <a:r>
              <a:rPr b="0" lang="en-US" sz="2800" spc="-1" strike="noStrike">
                <a:solidFill>
                  <a:srgbClr val="d4d4d4"/>
                </a:solidFill>
                <a:latin typeface="Courier New"/>
              </a:rPr>
              <a:t>.fc1 = nn.Linear</a:t>
            </a:r>
            <a:r>
              <a:rPr b="0" lang="en-US" sz="2800" spc="-1" strike="noStrike">
                <a:solidFill>
                  <a:srgbClr val="dcdcdc"/>
                </a:solidFill>
                <a:latin typeface="Courier New"/>
              </a:rPr>
              <a:t>(</a:t>
            </a:r>
            <a:r>
              <a:rPr b="0" lang="en-US" sz="2800" spc="-1" strike="noStrike">
                <a:solidFill>
                  <a:srgbClr val="d4d4d4"/>
                </a:solidFill>
                <a:latin typeface="Courier New"/>
              </a:rPr>
              <a:t>1</a:t>
            </a:r>
            <a:r>
              <a:rPr b="0" lang="en-US" sz="2800" spc="-1" strike="noStrike">
                <a:solidFill>
                  <a:srgbClr val="dcdcdc"/>
                </a:solidFill>
                <a:latin typeface="Courier New"/>
              </a:rPr>
              <a:t>,</a:t>
            </a:r>
            <a:r>
              <a:rPr b="0" lang="en-US" sz="2800" spc="-1" strike="noStrike">
                <a:solidFill>
                  <a:srgbClr val="d4d4d4"/>
                </a:solidFill>
                <a:latin typeface="Courier New"/>
              </a:rPr>
              <a:t> 10</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9cdcfe"/>
                </a:solidFill>
                <a:latin typeface="Courier New"/>
              </a:rPr>
              <a:t>self</a:t>
            </a:r>
            <a:r>
              <a:rPr b="0" lang="en-US" sz="2800" spc="-1" strike="noStrike">
                <a:solidFill>
                  <a:srgbClr val="d4d4d4"/>
                </a:solidFill>
                <a:latin typeface="Courier New"/>
              </a:rPr>
              <a:t>.fc2 = nn.Linear</a:t>
            </a:r>
            <a:r>
              <a:rPr b="0" lang="en-US" sz="2800" spc="-1" strike="noStrike">
                <a:solidFill>
                  <a:srgbClr val="dcdcdc"/>
                </a:solidFill>
                <a:latin typeface="Courier New"/>
              </a:rPr>
              <a:t>(</a:t>
            </a:r>
            <a:r>
              <a:rPr b="0" lang="en-US" sz="2800" spc="-1" strike="noStrike">
                <a:solidFill>
                  <a:srgbClr val="d4d4d4"/>
                </a:solidFill>
                <a:latin typeface="Courier New"/>
              </a:rPr>
              <a:t>10, 1</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br>
              <a:rPr sz="2800"/>
            </a:br>
            <a:r>
              <a:rPr b="0" lang="en-US" sz="2800" spc="-1" strike="noStrike">
                <a:solidFill>
                  <a:srgbClr val="d4d4d4"/>
                </a:solidFill>
                <a:latin typeface="Courier New"/>
              </a:rPr>
              <a:t>    </a:t>
            </a:r>
            <a:r>
              <a:rPr b="0" lang="en-US" sz="2800" spc="-1" strike="noStrike">
                <a:solidFill>
                  <a:srgbClr val="569cd6"/>
                </a:solidFill>
                <a:latin typeface="Courier New"/>
              </a:rPr>
              <a:t>def</a:t>
            </a:r>
            <a:r>
              <a:rPr b="0" lang="en-US" sz="2800" spc="-1" strike="noStrike">
                <a:solidFill>
                  <a:srgbClr val="d4d4d4"/>
                </a:solidFill>
                <a:latin typeface="Courier New"/>
              </a:rPr>
              <a:t> </a:t>
            </a:r>
            <a:r>
              <a:rPr b="0" lang="en-US" sz="2800" spc="-1" strike="noStrike">
                <a:solidFill>
                  <a:srgbClr val="dcdcaa"/>
                </a:solidFill>
                <a:latin typeface="Courier New"/>
              </a:rPr>
              <a:t>forward</a:t>
            </a:r>
            <a:r>
              <a:rPr b="0" lang="en-US" sz="2800" spc="-1" strike="noStrike">
                <a:solidFill>
                  <a:srgbClr val="d4d4d4"/>
                </a:solidFill>
                <a:latin typeface="Courier New"/>
              </a:rPr>
              <a:t>(</a:t>
            </a:r>
            <a:r>
              <a:rPr b="0" lang="en-US" sz="2800" spc="-1" strike="noStrike">
                <a:solidFill>
                  <a:srgbClr val="9cdcfe"/>
                </a:solidFill>
                <a:latin typeface="Courier New"/>
              </a:rPr>
              <a:t>self</a:t>
            </a:r>
            <a:r>
              <a:rPr b="0" lang="en-US" sz="2800" spc="-1" strike="noStrike">
                <a:solidFill>
                  <a:srgbClr val="d4d4d4"/>
                </a:solidFill>
                <a:latin typeface="Courier New"/>
              </a:rPr>
              <a:t>, </a:t>
            </a:r>
            <a:r>
              <a:rPr b="0" lang="en-US" sz="2800" spc="-1" strike="noStrike">
                <a:solidFill>
                  <a:srgbClr val="9cdcfe"/>
                </a:solidFill>
                <a:latin typeface="Courier New"/>
              </a:rPr>
              <a:t>x</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x = </a:t>
            </a:r>
            <a:r>
              <a:rPr b="0" lang="en-US" sz="2800" spc="-1" strike="noStrike">
                <a:solidFill>
                  <a:srgbClr val="9cdcfe"/>
                </a:solidFill>
                <a:latin typeface="Courier New"/>
              </a:rPr>
              <a:t>self</a:t>
            </a:r>
            <a:r>
              <a:rPr b="0" lang="en-US" sz="2800" spc="-1" strike="noStrike">
                <a:solidFill>
                  <a:srgbClr val="d4d4d4"/>
                </a:solidFill>
                <a:latin typeface="Courier New"/>
              </a:rPr>
              <a:t>.fc1</a:t>
            </a:r>
            <a:r>
              <a:rPr b="0" lang="en-US" sz="2800" spc="-1" strike="noStrike">
                <a:solidFill>
                  <a:srgbClr val="dcdcdc"/>
                </a:solidFill>
                <a:latin typeface="Courier New"/>
              </a:rPr>
              <a:t>(</a:t>
            </a:r>
            <a:r>
              <a:rPr b="0" lang="en-US" sz="2800" spc="-1" strike="noStrike">
                <a:solidFill>
                  <a:srgbClr val="d4d4d4"/>
                </a:solidFill>
                <a:latin typeface="Courier New"/>
              </a:rPr>
              <a:t>x</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x = nn.ReLU</a:t>
            </a:r>
            <a:r>
              <a:rPr b="0" lang="en-US" sz="2800" spc="-1" strike="noStrike">
                <a:solidFill>
                  <a:srgbClr val="dcdcdc"/>
                </a:solidFill>
                <a:latin typeface="Courier New"/>
              </a:rPr>
              <a:t>()(</a:t>
            </a:r>
            <a:r>
              <a:rPr b="0" lang="en-US" sz="2800" spc="-1" strike="noStrike">
                <a:solidFill>
                  <a:srgbClr val="d4d4d4"/>
                </a:solidFill>
                <a:latin typeface="Courier New"/>
              </a:rPr>
              <a:t>x</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x = </a:t>
            </a:r>
            <a:r>
              <a:rPr b="0" lang="en-US" sz="2800" spc="-1" strike="noStrike">
                <a:solidFill>
                  <a:srgbClr val="9cdcfe"/>
                </a:solidFill>
                <a:latin typeface="Courier New"/>
              </a:rPr>
              <a:t>self</a:t>
            </a:r>
            <a:r>
              <a:rPr b="0" lang="en-US" sz="2800" spc="-1" strike="noStrike">
                <a:solidFill>
                  <a:srgbClr val="d4d4d4"/>
                </a:solidFill>
                <a:latin typeface="Courier New"/>
              </a:rPr>
              <a:t>.fc2</a:t>
            </a:r>
            <a:r>
              <a:rPr b="0" lang="en-US" sz="2800" spc="-1" strike="noStrike">
                <a:solidFill>
                  <a:srgbClr val="dcdcdc"/>
                </a:solidFill>
                <a:latin typeface="Courier New"/>
              </a:rPr>
              <a:t>(</a:t>
            </a:r>
            <a:r>
              <a:rPr b="0" lang="en-US" sz="2800" spc="-1" strike="noStrike">
                <a:solidFill>
                  <a:srgbClr val="d4d4d4"/>
                </a:solidFill>
                <a:latin typeface="Courier New"/>
              </a:rPr>
              <a:t>x</a:t>
            </a:r>
            <a:r>
              <a:rPr b="0" lang="en-US" sz="2800" spc="-1" strike="noStrike">
                <a:solidFill>
                  <a:srgbClr val="dcdcdc"/>
                </a:solidFill>
                <a:latin typeface="Courier New"/>
              </a:rPr>
              <a:t>)</a:t>
            </a:r>
            <a:endParaRPr b="0" lang="en-US" sz="2800" spc="-1" strike="noStrike">
              <a:solidFill>
                <a:srgbClr val="ffffff"/>
              </a:solidFill>
              <a:latin typeface="Arial"/>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c586c0"/>
                </a:solidFill>
                <a:latin typeface="Courier New"/>
              </a:rPr>
              <a:t>return</a:t>
            </a:r>
            <a:r>
              <a:rPr b="0" lang="en-US" sz="2800" spc="-1" strike="noStrike">
                <a:solidFill>
                  <a:srgbClr val="d4d4d4"/>
                </a:solidFill>
                <a:latin typeface="Courier New"/>
              </a:rPr>
              <a:t> x</a:t>
            </a:r>
            <a:endParaRPr b="0" lang="en-US" sz="2800" spc="-1" strike="noStrike">
              <a:solidFill>
                <a:srgbClr val="ffffff"/>
              </a:solidFill>
              <a:latin typeface="Arial"/>
            </a:endParaRPr>
          </a:p>
          <a:p>
            <a:pPr indent="0" defTabSz="914400">
              <a:lnSpc>
                <a:spcPct val="90000"/>
              </a:lnSpc>
              <a:spcBef>
                <a:spcPts val="1001"/>
              </a:spcBef>
              <a:buNone/>
              <a:tabLst>
                <a:tab algn="l" pos="0"/>
              </a:tabLst>
            </a:pPr>
            <a:endParaRPr b="0" lang="en-US" sz="2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Optimizer</a:t>
            </a:r>
            <a:endParaRPr b="0" lang="en-US" sz="4400" spc="-1" strike="noStrike">
              <a:solidFill>
                <a:srgbClr val="000000"/>
              </a:solidFill>
              <a:latin typeface="Arial"/>
            </a:endParaRPr>
          </a:p>
        </p:txBody>
      </p:sp>
      <p:sp>
        <p:nvSpPr>
          <p:cNvPr id="97"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indent="0" algn="just" defTabSz="914400">
              <a:lnSpc>
                <a:spcPct val="90000"/>
              </a:lnSpc>
              <a:spcBef>
                <a:spcPts val="1001"/>
              </a:spcBef>
              <a:buNone/>
              <a:tabLst>
                <a:tab algn="l" pos="0"/>
              </a:tabLst>
            </a:pPr>
            <a:r>
              <a:rPr b="0" lang="en-US" sz="2800" spc="-1" strike="noStrike">
                <a:solidFill>
                  <a:schemeClr val="dk1"/>
                </a:solidFill>
                <a:latin typeface="Calibri"/>
              </a:rPr>
              <a:t>All optimizers used in this course are variations of gradient descent:</a:t>
            </a:r>
            <a:endParaRPr b="0" lang="en-US" sz="2800" spc="-1" strike="noStrike">
              <a:solidFill>
                <a:srgbClr val="000000"/>
              </a:solidFill>
              <a:latin typeface="Arial"/>
            </a:endParaRPr>
          </a:p>
          <a:p>
            <a:pPr lvl="1" marL="685800" indent="-228600" algn="just"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Stochastic Gradient Descent (</a:t>
            </a:r>
            <a:r>
              <a:rPr b="1" lang="en-US" sz="2400" spc="-1" strike="noStrike">
                <a:solidFill>
                  <a:schemeClr val="dk1"/>
                </a:solidFill>
                <a:latin typeface="Calibri"/>
              </a:rPr>
              <a:t>SGD</a:t>
            </a:r>
            <a:r>
              <a:rPr b="0" lang="en-US" sz="2400" spc="-1" strike="noStrike">
                <a:solidFill>
                  <a:schemeClr val="dk1"/>
                </a:solidFill>
                <a:latin typeface="Calibri"/>
              </a:rPr>
              <a:t>): simple gradient descent aggregated by batches</a:t>
            </a:r>
            <a:endParaRPr b="0" lang="en-US" sz="2400" spc="-1" strike="noStrike">
              <a:solidFill>
                <a:srgbClr val="000000"/>
              </a:solidFill>
              <a:latin typeface="Arial"/>
            </a:endParaRPr>
          </a:p>
          <a:p>
            <a:pPr lvl="1" marL="685800" indent="-228600" algn="just"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Adaptive Moment Estimation (</a:t>
            </a:r>
            <a:r>
              <a:rPr b="1" lang="en-US" sz="2400" spc="-1" strike="noStrike">
                <a:solidFill>
                  <a:schemeClr val="dk1"/>
                </a:solidFill>
                <a:latin typeface="Calibri"/>
              </a:rPr>
              <a:t>Adam</a:t>
            </a:r>
            <a:r>
              <a:rPr b="0" lang="en-US" sz="2400" spc="-1" strike="noStrike">
                <a:solidFill>
                  <a:schemeClr val="dk1"/>
                </a:solidFill>
                <a:latin typeface="Calibri"/>
              </a:rPr>
              <a:t>): extension of SGD with </a:t>
            </a:r>
            <a:r>
              <a:rPr b="1" lang="en-US" sz="2400" spc="-1" strike="noStrike">
                <a:solidFill>
                  <a:schemeClr val="dk1"/>
                </a:solidFill>
                <a:latin typeface="Calibri"/>
              </a:rPr>
              <a:t>momentum</a:t>
            </a:r>
            <a:r>
              <a:rPr b="0" lang="en-US" sz="2400" spc="-1" strike="noStrike">
                <a:solidFill>
                  <a:schemeClr val="dk1"/>
                </a:solidFill>
                <a:latin typeface="Calibri"/>
              </a:rPr>
              <a:t> and </a:t>
            </a:r>
            <a:r>
              <a:rPr b="1" lang="en-US" sz="2400" spc="-1" strike="noStrike">
                <a:solidFill>
                  <a:schemeClr val="dk1"/>
                </a:solidFill>
                <a:latin typeface="Calibri"/>
              </a:rPr>
              <a:t>moving average</a:t>
            </a:r>
            <a:r>
              <a:rPr b="0" lang="en-US" sz="2400" spc="-1" strike="noStrike">
                <a:solidFill>
                  <a:schemeClr val="dk1"/>
                </a:solidFill>
                <a:latin typeface="Calibri"/>
              </a:rPr>
              <a:t> of the </a:t>
            </a:r>
            <a:r>
              <a:rPr b="1" lang="en-US" sz="2400" spc="-1" strike="noStrike">
                <a:solidFill>
                  <a:schemeClr val="dk1"/>
                </a:solidFill>
                <a:latin typeface="Calibri"/>
              </a:rPr>
              <a:t>gradients </a:t>
            </a:r>
            <a:r>
              <a:rPr b="0" lang="en-US" sz="2400" spc="-1" strike="noStrike">
                <a:solidFill>
                  <a:schemeClr val="dk1"/>
                </a:solidFill>
                <a:latin typeface="Calibri"/>
              </a:rPr>
              <a:t>to accelerate the training process and prevent oscillations.</a:t>
            </a:r>
            <a:endParaRPr b="0" lang="en-US" sz="2400" spc="-1" strike="noStrike">
              <a:solidFill>
                <a:srgbClr val="000000"/>
              </a:solidFill>
              <a:latin typeface="Arial"/>
            </a:endParaRPr>
          </a:p>
          <a:p>
            <a:pPr lvl="1" marL="685800" indent="-228600" algn="just"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Root Mean Squared Propagation (</a:t>
            </a:r>
            <a:r>
              <a:rPr b="1" lang="en-US" sz="2400" spc="-1" strike="noStrike">
                <a:solidFill>
                  <a:schemeClr val="dk1"/>
                </a:solidFill>
                <a:latin typeface="Calibri"/>
              </a:rPr>
              <a:t>RMSProp</a:t>
            </a:r>
            <a:r>
              <a:rPr b="0" lang="en-US" sz="2400" spc="-1" strike="noStrike">
                <a:solidFill>
                  <a:schemeClr val="dk1"/>
                </a:solidFill>
                <a:latin typeface="Calibri"/>
              </a:rPr>
              <a:t>): extension of SGD that is </a:t>
            </a:r>
            <a:r>
              <a:rPr b="1" lang="en-US" sz="2400" spc="-1" strike="noStrike">
                <a:solidFill>
                  <a:schemeClr val="dk1"/>
                </a:solidFill>
                <a:latin typeface="Calibri"/>
              </a:rPr>
              <a:t>designed to deal with </a:t>
            </a:r>
            <a:r>
              <a:rPr b="0" lang="en-US" sz="2400" spc="-1" strike="noStrike">
                <a:solidFill>
                  <a:schemeClr val="dk1"/>
                </a:solidFill>
                <a:latin typeface="Calibri"/>
              </a:rPr>
              <a:t>the issue of </a:t>
            </a:r>
            <a:r>
              <a:rPr b="1" lang="en-US" sz="2400" spc="-1" strike="noStrike">
                <a:solidFill>
                  <a:schemeClr val="dk1"/>
                </a:solidFill>
                <a:latin typeface="Calibri"/>
              </a:rPr>
              <a:t>vanishing gradients</a:t>
            </a:r>
            <a:r>
              <a:rPr b="0" lang="en-US" sz="2400" spc="-1" strike="noStrike">
                <a:solidFill>
                  <a:schemeClr val="dk1"/>
                </a:solidFill>
                <a:latin typeface="Calibri"/>
              </a:rPr>
              <a:t>. It </a:t>
            </a:r>
            <a:r>
              <a:rPr b="1" lang="en-US" sz="2400" spc="-1" strike="noStrike">
                <a:solidFill>
                  <a:schemeClr val="dk1"/>
                </a:solidFill>
                <a:latin typeface="Calibri"/>
              </a:rPr>
              <a:t>normalizes the gradients </a:t>
            </a:r>
            <a:r>
              <a:rPr b="0" lang="en-US" sz="2400" spc="-1" strike="noStrike">
                <a:solidFill>
                  <a:schemeClr val="dk1"/>
                </a:solidFill>
                <a:latin typeface="Calibri"/>
              </a:rPr>
              <a:t>by the root mean square of their recent magnitudes.</a:t>
            </a:r>
            <a:endParaRPr b="0" lang="en-US" sz="2400" spc="-1" strike="noStrike">
              <a:solidFill>
                <a:srgbClr val="000000"/>
              </a:solidFill>
              <a:latin typeface="Arial"/>
            </a:endParaRPr>
          </a:p>
          <a:p>
            <a:pPr indent="0" algn="just" defTabSz="914400">
              <a:lnSpc>
                <a:spcPct val="90000"/>
              </a:lnSpc>
              <a:spcBef>
                <a:spcPts val="1001"/>
              </a:spcBef>
              <a:buNone/>
              <a:tabLst>
                <a:tab algn="l" pos="0"/>
              </a:tabLst>
            </a:pPr>
            <a:endParaRPr b="0" lang="en-US" sz="2800" spc="-1" strike="noStrike">
              <a:solidFill>
                <a:srgbClr val="000000"/>
              </a:solidFill>
              <a:latin typeface="Arial"/>
            </a:endParaRPr>
          </a:p>
          <a:p>
            <a:pPr indent="0" algn="just" defTabSz="914400">
              <a:lnSpc>
                <a:spcPct val="90000"/>
              </a:lnSpc>
              <a:spcBef>
                <a:spcPts val="1001"/>
              </a:spcBef>
              <a:buNone/>
              <a:tabLst>
                <a:tab algn="l" pos="0"/>
              </a:tabLst>
            </a:pPr>
            <a:r>
              <a:rPr b="0" lang="en-US" sz="2800" spc="-1" strike="noStrike">
                <a:solidFill>
                  <a:schemeClr val="dk1"/>
                </a:solidFill>
                <a:latin typeface="Calibri"/>
              </a:rPr>
              <a:t>It is easy to switch from one optimizer to another with PyTorch*.</a:t>
            </a:r>
            <a:endParaRPr b="0" lang="en-US" sz="2800" spc="-1" strike="noStrike">
              <a:solidFill>
                <a:srgbClr val="000000"/>
              </a:solidFill>
              <a:latin typeface="Arial"/>
            </a:endParaRPr>
          </a:p>
        </p:txBody>
      </p:sp>
      <p:sp>
        <p:nvSpPr>
          <p:cNvPr id="98" name="TextBox 4"/>
          <p:cNvSpPr/>
          <p:nvPr/>
        </p:nvSpPr>
        <p:spPr>
          <a:xfrm>
            <a:off x="7689240" y="6519960"/>
            <a:ext cx="447228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i="1" lang="en-US" sz="1600" spc="-1" strike="noStrike">
                <a:solidFill>
                  <a:schemeClr val="dk1"/>
                </a:solidFill>
                <a:latin typeface="Calibri"/>
              </a:rPr>
              <a:t>* We will see more on optimizers later in this course.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Dataset &amp; Dataloader</a:t>
            </a:r>
            <a:endParaRPr b="0" lang="en-US" sz="4400" spc="-1" strike="noStrike">
              <a:solidFill>
                <a:srgbClr val="000000"/>
              </a:solidFill>
              <a:latin typeface="Arial"/>
            </a:endParaRPr>
          </a:p>
        </p:txBody>
      </p:sp>
      <p:sp>
        <p:nvSpPr>
          <p:cNvPr id="10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lgn="just" defTabSz="914400">
              <a:lnSpc>
                <a:spcPct val="90000"/>
              </a:lnSpc>
              <a:spcBef>
                <a:spcPts val="1001"/>
              </a:spcBef>
              <a:buNone/>
              <a:tabLst>
                <a:tab algn="l" pos="0"/>
              </a:tabLst>
            </a:pPr>
            <a:r>
              <a:rPr b="0" lang="en-US" sz="2800" spc="-1" strike="noStrike">
                <a:solidFill>
                  <a:schemeClr val="dk1"/>
                </a:solidFill>
                <a:latin typeface="Calibri"/>
              </a:rPr>
              <a:t>To handle custom datasets, create a dataset class, and use a Dataloader to iterate through it.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101" name="TextBox 3"/>
          <p:cNvSpPr/>
          <p:nvPr/>
        </p:nvSpPr>
        <p:spPr>
          <a:xfrm>
            <a:off x="5395320" y="2483640"/>
            <a:ext cx="5941440" cy="3655800"/>
          </a:xfrm>
          <a:prstGeom prst="rect">
            <a:avLst/>
          </a:prstGeom>
          <a:solidFill>
            <a:schemeClr val="tx1"/>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rgbClr val="569cd6"/>
                </a:solidFill>
                <a:latin typeface="Courier New"/>
              </a:rPr>
              <a:t>class</a:t>
            </a:r>
            <a:r>
              <a:rPr b="0" lang="en-US" sz="1800" spc="-1" strike="noStrike">
                <a:solidFill>
                  <a:srgbClr val="d4d4d4"/>
                </a:solidFill>
                <a:latin typeface="Courier New"/>
              </a:rPr>
              <a:t> </a:t>
            </a:r>
            <a:r>
              <a:rPr b="0" lang="en-US" sz="1800" spc="-1" strike="noStrike">
                <a:solidFill>
                  <a:srgbClr val="4ec9b0"/>
                </a:solidFill>
                <a:latin typeface="Courier New"/>
              </a:rPr>
              <a:t>CustomDataset</a:t>
            </a:r>
            <a:r>
              <a:rPr b="0" lang="en-US" sz="1800" spc="-1" strike="noStrike">
                <a:solidFill>
                  <a:srgbClr val="d4d4d4"/>
                </a:solidFill>
                <a:latin typeface="Courier New"/>
              </a:rPr>
              <a:t>(</a:t>
            </a:r>
            <a:r>
              <a:rPr b="0" lang="en-US" sz="1800" spc="-1" strike="noStrike">
                <a:solidFill>
                  <a:srgbClr val="4ec9b0"/>
                </a:solidFill>
                <a:latin typeface="Courier New"/>
              </a:rPr>
              <a:t>Dataset</a:t>
            </a:r>
            <a:r>
              <a:rPr b="0" lang="en-US" sz="1800" spc="-1" strike="noStrike">
                <a:solidFill>
                  <a:srgbClr val="d4d4d4"/>
                </a:solidFill>
                <a:latin typeface="Courier New"/>
              </a:rPr>
              <a:t>)</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pPr>
            <a:r>
              <a:rPr b="0" lang="en-US" sz="1800" spc="-1" strike="noStrike">
                <a:solidFill>
                  <a:srgbClr val="d4d4d4"/>
                </a:solidFill>
                <a:latin typeface="Courier New"/>
              </a:rPr>
              <a:t>    </a:t>
            </a:r>
            <a:r>
              <a:rPr b="0" lang="en-US" sz="1800" spc="-1" strike="noStrike">
                <a:solidFill>
                  <a:srgbClr val="569cd6"/>
                </a:solidFill>
                <a:latin typeface="Courier New"/>
              </a:rPr>
              <a:t>def</a:t>
            </a:r>
            <a:r>
              <a:rPr b="0" lang="en-US" sz="1800" spc="-1" strike="noStrike">
                <a:solidFill>
                  <a:srgbClr val="d4d4d4"/>
                </a:solidFill>
                <a:latin typeface="Courier New"/>
              </a:rPr>
              <a:t> </a:t>
            </a:r>
            <a:r>
              <a:rPr b="0" lang="en-US" sz="1800" spc="-1" strike="noStrike">
                <a:solidFill>
                  <a:srgbClr val="dcdcaa"/>
                </a:solidFill>
                <a:latin typeface="Courier New"/>
              </a:rPr>
              <a:t>__init__</a:t>
            </a:r>
            <a:r>
              <a:rPr b="0" lang="en-US" sz="1800" spc="-1" strike="noStrike">
                <a:solidFill>
                  <a:srgbClr val="d4d4d4"/>
                </a:solidFill>
                <a:latin typeface="Courier New"/>
              </a:rPr>
              <a:t>(</a:t>
            </a:r>
            <a:r>
              <a:rPr b="0" lang="en-US" sz="1800" spc="-1" strike="noStrike">
                <a:solidFill>
                  <a:srgbClr val="9cdcfe"/>
                </a:solidFill>
                <a:latin typeface="Courier New"/>
              </a:rPr>
              <a:t>self</a:t>
            </a:r>
            <a:r>
              <a:rPr b="0" lang="en-US" sz="1800" spc="-1" strike="noStrike">
                <a:solidFill>
                  <a:srgbClr val="d4d4d4"/>
                </a:solidFill>
                <a:latin typeface="Courier New"/>
              </a:rPr>
              <a:t>)</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cdcdc"/>
                </a:solidFill>
                <a:latin typeface="Courier New"/>
              </a:rPr>
              <a:t>        </a:t>
            </a:r>
            <a:r>
              <a:rPr b="0" lang="en-US" sz="1800" spc="-1" strike="noStrike">
                <a:solidFill>
                  <a:srgbClr val="6aa94f"/>
                </a:solidFill>
                <a:latin typeface="Courier New"/>
              </a:rPr>
              <a:t># initialize your dataset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6aa94f"/>
                </a:solidFill>
                <a:latin typeface="Courier New"/>
              </a:rPr>
              <a:t>        </a:t>
            </a:r>
            <a:r>
              <a:rPr b="0" lang="en-US" sz="1800" spc="-1" strike="noStrike">
                <a:solidFill>
                  <a:srgbClr val="6aa94f"/>
                </a:solidFill>
                <a:latin typeface="Courier New"/>
              </a:rPr>
              <a:t># (define the path, etc…)</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r>
              <a:rPr b="0" lang="en-US" sz="1800" spc="-1" strike="noStrike">
                <a:solidFill>
                  <a:srgbClr val="569cd6"/>
                </a:solidFill>
                <a:latin typeface="Courier New"/>
              </a:rPr>
              <a:t>def</a:t>
            </a:r>
            <a:r>
              <a:rPr b="0" lang="en-US" sz="1800" spc="-1" strike="noStrike">
                <a:solidFill>
                  <a:srgbClr val="d4d4d4"/>
                </a:solidFill>
                <a:latin typeface="Courier New"/>
              </a:rPr>
              <a:t> </a:t>
            </a:r>
            <a:r>
              <a:rPr b="0" lang="en-US" sz="1800" spc="-1" strike="noStrike">
                <a:solidFill>
                  <a:srgbClr val="dcdcaa"/>
                </a:solidFill>
                <a:latin typeface="Courier New"/>
              </a:rPr>
              <a:t>__getitem__</a:t>
            </a:r>
            <a:r>
              <a:rPr b="0" lang="en-US" sz="1800" spc="-1" strike="noStrike">
                <a:solidFill>
                  <a:srgbClr val="d4d4d4"/>
                </a:solidFill>
                <a:latin typeface="Courier New"/>
              </a:rPr>
              <a:t>(</a:t>
            </a:r>
            <a:r>
              <a:rPr b="0" lang="en-US" sz="1800" spc="-1" strike="noStrike">
                <a:solidFill>
                  <a:srgbClr val="9cdcfe"/>
                </a:solidFill>
                <a:latin typeface="Courier New"/>
              </a:rPr>
              <a:t>self</a:t>
            </a:r>
            <a:r>
              <a:rPr b="0" lang="en-US" sz="1800" spc="-1" strike="noStrike">
                <a:solidFill>
                  <a:srgbClr val="d4d4d4"/>
                </a:solidFill>
                <a:latin typeface="Courier New"/>
              </a:rPr>
              <a:t>, </a:t>
            </a:r>
            <a:r>
              <a:rPr b="0" lang="en-US" sz="1800" spc="-1" strike="noStrike">
                <a:solidFill>
                  <a:srgbClr val="9cdcfe"/>
                </a:solidFill>
                <a:latin typeface="Courier New"/>
              </a:rPr>
              <a:t>index</a:t>
            </a:r>
            <a:r>
              <a:rPr b="0" lang="en-US" sz="1800" spc="-1" strike="noStrike">
                <a:solidFill>
                  <a:srgbClr val="d4d4d4"/>
                </a:solidFill>
                <a:latin typeface="Courier New"/>
              </a:rPr>
              <a:t>)</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cdcdc"/>
                </a:solidFill>
                <a:latin typeface="Courier New"/>
              </a:rPr>
              <a:t>        </a:t>
            </a:r>
            <a:r>
              <a:rPr b="0" lang="en-US" sz="1800" spc="-1" strike="noStrike">
                <a:solidFill>
                  <a:srgbClr val="6aa94f"/>
                </a:solidFill>
                <a:latin typeface="Courier New"/>
              </a:rPr>
              <a:t># return one item of data</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r>
              <a:rPr b="0" lang="en-US" sz="1800" spc="-1" strike="noStrike">
                <a:solidFill>
                  <a:srgbClr val="d4d4d4"/>
                </a:solidFill>
                <a:latin typeface="Courier New"/>
              </a:rPr>
              <a: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r>
              <a:rPr b="0" lang="en-US" sz="1800" spc="-1" strike="noStrike">
                <a:solidFill>
                  <a:srgbClr val="c586c0"/>
                </a:solidFill>
                <a:latin typeface="Courier New"/>
              </a:rPr>
              <a:t>return</a:t>
            </a:r>
            <a:r>
              <a:rPr b="0" lang="en-US" sz="1800" spc="-1" strike="noStrike">
                <a:solidFill>
                  <a:srgbClr val="d4d4d4"/>
                </a:solidFill>
                <a:latin typeface="Courier New"/>
              </a:rPr>
              <a:t> …</a:t>
            </a:r>
            <a:endParaRPr b="0" lang="en-US" sz="1800" spc="-1" strike="noStrike">
              <a:solidFill>
                <a:srgbClr val="ffffff"/>
              </a:solidFill>
              <a:latin typeface="Arial"/>
            </a:endParaRPr>
          </a:p>
          <a:p>
            <a:pPr defTabSz="914400">
              <a:lnSpc>
                <a:spcPct val="100000"/>
              </a:lnSpc>
              <a:tabLst>
                <a:tab algn="l" pos="0"/>
              </a:tabLst>
            </a:pPr>
            <a:br>
              <a:rPr sz="1800"/>
            </a:br>
            <a:r>
              <a:rPr b="0" lang="en-US" sz="1800" spc="-1" strike="noStrike">
                <a:solidFill>
                  <a:srgbClr val="d4d4d4"/>
                </a:solidFill>
                <a:latin typeface="Courier New"/>
              </a:rPr>
              <a:t>    </a:t>
            </a:r>
            <a:r>
              <a:rPr b="0" lang="en-US" sz="1800" spc="-1" strike="noStrike">
                <a:solidFill>
                  <a:srgbClr val="569cd6"/>
                </a:solidFill>
                <a:latin typeface="Courier New"/>
              </a:rPr>
              <a:t>def</a:t>
            </a:r>
            <a:r>
              <a:rPr b="0" lang="en-US" sz="1800" spc="-1" strike="noStrike">
                <a:solidFill>
                  <a:srgbClr val="d4d4d4"/>
                </a:solidFill>
                <a:latin typeface="Courier New"/>
              </a:rPr>
              <a:t> </a:t>
            </a:r>
            <a:r>
              <a:rPr b="0" lang="en-US" sz="1800" spc="-1" strike="noStrike">
                <a:solidFill>
                  <a:srgbClr val="dcdcaa"/>
                </a:solidFill>
                <a:latin typeface="Courier New"/>
              </a:rPr>
              <a:t>__len__</a:t>
            </a:r>
            <a:r>
              <a:rPr b="0" lang="en-US" sz="1800" spc="-1" strike="noStrike">
                <a:solidFill>
                  <a:srgbClr val="d4d4d4"/>
                </a:solidFill>
                <a:latin typeface="Courier New"/>
              </a:rPr>
              <a:t>(</a:t>
            </a:r>
            <a:r>
              <a:rPr b="0" lang="en-US" sz="1800" spc="-1" strike="noStrike">
                <a:solidFill>
                  <a:srgbClr val="9cdcfe"/>
                </a:solidFill>
                <a:latin typeface="Courier New"/>
              </a:rPr>
              <a:t>self</a:t>
            </a:r>
            <a:r>
              <a:rPr b="0" lang="en-US" sz="1800" spc="-1" strike="noStrike">
                <a:solidFill>
                  <a:srgbClr val="d4d4d4"/>
                </a:solidFill>
                <a:latin typeface="Courier New"/>
              </a:rPr>
              <a:t>)</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6aa94f"/>
                </a:solidFill>
                <a:latin typeface="Courier New"/>
              </a:rPr>
              <a:t>        </a:t>
            </a:r>
            <a:r>
              <a:rPr b="0" lang="en-US" sz="1800" spc="-1" strike="noStrike">
                <a:solidFill>
                  <a:srgbClr val="6aa94f"/>
                </a:solidFill>
                <a:latin typeface="Courier New"/>
              </a:rPr>
              <a:t># return the length of the dataset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r>
              <a:rPr b="0" lang="en-US" sz="1800" spc="-1" strike="noStrike">
                <a:solidFill>
                  <a:srgbClr val="c586c0"/>
                </a:solidFill>
                <a:latin typeface="Courier New"/>
              </a:rPr>
              <a:t>return</a:t>
            </a:r>
            <a:r>
              <a:rPr b="0" lang="en-US" sz="1800" spc="-1" strike="noStrike">
                <a:solidFill>
                  <a:srgbClr val="d4d4d4"/>
                </a:solidFill>
                <a:latin typeface="Courier New"/>
              </a:rPr>
              <a:t> …</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0" lang="en-US" sz="4400" spc="-1" strike="noStrike">
                <a:solidFill>
                  <a:schemeClr val="dk1"/>
                </a:solidFill>
                <a:latin typeface="Calibri Light"/>
              </a:rPr>
              <a:t>Now it’s time to torch!</a:t>
            </a:r>
            <a:endParaRPr b="0" lang="en-US" sz="4400" spc="-1" strike="noStrike">
              <a:solidFill>
                <a:srgbClr val="000000"/>
              </a:solidFill>
              <a:latin typeface="Arial"/>
            </a:endParaRPr>
          </a:p>
        </p:txBody>
      </p:sp>
      <p:pic>
        <p:nvPicPr>
          <p:cNvPr id="103" name="Content Placeholder 5" descr="Icon&#10;&#10;Description automatically generated"/>
          <p:cNvPicPr/>
          <p:nvPr/>
        </p:nvPicPr>
        <p:blipFill>
          <a:blip r:embed="rId1"/>
          <a:stretch/>
        </p:blipFill>
        <p:spPr>
          <a:xfrm>
            <a:off x="3920400" y="1825560"/>
            <a:ext cx="4350600" cy="4350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Words>1177</Words>
  <Paragraphs>120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2023-01-03T10:31:33Z</dcterms:created>
  <dc:creator>Paul Dubois</dc:creator>
  <dc:description/>
  <dc:language>en-US</dc:language>
  <cp:lastModifiedBy/>
  <dcterms:modified xsi:type="dcterms:W3CDTF">2026-09-24T12:46:28Z</dcterms:modified>
  <cp:revision>37</cp:revision>
  <dc:subject/>
  <dc:title>PyTorch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Widescreen</vt:lpwstr>
  </property>
  <property fmtid="{D5CDD505-2E9C-101B-9397-08002B2CF9AE}" pid="4" name="Slides">
    <vt:i4>16</vt:i4>
  </property>
</Properties>
</file>