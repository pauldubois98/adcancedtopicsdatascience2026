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notesMaster" Target="notesMasters/notesMaster1.xml" /><Relationship Id="rId30" Type="http://schemas.openxmlformats.org/officeDocument/2006/relationships/viewProps" Target="viewProps.xml" /><Relationship Id="rId29" Type="http://schemas.openxmlformats.org/officeDocument/2006/relationships/presProps" Target="presProps.xml" /><Relationship Id="rId1" Type="http://schemas.openxmlformats.org/officeDocument/2006/relationships/slideMaster" Target="slideMasters/slideMaster1.xml" /><Relationship Id="rId32" Type="http://schemas.openxmlformats.org/officeDocument/2006/relationships/tableStyles" Target="tableStyles.xml" /><Relationship Id="rId31"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Last session ended on </a:t>
            </a:r>
            <a:r>
              <a:rPr>
                <a:latin typeface="Courier"/>
              </a:rPr>
              <a:t>loss.backward()</a:t>
            </a:r>
            <a:r>
              <a:rPr/>
              <a:t>: autograd fills </a:t>
            </a:r>
            <a:r>
              <a:rPr>
                <a:latin typeface="Courier"/>
              </a:rPr>
              <a:t>.grad</a:t>
            </a:r>
            <a:r>
              <a:rPr/>
              <a:t> for every parameter. Today is everything around that line — the optimizer that turns the gradient into a step, the learning rate and how it should move during training, three tricks that make training stable (clipping, batch norm, dropout), and the loss we put at the top.</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reminders. Backpropagation is the algorithm that computes the gradient of the loss with respect to every parameter of the network. A gradient descent optimization algorithm takes that gradient and decides how to update each parameter to reduce the loss.</a:t>
            </a:r>
          </a:p>
          <a:p>
            <a:pPr lvl="0" indent="0" marL="0">
              <a:buNone/>
            </a:pPr>
          </a:p>
          <a:p>
            <a:pPr lvl="0" indent="0" marL="0">
              <a:buNone/>
            </a:pPr>
            <a:r>
              <a:rPr/>
              <a:t>Choosing the optimizer is among the most important design decisions in deep learning. Treat it as a hyperparameter — and its own settings (learning rate, momentum, …) are hyperparameters too. The difficulty: the literature now lists hundreds of optimization methods.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Schmidt, Schneider, Hennig, “Descending through a Crowded Valley — Benchmarking Deep Learning Optimizers” (ICML 2021, https://arxiv.org/abs/2007.01547). More than 50,000 individual runs. Three conclusions, quoting them:</a:t>
            </a:r>
          </a:p>
          <a:p>
            <a:pPr lvl="0" indent="0" marL="0">
              <a:buNone/>
            </a:pPr>
          </a:p>
          <a:p>
            <a:pPr lvl="0" indent="-342900" marL="342900">
              <a:buAutoNum type="romanLcParenBoth"/>
            </a:pPr>
            <a:r>
              <a:rPr/>
              <a:t>optimizer performance varies greatly across tasks; (ii) evaluating multiple optimizers with default parameters works approximately as well as tuning the hyperparameters of a single, fixed optimizer; (iii) no method clearly dominates, but Adam remains a strong contender, with newer — more complicated, less documented — methods failing to significantly and consistently outperform it.</a:t>
            </a:r>
          </a:p>
          <a:p>
            <a:pPr lvl="0" indent="0" marL="0">
              <a:buNone/>
            </a:pPr>
          </a:p>
          <a:p>
            <a:pPr lvl="0" indent="0" marL="0">
              <a:buNone/>
            </a:pPr>
            <a:r>
              <a:rPr/>
              <a:t>Practical reading: start with Adam; if you have budget, try a few optimizers at their defaults before spending it on tuning one.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naming in PyTorch is a bit confusing. </a:t>
            </a:r>
            <a:r>
              <a:rPr>
                <a:latin typeface="Courier"/>
              </a:rPr>
              <a:t>torch.optim.SGD</a:t>
            </a:r>
            <a:r>
              <a:rPr/>
              <a:t> implements plain gradient descent: θ ← θ − lr · gradient. The stochasticity comes purely from the data loading: each optimizer step uses a shuffled mini-batch. Feed it the whole dataset at every step and you get gradient descent, not SGD.</a:t>
            </a:r>
          </a:p>
          <a:p>
            <a:pPr lvl="0" indent="0" marL="0">
              <a:buNone/>
            </a:pPr>
          </a:p>
          <a:p>
            <a:pPr lvl="0" indent="0" marL="0">
              <a:buNone/>
            </a:pPr>
            <a:r>
              <a:rPr/>
              <a:t>Left: the full-data gradient, a smooth path. Right: the same update on mini-batch gradients — noisy, but each step is much cheaper, and it still heads to the minimum.</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Only the first line changes. In practice a larger batch size usually allows a larger learning rate — next slide for why.</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IMPORTANT. A mini-batch gradient is an average of per-example gradients, so its noise shrinks like 1/√B. Left: the estimates from batches of 1, 32 and 512 around the full-data gradient. Larger batch → the gradient is more precise → less danger in taking a larger step, i.e. a larger learning rate.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Picture a ball rolling down a hill: high gradient = steep parts, low gradient = flat parts. Often the minimum sits in a long, flat region; small gradients there mean small steps, and learning is slow. We want the ball to keep the momentum it gained on the steep slopes while it crosses the flat areas.</a:t>
            </a:r>
          </a:p>
          <a:p>
            <a:pPr lvl="0" indent="0" marL="0">
              <a:buNone/>
            </a:pPr>
          </a:p>
          <a:p>
            <a:pPr lvl="0" indent="0" marL="0">
              <a:buNone/>
            </a:pPr>
            <a:r>
              <a:rPr/>
              <a:t>That is exactly what momentum does: the update uses a velocity v, the current gradient plus the previous velocity times γ. Along a consistent direction the velocity builds up; across a ravine the back-and-forth gradients cancel.</a:t>
            </a:r>
          </a:p>
          <a:p>
            <a:pPr lvl="0" indent="0" marL="0">
              <a:buNone/>
            </a:pPr>
          </a:p>
          <a:p>
            <a:pPr lvl="0" indent="0" marL="0">
              <a:buNone/>
            </a:pPr>
            <a:r>
              <a:rPr/>
              <a:t>γ is a new hyperparameter (0.9 is the usual default). Further reading: Goh, “Why Momentum Really Works”, Distill 2017 — https://distill.pub/2017/momentum/</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Remind them what is on each axis: the parameter on x, the loss on y. Too low: it converges, slowly. Good: a few steps. Too high: it bounces from wall to wall but still gets there. Much too high: every step lands higher than the last — the loss diverges. The bottom panel is what they will actually see: the loss against epochs.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Same axes. We want to get close to the minimum quickly, so a large learning rate at the start; then we want to reduce it, otherwise we risk oscillating on either side of the minimum forever. Hence learning rate schedules.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All of these live in </a:t>
            </a:r>
            <a:r>
              <a:rPr>
                <a:latin typeface="Courier"/>
              </a:rPr>
              <a:t>torch.optim.lr_scheduler</a:t>
            </a:r>
            <a:r>
              <a:rPr/>
              <a:t>, and there are many other — sometimes rather exotic — ways to schedule the learning rate. Which schedule to use is itself a hyperparameter. Call </a:t>
            </a:r>
            <a:r>
              <a:rPr>
                <a:latin typeface="Courier"/>
              </a:rPr>
              <a:t>scheduler.step()</a:t>
            </a:r>
            <a:r>
              <a:rPr/>
              <a:t> once per epoch, after </a:t>
            </a:r>
            <a:r>
              <a:rPr>
                <a:latin typeface="Courier"/>
              </a:rPr>
              <a:t>optimizer.step()</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will also code the last figure — the cyclic schedule — in the notebook.</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Remind them of the axes again. Some loss surfaces have cliffs — common in recurrent networks. On the plateau the gradient is small; on the cliff it is enormous, and a single step throws the parameters far away, undoing the training so far.</a:t>
            </a:r>
          </a:p>
          <a:p>
            <a:pPr lvl="0" indent="0" marL="0">
              <a:buNone/>
            </a:pPr>
          </a:p>
          <a:p>
            <a:pPr lvl="0" indent="0" marL="0">
              <a:buNone/>
            </a:pPr>
            <a:r>
              <a:rPr/>
              <a:t>Clipping by norm rescales the gradient when its norm exceeds a threshold τ: same direction, bounded length. In PyTorch: </a:t>
            </a:r>
            <a:r>
              <a:rPr>
                <a:latin typeface="Courier"/>
              </a:rPr>
              <a:t>torch.nn.utils.clip_grad_norm_(model.parameters(), max_norm)</a:t>
            </a:r>
            <a:r>
              <a:rPr/>
              <a:t>, between </a:t>
            </a:r>
            <a:r>
              <a:rPr>
                <a:latin typeface="Courier"/>
              </a:rPr>
              <a:t>loss.backward()</a:t>
            </a:r>
            <a:r>
              <a:rPr/>
              <a:t> and </a:t>
            </a:r>
            <a:r>
              <a:rPr>
                <a:latin typeface="Courier"/>
              </a:rPr>
              <a:t>optimizer.step()</a:t>
            </a:r>
            <a:r>
              <a:rPr/>
              <a:t>. The figure is the classic one from Goodfellow, Bengio, Courville, Deep Learning, ch. 10.11 (after Pascanu et al. 2013).</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already standardize the input data so each feature has mean zero and standard deviation one. Batch normalization does the same at the entrance of every layer, which also makes learning easier. Then a learned scale γ and shift β let the layer undo the normalization if that is what helps.</a:t>
            </a:r>
          </a:p>
          <a:p>
            <a:pPr lvl="0" indent="0" marL="0">
              <a:buNone/>
            </a:pPr>
          </a:p>
          <a:p>
            <a:pPr lvl="0" indent="0" marL="0">
              <a:buNone/>
            </a:pPr>
            <a:r>
              <a:rPr/>
              <a:t>Proposed by Ioffe and Szegedy (2015), motivated by “internal covariate shift”. Why it works is still debated — Santurkar et al. (2018) argue it rather smooths the loss surface. Deep learning is recent and not fully understood, and new tricks are often oversold. The rule: try with and without, look at the validation loss, keep what is better.</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normalization is not computed on the whole dataset: the mean and standard deviation come from the current mini-batch. Hence the name — and hence very small batches make it noisy.</a:t>
            </a:r>
          </a:p>
          <a:p>
            <a:pPr lvl="0" indent="0" marL="0">
              <a:buNone/>
            </a:pPr>
          </a:p>
          <a:p>
            <a:pPr lvl="0" indent="0" marL="0">
              <a:buNone/>
            </a:pPr>
            <a:r>
              <a:rPr/>
              <a:t>At evaluation time there may be one example, so the layer uses running averages collected during training. That is one of the things </a:t>
            </a:r>
            <a:r>
              <a:rPr>
                <a:latin typeface="Courier"/>
              </a:rPr>
              <a:t>model.train()</a:t>
            </a:r>
            <a:r>
              <a:rPr/>
              <a:t> and </a:t>
            </a:r>
            <a:r>
              <a:rPr>
                <a:latin typeface="Courier"/>
              </a:rPr>
              <a:t>model.eval()</a:t>
            </a:r>
            <a:r>
              <a:rPr/>
              <a:t> switch.</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Srivastava et al. (2014), “Dropout: A Simple Way to Prevent Neural Networks from Overfitting”. Which neurons are switched off is random: each one is dropped with probability p — a new hyperparameter. With p = 0.1 each neuron has a 1 in 10 chance of being off. This is redrawn at every forward pass, so the network trains a slightly different thinned model at every step.</a:t>
            </a:r>
          </a:p>
          <a:p>
            <a:pPr lvl="0" indent="0" marL="0">
              <a:buNone/>
            </a:pPr>
          </a:p>
          <a:p>
            <a:pPr lvl="0" indent="0" marL="0">
              <a:buNone/>
            </a:pPr>
            <a:r>
              <a:rPr/>
              <a:t>Caution: dropout is only active during training; at test time every neuron is on.</a:t>
            </a:r>
          </a:p>
          <a:p>
            <a:pPr lvl="0" indent="0" marL="0">
              <a:buNone/>
            </a:pPr>
          </a:p>
          <a:p>
            <a:pPr lvl="0" indent="0" marL="0">
              <a:buNone/>
            </a:pPr>
            <a:r>
              <a:rPr/>
              <a:t>Caution 2: think of an output neuron. During training it receives inputs from only about (1 − p) of the hidden neurons. Remove dropout and it suddenly receives more — its activations become too large. To avoid this, PyTorch scales the surviving activations by 1/(1 − p) during training, so nothing changes at test time.</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two regression losses they know. L1: every unit of error costs the same, so it is robust to outliers. MSE: large errors dominate; the gradient vanishes smoothly near zero.</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Work the example on the board: classes dog, cat, horse, human. A dog picture, so P* = (1, 0, 0, 0). Every term with P*(i) = 0 vanishes, and the loss is −log of the probability given to the true class: 0.51 for P(dog) = 0.6, 3.0 for P(dog) = 0.05.</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Why only x_{n, y_n}? Because for all the other classes P*(i) = 0. Careful: with reduction=‘mean’ PyTorch divides by the sum of the weights, not by N. In practice PyTorch handles it, but it is worth knowing how it works.</a:t>
            </a:r>
          </a:p>
          <a:p>
            <a:pPr lvl="0" indent="0" marL="0">
              <a:buNone/>
            </a:pPr>
          </a:p>
          <a:p>
            <a:pPr lvl="0" indent="0" marL="0">
              <a:buNone/>
            </a:pPr>
            <a:r>
              <a:rPr/>
              <a:t>NLLLoss expects log-probabilities and takes no log itself: the last layer of the network has to be </a:t>
            </a:r>
            <a:r>
              <a:rPr>
                <a:latin typeface="Courier"/>
              </a:rPr>
              <a:t>nn.LogSoftmax</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want probabilities. Raw network outputs can be above 1 or negative, and they do not sum to 1 — and we cannot take the log of a negative number. Softmax exponentiates (everything becomes positive) and normalizes (everything sums to 1).</a:t>
            </a:r>
          </a:p>
          <a:p>
            <a:pPr lvl="0" indent="0" marL="0">
              <a:buNone/>
            </a:pPr>
          </a:p>
          <a:p>
            <a:pPr lvl="0" indent="0" marL="0">
              <a:buNone/>
            </a:pPr>
            <a:r>
              <a:rPr/>
              <a:t>Idea of the figure after Adian Liusie, “Intuitively Understanding the Cross Entropy Loss” (2021) — https://www.youtube.com/watch?v=Pwgpl9mKars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nn.CrossEntropyLoss</a:t>
            </a:r>
            <a:r>
              <a:rPr/>
              <a:t> is </a:t>
            </a:r>
            <a:r>
              <a:rPr>
                <a:latin typeface="Courier"/>
              </a:rPr>
              <a:t>nn.LogSoftmax</a:t>
            </a:r>
            <a:r>
              <a:rPr/>
              <a:t> followed by </a:t>
            </a:r>
            <a:r>
              <a:rPr>
                <a:latin typeface="Courier"/>
              </a:rPr>
              <a:t>nn.NLLLoss</a:t>
            </a:r>
            <a:r>
              <a:rPr/>
              <a:t>, in one numerically stable call. Why the log: the cross-entropy formula. Why the softmax: we want values between 0 and 1. So the network ends on a plain linear layer, and you never put a softmax before </a:t>
            </a:r>
            <a:r>
              <a:rPr>
                <a:latin typeface="Courier"/>
              </a:rPr>
              <a:t>CrossEntropyLoss</a:t>
            </a:r>
            <a:r>
              <a:rPr/>
              <a:t> — that is a classic bug.</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image" Target="../media/image4.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5.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6.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7.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8.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9.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image" Target="../media/image10.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 Id="rId3" Type="http://schemas.openxmlformats.org/officeDocument/2006/relationships/image" Target="../media/image11.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image" Target="../media/image12.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image" Target="../media/image13.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 Id="rId3" Type="http://schemas.openxmlformats.org/officeDocument/2006/relationships/image" Target="../media/image14.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image" Target="../media/image15.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image" Target="../media/image16.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 Id="rId3" Type="http://schemas.openxmlformats.org/officeDocument/2006/relationships/image" Target="../media/image17.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normAutofit/>
          </a:bodyPr>
          <a:lstStyle/>
          <a:p>
            <a:pPr lvl="0" indent="0" marL="0">
              <a:buNone/>
            </a:pPr>
            <a:r>
              <a:rPr/>
              <a:t>Session 6</a:t>
            </a:r>
            <a:br/>
            <a:r>
              <a:rPr/>
              <a:t>Optimizers and Training Neural Networks</a:t>
            </a:r>
          </a:p>
        </p:txBody>
      </p:sp>
      <p:sp>
        <p:nvSpPr>
          <p:cNvPr id="3" name="Subtitle 2"/>
          <p:cNvSpPr>
            <a:spLocks noGrp="1"/>
          </p:cNvSpPr>
          <p:nvPr>
            <p:ph idx="1" type="subTitle"/>
          </p:nvPr>
        </p:nvSpPr>
        <p:spPr>
          <a:xfrm>
            <a:off x="1371600" y="2914650"/>
            <a:ext cx="6400800" cy="1314450"/>
          </a:xfrm>
        </p:spPr>
        <p:txBody>
          <a:bodyPr>
            <a:normAutofit/>
          </a:bodyPr>
          <a:lstStyle/>
          <a:p>
            <a:pPr lvl="0" indent="0" marL="0">
              <a:buNone/>
            </a:pPr>
            <a:r>
              <a:rPr/>
              <a:t>Advanced Data Science · NYU Paris · 2026</a:t>
            </a:r>
            <a:br/>
            <a:br/>
            <a:r>
              <a:rPr/>
              <a:t>Paul Dubois</a:t>
            </a:r>
          </a:p>
        </p:txBody>
      </p:sp>
      <p:sp>
        <p:nvSpPr>
          <p:cNvPr id="4" name="Date Placeholder 3"/>
          <p:cNvSpPr>
            <a:spLocks noGrp="1"/>
          </p:cNvSpPr>
          <p:nvPr>
            <p:ph idx="10" sz="half" type="dt"/>
          </p:nvPr>
        </p:nvSpPr>
        <p:spPr/>
        <p:txBody>
          <a:bodyPr>
            <a:normAutofit/>
          </a:bodyPr>
          <a:lstStyle/>
          <a:p>
            <a:pPr lvl="0" indent="0" marL="0">
              <a:buNone/>
            </a:pPr>
            <a:r>
              <a:rPr/>
              <a:t>Week 6 — Lecture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Main question</a:t>
            </a:r>
          </a:p>
        </p:txBody>
      </p:sp>
      <p:sp>
        <p:nvSpPr>
          <p:cNvPr id="3" name="Content Placeholder 2"/>
          <p:cNvSpPr>
            <a:spLocks noGrp="1"/>
          </p:cNvSpPr>
          <p:nvPr>
            <p:ph idx="1"/>
          </p:nvPr>
        </p:nvSpPr>
        <p:spPr/>
        <p:txBody>
          <a:bodyPr anchor="ctr">
            <a:normAutofit/>
          </a:bodyPr>
          <a:lstStyle/>
          <a:p>
            <a:pPr lvl="0" indent="0" marL="0" algn="ctr">
              <a:buNone/>
            </a:pPr>
            <a:r>
              <a:rPr sz="2000"/>
              <a:t>Autograd gives us the gradient.</a:t>
            </a:r>
          </a:p>
          <a:p>
            <a:pPr lvl="0" indent="0" marL="0" algn="ctr">
              <a:buNone/>
            </a:pPr>
            <a:r>
              <a:rPr sz="2000"/>
              <a:t>How do we turn it into a network that trains well?</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Optimizers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What an optimizer does</a:t>
            </a:r>
          </a:p>
        </p:txBody>
      </p:sp>
      <p:pic>
        <p:nvPicPr>
          <p:cNvPr descr="img/optimizer_rol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Benchmarking optimizers</a:t>
            </a:r>
          </a:p>
        </p:txBody>
      </p:sp>
      <p:pic>
        <p:nvPicPr>
          <p:cNvPr descr="img/crowded_valle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SGD in PyTorch is gradient descent</a:t>
            </a:r>
          </a:p>
        </p:txBody>
      </p:sp>
      <p:pic>
        <p:nvPicPr>
          <p:cNvPr descr="img/sgd_path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Batch size</a:t>
            </a:r>
          </a:p>
        </p:txBody>
      </p:sp>
      <p:sp>
        <p:nvSpPr>
          <p:cNvPr id="3" name="Content Placeholder 2"/>
          <p:cNvSpPr>
            <a:spLocks noGrp="1"/>
          </p:cNvSpPr>
          <p:nvPr>
            <p:ph idx="1"/>
          </p:nvPr>
        </p:nvSpPr>
        <p:spPr/>
        <p:txBody>
          <a:bodyPr>
            <a:normAutofit/>
          </a:bodyPr>
          <a:lstStyle/>
          <a:p>
            <a:pPr lvl="0" indent="0">
              <a:buNone/>
            </a:pPr>
            <a:r>
              <a:rPr>
                <a:latin typeface="Courier"/>
              </a:rPr>
              <a:t>train_loader </a:t>
            </a:r>
            <a:r>
              <a:rPr>
                <a:solidFill>
                  <a:srgbClr val="666666"/>
                </a:solidFill>
                <a:latin typeface="Courier"/>
              </a:rPr>
              <a:t>=</a:t>
            </a:r>
            <a:r>
              <a:rPr>
                <a:latin typeface="Courier"/>
              </a:rPr>
              <a:t> DataLoader(</a:t>
            </a:r>
            <a:br/>
            <a:r>
              <a:rPr>
                <a:latin typeface="Courier"/>
              </a:rPr>
              <a:t>    train_data, batch_size</a:t>
            </a:r>
            <a:r>
              <a:rPr>
                <a:solidFill>
                  <a:srgbClr val="666666"/>
                </a:solidFill>
                <a:latin typeface="Courier"/>
              </a:rPr>
              <a:t>=</a:t>
            </a:r>
            <a:r>
              <a:rPr>
                <a:solidFill>
                  <a:srgbClr val="40A070"/>
                </a:solidFill>
                <a:latin typeface="Courier"/>
              </a:rPr>
              <a:t>32</a:t>
            </a:r>
            <a:r>
              <a:rPr>
                <a:latin typeface="Courier"/>
              </a:rPr>
              <a:t>, shuffle</a:t>
            </a:r>
            <a:r>
              <a:rPr>
                <a:solidFill>
                  <a:srgbClr val="666666"/>
                </a:solidFill>
                <a:latin typeface="Courier"/>
              </a:rPr>
              <a:t>=</a:t>
            </a:r>
            <a:r>
              <a:rPr>
                <a:solidFill>
                  <a:srgbClr val="19177C"/>
                </a:solidFill>
                <a:latin typeface="Courier"/>
              </a:rPr>
              <a:t>True</a:t>
            </a:r>
            <a:r>
              <a:rPr>
                <a:latin typeface="Courier"/>
              </a:rPr>
              <a:t>)</a:t>
            </a:r>
            <a:br/>
            <a:br/>
            <a:r>
              <a:rPr b="1">
                <a:solidFill>
                  <a:srgbClr val="007020"/>
                </a:solidFill>
                <a:latin typeface="Courier"/>
              </a:rPr>
              <a:t>for</a:t>
            </a:r>
            <a:r>
              <a:rPr>
                <a:latin typeface="Courier"/>
              </a:rPr>
              <a:t> epoch </a:t>
            </a:r>
            <a:r>
              <a:rPr b="1">
                <a:solidFill>
                  <a:srgbClr val="007020"/>
                </a:solidFill>
                <a:latin typeface="Courier"/>
              </a:rPr>
              <a:t>in</a:t>
            </a:r>
            <a:r>
              <a:rPr>
                <a:latin typeface="Courier"/>
              </a:rPr>
              <a:t> </a:t>
            </a:r>
            <a:r>
              <a:rPr>
                <a:solidFill>
                  <a:srgbClr val="008000"/>
                </a:solidFill>
                <a:latin typeface="Courier"/>
              </a:rPr>
              <a:t>range</a:t>
            </a:r>
            <a:r>
              <a:rPr>
                <a:latin typeface="Courier"/>
              </a:rPr>
              <a:t>(n_epochs):</a:t>
            </a:r>
            <a:br/>
            <a:r>
              <a:rPr>
                <a:latin typeface="Courier"/>
              </a:rPr>
              <a:t>    </a:t>
            </a:r>
            <a:r>
              <a:rPr b="1">
                <a:solidFill>
                  <a:srgbClr val="007020"/>
                </a:solidFill>
                <a:latin typeface="Courier"/>
              </a:rPr>
              <a:t>for</a:t>
            </a:r>
            <a:r>
              <a:rPr>
                <a:latin typeface="Courier"/>
              </a:rPr>
              <a:t> inputs, targets </a:t>
            </a:r>
            <a:r>
              <a:rPr b="1">
                <a:solidFill>
                  <a:srgbClr val="007020"/>
                </a:solidFill>
                <a:latin typeface="Courier"/>
              </a:rPr>
              <a:t>in</a:t>
            </a:r>
            <a:r>
              <a:rPr>
                <a:latin typeface="Courier"/>
              </a:rPr>
              <a:t> train_loader:</a:t>
            </a:r>
            <a:br/>
            <a:r>
              <a:rPr>
                <a:latin typeface="Courier"/>
              </a:rPr>
              <a:t>        optimizer.zero_grad()</a:t>
            </a:r>
            <a:br/>
            <a:r>
              <a:rPr>
                <a:latin typeface="Courier"/>
              </a:rPr>
              <a:t>        output </a:t>
            </a:r>
            <a:r>
              <a:rPr>
                <a:solidFill>
                  <a:srgbClr val="666666"/>
                </a:solidFill>
                <a:latin typeface="Courier"/>
              </a:rPr>
              <a:t>=</a:t>
            </a:r>
            <a:r>
              <a:rPr>
                <a:latin typeface="Courier"/>
              </a:rPr>
              <a:t> model(inputs)</a:t>
            </a:r>
            <a:br/>
            <a:r>
              <a:rPr>
                <a:latin typeface="Courier"/>
              </a:rPr>
              <a:t>        loss </a:t>
            </a:r>
            <a:r>
              <a:rPr>
                <a:solidFill>
                  <a:srgbClr val="666666"/>
                </a:solidFill>
                <a:latin typeface="Courier"/>
              </a:rPr>
              <a:t>=</a:t>
            </a:r>
            <a:r>
              <a:rPr>
                <a:latin typeface="Courier"/>
              </a:rPr>
              <a:t> loss_fn(output, targets)</a:t>
            </a:r>
            <a:br/>
            <a:r>
              <a:rPr>
                <a:latin typeface="Courier"/>
              </a:rPr>
              <a:t>        loss.backward()</a:t>
            </a:r>
            <a:br/>
            <a:r>
              <a:rPr>
                <a:latin typeface="Courier"/>
              </a:rPr>
              <a:t>        optimizer.step()</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Bigger batches implies less noise</a:t>
            </a:r>
          </a:p>
        </p:txBody>
      </p:sp>
      <p:pic>
        <p:nvPicPr>
          <p:cNvPr descr="img/batch_nois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Momentum</a:t>
            </a:r>
          </a:p>
        </p:txBody>
      </p:sp>
      <p:pic>
        <p:nvPicPr>
          <p:cNvPr descr="img/momentum.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Learning rate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learning rate</a:t>
            </a:r>
          </a:p>
        </p:txBody>
      </p:sp>
      <p:pic>
        <p:nvPicPr>
          <p:cNvPr descr="img/lr_effec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Decay the learning rate</a:t>
            </a:r>
          </a:p>
        </p:txBody>
      </p:sp>
      <p:pic>
        <p:nvPicPr>
          <p:cNvPr descr="img/lr_deca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Learning rate schedulers</a:t>
            </a:r>
          </a:p>
        </p:txBody>
      </p:sp>
      <p:pic>
        <p:nvPicPr>
          <p:cNvPr descr="img/lr_schedule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In the recitation</a:t>
            </a:r>
          </a:p>
        </p:txBody>
      </p:sp>
      <p:sp>
        <p:nvSpPr>
          <p:cNvPr id="3" name="Content Placeholder 2"/>
          <p:cNvSpPr>
            <a:spLocks noGrp="1"/>
          </p:cNvSpPr>
          <p:nvPr>
            <p:ph idx="1"/>
          </p:nvPr>
        </p:nvSpPr>
        <p:spPr/>
        <p:txBody>
          <a:bodyPr anchor="ctr">
            <a:normAutofit/>
          </a:bodyPr>
          <a:lstStyle/>
          <a:p>
            <a:pPr lvl="0" indent="0" marL="0" algn="ctr">
              <a:buNone/>
            </a:pPr>
            <a:r>
              <a:rPr sz="2000"/>
              <a:t>Which optimizer, which schedule?</a:t>
            </a:r>
          </a:p>
          <a:p>
            <a:pPr lvl="0" indent="0" marL="0" algn="ctr">
              <a:buNone/>
            </a:pPr>
            <a:r>
              <a:rPr sz="2000"/>
              <a:t>We will try several of them in the notebook.</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Training stability and regularization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Gradient clipping</a:t>
            </a:r>
          </a:p>
        </p:txBody>
      </p:sp>
      <p:pic>
        <p:nvPicPr>
          <p:cNvPr descr="img/grad_clipping.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Batch normalization</a:t>
            </a:r>
          </a:p>
        </p:txBody>
      </p:sp>
      <p:pic>
        <p:nvPicPr>
          <p:cNvPr descr="img/batchnorm.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Why “batch” normalization</a:t>
            </a:r>
          </a:p>
        </p:txBody>
      </p:sp>
      <p:pic>
        <p:nvPicPr>
          <p:cNvPr descr="img/batchnorm_batch.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Dropout</a:t>
            </a:r>
          </a:p>
        </p:txBody>
      </p:sp>
      <p:pic>
        <p:nvPicPr>
          <p:cNvPr descr="img/dropou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Losses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Regression losses</a:t>
            </a:r>
          </a:p>
        </p:txBody>
      </p:sp>
      <p:pic>
        <p:nvPicPr>
          <p:cNvPr descr="img/regression_losse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Classification</a:t>
            </a:r>
          </a:p>
        </p:txBody>
      </p:sp>
      <p:sp>
        <p:nvSpPr>
          <p:cNvPr id="3" name="Content Placeholder 2"/>
          <p:cNvSpPr>
            <a:spLocks noGrp="1"/>
          </p:cNvSpPr>
          <p:nvPr>
            <p:ph idx="1"/>
          </p:nvPr>
        </p:nvSpPr>
        <p:spPr/>
        <p:txBody>
          <a:bodyPr anchor="ctr">
            <a:normAutofit/>
          </a:bodyPr>
          <a:lstStyle/>
          <a:p>
            <a:pPr lvl="0" indent="0" marL="0" algn="ctr">
              <a:buNone/>
            </a:pPr>
            <a:r>
              <a:rPr sz="2000"/>
              <a:t>In the case of a categorical output,</a:t>
            </a:r>
          </a:p>
          <a:p>
            <a:pPr lvl="0" indent="0" marL="0" algn="ctr">
              <a:buNone/>
            </a:pPr>
            <a:r>
              <a:rPr sz="2000"/>
              <a:t>what should the loss be?</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Cross entropy</a:t>
            </a:r>
          </a:p>
        </p:txBody>
      </p:sp>
      <p:pic>
        <p:nvPicPr>
          <p:cNvPr descr="img/cross_entrop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NLLLoss</a:t>
            </a:r>
          </a:p>
        </p:txBody>
      </p:sp>
      <p:pic>
        <p:nvPicPr>
          <p:cNvPr descr="img/nll_los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Why softmax?</a:t>
            </a:r>
          </a:p>
        </p:txBody>
      </p:sp>
      <p:pic>
        <p:nvPicPr>
          <p:cNvPr descr="img/softmax_wh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CrossEntropyLoss</a:t>
            </a:r>
          </a:p>
        </p:txBody>
      </p:sp>
      <p:pic>
        <p:nvPicPr>
          <p:cNvPr descr="img/ce_pipelin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6 Optimizers and Training Neural Networks</dc:title>
  <dc:creator>Paul Dubois</dc:creator>
  <cp:keywords/>
  <dcterms:created xsi:type="dcterms:W3CDTF">2026-10-03T10:52:17Z</dcterms:created>
  <dcterms:modified xsi:type="dcterms:W3CDTF">2026-10-03T10:52:17Z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Week 6 — Lecture</vt:lpwstr>
  </property>
  <property fmtid="{D5CDD505-2E9C-101B-9397-08002B2CF9AE}" pid="3" name="subtitle">
    <vt:lpwstr>Advanced Data Science · NYU Paris · 2026</vt:lpwstr>
  </property>
</Properties>
</file>