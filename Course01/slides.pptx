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3.png" ContentType="image/png"/>
  <Override PartName="/ppt/media/image4.png" ContentType="image/png"/>
  <Override PartName="/ppt/media/image9.png" ContentType="image/png"/>
  <Override PartName="/ppt/media/image12.png" ContentType="image/png"/>
  <Override PartName="/ppt/media/image3.png" ContentType="image/png"/>
  <Override PartName="/ppt/media/image8.png" ContentType="image/png"/>
  <Override PartName="/ppt/media/image11.png" ContentType="image/png"/>
  <Override PartName="/ppt/media/image2.png" ContentType="image/png"/>
  <Override PartName="/ppt/media/image22.jpeg" ContentType="image/jpeg"/>
  <Override PartName="/ppt/media/image7.png" ContentType="image/png"/>
  <Override PartName="/ppt/media/image16.png" ContentType="image/png"/>
  <Override PartName="/ppt/media/image17.jpeg" ContentType="image/jpeg"/>
  <Override PartName="/ppt/media/image25.jpeg" ContentType="image/jpeg"/>
  <Override PartName="/ppt/media/image24.jpeg" ContentType="image/jpeg"/>
  <Override PartName="/ppt/media/image23.jpeg" ContentType="image/jpeg"/>
  <Override PartName="/ppt/media/image21.jpeg" ContentType="image/jpeg"/>
  <Override PartName="/ppt/media/image19.jpeg" ContentType="image/jpeg"/>
  <Override PartName="/ppt/media/image20.jpeg" ContentType="image/jpeg"/>
  <Override PartName="/ppt/media/image18.jpeg" ContentType="image/jpeg"/>
  <Override PartName="/ppt/media/image5.png" ContentType="image/png"/>
  <Override PartName="/ppt/media/image26.jpeg" ContentType="image/jpeg"/>
  <Override PartName="/ppt/media/image14.png" ContentType="image/png"/>
  <Override PartName="/ppt/media/image6.png" ContentType="image/png"/>
  <Override PartName="/ppt/media/image15.png" ContentType="image/png"/>
  <Override PartName="/ppt/media/image10.png" ContentType="image/png"/>
  <Override PartName="/ppt/media/image1.png" ContentType="image/png"/>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46.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4.xml" ContentType="application/vnd.openxmlformats-officedocument.presentationml.slide+xml"/>
  <Override PartName="/ppt/slides/slide12.xml" ContentType="application/vnd.openxmlformats-officedocument.presentationml.slide+xml"/>
  <Override PartName="/ppt/slides/slide49.xml" ContentType="application/vnd.openxmlformats-officedocument.presentationml.slide+xml"/>
  <Override PartName="/ppt/slides/slide21.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40.xml" ContentType="application/vnd.openxmlformats-officedocument.presentationml.slide+xml"/>
  <Override PartName="/ppt/slides/_rels/slide19.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35.xml.rels" ContentType="application/vnd.openxmlformats-package.relationships+xml"/>
  <Override PartName="/ppt/slides/_rels/slide36.xml.rels" ContentType="application/vnd.openxmlformats-package.relationships+xml"/>
  <Override PartName="/ppt/slides/_rels/slide37.xml.rels" ContentType="application/vnd.openxmlformats-package.relationships+xml"/>
  <Override PartName="/ppt/slides/_rels/slide55.xml.rels" ContentType="application/vnd.openxmlformats-package.relationships+xml"/>
  <Override PartName="/ppt/slides/_rels/slide1.xml.rels" ContentType="application/vnd.openxmlformats-package.relationships+xml"/>
  <Override PartName="/ppt/slides/_rels/slide43.xml.rels" ContentType="application/vnd.openxmlformats-package.relationships+xml"/>
  <Override PartName="/ppt/slides/_rels/slide54.xml.rels" ContentType="application/vnd.openxmlformats-package.relationships+xml"/>
  <Override PartName="/ppt/slides/_rels/slide42.xml.rels" ContentType="application/vnd.openxmlformats-package.relationships+xml"/>
  <Override PartName="/ppt/slides/_rels/slide53.xml.rels" ContentType="application/vnd.openxmlformats-package.relationships+xml"/>
  <Override PartName="/ppt/slides/_rels/slide52.xml.rels" ContentType="application/vnd.openxmlformats-package.relationships+xml"/>
  <Override PartName="/ppt/slides/_rels/slide38.xml.rels" ContentType="application/vnd.openxmlformats-package.relationships+xml"/>
  <Override PartName="/ppt/slides/_rels/slide40.xml.rels" ContentType="application/vnd.openxmlformats-package.relationships+xml"/>
  <Override PartName="/ppt/slides/_rels/slide46.xml.rels" ContentType="application/vnd.openxmlformats-package.relationships+xml"/>
  <Override PartName="/ppt/slides/_rels/slide47.xml.rels" ContentType="application/vnd.openxmlformats-package.relationships+xml"/>
  <Override PartName="/ppt/slides/_rels/slide10.xml.rels" ContentType="application/vnd.openxmlformats-package.relationships+xml"/>
  <Override PartName="/ppt/slides/_rels/slide45.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4.xml.rels" ContentType="application/vnd.openxmlformats-package.relationships+xml"/>
  <Override PartName="/ppt/slides/_rels/slide12.xml.rels" ContentType="application/vnd.openxmlformats-package.relationships+xml"/>
  <Override PartName="/ppt/slides/_rels/slide49.xml.rels" ContentType="application/vnd.openxmlformats-package.relationships+xml"/>
  <Override PartName="/ppt/slides/_rels/slide51.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28.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29.xml.rels" ContentType="application/vnd.openxmlformats-package.relationships+xml"/>
  <Override PartName="/ppt/slides/_rels/slide11.xml.rels" ContentType="application/vnd.openxmlformats-package.relationships+xml"/>
  <Override PartName="/ppt/slides/_rels/slide48.xml.rels" ContentType="application/vnd.openxmlformats-package.relationships+xml"/>
  <Override PartName="/ppt/slides/_rels/slide50.xml.rels" ContentType="application/vnd.openxmlformats-package.relationships+xml"/>
  <Override PartName="/ppt/slides/_rels/slide13.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9.xml.rels" ContentType="application/vnd.openxmlformats-package.relationships+xml"/>
  <Override PartName="/ppt/slides/_rels/slide41.xml.rels" ContentType="application/vnd.openxmlformats-package.relationships+xml"/>
  <Override PartName="/ppt/slides/_rels/slide4.xml.rels" ContentType="application/vnd.openxmlformats-package.relationships+xml"/>
  <Override PartName="/ppt/slides/_rels/slide21.xml.rels" ContentType="application/vnd.openxmlformats-package.relationships+xml"/>
  <Override PartName="/ppt/slides/_rels/slide44.xml.rels" ContentType="application/vnd.openxmlformats-package.relationships+xml"/>
  <Override PartName="/ppt/slides/slide38.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42.xml" ContentType="application/vnd.openxmlformats-officedocument.presentationml.slide+xml"/>
  <Override PartName="/ppt/slides/slide54.xml" ContentType="application/vnd.openxmlformats-officedocument.presentationml.slide+xml"/>
  <Override PartName="/ppt/slides/slide43.xml" ContentType="application/vnd.openxmlformats-officedocument.presentationml.slide+xml"/>
  <Override PartName="/ppt/slides/slide55.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notesSlides/_rels/notesSlide40.xml.rels" ContentType="application/vnd.openxmlformats-package.relationships+xml"/>
  <Override PartName="/ppt/notesSlides/_rels/notesSlide38.xml.rels" ContentType="application/vnd.openxmlformats-package.relationships+xml"/>
  <Override PartName="/ppt/notesSlides/_rels/notesSlide36.xml.rels" ContentType="application/vnd.openxmlformats-package.relationships+xml"/>
  <Override PartName="/ppt/notesSlides/_rels/notesSlide35.xml.rels" ContentType="application/vnd.openxmlformats-package.relationships+xml"/>
  <Override PartName="/ppt/notesSlides/_rels/notesSlide34.xml.rels" ContentType="application/vnd.openxmlformats-package.relationships+xml"/>
  <Override PartName="/ppt/notesSlides/_rels/notesSlide32.xml.rels" ContentType="application/vnd.openxmlformats-package.relationships+xml"/>
  <Override PartName="/ppt/notesSlides/_rels/notesSlide18.xml.rels" ContentType="application/vnd.openxmlformats-package.relationships+xml"/>
  <Override PartName="/ppt/notesSlides/_rels/notesSlide55.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51.xml.rels" ContentType="application/vnd.openxmlformats-package.relationships+xml"/>
  <Override PartName="/ppt/notesSlides/_rels/notesSlide17.xml.rels" ContentType="application/vnd.openxmlformats-package.relationships+xml"/>
  <Override PartName="/ppt/notesSlides/_rels/notesSlide39.xml.rels" ContentType="application/vnd.openxmlformats-package.relationships+xml"/>
  <Override PartName="/ppt/notesSlides/_rels/notesSlide41.xml.rels" ContentType="application/vnd.openxmlformats-package.relationships+xml"/>
  <Override PartName="/ppt/notesSlides/_rels/notesSlide19.xml.rels" ContentType="application/vnd.openxmlformats-package.relationships+xml"/>
  <Override PartName="/ppt/notesSlides/_rels/notesSlide21.xml.rels" ContentType="application/vnd.openxmlformats-package.relationships+xml"/>
  <Override PartName="/ppt/notesSlides/_rels/notesSlide42.xml.rels" ContentType="application/vnd.openxmlformats-package.relationships+xml"/>
  <Override PartName="/ppt/notesSlides/_rels/notesSlide43.xml.rels" ContentType="application/vnd.openxmlformats-package.relationships+xml"/>
  <Override PartName="/ppt/notesSlides/_rels/notesSlide44.xml.rels" ContentType="application/vnd.openxmlformats-package.relationships+xml"/>
  <Override PartName="/ppt/notesSlides/_rels/notesSlide45.xml.rels" ContentType="application/vnd.openxmlformats-package.relationships+xml"/>
  <Override PartName="/ppt/notesSlides/_rels/notesSlide23.xml.rels" ContentType="application/vnd.openxmlformats-package.relationships+xml"/>
  <Override PartName="/ppt/notesSlides/_rels/notesSlide47.xml.rels" ContentType="application/vnd.openxmlformats-package.relationships+xml"/>
  <Override PartName="/ppt/notesSlides/_rels/notesSlide49.xml.rels" ContentType="application/vnd.openxmlformats-package.relationships+xml"/>
  <Override PartName="/ppt/notesSlides/_rels/notesSlide12.xml.rels" ContentType="application/vnd.openxmlformats-package.relationships+xml"/>
  <Override PartName="/ppt/notesSlides/_rels/notesSlide48.xml.rels" ContentType="application/vnd.openxmlformats-package.relationships+xml"/>
  <Override PartName="/ppt/notesSlides/_rels/notesSlide50.xml.rels" ContentType="application/vnd.openxmlformats-package.relationships+xml"/>
  <Override PartName="/ppt/notesSlides/_rels/notesSlide13.xml.rels" ContentType="application/vnd.openxmlformats-package.relationships+xml"/>
  <Override PartName="/ppt/notesSlides/_rels/notesSlide15.xml.rels" ContentType="application/vnd.openxmlformats-package.relationships+xml"/>
  <Override PartName="/ppt/notesSlides/_rels/notesSlide27.xml.rels" ContentType="application/vnd.openxmlformats-package.relationships+xml"/>
  <Override PartName="/ppt/notesSlides/_rels/notesSlide24.xml.rels" ContentType="application/vnd.openxmlformats-package.relationships+xml"/>
  <Override PartName="/ppt/notesSlides/_rels/notesSlide22.xml.rels" ContentType="application/vnd.openxmlformats-package.relationships+xml"/>
  <Override PartName="/ppt/notesSlides/_rels/notesSlide33.xml.rels" ContentType="application/vnd.openxmlformats-package.relationships+xml"/>
  <Override PartName="/ppt/notesSlides/_rels/notesSlide28.xml.rels" ContentType="application/vnd.openxmlformats-package.relationships+xml"/>
  <Override PartName="/ppt/notesSlides/_rels/notesSlide29.xml.rels" ContentType="application/vnd.openxmlformats-package.relationships+xml"/>
  <Override PartName="/ppt/notesSlides/_rels/notesSlide31.xml.rels" ContentType="application/vnd.openxmlformats-package.relationships+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41.xml" ContentType="application/vnd.openxmlformats-officedocument.presentationml.notesSlide+xml"/>
  <Override PartName="/ppt/notesSlides/notesSlide39.xml" ContentType="application/vnd.openxmlformats-officedocument.presentationml.notesSlide+xml"/>
  <Override PartName="/ppt/notesSlides/notesSlide14.xml" ContentType="application/vnd.openxmlformats-officedocument.presentationml.notesSlide+xml"/>
  <Override PartName="/ppt/notesSlides/notesSlide51.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55.xml" ContentType="application/vnd.openxmlformats-officedocument.presentationml.notesSlide+xml"/>
  <Override PartName="/ppt/notesSlides/notesSlide19.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47.xml" ContentType="application/vnd.openxmlformats-officedocument.presentationml.notesSlide+xml"/>
  <Override PartName="/ppt/notesSlides/notesSlide49.xml" ContentType="application/vnd.openxmlformats-officedocument.presentationml.notesSlide+xml"/>
  <Override PartName="/ppt/notesSlides/notesSlide12.xml" ContentType="application/vnd.openxmlformats-officedocument.presentationml.notesSlide+xml"/>
  <Override PartName="/ppt/notesSlides/notesSlide48.xml" ContentType="application/vnd.openxmlformats-officedocument.presentationml.notesSlide+xml"/>
  <Override PartName="/ppt/notesSlides/notesSlide50.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27.xml" ContentType="application/vnd.openxmlformats-officedocument.presentationml.notesSlide+xml"/>
  <Override PartName="/ppt/notesSlides/notesSlide24.xml" ContentType="application/vnd.openxmlformats-officedocument.presentationml.notesSlide+xml"/>
  <Override PartName="/ppt/notesSlides/notesSlide22.xml" ContentType="application/vnd.openxmlformats-officedocument.presentationml.notesSlide+xml"/>
  <Override PartName="/ppt/notesSlides/notesSlide5.xml" ContentType="application/vnd.openxmlformats-officedocument.presentationml.notesSlide+xml"/>
  <Override PartName="/ppt/notesSlides/notesSlide33.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8.xml" ContentType="application/vnd.openxmlformats-officedocument.presentationml.notesSlide+xml"/>
  <Override PartName="/ppt/notesSlides/notesSlide40.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00" spc="-1" strike="noStrike">
                <a:solidFill>
                  <a:schemeClr val="dk1"/>
                </a:solidFill>
                <a:latin typeface="Calibri"/>
              </a:rPr>
              <a:t>Click to move the slide</a:t>
            </a:r>
            <a:endParaRPr b="0" lang="en-US" sz="1800" spc="-1" strike="noStrike">
              <a:solidFill>
                <a:schemeClr val="dk1"/>
              </a:solidFill>
              <a:latin typeface="Calibri"/>
            </a:endParaRPr>
          </a:p>
        </p:txBody>
      </p:sp>
      <p:sp>
        <p:nvSpPr>
          <p:cNvPr id="6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68"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69" name="PlaceHolder 4"/>
          <p:cNvSpPr>
            <a:spLocks noGrp="1"/>
          </p:cNvSpPr>
          <p:nvPr>
            <p:ph type="dt" idx="34"/>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0" name="PlaceHolder 5"/>
          <p:cNvSpPr>
            <a:spLocks noGrp="1"/>
          </p:cNvSpPr>
          <p:nvPr>
            <p:ph type="ftr" idx="35"/>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1" name="PlaceHolder 6"/>
          <p:cNvSpPr>
            <a:spLocks noGrp="1"/>
          </p:cNvSpPr>
          <p:nvPr>
            <p:ph type="sldNum" idx="36"/>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D12E8744-BA38-4B98-AF0F-B21F54386E52}"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PlaceHolder 1"/>
          <p:cNvSpPr>
            <a:spLocks noGrp="1"/>
          </p:cNvSpPr>
          <p:nvPr>
            <p:ph type="sldImg"/>
          </p:nvPr>
        </p:nvSpPr>
        <p:spPr>
          <a:xfrm>
            <a:off x="685800" y="1143000"/>
            <a:ext cx="5486040" cy="3085920"/>
          </a:xfrm>
          <a:prstGeom prst="rect">
            <a:avLst/>
          </a:prstGeom>
          <a:ln w="0">
            <a:noFill/>
          </a:ln>
        </p:spPr>
      </p:sp>
      <p:sp>
        <p:nvSpPr>
          <p:cNvPr id="19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Set expectations early: a model with 0.95 AUC that is useless in the clinic is a failed project in this course.</a:t>
            </a:r>
            <a:endParaRPr b="0" lang="en-US" sz="2000" spc="-1" strike="noStrike">
              <a:solidFill>
                <a:srgbClr val="000000"/>
              </a:solidFill>
              <a:latin typeface="Arial"/>
            </a:endParaRPr>
          </a:p>
        </p:txBody>
      </p:sp>
      <p:sp>
        <p:nvSpPr>
          <p:cNvPr id="196" name="PlaceHolder 3"/>
          <p:cNvSpPr>
            <a:spLocks noGrp="1"/>
          </p:cNvSpPr>
          <p:nvPr>
            <p:ph type="sldNum" idx="38"/>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287F003E-5CED-4120-B753-E25E3EF6F495}"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 name="PlaceHolder 1"/>
          <p:cNvSpPr>
            <a:spLocks noGrp="1"/>
          </p:cNvSpPr>
          <p:nvPr>
            <p:ph type="sldImg"/>
          </p:nvPr>
        </p:nvSpPr>
        <p:spPr>
          <a:xfrm>
            <a:off x="685800" y="1143000"/>
            <a:ext cx="5486040" cy="3085920"/>
          </a:xfrm>
          <a:prstGeom prst="rect">
            <a:avLst/>
          </a:prstGeom>
          <a:ln w="0">
            <a:noFill/>
          </a:ln>
        </p:spPr>
      </p:sp>
      <p:sp>
        <p:nvSpPr>
          <p:cNvPr id="19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Ask: if two experts only agree 70% of the time, what does 95% accuracy mean?</a:t>
            </a:r>
            <a:endParaRPr b="0" lang="en-US" sz="2000" spc="-1" strike="noStrike">
              <a:solidFill>
                <a:srgbClr val="000000"/>
              </a:solidFill>
              <a:latin typeface="Arial"/>
            </a:endParaRPr>
          </a:p>
        </p:txBody>
      </p:sp>
      <p:sp>
        <p:nvSpPr>
          <p:cNvPr id="199" name="PlaceHolder 3"/>
          <p:cNvSpPr>
            <a:spLocks noGrp="1"/>
          </p:cNvSpPr>
          <p:nvPr>
            <p:ph type="sldNum" idx="39"/>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45FCEE81-0FFF-4DF3-ABFA-A0F0DE02A6BF}"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PlaceHolder 1"/>
          <p:cNvSpPr>
            <a:spLocks noGrp="1"/>
          </p:cNvSpPr>
          <p:nvPr>
            <p:ph type="sldImg"/>
          </p:nvPr>
        </p:nvSpPr>
        <p:spPr>
          <a:xfrm>
            <a:off x="685800" y="1143000"/>
            <a:ext cx="5486040" cy="3085920"/>
          </a:xfrm>
          <a:prstGeom prst="rect">
            <a:avLst/>
          </a:prstGeom>
          <a:ln w="0">
            <a:noFill/>
          </a:ln>
        </p:spPr>
      </p:sp>
      <p:sp>
        <p:nvSpPr>
          <p:cNvPr id="20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Hands up before you click on. The annotator over-calls: 35% of the true negatives came back as findings. Ask for a show of hands - does the fitted line move left, move right, or stay put? Take a vote, then reveal. Most rooms say “stay put” because they are thinking of symmetric noise averaging out.</a:t>
            </a:r>
            <a:endParaRPr b="0" lang="en-US" sz="2000" spc="-1" strike="noStrike">
              <a:solidFill>
                <a:srgbClr val="000000"/>
              </a:solidFill>
              <a:latin typeface="Arial"/>
            </a:endParaRPr>
          </a:p>
        </p:txBody>
      </p:sp>
      <p:sp>
        <p:nvSpPr>
          <p:cNvPr id="202" name="PlaceHolder 3"/>
          <p:cNvSpPr>
            <a:spLocks noGrp="1"/>
          </p:cNvSpPr>
          <p:nvPr>
            <p:ph type="sldNum" idx="40"/>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3C4323BB-B709-4777-9D27-220F734837D5}"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 name="PlaceHolder 1"/>
          <p:cNvSpPr>
            <a:spLocks noGrp="1"/>
          </p:cNvSpPr>
          <p:nvPr>
            <p:ph type="sldImg"/>
          </p:nvPr>
        </p:nvSpPr>
        <p:spPr>
          <a:xfrm>
            <a:off x="685800" y="1143000"/>
            <a:ext cx="5486040" cy="3085920"/>
          </a:xfrm>
          <a:prstGeom prst="rect">
            <a:avLst/>
          </a:prstGeom>
          <a:ln w="0">
            <a:noFill/>
          </a:ln>
        </p:spPr>
      </p:sp>
      <p:sp>
        <p:nvSpPr>
          <p:cNvPr id="20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Left: the labels you wish you had. Right: the same 600 points, but the annotator is cautious and calls 35% of the negatives positive. The grey line is the truth, the amber line is what least squares gives you. Ask the room: which way did it move, and why is that worse than random flipping?</a:t>
            </a:r>
            <a:endParaRPr b="0" lang="en-US" sz="2000" spc="-1" strike="noStrike">
              <a:solidFill>
                <a:srgbClr val="000000"/>
              </a:solidFill>
              <a:latin typeface="Arial"/>
            </a:endParaRPr>
          </a:p>
        </p:txBody>
      </p:sp>
      <p:sp>
        <p:nvSpPr>
          <p:cNvPr id="205" name="PlaceHolder 3"/>
          <p:cNvSpPr>
            <a:spLocks noGrp="1"/>
          </p:cNvSpPr>
          <p:nvPr>
            <p:ph type="sldNum" idx="41"/>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86348E1D-3E2C-42BC-BE14-B0A20CA2C919}"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PlaceHolder 1"/>
          <p:cNvSpPr>
            <a:spLocks noGrp="1"/>
          </p:cNvSpPr>
          <p:nvPr>
            <p:ph type="sldImg"/>
          </p:nvPr>
        </p:nvSpPr>
        <p:spPr>
          <a:xfrm>
            <a:off x="685800" y="1143000"/>
            <a:ext cx="5486040" cy="3085920"/>
          </a:xfrm>
          <a:prstGeom prst="rect">
            <a:avLst/>
          </a:prstGeom>
          <a:ln w="0">
            <a:noFill/>
          </a:ln>
        </p:spPr>
      </p:sp>
      <p:sp>
        <p:nvSpPr>
          <p:cNvPr id="20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Product-review sentiment, labelled twice by crowdworkers. Same mechanism, no radiologist in sight. Ask the room what accuracy they would put in a paper if worker B is the test set: the honest answer is that 83% is the ceiling, and a model reported at 90% is measuring the annotator, not the language. Show of hands before you reveal: does a bigger model fix this? It does not - the only fix is more annotators per item, or a better annotation guideline.</a:t>
            </a:r>
            <a:endParaRPr b="0" lang="en-US" sz="2000" spc="-1" strike="noStrike">
              <a:solidFill>
                <a:srgbClr val="000000"/>
              </a:solidFill>
              <a:latin typeface="Arial"/>
            </a:endParaRPr>
          </a:p>
        </p:txBody>
      </p:sp>
      <p:sp>
        <p:nvSpPr>
          <p:cNvPr id="208" name="PlaceHolder 3"/>
          <p:cNvSpPr>
            <a:spLocks noGrp="1"/>
          </p:cNvSpPr>
          <p:nvPr>
            <p:ph type="sldNum" idx="42"/>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E1F955CD-62E6-4C71-97D7-DBE5F92C4193}"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 name="PlaceHolder 1"/>
          <p:cNvSpPr>
            <a:spLocks noGrp="1"/>
          </p:cNvSpPr>
          <p:nvPr>
            <p:ph type="sldImg"/>
          </p:nvPr>
        </p:nvSpPr>
        <p:spPr>
          <a:xfrm>
            <a:off x="685800" y="1143000"/>
            <a:ext cx="5486040" cy="3085920"/>
          </a:xfrm>
          <a:prstGeom prst="rect">
            <a:avLst/>
          </a:prstGeom>
          <a:ln w="0">
            <a:noFill/>
          </a:ln>
        </p:spPr>
      </p:sp>
      <p:sp>
        <p:nvSpPr>
          <p:cNvPr id="21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Run these three before anything else. </a:t>
            </a:r>
            <a:r>
              <a:rPr b="0" lang="en-US" sz="2000" spc="-1" strike="noStrike">
                <a:solidFill>
                  <a:srgbClr val="000000"/>
                </a:solidFill>
                <a:latin typeface="Courier New"/>
              </a:rPr>
              <a:t>min/max catch impossible values, a histogram catches mixed units far faster than reading a data dictionary, and grouping by unit catches the column that was silently concatenated from two sites.</a:t>
            </a:r>
            <a:endParaRPr b="0" lang="en-US" sz="2000" spc="-1" strike="noStrike">
              <a:solidFill>
                <a:srgbClr val="000000"/>
              </a:solidFill>
              <a:latin typeface="Arial"/>
            </a:endParaRPr>
          </a:p>
        </p:txBody>
      </p:sp>
      <p:sp>
        <p:nvSpPr>
          <p:cNvPr id="211" name="PlaceHolder 3"/>
          <p:cNvSpPr>
            <a:spLocks noGrp="1"/>
          </p:cNvSpPr>
          <p:nvPr>
            <p:ph type="sldNum" idx="43"/>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6EB33750-C509-48F4-9395-3BCA3667C96F}"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PlaceHolder 1"/>
          <p:cNvSpPr>
            <a:spLocks noGrp="1"/>
          </p:cNvSpPr>
          <p:nvPr>
            <p:ph type="sldImg"/>
          </p:nvPr>
        </p:nvSpPr>
        <p:spPr>
          <a:xfrm>
            <a:off x="685800" y="1143000"/>
            <a:ext cx="5486040" cy="3085920"/>
          </a:xfrm>
          <a:prstGeom prst="rect">
            <a:avLst/>
          </a:prstGeom>
          <a:ln w="0">
            <a:noFill/>
          </a:ln>
        </p:spPr>
      </p:sp>
      <p:sp>
        <p:nvSpPr>
          <p:cNvPr id="21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A delivery fleet’s telemetry, checked with the same three lines. Left: “no GPS fix” was written to the database as the number (0, 0) - a sentinel, not a null, and it is off the coast of Africa. Exactly the same bug as a heart rate of 0. Right: one supplier never converted mph to km/h, so a single column holds two units and the histogram has two humps. The expensive version of this is the Mars Climate Orbiter, lost in 1999 because one team worked in pound-force seconds and the other in newton-seconds.</a:t>
            </a:r>
            <a:endParaRPr b="0" lang="en-US" sz="2000" spc="-1" strike="noStrike">
              <a:solidFill>
                <a:srgbClr val="000000"/>
              </a:solidFill>
              <a:latin typeface="Arial"/>
            </a:endParaRPr>
          </a:p>
        </p:txBody>
      </p:sp>
      <p:sp>
        <p:nvSpPr>
          <p:cNvPr id="214" name="PlaceHolder 3"/>
          <p:cNvSpPr>
            <a:spLocks noGrp="1"/>
          </p:cNvSpPr>
          <p:nvPr>
            <p:ph type="sldNum" idx="44"/>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07EF6318-ED01-43D8-81AD-1DF292C170E7}"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sldImg"/>
          </p:nvPr>
        </p:nvSpPr>
        <p:spPr>
          <a:xfrm>
            <a:off x="685800" y="1143000"/>
            <a:ext cx="5486040" cy="3085920"/>
          </a:xfrm>
          <a:prstGeom prst="rect">
            <a:avLst/>
          </a:prstGeom>
          <a:ln w="0">
            <a:noFill/>
          </a:ln>
        </p:spPr>
      </p:sp>
      <p:sp>
        <p:nvSpPr>
          <p:cNvPr id="21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The same fleet, split by supplier. Both are driving the same roads at the same speeds - but supplier B’s firmware reports mph and nobody converted it, so the column holds 24 where it should hold 38. Walk the panels left to right and ask after each of the first two whether anything is wrong. Nothing is: each supplier’s distribution is a clean bell curve with a plausible mean, and every per-source sanity check passes. The bug exists only in the concatenation, which is the one view nobody plots. The expensive version is the Mars Climate Orbiter, lost in 1999 because one team worked in pound-force seconds and the other in newton-seconds.</a:t>
            </a:r>
            <a:endParaRPr b="0" lang="en-US" sz="2000" spc="-1" strike="noStrike">
              <a:solidFill>
                <a:srgbClr val="000000"/>
              </a:solidFill>
              <a:latin typeface="Arial"/>
            </a:endParaRPr>
          </a:p>
        </p:txBody>
      </p:sp>
      <p:sp>
        <p:nvSpPr>
          <p:cNvPr id="217" name="PlaceHolder 3"/>
          <p:cNvSpPr>
            <a:spLocks noGrp="1"/>
          </p:cNvSpPr>
          <p:nvPr>
            <p:ph type="sldNum" idx="45"/>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A4533BE0-20A8-4A46-8AC0-7659A35DF5F3}"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PlaceHolder 1"/>
          <p:cNvSpPr>
            <a:spLocks noGrp="1"/>
          </p:cNvSpPr>
          <p:nvPr>
            <p:ph type="sldImg"/>
          </p:nvPr>
        </p:nvSpPr>
        <p:spPr>
          <a:xfrm>
            <a:off x="685800" y="1143000"/>
            <a:ext cx="5486040" cy="3085920"/>
          </a:xfrm>
          <a:prstGeom prst="rect">
            <a:avLst/>
          </a:prstGeom>
          <a:ln w="0">
            <a:noFill/>
          </a:ln>
        </p:spPr>
      </p:sp>
      <p:sp>
        <p:nvSpPr>
          <p:cNvPr id="21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We return to this in depth in Week 2 — imputation strategies and multiple imputation.</a:t>
            </a:r>
            <a:endParaRPr b="0" lang="en-US" sz="2000" spc="-1" strike="noStrike">
              <a:solidFill>
                <a:srgbClr val="000000"/>
              </a:solidFill>
              <a:latin typeface="Arial"/>
            </a:endParaRPr>
          </a:p>
        </p:txBody>
      </p:sp>
      <p:sp>
        <p:nvSpPr>
          <p:cNvPr id="220" name="PlaceHolder 3"/>
          <p:cNvSpPr>
            <a:spLocks noGrp="1"/>
          </p:cNvSpPr>
          <p:nvPr>
            <p:ph type="sldNum" idx="46"/>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B42EED70-2C07-4092-ACEF-F69A99806F0B}"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 name="PlaceHolder 1"/>
          <p:cNvSpPr>
            <a:spLocks noGrp="1"/>
          </p:cNvSpPr>
          <p:nvPr>
            <p:ph type="sldImg"/>
          </p:nvPr>
        </p:nvSpPr>
        <p:spPr>
          <a:xfrm>
            <a:off x="685800" y="1143000"/>
            <a:ext cx="5486040" cy="3085920"/>
          </a:xfrm>
          <a:prstGeom prst="rect">
            <a:avLst/>
          </a:prstGeom>
          <a:ln w="0">
            <a:noFill/>
          </a:ln>
        </p:spPr>
      </p:sp>
      <p:sp>
        <p:nvSpPr>
          <p:cNvPr id="22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Show the matrix, let them read it for fifteen seconds, then take the vote: who died more often, the patients whose lactate was drawn or the ones where it never was? Hands for each. The room usually splits, which is the point - nobody has looked at a single lactate value yet.</a:t>
            </a:r>
            <a:endParaRPr b="0" lang="en-US" sz="2000" spc="-1" strike="noStrike">
              <a:solidFill>
                <a:srgbClr val="000000"/>
              </a:solidFill>
              <a:latin typeface="Arial"/>
            </a:endParaRPr>
          </a:p>
        </p:txBody>
      </p:sp>
      <p:sp>
        <p:nvSpPr>
          <p:cNvPr id="223" name="PlaceHolder 3"/>
          <p:cNvSpPr>
            <a:spLocks noGrp="1"/>
          </p:cNvSpPr>
          <p:nvPr>
            <p:ph type="sldNum" idx="47"/>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1FABFC0C-EB7E-48B8-9238-84AE7F6292FA}"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PlaceHolder 1"/>
          <p:cNvSpPr>
            <a:spLocks noGrp="1"/>
          </p:cNvSpPr>
          <p:nvPr>
            <p:ph type="sldImg"/>
          </p:nvPr>
        </p:nvSpPr>
        <p:spPr>
          <a:xfrm>
            <a:off x="685800" y="1143000"/>
            <a:ext cx="5486040" cy="3085920"/>
          </a:xfrm>
          <a:prstGeom prst="rect">
            <a:avLst/>
          </a:prstGeom>
          <a:ln w="0">
            <a:noFill/>
          </a:ln>
        </p:spPr>
      </p:sp>
      <p:sp>
        <p:nvSpPr>
          <p:cNvPr id="22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Left, patients sorted by how unwell they are: routine observations are almost always there, the specialised ones only for the sick. Right: the patients who had a lactate drawn died five times more often — and that is before anyone looked at the number. Impute it away and you delete the strongest signal in the table.</a:t>
            </a:r>
            <a:endParaRPr b="0" lang="en-US" sz="2000" spc="-1" strike="noStrike">
              <a:solidFill>
                <a:srgbClr val="000000"/>
              </a:solidFill>
              <a:latin typeface="Arial"/>
            </a:endParaRPr>
          </a:p>
        </p:txBody>
      </p:sp>
      <p:sp>
        <p:nvSpPr>
          <p:cNvPr id="226" name="PlaceHolder 3"/>
          <p:cNvSpPr>
            <a:spLocks noGrp="1"/>
          </p:cNvSpPr>
          <p:nvPr>
            <p:ph type="sldNum" idx="48"/>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EE9E8849-D48A-4CC9-BC37-227C7E71F615}"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 name="PlaceHolder 1"/>
          <p:cNvSpPr>
            <a:spLocks noGrp="1"/>
          </p:cNvSpPr>
          <p:nvPr>
            <p:ph type="sldImg"/>
          </p:nvPr>
        </p:nvSpPr>
        <p:spPr>
          <a:xfrm>
            <a:off x="685800" y="1143000"/>
            <a:ext cx="5486040" cy="3085920"/>
          </a:xfrm>
          <a:prstGeom prst="rect">
            <a:avLst/>
          </a:prstGeom>
          <a:ln w="0">
            <a:noFill/>
          </a:ln>
        </p:spPr>
      </p:sp>
      <p:sp>
        <p:nvSpPr>
          <p:cNvPr id="22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Make them commit to a number before you say anything - written down, not shouted out, otherwise the first loud answer anchors the room. Rooms routinely guess far too low for ICU mortality and far too high for the rare disease. Ask why the guess is high: because the cases you hear about are the ones that went wrong, which is the same selection effect that shapes the data.</a:t>
            </a:r>
            <a:endParaRPr b="0" lang="en-US" sz="2000" spc="-1" strike="noStrike">
              <a:solidFill>
                <a:srgbClr val="000000"/>
              </a:solidFill>
              <a:latin typeface="Arial"/>
            </a:endParaRPr>
          </a:p>
        </p:txBody>
      </p:sp>
      <p:sp>
        <p:nvSpPr>
          <p:cNvPr id="229" name="PlaceHolder 3"/>
          <p:cNvSpPr>
            <a:spLocks noGrp="1"/>
          </p:cNvSpPr>
          <p:nvPr>
            <p:ph type="sldNum" idx="49"/>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120D5203-B073-444E-9419-1D56185624BC}"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sldImg"/>
          </p:nvPr>
        </p:nvSpPr>
        <p:spPr>
          <a:xfrm>
            <a:off x="685800" y="1143000"/>
            <a:ext cx="5486040" cy="3085920"/>
          </a:xfrm>
          <a:prstGeom prst="rect">
            <a:avLst/>
          </a:prstGeom>
          <a:ln w="0">
            <a:noFill/>
          </a:ln>
        </p:spPr>
      </p:sp>
      <p:sp>
        <p:nvSpPr>
          <p:cNvPr id="23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a:t>
            </a:r>
            <a:r>
              <a:rPr b="0" lang="en-US" sz="2000" spc="-1" strike="noStrike">
                <a:solidFill>
                  <a:srgbClr val="000000"/>
                </a:solidFill>
                <a:latin typeface="Arial"/>
              </a:rPr>
              <a:t>Hands up if you would ship it.” Wait for the hands, then ask one person who put their hand up to say why, and one who did not. Then reveal. Do not rush this one - the discomfort is the lesson.</a:t>
            </a:r>
            <a:endParaRPr b="0" lang="en-US" sz="2000" spc="-1" strike="noStrike">
              <a:solidFill>
                <a:srgbClr val="000000"/>
              </a:solidFill>
              <a:latin typeface="Arial"/>
            </a:endParaRPr>
          </a:p>
        </p:txBody>
      </p:sp>
      <p:sp>
        <p:nvSpPr>
          <p:cNvPr id="232" name="PlaceHolder 3"/>
          <p:cNvSpPr>
            <a:spLocks noGrp="1"/>
          </p:cNvSpPr>
          <p:nvPr>
            <p:ph type="sldNum" idx="50"/>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1231054E-F487-4F94-B7F5-64950567219C}"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sldImg"/>
          </p:nvPr>
        </p:nvSpPr>
        <p:spPr>
          <a:xfrm>
            <a:off x="685800" y="1143000"/>
            <a:ext cx="5486040" cy="3085920"/>
          </a:xfrm>
          <a:prstGeom prst="rect">
            <a:avLst/>
          </a:prstGeom>
          <a:ln w="0">
            <a:noFill/>
          </a:ln>
        </p:spPr>
      </p:sp>
      <p:sp>
        <p:nvSpPr>
          <p:cNvPr id="23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This model has no parameters — it is </a:t>
            </a:r>
            <a:r>
              <a:rPr b="0" lang="en-US" sz="2000" spc="-1" strike="noStrike">
                <a:solidFill>
                  <a:srgbClr val="000000"/>
                </a:solidFill>
                <a:latin typeface="Courier New"/>
              </a:rPr>
              <a:t>return 0. It beats most first attempts on accuracy and it would kill everyone it was meant to save. Every metric we use from Week 3 onwards exists to make this model score zero.</a:t>
            </a:r>
            <a:endParaRPr b="0" lang="en-US" sz="2000" spc="-1" strike="noStrike">
              <a:solidFill>
                <a:srgbClr val="000000"/>
              </a:solidFill>
              <a:latin typeface="Arial"/>
            </a:endParaRPr>
          </a:p>
        </p:txBody>
      </p:sp>
      <p:sp>
        <p:nvSpPr>
          <p:cNvPr id="235" name="PlaceHolder 3"/>
          <p:cNvSpPr>
            <a:spLocks noGrp="1"/>
          </p:cNvSpPr>
          <p:nvPr>
            <p:ph type="sldNum" idx="51"/>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5DC8D051-7D74-410E-B2D2-02EE16324CAF}"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sldImg"/>
          </p:nvPr>
        </p:nvSpPr>
        <p:spPr>
          <a:xfrm>
            <a:off x="685800" y="1143000"/>
            <a:ext cx="5486040" cy="3085920"/>
          </a:xfrm>
          <a:prstGeom prst="rect">
            <a:avLst/>
          </a:prstGeom>
          <a:ln w="0">
            <a:noFill/>
          </a:ln>
        </p:spPr>
      </p:sp>
      <p:sp>
        <p:nvSpPr>
          <p:cNvPr id="23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Card fraud: 492 in 284 807 transactions. Real figures, from the ULB/Worldline dataset that half of them will meet on Kaggle. </a:t>
            </a:r>
            <a:r>
              <a:rPr b="0" lang="en-US" sz="2000" spc="-1" strike="noStrike">
                <a:solidFill>
                  <a:srgbClr val="000000"/>
                </a:solidFill>
                <a:latin typeface="Courier New"/>
              </a:rPr>
              <a:t>return 0 scores 99.83% and catches nothing. Ask what the bank actually cares about, and you get the answer that accuracy was never the objective: they care about euros recovered per false alarm, because every false alarm blocks a real customer’s card in a supermarket queue.</a:t>
            </a:r>
            <a:endParaRPr b="0" lang="en-US" sz="2000" spc="-1" strike="noStrike">
              <a:solidFill>
                <a:srgbClr val="000000"/>
              </a:solidFill>
              <a:latin typeface="Arial"/>
            </a:endParaRPr>
          </a:p>
        </p:txBody>
      </p:sp>
      <p:sp>
        <p:nvSpPr>
          <p:cNvPr id="238" name="PlaceHolder 3"/>
          <p:cNvSpPr>
            <a:spLocks noGrp="1"/>
          </p:cNvSpPr>
          <p:nvPr>
            <p:ph type="sldNum" idx="52"/>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36E47825-3B50-46F0-9E0C-BF1F0247C57A}"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 name="PlaceHolder 1"/>
          <p:cNvSpPr>
            <a:spLocks noGrp="1"/>
          </p:cNvSpPr>
          <p:nvPr>
            <p:ph type="sldImg"/>
          </p:nvPr>
        </p:nvSpPr>
        <p:spPr>
          <a:xfrm>
            <a:off x="685800" y="1143000"/>
            <a:ext cx="5486040" cy="3085920"/>
          </a:xfrm>
          <a:prstGeom prst="rect">
            <a:avLst/>
          </a:prstGeom>
          <a:ln w="0">
            <a:noFill/>
          </a:ln>
        </p:spPr>
      </p:sp>
      <p:sp>
        <p:nvSpPr>
          <p:cNvPr id="24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Nothing was retrained, no code changed. The deployment hospital simply admits older patients, and the case mix kept drifting. Without a monitoring dashboard you find out from a complaint, not from a metric. Week 14.</a:t>
            </a:r>
            <a:endParaRPr b="0" lang="en-US" sz="2000" spc="-1" strike="noStrike">
              <a:solidFill>
                <a:srgbClr val="000000"/>
              </a:solidFill>
              <a:latin typeface="Arial"/>
            </a:endParaRPr>
          </a:p>
        </p:txBody>
      </p:sp>
      <p:sp>
        <p:nvSpPr>
          <p:cNvPr id="241" name="PlaceHolder 3"/>
          <p:cNvSpPr>
            <a:spLocks noGrp="1"/>
          </p:cNvSpPr>
          <p:nvPr>
            <p:ph type="sldNum" idx="53"/>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6E3E30AF-A890-4049-9C73-C21D5A670D13}"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sldImg"/>
          </p:nvPr>
        </p:nvSpPr>
        <p:spPr>
          <a:xfrm>
            <a:off x="685800" y="1143000"/>
            <a:ext cx="5486040" cy="3085920"/>
          </a:xfrm>
          <a:prstGeom prst="rect">
            <a:avLst/>
          </a:prstGeom>
          <a:ln w="0">
            <a:noFill/>
          </a:ln>
        </p:spPr>
      </p:sp>
      <p:sp>
        <p:nvSpPr>
          <p:cNvPr id="24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Weekly demand forecasting, and a competitor opens in week 70. The hospital example on the previous slide was covariate shift - P(X) moved. This one is a concept change: the relationship between the calendar and demand is simply not the same after week 70, and no amount of retraining on pre-70 data helps. Forecast error goes from 2% to 60% in a single week, and nobody touched the code. Ask them how they would have found out. The honest answer, in most companies, is “someone in finance noticed the numbers were wrong”.</a:t>
            </a:r>
            <a:endParaRPr b="0" lang="en-US" sz="2000" spc="-1" strike="noStrike">
              <a:solidFill>
                <a:srgbClr val="000000"/>
              </a:solidFill>
              <a:latin typeface="Arial"/>
            </a:endParaRPr>
          </a:p>
        </p:txBody>
      </p:sp>
      <p:sp>
        <p:nvSpPr>
          <p:cNvPr id="244" name="PlaceHolder 3"/>
          <p:cNvSpPr>
            <a:spLocks noGrp="1"/>
          </p:cNvSpPr>
          <p:nvPr>
            <p:ph type="sldNum" idx="54"/>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EFA642A9-42CB-442E-807F-97BE24E60A2C}"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5" name="PlaceHolder 1"/>
          <p:cNvSpPr>
            <a:spLocks noGrp="1"/>
          </p:cNvSpPr>
          <p:nvPr>
            <p:ph type="sldImg"/>
          </p:nvPr>
        </p:nvSpPr>
        <p:spPr>
          <a:xfrm>
            <a:off x="685800" y="1143000"/>
            <a:ext cx="5486040" cy="3085920"/>
          </a:xfrm>
          <a:prstGeom prst="rect">
            <a:avLst/>
          </a:prstGeom>
          <a:ln w="0">
            <a:noFill/>
          </a:ln>
        </p:spPr>
      </p:sp>
      <p:sp>
        <p:nvSpPr>
          <p:cNvPr id="24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Zech et al. 2018 (cross-site CNN generalisation); Esteva/ISIC ruler artefact. These come back in Week 7.</a:t>
            </a:r>
            <a:endParaRPr b="0" lang="en-US" sz="2000" spc="-1" strike="noStrike">
              <a:solidFill>
                <a:srgbClr val="000000"/>
              </a:solidFill>
              <a:latin typeface="Arial"/>
            </a:endParaRPr>
          </a:p>
        </p:txBody>
      </p:sp>
      <p:sp>
        <p:nvSpPr>
          <p:cNvPr id="247" name="PlaceHolder 3"/>
          <p:cNvSpPr>
            <a:spLocks noGrp="1"/>
          </p:cNvSpPr>
          <p:nvPr>
            <p:ph type="sldNum" idx="55"/>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5A38FAA3-19BB-4C69-AC4F-84D83C687975}"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sldImg"/>
          </p:nvPr>
        </p:nvSpPr>
        <p:spPr>
          <a:xfrm>
            <a:off x="685800" y="1143000"/>
            <a:ext cx="5486040" cy="3085920"/>
          </a:xfrm>
          <a:prstGeom prst="rect">
            <a:avLst/>
          </a:prstGeom>
          <a:ln w="0">
            <a:noFill/>
          </a:ln>
        </p:spPr>
      </p:sp>
      <p:sp>
        <p:nvSpPr>
          <p:cNvPr id="24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Two training images and a perfect score. Give them thirty seconds in pairs, then take two or three guesses out loud before revealing the third panel. Someone usually spots the marker; if nobody does, that is the more interesting outcome.</a:t>
            </a:r>
            <a:endParaRPr b="0" lang="en-US" sz="2000" spc="-1" strike="noStrike">
              <a:solidFill>
                <a:srgbClr val="000000"/>
              </a:solidFill>
              <a:latin typeface="Arial"/>
            </a:endParaRPr>
          </a:p>
        </p:txBody>
      </p:sp>
      <p:sp>
        <p:nvSpPr>
          <p:cNvPr id="250" name="PlaceHolder 3"/>
          <p:cNvSpPr>
            <a:spLocks noGrp="1"/>
          </p:cNvSpPr>
          <p:nvPr>
            <p:ph type="sldNum" idx="56"/>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CD3BB719-C336-4260-BCE0-91654BEB7263}"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 name="PlaceHolder 1"/>
          <p:cNvSpPr>
            <a:spLocks noGrp="1"/>
          </p:cNvSpPr>
          <p:nvPr>
            <p:ph type="sldImg"/>
          </p:nvPr>
        </p:nvSpPr>
        <p:spPr>
          <a:xfrm>
            <a:off x="685800" y="1143000"/>
            <a:ext cx="5486040" cy="3085920"/>
          </a:xfrm>
          <a:prstGeom prst="rect">
            <a:avLst/>
          </a:prstGeom>
          <a:ln w="0">
            <a:noFill/>
          </a:ln>
        </p:spPr>
      </p:sp>
      <p:sp>
        <p:nvSpPr>
          <p:cNvPr id="25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Every “pneumonia” scan in this hospital was shot at the bedside, so the portable unit’s marker is in the corner of every positive. The model finds it in one epoch, scores perfectly, and collapses the moment you deploy it anywhere else. The marker here is drawn on — the phenomenon is Zech et al. 2018.</a:t>
            </a:r>
            <a:endParaRPr b="0" lang="en-US" sz="2000" spc="-1" strike="noStrike">
              <a:solidFill>
                <a:srgbClr val="000000"/>
              </a:solidFill>
              <a:latin typeface="Arial"/>
            </a:endParaRPr>
          </a:p>
        </p:txBody>
      </p:sp>
      <p:sp>
        <p:nvSpPr>
          <p:cNvPr id="253" name="PlaceHolder 3"/>
          <p:cNvSpPr>
            <a:spLocks noGrp="1"/>
          </p:cNvSpPr>
          <p:nvPr>
            <p:ph type="sldNum" idx="57"/>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50706119-2D4D-45D4-B458-8AC98C691951}"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 name="PlaceHolder 1"/>
          <p:cNvSpPr>
            <a:spLocks noGrp="1"/>
          </p:cNvSpPr>
          <p:nvPr>
            <p:ph type="sldImg"/>
          </p:nvPr>
        </p:nvSpPr>
        <p:spPr>
          <a:xfrm>
            <a:off x="685800" y="1143000"/>
            <a:ext cx="5486040" cy="3085920"/>
          </a:xfrm>
          <a:prstGeom prst="rect">
            <a:avLst/>
          </a:prstGeom>
          <a:ln w="0">
            <a:noFill/>
          </a:ln>
        </p:spPr>
      </p:sp>
      <p:sp>
        <p:nvSpPr>
          <p:cNvPr id="25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Huskies and wolves — the classifier that learned snow. Ribeiro et al. 2016, the LIME paper. They trained a deliberately bad husky-vs-wolf classifier, and the explanation showed it was scoring the background: every wolf photo had snow in it. When they showed the predictions to graduate students, most trusted the model - until they saw where it was looking. The images here are drawn, not photographs; the experiment is real.</a:t>
            </a:r>
            <a:endParaRPr b="0" lang="en-US" sz="2000" spc="-1" strike="noStrike">
              <a:solidFill>
                <a:srgbClr val="000000"/>
              </a:solidFill>
              <a:latin typeface="Arial"/>
            </a:endParaRPr>
          </a:p>
        </p:txBody>
      </p:sp>
      <p:sp>
        <p:nvSpPr>
          <p:cNvPr id="256" name="PlaceHolder 3"/>
          <p:cNvSpPr>
            <a:spLocks noGrp="1"/>
          </p:cNvSpPr>
          <p:nvPr>
            <p:ph type="sldNum" idx="58"/>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01C175AE-E2E8-4D05-980B-A8D43EB4A61D}"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 name="PlaceHolder 1"/>
          <p:cNvSpPr>
            <a:spLocks noGrp="1"/>
          </p:cNvSpPr>
          <p:nvPr>
            <p:ph type="sldImg"/>
          </p:nvPr>
        </p:nvSpPr>
        <p:spPr>
          <a:xfrm>
            <a:off x="685800" y="1143000"/>
            <a:ext cx="5486040" cy="3085920"/>
          </a:xfrm>
          <a:prstGeom prst="rect">
            <a:avLst/>
          </a:prstGeom>
          <a:ln w="0">
            <a:noFill/>
          </a:ln>
        </p:spPr>
      </p:sp>
      <p:sp>
        <p:nvSpPr>
          <p:cNvPr id="25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Vote by fingers on each one before discussing. A leaks: the scaler saw the test set. B leaks: length of stay is only known at discharge, and death shortens it. C is the right idea - split on patients, not rows. D is the one worth arguing about: a time-ordered split is good practice against shift, but the same patient can still straddle the cut, so it leaks by group unless you also split by patient. Answer: A, B and D leak. Only C is safe.</a:t>
            </a:r>
            <a:endParaRPr b="0" lang="en-US" sz="2000" spc="-1" strike="noStrike">
              <a:solidFill>
                <a:srgbClr val="000000"/>
              </a:solidFill>
              <a:latin typeface="Arial"/>
            </a:endParaRPr>
          </a:p>
        </p:txBody>
      </p:sp>
      <p:sp>
        <p:nvSpPr>
          <p:cNvPr id="259" name="PlaceHolder 3"/>
          <p:cNvSpPr>
            <a:spLocks noGrp="1"/>
          </p:cNvSpPr>
          <p:nvPr>
            <p:ph type="sldNum" idx="59"/>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0FA31ED3-FE2B-4567-AF86-63829E5696F1}"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0" name="PlaceHolder 1"/>
          <p:cNvSpPr>
            <a:spLocks noGrp="1"/>
          </p:cNvSpPr>
          <p:nvPr>
            <p:ph type="sldImg"/>
          </p:nvPr>
        </p:nvSpPr>
        <p:spPr>
          <a:xfrm>
            <a:off x="685800" y="1143000"/>
            <a:ext cx="5486040" cy="3085920"/>
          </a:xfrm>
          <a:prstGeom prst="rect">
            <a:avLst/>
          </a:prstGeom>
          <a:ln w="0">
            <a:noFill/>
          </a:ln>
        </p:spPr>
      </p:sp>
      <p:sp>
        <p:nvSpPr>
          <p:cNvPr id="26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The optimism is small but real, and it grows fast as p grows or n shrinks. The same bug hides inside feature selection, PCA, and target encoding - anything fitted before the split. The durable fix is a </a:t>
            </a:r>
            <a:r>
              <a:rPr b="0" lang="en-US" sz="2000" spc="-1" strike="noStrike">
                <a:solidFill>
                  <a:srgbClr val="000000"/>
                </a:solidFill>
                <a:latin typeface="Courier New"/>
              </a:rPr>
              <a:t>Pipeline, so the preprocessing is refitted inside every CV fold rather than remembered from the whole dataset.</a:t>
            </a:r>
            <a:endParaRPr b="0" lang="en-US" sz="2000" spc="-1" strike="noStrike">
              <a:solidFill>
                <a:srgbClr val="000000"/>
              </a:solidFill>
              <a:latin typeface="Arial"/>
            </a:endParaRPr>
          </a:p>
        </p:txBody>
      </p:sp>
      <p:sp>
        <p:nvSpPr>
          <p:cNvPr id="262" name="PlaceHolder 3"/>
          <p:cNvSpPr>
            <a:spLocks noGrp="1"/>
          </p:cNvSpPr>
          <p:nvPr>
            <p:ph type="sldNum" idx="60"/>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924B6283-323C-45E5-8F82-03B84EA69A92}"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 name="PlaceHolder 1"/>
          <p:cNvSpPr>
            <a:spLocks noGrp="1"/>
          </p:cNvSpPr>
          <p:nvPr>
            <p:ph type="sldImg"/>
          </p:nvPr>
        </p:nvSpPr>
        <p:spPr>
          <a:xfrm>
            <a:off x="685800" y="1143000"/>
            <a:ext cx="5486040" cy="3085920"/>
          </a:xfrm>
          <a:prstGeom prst="rect">
            <a:avLst/>
          </a:prstGeom>
          <a:ln w="0">
            <a:noFill/>
          </a:ln>
        </p:spPr>
      </p:sp>
      <p:sp>
        <p:nvSpPr>
          <p:cNvPr id="26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This is target leakage, and it is the one that produces AUCs of 0.99. Ask the room what a deployed model would actually have at prediction time: a patient who is still in a bed has no discharge date. The general rule is to pick a decision time and refuse every value recorded after it.</a:t>
            </a:r>
            <a:endParaRPr b="0" lang="en-US" sz="2000" spc="-1" strike="noStrike">
              <a:solidFill>
                <a:srgbClr val="000000"/>
              </a:solidFill>
              <a:latin typeface="Arial"/>
            </a:endParaRPr>
          </a:p>
        </p:txBody>
      </p:sp>
      <p:sp>
        <p:nvSpPr>
          <p:cNvPr id="265" name="PlaceHolder 3"/>
          <p:cNvSpPr>
            <a:spLocks noGrp="1"/>
          </p:cNvSpPr>
          <p:nvPr>
            <p:ph type="sldNum" idx="61"/>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4B569C2A-1C99-4484-95AE-219F2A9A2CED}"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6" name="PlaceHolder 1"/>
          <p:cNvSpPr>
            <a:spLocks noGrp="1"/>
          </p:cNvSpPr>
          <p:nvPr>
            <p:ph type="sldImg"/>
          </p:nvPr>
        </p:nvSpPr>
        <p:spPr>
          <a:xfrm>
            <a:off x="685800" y="1143000"/>
            <a:ext cx="5486040" cy="3085920"/>
          </a:xfrm>
          <a:prstGeom prst="rect">
            <a:avLst/>
          </a:prstGeom>
          <a:ln w="0">
            <a:noFill/>
          </a:ln>
        </p:spPr>
      </p:sp>
      <p:sp>
        <p:nvSpPr>
          <p:cNvPr id="26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This is the right idea. The version worth writing is </a:t>
            </a:r>
            <a:r>
              <a:rPr b="0" lang="en-US" sz="2000" spc="-1" strike="noStrike">
                <a:solidFill>
                  <a:srgbClr val="000000"/>
                </a:solidFill>
                <a:latin typeface="Courier New"/>
              </a:rPr>
              <a:t>GroupShuffleSplit, which does the same thing without you handling ids by hand, and which composes with cross-validation. Note it is necessary but not sufficient - C is still vulnerable to the time problem in D if the model will be deployed forwards in time.</a:t>
            </a:r>
            <a:endParaRPr b="0" lang="en-US" sz="2000" spc="-1" strike="noStrike">
              <a:solidFill>
                <a:srgbClr val="000000"/>
              </a:solidFill>
              <a:latin typeface="Arial"/>
            </a:endParaRPr>
          </a:p>
        </p:txBody>
      </p:sp>
      <p:sp>
        <p:nvSpPr>
          <p:cNvPr id="268" name="PlaceHolder 3"/>
          <p:cNvSpPr>
            <a:spLocks noGrp="1"/>
          </p:cNvSpPr>
          <p:nvPr>
            <p:ph type="sldNum" idx="62"/>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E7D10AC8-C491-41E0-9107-445C6C6C31D9}"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 name="PlaceHolder 1"/>
          <p:cNvSpPr>
            <a:spLocks noGrp="1"/>
          </p:cNvSpPr>
          <p:nvPr>
            <p:ph type="sldImg"/>
          </p:nvPr>
        </p:nvSpPr>
        <p:spPr>
          <a:xfrm>
            <a:off x="685800" y="1143000"/>
            <a:ext cx="5486040" cy="3085920"/>
          </a:xfrm>
          <a:prstGeom prst="rect">
            <a:avLst/>
          </a:prstGeom>
          <a:ln w="0">
            <a:noFill/>
          </a:ln>
        </p:spPr>
      </p:sp>
      <p:sp>
        <p:nvSpPr>
          <p:cNvPr id="27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This is the one worth arguing about, and the honest answer is “both”. Splitting by time is what you want if the model will run forwards - it is the only split that measures shift. But a stay spanning the cut puts the same patient in both halves. You need both constraints, and the two fight each other: patients admitted before the cut and discharged after it have to be thrown away.</a:t>
            </a:r>
            <a:endParaRPr b="0" lang="en-US" sz="2000" spc="-1" strike="noStrike">
              <a:solidFill>
                <a:srgbClr val="000000"/>
              </a:solidFill>
              <a:latin typeface="Arial"/>
            </a:endParaRPr>
          </a:p>
        </p:txBody>
      </p:sp>
      <p:sp>
        <p:nvSpPr>
          <p:cNvPr id="271" name="PlaceHolder 3"/>
          <p:cNvSpPr>
            <a:spLocks noGrp="1"/>
          </p:cNvSpPr>
          <p:nvPr>
            <p:ph type="sldNum" idx="63"/>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4AE9EF67-6CF6-493C-939E-4C8C1A1ACA1B}"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sldImg"/>
          </p:nvPr>
        </p:nvSpPr>
        <p:spPr>
          <a:xfrm>
            <a:off x="685800" y="1143000"/>
            <a:ext cx="5486040" cy="3085920"/>
          </a:xfrm>
          <a:prstGeom prst="rect">
            <a:avLst/>
          </a:prstGeom>
          <a:ln w="0">
            <a:noFill/>
          </a:ln>
        </p:spPr>
      </p:sp>
      <p:sp>
        <p:nvSpPr>
          <p:cNvPr id="27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Give them three minutes in pairs, collect answers on the board under the four headings, then reveal the next slide. Answers, and none is a single cause: 1. Concept drift, plus a feedback loop - Google’s own autocomplete changed what people searched for, so the features moved under the model. 2. Shift and label noise: sepsis is defined by a billing code that varies by site, and the model was tuned somewhere else. Wong et al., JAMA Intern Med 2021. 3. Shortcuts, mostly - models learned the source hospital, scanner and laterality tokens rather than the disease. Roberts et al., Nat Mach Intell 2021; DeGrave et al. 2021. Collect answers on the board under the four headings before moving on.</a:t>
            </a:r>
            <a:endParaRPr b="0" lang="en-US" sz="2000" spc="-1" strike="noStrike">
              <a:solidFill>
                <a:srgbClr val="000000"/>
              </a:solidFill>
              <a:latin typeface="Arial"/>
            </a:endParaRPr>
          </a:p>
        </p:txBody>
      </p:sp>
      <p:sp>
        <p:nvSpPr>
          <p:cNvPr id="274" name="PlaceHolder 3"/>
          <p:cNvSpPr>
            <a:spLocks noGrp="1"/>
          </p:cNvSpPr>
          <p:nvPr>
            <p:ph type="sldNum" idx="64"/>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B5F68283-AD40-4083-A589-F2C4D467E7C2}"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 name="PlaceHolder 1"/>
          <p:cNvSpPr>
            <a:spLocks noGrp="1"/>
          </p:cNvSpPr>
          <p:nvPr>
            <p:ph type="sldImg"/>
          </p:nvPr>
        </p:nvSpPr>
        <p:spPr>
          <a:xfrm>
            <a:off x="685800" y="1143000"/>
            <a:ext cx="5486040" cy="3085920"/>
          </a:xfrm>
          <a:prstGeom prst="rect">
            <a:avLst/>
          </a:prstGeom>
          <a:ln w="0">
            <a:noFill/>
          </a:ln>
        </p:spPr>
      </p:sp>
      <p:sp>
        <p:nvSpPr>
          <p:cNvPr id="27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Insist that none of the three has a single cause - that is why the four headings are a checklist and not a taxonomy. Flu Trends: the search terms drifted, partly because Google’s own autocomplete changed what people typed, so the features moved under a model nobody retrained. Epic: sepsis is defined by a billing code applied differently at every site, so both P(X) and the meaning of Y moved. Wong et al., JAMA Intern Med 2021. COVID: models learned the source hospital, the scanner and laterality tokens. Many also pooled adult pneumonia with paediatric controls, so the classifier had only to detect a child. Roberts et al., Nat Mach Intell 2021; DeGrave et al. 2021.</a:t>
            </a:r>
            <a:endParaRPr b="0" lang="en-US" sz="2000" spc="-1" strike="noStrike">
              <a:solidFill>
                <a:srgbClr val="000000"/>
              </a:solidFill>
              <a:latin typeface="Arial"/>
            </a:endParaRPr>
          </a:p>
        </p:txBody>
      </p:sp>
      <p:sp>
        <p:nvSpPr>
          <p:cNvPr id="277" name="PlaceHolder 3"/>
          <p:cNvSpPr>
            <a:spLocks noGrp="1"/>
          </p:cNvSpPr>
          <p:nvPr>
            <p:ph type="sldNum" idx="65"/>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90088082-6339-41CF-A39A-4CF9E87B6C73}"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sldImg"/>
          </p:nvPr>
        </p:nvSpPr>
        <p:spPr>
          <a:xfrm>
            <a:off x="685800" y="1143000"/>
            <a:ext cx="5486040" cy="3085920"/>
          </a:xfrm>
          <a:prstGeom prst="rect">
            <a:avLst/>
          </a:prstGeom>
          <a:ln w="0">
            <a:noFill/>
          </a:ln>
        </p:spPr>
      </p:sp>
      <p:sp>
        <p:nvSpPr>
          <p:cNvPr id="27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Write the resume time on the board before you walk off. “Ten minutes” announced from the front of a lecture theatre reliably becomes fifteen, and this is the half-way point of a 2.5h session - section 2 still has to fit. This is also the moment the students who will not put a hand up in front of the room will come and ask you something, so stay near the front for the first few minutes.</a:t>
            </a:r>
            <a:endParaRPr b="0" lang="en-US" sz="2000" spc="-1" strike="noStrike">
              <a:solidFill>
                <a:srgbClr val="000000"/>
              </a:solidFill>
              <a:latin typeface="Arial"/>
            </a:endParaRPr>
          </a:p>
        </p:txBody>
      </p:sp>
      <p:sp>
        <p:nvSpPr>
          <p:cNvPr id="280" name="PlaceHolder 3"/>
          <p:cNvSpPr>
            <a:spLocks noGrp="1"/>
          </p:cNvSpPr>
          <p:nvPr>
            <p:ph type="sldNum" idx="66"/>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FFECE2BD-C9D6-42A8-832D-EF4899D30D21}"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1" name="PlaceHolder 1"/>
          <p:cNvSpPr>
            <a:spLocks noGrp="1"/>
          </p:cNvSpPr>
          <p:nvPr>
            <p:ph type="sldImg"/>
          </p:nvPr>
        </p:nvSpPr>
        <p:spPr>
          <a:xfrm>
            <a:off x="685800" y="1143000"/>
            <a:ext cx="5486040" cy="3085920"/>
          </a:xfrm>
          <a:prstGeom prst="rect">
            <a:avLst/>
          </a:prstGeom>
          <a:ln w="0">
            <a:noFill/>
          </a:ln>
        </p:spPr>
      </p:sp>
      <p:sp>
        <p:nvSpPr>
          <p:cNvPr id="28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The workhorse: gradient boosting still wins here more often than deep learning. The hard part is never the model, it is deciding what one row </a:t>
            </a:r>
            <a:r>
              <a:rPr b="0" i="1" lang="en-US" sz="2000" spc="-1" strike="noStrike">
                <a:solidFill>
                  <a:srgbClr val="000000"/>
                </a:solidFill>
                <a:latin typeface="Arial"/>
              </a:rPr>
              <a:t>is</a:t>
            </a:r>
            <a:r>
              <a:rPr b="0" lang="en-US" sz="2000" spc="-1" strike="noStrike">
                <a:solidFill>
                  <a:srgbClr val="000000"/>
                </a:solidFill>
                <a:latin typeface="Arial"/>
              </a:rPr>
              <a:t>. Left: Cortejoso et al., Clin Interv Aging (CC BY 3.0). Right: US Bureau of Immigration, 1912 (CC0) — the Titanic dataset you have all seen.</a:t>
            </a:r>
            <a:endParaRPr b="0" lang="en-US" sz="2000" spc="-1" strike="noStrike">
              <a:solidFill>
                <a:srgbClr val="000000"/>
              </a:solidFill>
              <a:latin typeface="Arial"/>
            </a:endParaRPr>
          </a:p>
        </p:txBody>
      </p:sp>
      <p:sp>
        <p:nvSpPr>
          <p:cNvPr id="283" name="PlaceHolder 3"/>
          <p:cNvSpPr>
            <a:spLocks noGrp="1"/>
          </p:cNvSpPr>
          <p:nvPr>
            <p:ph type="sldNum" idx="67"/>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7BE008CA-920D-4A39-910B-5558E4A8C87D}"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 name="PlaceHolder 1"/>
          <p:cNvSpPr>
            <a:spLocks noGrp="1"/>
          </p:cNvSpPr>
          <p:nvPr>
            <p:ph type="sldImg"/>
          </p:nvPr>
        </p:nvSpPr>
        <p:spPr>
          <a:xfrm>
            <a:off x="685800" y="1143000"/>
            <a:ext cx="5486040" cy="3085920"/>
          </a:xfrm>
          <a:prstGeom prst="rect">
            <a:avLst/>
          </a:prstGeom>
          <a:ln w="0">
            <a:noFill/>
          </a:ln>
        </p:spPr>
      </p:sp>
      <p:sp>
        <p:nvSpPr>
          <p:cNvPr id="28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Same object: a regularly sampled sequence. Same toolbox: filtering, spectrograms, 1D convolutions, transformers. The ECG is 500 Hz, the audio 44.1 kHz — three orders of magnitude apart, identical methods. Left: Glenlarson (public domain). Right: Em3rgent0rdr (CC BY-SA 4.0).</a:t>
            </a:r>
            <a:endParaRPr b="0" lang="en-US" sz="2000" spc="-1" strike="noStrike">
              <a:solidFill>
                <a:srgbClr val="000000"/>
              </a:solidFill>
              <a:latin typeface="Arial"/>
            </a:endParaRPr>
          </a:p>
        </p:txBody>
      </p:sp>
      <p:sp>
        <p:nvSpPr>
          <p:cNvPr id="286" name="PlaceHolder 3"/>
          <p:cNvSpPr>
            <a:spLocks noGrp="1"/>
          </p:cNvSpPr>
          <p:nvPr>
            <p:ph type="sldNum" idx="68"/>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1C14D67C-80FE-4B49-AA9E-04C193F3E189}"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7" name="PlaceHolder 1"/>
          <p:cNvSpPr>
            <a:spLocks noGrp="1"/>
          </p:cNvSpPr>
          <p:nvPr>
            <p:ph type="sldImg"/>
          </p:nvPr>
        </p:nvSpPr>
        <p:spPr>
          <a:xfrm>
            <a:off x="685800" y="1143000"/>
            <a:ext cx="5486040" cy="3085920"/>
          </a:xfrm>
          <a:prstGeom prst="rect">
            <a:avLst/>
          </a:prstGeom>
          <a:ln w="0">
            <a:noFill/>
          </a:ln>
        </p:spPr>
      </p:sp>
      <p:sp>
        <p:nvSpPr>
          <p:cNvPr id="28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Both are arrays of numbers on a grid, and a CNN or a ViT does not know the difference. What differs is the </a:t>
            </a:r>
            <a:r>
              <a:rPr b="0" i="1" lang="en-US" sz="2000" spc="-1" strike="noStrike">
                <a:solidFill>
                  <a:srgbClr val="000000"/>
                </a:solidFill>
                <a:latin typeface="Arial"/>
              </a:rPr>
              <a:t>label</a:t>
            </a:r>
            <a:r>
              <a:rPr b="0" lang="en-US" sz="2000" spc="-1" strike="noStrike">
                <a:solidFill>
                  <a:srgbClr val="000000"/>
                </a:solidFill>
                <a:latin typeface="Arial"/>
              </a:rPr>
              <a:t>: “pneumonia” is one radiologist’s opinion, “wheat” is ground truth you can go and check. Left: Mikael Häggström (CC0). Right: NASA/ASTER, Kansas (public domain).</a:t>
            </a:r>
            <a:endParaRPr b="0" lang="en-US" sz="2000" spc="-1" strike="noStrike">
              <a:solidFill>
                <a:srgbClr val="000000"/>
              </a:solidFill>
              <a:latin typeface="Arial"/>
            </a:endParaRPr>
          </a:p>
        </p:txBody>
      </p:sp>
      <p:sp>
        <p:nvSpPr>
          <p:cNvPr id="289" name="PlaceHolder 3"/>
          <p:cNvSpPr>
            <a:spLocks noGrp="1"/>
          </p:cNvSpPr>
          <p:nvPr>
            <p:ph type="sldNum" idx="69"/>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AA448764-49A5-4601-B707-6810EC150A76}"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sldImg"/>
          </p:nvPr>
        </p:nvSpPr>
        <p:spPr>
          <a:xfrm>
            <a:off x="685800" y="1143000"/>
            <a:ext cx="5486040" cy="3085920"/>
          </a:xfrm>
          <a:prstGeom prst="rect">
            <a:avLst/>
          </a:prstGeom>
          <a:ln w="0">
            <a:noFill/>
          </a:ln>
        </p:spPr>
      </p:sp>
      <p:sp>
        <p:nvSpPr>
          <p:cNvPr id="29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The third dimension costs you: memory grows cubically, labelled data gets scarcer, and pretrained weights are far rarer than in 2D. Note the two are not the same kind of 3D — the CT is a dense voxel grid, the point cloud is sparse and unordered. Left: Mikael Häggström (CC0). Right: Daniel L. Lu, San Francisco (CC BY 4.0).</a:t>
            </a:r>
            <a:endParaRPr b="0" lang="en-US" sz="2000" spc="-1" strike="noStrike">
              <a:solidFill>
                <a:srgbClr val="000000"/>
              </a:solidFill>
              <a:latin typeface="Arial"/>
            </a:endParaRPr>
          </a:p>
        </p:txBody>
      </p:sp>
      <p:sp>
        <p:nvSpPr>
          <p:cNvPr id="292" name="PlaceHolder 3"/>
          <p:cNvSpPr>
            <a:spLocks noGrp="1"/>
          </p:cNvSpPr>
          <p:nvPr>
            <p:ph type="sldNum" idx="70"/>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C02E59D8-FC25-41F6-978A-F260B0783C10}"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3" name="PlaceHolder 1"/>
          <p:cNvSpPr>
            <a:spLocks noGrp="1"/>
          </p:cNvSpPr>
          <p:nvPr>
            <p:ph type="sldImg"/>
          </p:nvPr>
        </p:nvSpPr>
        <p:spPr>
          <a:xfrm>
            <a:off x="685800" y="1143000"/>
            <a:ext cx="5486040" cy="3085920"/>
          </a:xfrm>
          <a:prstGeom prst="rect">
            <a:avLst/>
          </a:prstGeom>
          <a:ln w="0">
            <a:noFill/>
          </a:ln>
        </p:spPr>
      </p:sp>
      <p:sp>
        <p:nvSpPr>
          <p:cNvPr id="29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Clinical text is its own dialect: abbreviations, negation (“no evidence of hydrocephalus”), copy-paste, and dictation errors. A model trained on newspapers reads “PT” as a person and not as prothrombin time. Weeks 11–12. Left: Tu et al., MultiMedBench (CC BY 4.0). Right: The Echo, 1920 (public domain).</a:t>
            </a:r>
            <a:endParaRPr b="0" lang="en-US" sz="2000" spc="-1" strike="noStrike">
              <a:solidFill>
                <a:srgbClr val="000000"/>
              </a:solidFill>
              <a:latin typeface="Arial"/>
            </a:endParaRPr>
          </a:p>
        </p:txBody>
      </p:sp>
      <p:sp>
        <p:nvSpPr>
          <p:cNvPr id="295" name="PlaceHolder 3"/>
          <p:cNvSpPr>
            <a:spLocks noGrp="1"/>
          </p:cNvSpPr>
          <p:nvPr>
            <p:ph type="sldNum" idx="71"/>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B3B99DB6-289B-4AD0-A0E1-582A4C93EAE9}"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PlaceHolder 1"/>
          <p:cNvSpPr>
            <a:spLocks noGrp="1"/>
          </p:cNvSpPr>
          <p:nvPr>
            <p:ph type="sldImg"/>
          </p:nvPr>
        </p:nvSpPr>
        <p:spPr>
          <a:xfrm>
            <a:off x="685800" y="1143000"/>
            <a:ext cx="5486040" cy="3085920"/>
          </a:xfrm>
          <a:prstGeom prst="rect">
            <a:avLst/>
          </a:prstGeom>
          <a:ln w="0">
            <a:noFill/>
          </a:ln>
        </p:spPr>
      </p:sp>
      <p:sp>
        <p:nvSpPr>
          <p:cNvPr id="29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Two minutes, and do not skip it when you run late - this is the only feedback you get before next week. Read them on the way back and open the next lecture with the two most common answers to the second question.</a:t>
            </a:r>
            <a:endParaRPr b="0" lang="en-US" sz="2000" spc="-1" strike="noStrike">
              <a:solidFill>
                <a:srgbClr val="000000"/>
              </a:solidFill>
              <a:latin typeface="Arial"/>
            </a:endParaRPr>
          </a:p>
        </p:txBody>
      </p:sp>
      <p:sp>
        <p:nvSpPr>
          <p:cNvPr id="298" name="PlaceHolder 3"/>
          <p:cNvSpPr>
            <a:spLocks noGrp="1"/>
          </p:cNvSpPr>
          <p:nvPr>
            <p:ph type="sldNum" idx="72"/>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F13E788A-2530-4345-8E9E-7CCEA7718566}"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05920"/>
            <a:ext cx="8229240" cy="856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6" name="PlaceHolder 2"/>
          <p:cNvSpPr>
            <a:spLocks noGrp="1"/>
          </p:cNvSpPr>
          <p:nvPr>
            <p:ph type="subTitle"/>
          </p:nvPr>
        </p:nvSpPr>
        <p:spPr>
          <a:xfrm>
            <a:off x="457200" y="1200240"/>
            <a:ext cx="8229240" cy="33940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3175B508-6574-4C8C-B633-A2575C3B889C}"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9ADE884D-BA78-4510-8081-AA0CBF663BA3}"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B2F62CA3-5367-4461-8AA8-0B023B420EDC}"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457200" y="205920"/>
            <a:ext cx="8229240" cy="856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3" name="PlaceHolder 2"/>
          <p:cNvSpPr>
            <a:spLocks noGrp="1"/>
          </p:cNvSpPr>
          <p:nvPr>
            <p:ph/>
          </p:nvPr>
        </p:nvSpPr>
        <p:spPr>
          <a:xfrm>
            <a:off x="457200" y="1200240"/>
            <a:ext cx="8229240" cy="3394080"/>
          </a:xfrm>
          <a:prstGeom prst="rect">
            <a:avLst/>
          </a:prstGeom>
          <a:noFill/>
          <a:ln w="0">
            <a:noFill/>
          </a:ln>
        </p:spPr>
        <p:txBody>
          <a:bodyPr lIns="0" rIns="0" tIns="0" bIns="0" anchor="t">
            <a:normAutofit/>
          </a:bodyPr>
          <a:p>
            <a:pPr indent="0">
              <a:spcBef>
                <a:spcPts val="1417"/>
              </a:spcBef>
              <a:buNone/>
            </a:pPr>
            <a:endParaRPr b="0" lang="en-US" sz="24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DF692233-F603-4E6B-9C9C-56A2EE4A44D4}"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981E69D5-E40C-436B-B101-855FCDC9142F}"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457200" y="205920"/>
            <a:ext cx="8229240" cy="856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6" name="PlaceHolder 2"/>
          <p:cNvSpPr>
            <a:spLocks noGrp="1"/>
          </p:cNvSpPr>
          <p:nvPr>
            <p:ph/>
          </p:nvPr>
        </p:nvSpPr>
        <p:spPr>
          <a:xfrm>
            <a:off x="457200" y="1200240"/>
            <a:ext cx="4015800" cy="3394080"/>
          </a:xfrm>
          <a:prstGeom prst="rect">
            <a:avLst/>
          </a:prstGeom>
          <a:noFill/>
          <a:ln w="0">
            <a:noFill/>
          </a:ln>
        </p:spPr>
        <p:txBody>
          <a:bodyPr lIns="0" rIns="0" tIns="0" bIns="0" anchor="t">
            <a:normAutofit/>
          </a:bodyPr>
          <a:p>
            <a:pPr indent="0">
              <a:spcBef>
                <a:spcPts val="1417"/>
              </a:spcBef>
              <a:buNone/>
            </a:pPr>
            <a:endParaRPr b="0" lang="en-US" sz="2400" spc="-1" strike="noStrike">
              <a:solidFill>
                <a:schemeClr val="dk1"/>
              </a:solidFill>
              <a:latin typeface="Calibri"/>
            </a:endParaRPr>
          </a:p>
        </p:txBody>
      </p:sp>
      <p:sp>
        <p:nvSpPr>
          <p:cNvPr id="37" name="PlaceHolder 3"/>
          <p:cNvSpPr>
            <a:spLocks noGrp="1"/>
          </p:cNvSpPr>
          <p:nvPr>
            <p:ph/>
          </p:nvPr>
        </p:nvSpPr>
        <p:spPr>
          <a:xfrm>
            <a:off x="4674240" y="1200240"/>
            <a:ext cx="4015800" cy="3394080"/>
          </a:xfrm>
          <a:prstGeom prst="rect">
            <a:avLst/>
          </a:prstGeom>
          <a:noFill/>
          <a:ln w="0">
            <a:noFill/>
          </a:ln>
        </p:spPr>
        <p:txBody>
          <a:bodyPr lIns="0" rIns="0" tIns="0" bIns="0" anchor="t">
            <a:normAutofit/>
          </a:bodyPr>
          <a:p>
            <a:pPr indent="0">
              <a:spcBef>
                <a:spcPts val="1417"/>
              </a:spcBef>
              <a:buNone/>
            </a:pPr>
            <a:endParaRPr b="0" lang="en-US" sz="24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9C2C0971-C917-454D-A10E-A57F9E18A946}"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56045B0F-7007-4100-A51A-4D6A0A3A3FFF}"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0" name="PlaceHolder 1"/>
          <p:cNvSpPr>
            <a:spLocks noGrp="1"/>
          </p:cNvSpPr>
          <p:nvPr>
            <p:ph type="title"/>
          </p:nvPr>
        </p:nvSpPr>
        <p:spPr>
          <a:xfrm>
            <a:off x="457200" y="205920"/>
            <a:ext cx="8229240" cy="856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01BC8ED3-1C45-43A7-BFB4-6F9C393413A5}"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FA9AC72F-2F07-4425-9E49-5106779C1824}"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2F8DD996-E41C-4468-A612-A64F2A0EA9B3}"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4A86F4B9-3471-4A39-9AE2-F4885B0E5068}"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1597680"/>
            <a:ext cx="7772040" cy="110232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1" name="PlaceHolder 2"/>
          <p:cNvSpPr>
            <a:spLocks noGrp="1"/>
          </p:cNvSpPr>
          <p:nvPr>
            <p:ph type="dt" idx="1"/>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 </a:t>
            </a:r>
            <a:endParaRPr b="0" lang="en-US" sz="900" spc="-1" strike="noStrike">
              <a:solidFill>
                <a:srgbClr val="000000"/>
              </a:solidFill>
              <a:latin typeface="Times New Roman"/>
            </a:endParaRPr>
          </a:p>
        </p:txBody>
      </p:sp>
      <p:sp>
        <p:nvSpPr>
          <p:cNvPr id="2" name="PlaceHolder 3"/>
          <p:cNvSpPr>
            <a:spLocks noGrp="1"/>
          </p:cNvSpPr>
          <p:nvPr>
            <p:ph type="ftr" idx="2"/>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692A5CF3-4B3E-45C4-8B43-F52B62822AAD}" type="slidenum">
              <a:rPr b="0" lang="en-US" sz="900" spc="-1" strike="noStrike">
                <a:solidFill>
                  <a:schemeClr val="dk1">
                    <a:tint val="75000"/>
                  </a:schemeClr>
                </a:solidFill>
                <a:latin typeface="Calibri"/>
              </a:rPr>
              <a:t>4</a:t>
            </a:fld>
            <a:endParaRPr b="0" lang="en-US" sz="900" spc="-1" strike="noStrike">
              <a:solidFill>
                <a:srgbClr val="000000"/>
              </a:solidFill>
              <a:latin typeface="Times New Roman"/>
            </a:endParaRPr>
          </a:p>
        </p:txBody>
      </p:sp>
      <p:sp>
        <p:nvSpPr>
          <p:cNvPr id="4" name="PlaceHolder 5"/>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2400" spc="-1" strike="noStrike">
                <a:solidFill>
                  <a:schemeClr val="dk1"/>
                </a:solidFill>
                <a:latin typeface="Calibri"/>
              </a:rPr>
              <a:t>Click to edit the outline text format</a:t>
            </a:r>
            <a:endParaRPr b="0" lang="en-US" sz="24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1800" spc="-1" strike="noStrike">
                <a:solidFill>
                  <a:schemeClr val="dk1"/>
                </a:solidFill>
                <a:latin typeface="Calibri"/>
              </a:rPr>
              <a:t>Second Outline Level</a:t>
            </a:r>
            <a:endParaRPr b="0" lang="en-US" sz="18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1500" spc="-1" strike="noStrike">
                <a:solidFill>
                  <a:schemeClr val="dk1"/>
                </a:solidFill>
                <a:latin typeface="Calibri"/>
              </a:rPr>
              <a:t>Third Outline Level</a:t>
            </a:r>
            <a:endParaRPr b="0" lang="en-US" sz="15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1500" spc="-1" strike="noStrike">
                <a:solidFill>
                  <a:schemeClr val="dk1"/>
                </a:solidFill>
                <a:latin typeface="Calibri"/>
              </a:rPr>
              <a:t>Fourth Outline Level</a:t>
            </a:r>
            <a:endParaRPr b="0" lang="en-US" sz="15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8" name="PlaceHolder 2"/>
          <p:cNvSpPr>
            <a:spLocks noGrp="1"/>
          </p:cNvSpPr>
          <p:nvPr>
            <p:ph type="body"/>
          </p:nvPr>
        </p:nvSpPr>
        <p:spPr>
          <a:xfrm>
            <a:off x="457200" y="1200240"/>
            <a:ext cx="8229240" cy="3394080"/>
          </a:xfrm>
          <a:prstGeom prst="rect">
            <a:avLst/>
          </a:prstGeom>
          <a:noFill/>
          <a:ln w="0">
            <a:noFill/>
          </a:ln>
        </p:spPr>
        <p:txBody>
          <a:bodyPr lIns="91440" rIns="91440" tIns="45720" bIns="45720" anchor="t" vert="eaVert">
            <a:no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Second level</a:t>
            </a:r>
            <a:endParaRPr b="0" lang="en-US" sz="2100" spc="-1" strike="noStrike">
              <a:solidFill>
                <a:schemeClr val="dk1"/>
              </a:solidFill>
              <a:latin typeface="Calibri"/>
            </a:endParaRPr>
          </a:p>
          <a:p>
            <a:pPr lvl="2" marL="10288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3716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Fourth level</a:t>
            </a:r>
            <a:endParaRPr b="0" lang="en-US" sz="1500" spc="-1" strike="noStrike">
              <a:solidFill>
                <a:schemeClr val="dk1"/>
              </a:solidFill>
              <a:latin typeface="Calibri"/>
            </a:endParaRPr>
          </a:p>
          <a:p>
            <a:pPr lvl="4" marL="17146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Fifth level</a:t>
            </a:r>
            <a:endParaRPr b="0" lang="en-US" sz="1500" spc="-1" strike="noStrike">
              <a:solidFill>
                <a:schemeClr val="dk1"/>
              </a:solidFill>
              <a:latin typeface="Calibri"/>
            </a:endParaRPr>
          </a:p>
        </p:txBody>
      </p:sp>
      <p:sp>
        <p:nvSpPr>
          <p:cNvPr id="9" name="PlaceHolder 3"/>
          <p:cNvSpPr>
            <a:spLocks noGrp="1"/>
          </p:cNvSpPr>
          <p:nvPr>
            <p:ph type="dt" idx="4"/>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10" name="PlaceHolder 4"/>
          <p:cNvSpPr>
            <a:spLocks noGrp="1"/>
          </p:cNvSpPr>
          <p:nvPr>
            <p:ph type="ftr" idx="5"/>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1" name="PlaceHolder 5"/>
          <p:cNvSpPr>
            <a:spLocks noGrp="1"/>
          </p:cNvSpPr>
          <p:nvPr>
            <p:ph type="sldNum" idx="6"/>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EA874748-0066-4F81-9DBD-BE3060128D7F}"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6629400" y="205920"/>
            <a:ext cx="2057040" cy="4388400"/>
          </a:xfrm>
          <a:prstGeom prst="rect">
            <a:avLst/>
          </a:prstGeom>
          <a:noFill/>
          <a:ln w="0">
            <a:noFill/>
          </a:ln>
        </p:spPr>
        <p:txBody>
          <a:bodyPr lIns="91440" rIns="91440" tIns="45720" bIns="45720" anchor="ctr" vert="eaVert">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13" name="PlaceHolder 2"/>
          <p:cNvSpPr>
            <a:spLocks noGrp="1"/>
          </p:cNvSpPr>
          <p:nvPr>
            <p:ph type="body"/>
          </p:nvPr>
        </p:nvSpPr>
        <p:spPr>
          <a:xfrm>
            <a:off x="457200" y="205920"/>
            <a:ext cx="6019560" cy="4388400"/>
          </a:xfrm>
          <a:prstGeom prst="rect">
            <a:avLst/>
          </a:prstGeom>
          <a:noFill/>
          <a:ln w="0">
            <a:noFill/>
          </a:ln>
        </p:spPr>
        <p:txBody>
          <a:bodyPr lIns="91440" rIns="91440" tIns="45720" bIns="45720" anchor="t" vert="eaVert">
            <a:no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Second level</a:t>
            </a:r>
            <a:endParaRPr b="0" lang="en-US" sz="2100" spc="-1" strike="noStrike">
              <a:solidFill>
                <a:schemeClr val="dk1"/>
              </a:solidFill>
              <a:latin typeface="Calibri"/>
            </a:endParaRPr>
          </a:p>
          <a:p>
            <a:pPr lvl="2" marL="10288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3716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Fourth level</a:t>
            </a:r>
            <a:endParaRPr b="0" lang="en-US" sz="1500" spc="-1" strike="noStrike">
              <a:solidFill>
                <a:schemeClr val="dk1"/>
              </a:solidFill>
              <a:latin typeface="Calibri"/>
            </a:endParaRPr>
          </a:p>
          <a:p>
            <a:pPr lvl="4" marL="17146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Fifth level</a:t>
            </a:r>
            <a:endParaRPr b="0" lang="en-US" sz="1500" spc="-1" strike="noStrike">
              <a:solidFill>
                <a:schemeClr val="dk1"/>
              </a:solidFill>
              <a:latin typeface="Calibri"/>
            </a:endParaRPr>
          </a:p>
        </p:txBody>
      </p:sp>
      <p:sp>
        <p:nvSpPr>
          <p:cNvPr id="14" name="PlaceHolder 3"/>
          <p:cNvSpPr>
            <a:spLocks noGrp="1"/>
          </p:cNvSpPr>
          <p:nvPr>
            <p:ph type="dt" idx="7"/>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15" name="PlaceHolder 4"/>
          <p:cNvSpPr>
            <a:spLocks noGrp="1"/>
          </p:cNvSpPr>
          <p:nvPr>
            <p:ph type="ftr" idx="8"/>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 name="PlaceHolder 5"/>
          <p:cNvSpPr>
            <a:spLocks noGrp="1"/>
          </p:cNvSpPr>
          <p:nvPr>
            <p:ph type="sldNum" idx="9"/>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CC35FDF3-6208-4129-89F1-29CCB7677823}"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18" name="PlaceHolder 2"/>
          <p:cNvSpPr>
            <a:spLocks noGrp="1"/>
          </p:cNvSpPr>
          <p:nvPr>
            <p:ph type="body"/>
          </p:nvPr>
        </p:nvSpPr>
        <p:spPr>
          <a:xfrm>
            <a:off x="457200" y="1200240"/>
            <a:ext cx="8229240" cy="3394080"/>
          </a:xfrm>
          <a:prstGeom prst="rect">
            <a:avLst/>
          </a:prstGeom>
          <a:noFill/>
          <a:ln w="0">
            <a:noFill/>
          </a:ln>
        </p:spPr>
        <p:txBody>
          <a:bodyPr lIns="91440" rIns="91440" tIns="45720" bIns="45720" anchor="t">
            <a:no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Second level</a:t>
            </a:r>
            <a:endParaRPr b="0" lang="en-US" sz="2100" spc="-1" strike="noStrike">
              <a:solidFill>
                <a:schemeClr val="dk1"/>
              </a:solidFill>
              <a:latin typeface="Calibri"/>
            </a:endParaRPr>
          </a:p>
          <a:p>
            <a:pPr lvl="2" marL="10288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3716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Fourth level</a:t>
            </a:r>
            <a:endParaRPr b="0" lang="en-US" sz="1500" spc="-1" strike="noStrike">
              <a:solidFill>
                <a:schemeClr val="dk1"/>
              </a:solidFill>
              <a:latin typeface="Calibri"/>
            </a:endParaRPr>
          </a:p>
          <a:p>
            <a:pPr lvl="4" marL="17146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Fifth level</a:t>
            </a:r>
            <a:endParaRPr b="0" lang="en-US" sz="1500" spc="-1" strike="noStrike">
              <a:solidFill>
                <a:schemeClr val="dk1"/>
              </a:solidFill>
              <a:latin typeface="Calibri"/>
            </a:endParaRPr>
          </a:p>
        </p:txBody>
      </p:sp>
      <p:sp>
        <p:nvSpPr>
          <p:cNvPr id="19" name="PlaceHolder 3"/>
          <p:cNvSpPr>
            <a:spLocks noGrp="1"/>
          </p:cNvSpPr>
          <p:nvPr>
            <p:ph type="dt" idx="10"/>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20" name="PlaceHolder 4"/>
          <p:cNvSpPr>
            <a:spLocks noGrp="1"/>
          </p:cNvSpPr>
          <p:nvPr>
            <p:ph type="ftr" idx="11"/>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1" name="PlaceHolder 5"/>
          <p:cNvSpPr>
            <a:spLocks noGrp="1"/>
          </p:cNvSpPr>
          <p:nvPr>
            <p:ph type="sldNum" idx="12"/>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1A65D323-9298-47B5-A92B-660EAEEC054B}"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Autofit/>
          </a:bodyPr>
          <a:p>
            <a:pPr indent="0" defTabSz="343080">
              <a:lnSpc>
                <a:spcPct val="100000"/>
              </a:lnSpc>
              <a:buNone/>
            </a:pPr>
            <a:r>
              <a:rPr b="1" lang="en-US" sz="3000" spc="-1" strike="noStrike" cap="all">
                <a:solidFill>
                  <a:schemeClr val="dk1"/>
                </a:solidFill>
                <a:latin typeface="Calibri"/>
              </a:rPr>
              <a:t>Click to edit Master title style</a:t>
            </a:r>
            <a:endParaRPr b="0" lang="en-US" sz="3000" spc="-1" strike="noStrike">
              <a:solidFill>
                <a:schemeClr val="dk1"/>
              </a:solidFill>
              <a:latin typeface="Calibri"/>
            </a:endParaRPr>
          </a:p>
        </p:txBody>
      </p:sp>
      <p:sp>
        <p:nvSpPr>
          <p:cNvPr id="25" name="PlaceHolder 2"/>
          <p:cNvSpPr>
            <a:spLocks noGrp="1"/>
          </p:cNvSpPr>
          <p:nvPr>
            <p:ph type="body"/>
          </p:nvPr>
        </p:nvSpPr>
        <p:spPr>
          <a:xfrm>
            <a:off x="722160" y="2180160"/>
            <a:ext cx="7772040" cy="1124640"/>
          </a:xfrm>
          <a:prstGeom prst="rect">
            <a:avLst/>
          </a:prstGeom>
          <a:noFill/>
          <a:ln w="0">
            <a:noFill/>
          </a:ln>
        </p:spPr>
        <p:txBody>
          <a:bodyPr lIns="91440" rIns="91440" tIns="45720" bIns="45720" anchor="b">
            <a:noAutofit/>
          </a:bodyPr>
          <a:p>
            <a:pPr indent="0" defTabSz="343080">
              <a:lnSpc>
                <a:spcPct val="100000"/>
              </a:lnSpc>
              <a:spcBef>
                <a:spcPts val="300"/>
              </a:spcBef>
              <a:buNone/>
              <a:tabLst>
                <a:tab algn="l" pos="0"/>
              </a:tabLst>
            </a:pPr>
            <a:r>
              <a:rPr b="0" lang="en-US" sz="1500" spc="-1" strike="noStrike">
                <a:solidFill>
                  <a:schemeClr val="dk1">
                    <a:tint val="75000"/>
                  </a:schemeClr>
                </a:solidFill>
                <a:latin typeface="Calibri"/>
              </a:rPr>
              <a:t>Click to edit Master text styles</a:t>
            </a:r>
            <a:endParaRPr b="0" lang="en-US" sz="1500" spc="-1" strike="noStrike">
              <a:solidFill>
                <a:schemeClr val="dk1"/>
              </a:solidFill>
              <a:latin typeface="Calibri"/>
            </a:endParaRPr>
          </a:p>
        </p:txBody>
      </p:sp>
      <p:sp>
        <p:nvSpPr>
          <p:cNvPr id="26" name="PlaceHolder 3"/>
          <p:cNvSpPr>
            <a:spLocks noGrp="1"/>
          </p:cNvSpPr>
          <p:nvPr>
            <p:ph type="dt" idx="13"/>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27" name="PlaceHolder 4"/>
          <p:cNvSpPr>
            <a:spLocks noGrp="1"/>
          </p:cNvSpPr>
          <p:nvPr>
            <p:ph type="ftr" idx="14"/>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8" name="PlaceHolder 5"/>
          <p:cNvSpPr>
            <a:spLocks noGrp="1"/>
          </p:cNvSpPr>
          <p:nvPr>
            <p:ph type="sldNum" idx="15"/>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68F58F3D-C740-47E6-B9A2-E2BFB18AD13D}"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30" name="PlaceHolder 2"/>
          <p:cNvSpPr>
            <a:spLocks noGrp="1"/>
          </p:cNvSpPr>
          <p:nvPr>
            <p:ph type="body"/>
          </p:nvPr>
        </p:nvSpPr>
        <p:spPr>
          <a:xfrm>
            <a:off x="457200" y="1200240"/>
            <a:ext cx="4038120" cy="3394080"/>
          </a:xfrm>
          <a:prstGeom prst="rect">
            <a:avLst/>
          </a:prstGeom>
          <a:noFill/>
          <a:ln w="0">
            <a:noFill/>
          </a:ln>
        </p:spPr>
        <p:txBody>
          <a:bodyPr lIns="91440" rIns="91440" tIns="45720" bIns="45720" anchor="t">
            <a:noAutofit/>
          </a:bodyPr>
          <a:p>
            <a:pPr marL="34308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Click to edit Master text styles</a:t>
            </a:r>
            <a:endParaRPr b="0" lang="en-US" sz="2100" spc="-1" strike="noStrike">
              <a:solidFill>
                <a:schemeClr val="dk1"/>
              </a:solidFill>
              <a:latin typeface="Calibri"/>
            </a:endParaRPr>
          </a:p>
          <a:p>
            <a:pPr lvl="1" marL="68580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Second level</a:t>
            </a:r>
            <a:endParaRPr b="0" lang="en-US" sz="1800" spc="-1" strike="noStrike">
              <a:solidFill>
                <a:schemeClr val="dk1"/>
              </a:solidFill>
              <a:latin typeface="Calibri"/>
            </a:endParaRPr>
          </a:p>
          <a:p>
            <a:pPr lvl="2" marL="10288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Third level</a:t>
            </a:r>
            <a:endParaRPr b="0" lang="en-US" sz="1500" spc="-1" strike="noStrike">
              <a:solidFill>
                <a:schemeClr val="dk1"/>
              </a:solidFill>
              <a:latin typeface="Calibri"/>
            </a:endParaRPr>
          </a:p>
          <a:p>
            <a:pPr lvl="3" marL="137160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Fourth level</a:t>
            </a:r>
            <a:endParaRPr b="0" lang="en-US" sz="1350" spc="-1" strike="noStrike">
              <a:solidFill>
                <a:schemeClr val="dk1"/>
              </a:solidFill>
              <a:latin typeface="Calibri"/>
            </a:endParaRPr>
          </a:p>
          <a:p>
            <a:pPr lvl="4" marL="171468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Fifth level</a:t>
            </a:r>
            <a:endParaRPr b="0" lang="en-US" sz="1350" spc="-1" strike="noStrike">
              <a:solidFill>
                <a:schemeClr val="dk1"/>
              </a:solidFill>
              <a:latin typeface="Calibri"/>
            </a:endParaRPr>
          </a:p>
        </p:txBody>
      </p:sp>
      <p:sp>
        <p:nvSpPr>
          <p:cNvPr id="31" name="PlaceHolder 3"/>
          <p:cNvSpPr>
            <a:spLocks noGrp="1"/>
          </p:cNvSpPr>
          <p:nvPr>
            <p:ph type="body"/>
          </p:nvPr>
        </p:nvSpPr>
        <p:spPr>
          <a:xfrm>
            <a:off x="4648320" y="1200240"/>
            <a:ext cx="4038120" cy="3394080"/>
          </a:xfrm>
          <a:prstGeom prst="rect">
            <a:avLst/>
          </a:prstGeom>
          <a:noFill/>
          <a:ln w="0">
            <a:noFill/>
          </a:ln>
        </p:spPr>
        <p:txBody>
          <a:bodyPr lIns="91440" rIns="91440" tIns="45720" bIns="45720" anchor="t">
            <a:noAutofit/>
          </a:bodyPr>
          <a:p>
            <a:pPr marL="34308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Click to edit Master text styles</a:t>
            </a:r>
            <a:endParaRPr b="0" lang="en-US" sz="2100" spc="-1" strike="noStrike">
              <a:solidFill>
                <a:schemeClr val="dk1"/>
              </a:solidFill>
              <a:latin typeface="Calibri"/>
            </a:endParaRPr>
          </a:p>
          <a:p>
            <a:pPr lvl="1" marL="68580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Second level</a:t>
            </a:r>
            <a:endParaRPr b="0" lang="en-US" sz="1800" spc="-1" strike="noStrike">
              <a:solidFill>
                <a:schemeClr val="dk1"/>
              </a:solidFill>
              <a:latin typeface="Calibri"/>
            </a:endParaRPr>
          </a:p>
          <a:p>
            <a:pPr lvl="2" marL="10288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Third level</a:t>
            </a:r>
            <a:endParaRPr b="0" lang="en-US" sz="1500" spc="-1" strike="noStrike">
              <a:solidFill>
                <a:schemeClr val="dk1"/>
              </a:solidFill>
              <a:latin typeface="Calibri"/>
            </a:endParaRPr>
          </a:p>
          <a:p>
            <a:pPr lvl="3" marL="137160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Fourth level</a:t>
            </a:r>
            <a:endParaRPr b="0" lang="en-US" sz="1350" spc="-1" strike="noStrike">
              <a:solidFill>
                <a:schemeClr val="dk1"/>
              </a:solidFill>
              <a:latin typeface="Calibri"/>
            </a:endParaRPr>
          </a:p>
          <a:p>
            <a:pPr lvl="4" marL="171468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Fifth level</a:t>
            </a:r>
            <a:endParaRPr b="0" lang="en-US" sz="1350" spc="-1" strike="noStrike">
              <a:solidFill>
                <a:schemeClr val="dk1"/>
              </a:solidFill>
              <a:latin typeface="Calibri"/>
            </a:endParaRPr>
          </a:p>
        </p:txBody>
      </p:sp>
      <p:sp>
        <p:nvSpPr>
          <p:cNvPr id="32" name="PlaceHolder 4"/>
          <p:cNvSpPr>
            <a:spLocks noGrp="1"/>
          </p:cNvSpPr>
          <p:nvPr>
            <p:ph type="dt" idx="16"/>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33" name="PlaceHolder 5"/>
          <p:cNvSpPr>
            <a:spLocks noGrp="1"/>
          </p:cNvSpPr>
          <p:nvPr>
            <p:ph type="ftr" idx="17"/>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4" name="PlaceHolder 6"/>
          <p:cNvSpPr>
            <a:spLocks noGrp="1"/>
          </p:cNvSpPr>
          <p:nvPr>
            <p:ph type="sldNum" idx="18"/>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D73D473E-3486-4C55-AE40-9FF2CF1B6404}"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39" name="PlaceHolder 2"/>
          <p:cNvSpPr>
            <a:spLocks noGrp="1"/>
          </p:cNvSpPr>
          <p:nvPr>
            <p:ph type="body"/>
          </p:nvPr>
        </p:nvSpPr>
        <p:spPr>
          <a:xfrm>
            <a:off x="457200" y="1151280"/>
            <a:ext cx="4039920" cy="479520"/>
          </a:xfrm>
          <a:prstGeom prst="rect">
            <a:avLst/>
          </a:prstGeom>
          <a:noFill/>
          <a:ln w="0">
            <a:noFill/>
          </a:ln>
        </p:spPr>
        <p:txBody>
          <a:bodyPr lIns="91440" rIns="91440" tIns="45720" bIns="45720" anchor="b">
            <a:noAutofit/>
          </a:bodyPr>
          <a:p>
            <a:pPr indent="0" defTabSz="343080">
              <a:lnSpc>
                <a:spcPct val="100000"/>
              </a:lnSpc>
              <a:spcBef>
                <a:spcPts val="360"/>
              </a:spcBef>
              <a:buNone/>
              <a:tabLst>
                <a:tab algn="l" pos="0"/>
              </a:tabLst>
            </a:pPr>
            <a:r>
              <a:rPr b="1" lang="en-US" sz="1800" spc="-1" strike="noStrike">
                <a:solidFill>
                  <a:schemeClr val="dk1"/>
                </a:solidFill>
                <a:latin typeface="Calibri"/>
              </a:rPr>
              <a:t>Click to edit Master text styles</a:t>
            </a:r>
            <a:endParaRPr b="0" lang="en-US" sz="1800" spc="-1" strike="noStrike">
              <a:solidFill>
                <a:schemeClr val="dk1"/>
              </a:solidFill>
              <a:latin typeface="Calibri"/>
            </a:endParaRPr>
          </a:p>
        </p:txBody>
      </p:sp>
      <p:sp>
        <p:nvSpPr>
          <p:cNvPr id="40" name="PlaceHolder 3"/>
          <p:cNvSpPr>
            <a:spLocks noGrp="1"/>
          </p:cNvSpPr>
          <p:nvPr>
            <p:ph type="body"/>
          </p:nvPr>
        </p:nvSpPr>
        <p:spPr>
          <a:xfrm>
            <a:off x="457200" y="1631160"/>
            <a:ext cx="4039920" cy="2963160"/>
          </a:xfrm>
          <a:prstGeom prst="rect">
            <a:avLst/>
          </a:prstGeom>
          <a:noFill/>
          <a:ln w="0">
            <a:noFill/>
          </a:ln>
        </p:spPr>
        <p:txBody>
          <a:bodyPr lIns="91440" rIns="91440" tIns="45720" bIns="45720" anchor="t">
            <a:noAutofit/>
          </a:bodyPr>
          <a:p>
            <a:pPr marL="3430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Click to edit Master text styles</a:t>
            </a:r>
            <a:endParaRPr b="0" lang="en-US" sz="1800" spc="-1" strike="noStrike">
              <a:solidFill>
                <a:schemeClr val="dk1"/>
              </a:solidFill>
              <a:latin typeface="Calibri"/>
            </a:endParaRPr>
          </a:p>
          <a:p>
            <a:pPr lvl="1" marL="6858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Second level</a:t>
            </a:r>
            <a:endParaRPr b="0" lang="en-US" sz="1500" spc="-1" strike="noStrike">
              <a:solidFill>
                <a:schemeClr val="dk1"/>
              </a:solidFill>
              <a:latin typeface="Calibri"/>
            </a:endParaRPr>
          </a:p>
          <a:p>
            <a:pPr lvl="2" marL="102888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Third level</a:t>
            </a:r>
            <a:endParaRPr b="0" lang="en-US" sz="1350" spc="-1" strike="noStrike">
              <a:solidFill>
                <a:schemeClr val="dk1"/>
              </a:solidFill>
              <a:latin typeface="Calibri"/>
            </a:endParaRPr>
          </a:p>
          <a:p>
            <a:pPr lvl="3" marL="1371600" indent="-343080" defTabSz="343080">
              <a:lnSpc>
                <a:spcPct val="100000"/>
              </a:lnSpc>
              <a:spcBef>
                <a:spcPts val="241"/>
              </a:spcBef>
              <a:buClr>
                <a:srgbClr val="000000"/>
              </a:buClr>
              <a:buFont typeface="Arial"/>
              <a:buChar char="–"/>
            </a:pPr>
            <a:r>
              <a:rPr b="0" lang="en-US" sz="1200" spc="-1" strike="noStrike">
                <a:solidFill>
                  <a:schemeClr val="dk1"/>
                </a:solidFill>
                <a:latin typeface="Calibri"/>
              </a:rPr>
              <a:t>Fourth level</a:t>
            </a:r>
            <a:endParaRPr b="0" lang="en-US" sz="1200" spc="-1" strike="noStrike">
              <a:solidFill>
                <a:schemeClr val="dk1"/>
              </a:solidFill>
              <a:latin typeface="Calibri"/>
            </a:endParaRPr>
          </a:p>
          <a:p>
            <a:pPr lvl="4" marL="1714680" indent="-343080" defTabSz="343080">
              <a:lnSpc>
                <a:spcPct val="100000"/>
              </a:lnSpc>
              <a:spcBef>
                <a:spcPts val="241"/>
              </a:spcBef>
              <a:buClr>
                <a:srgbClr val="000000"/>
              </a:buClr>
              <a:buFont typeface="Arial"/>
              <a:buChar char="»"/>
            </a:pPr>
            <a:r>
              <a:rPr b="0" lang="en-US" sz="1200" spc="-1" strike="noStrike">
                <a:solidFill>
                  <a:schemeClr val="dk1"/>
                </a:solidFill>
                <a:latin typeface="Calibri"/>
              </a:rPr>
              <a:t>Fifth level</a:t>
            </a:r>
            <a:endParaRPr b="0" lang="en-US" sz="1200" spc="-1" strike="noStrike">
              <a:solidFill>
                <a:schemeClr val="dk1"/>
              </a:solidFill>
              <a:latin typeface="Calibri"/>
            </a:endParaRPr>
          </a:p>
        </p:txBody>
      </p:sp>
      <p:sp>
        <p:nvSpPr>
          <p:cNvPr id="41" name="PlaceHolder 4"/>
          <p:cNvSpPr>
            <a:spLocks noGrp="1"/>
          </p:cNvSpPr>
          <p:nvPr>
            <p:ph type="body"/>
          </p:nvPr>
        </p:nvSpPr>
        <p:spPr>
          <a:xfrm>
            <a:off x="4645080" y="1151280"/>
            <a:ext cx="4041360" cy="479520"/>
          </a:xfrm>
          <a:prstGeom prst="rect">
            <a:avLst/>
          </a:prstGeom>
          <a:noFill/>
          <a:ln w="0">
            <a:noFill/>
          </a:ln>
        </p:spPr>
        <p:txBody>
          <a:bodyPr lIns="91440" rIns="91440" tIns="45720" bIns="45720" anchor="b">
            <a:noAutofit/>
          </a:bodyPr>
          <a:p>
            <a:pPr indent="0" defTabSz="343080">
              <a:lnSpc>
                <a:spcPct val="100000"/>
              </a:lnSpc>
              <a:spcBef>
                <a:spcPts val="360"/>
              </a:spcBef>
              <a:buNone/>
              <a:tabLst>
                <a:tab algn="l" pos="0"/>
              </a:tabLst>
            </a:pPr>
            <a:r>
              <a:rPr b="1" lang="en-US" sz="1800" spc="-1" strike="noStrike">
                <a:solidFill>
                  <a:schemeClr val="dk1"/>
                </a:solidFill>
                <a:latin typeface="Calibri"/>
              </a:rPr>
              <a:t>Click to edit Master text styles</a:t>
            </a:r>
            <a:endParaRPr b="0" lang="en-US" sz="1800" spc="-1" strike="noStrike">
              <a:solidFill>
                <a:schemeClr val="dk1"/>
              </a:solidFill>
              <a:latin typeface="Calibri"/>
            </a:endParaRPr>
          </a:p>
        </p:txBody>
      </p:sp>
      <p:sp>
        <p:nvSpPr>
          <p:cNvPr id="42" name="PlaceHolder 5"/>
          <p:cNvSpPr>
            <a:spLocks noGrp="1"/>
          </p:cNvSpPr>
          <p:nvPr>
            <p:ph type="body"/>
          </p:nvPr>
        </p:nvSpPr>
        <p:spPr>
          <a:xfrm>
            <a:off x="4645080" y="1631160"/>
            <a:ext cx="4041360" cy="2963160"/>
          </a:xfrm>
          <a:prstGeom prst="rect">
            <a:avLst/>
          </a:prstGeom>
          <a:noFill/>
          <a:ln w="0">
            <a:noFill/>
          </a:ln>
        </p:spPr>
        <p:txBody>
          <a:bodyPr lIns="91440" rIns="91440" tIns="45720" bIns="45720" anchor="t">
            <a:noAutofit/>
          </a:bodyPr>
          <a:p>
            <a:pPr marL="3430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Click to edit Master text styles</a:t>
            </a:r>
            <a:endParaRPr b="0" lang="en-US" sz="1800" spc="-1" strike="noStrike">
              <a:solidFill>
                <a:schemeClr val="dk1"/>
              </a:solidFill>
              <a:latin typeface="Calibri"/>
            </a:endParaRPr>
          </a:p>
          <a:p>
            <a:pPr lvl="1" marL="6858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Second level</a:t>
            </a:r>
            <a:endParaRPr b="0" lang="en-US" sz="1500" spc="-1" strike="noStrike">
              <a:solidFill>
                <a:schemeClr val="dk1"/>
              </a:solidFill>
              <a:latin typeface="Calibri"/>
            </a:endParaRPr>
          </a:p>
          <a:p>
            <a:pPr lvl="2" marL="102888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Third level</a:t>
            </a:r>
            <a:endParaRPr b="0" lang="en-US" sz="1350" spc="-1" strike="noStrike">
              <a:solidFill>
                <a:schemeClr val="dk1"/>
              </a:solidFill>
              <a:latin typeface="Calibri"/>
            </a:endParaRPr>
          </a:p>
          <a:p>
            <a:pPr lvl="3" marL="1371600" indent="-343080" defTabSz="343080">
              <a:lnSpc>
                <a:spcPct val="100000"/>
              </a:lnSpc>
              <a:spcBef>
                <a:spcPts val="241"/>
              </a:spcBef>
              <a:buClr>
                <a:srgbClr val="000000"/>
              </a:buClr>
              <a:buFont typeface="Arial"/>
              <a:buChar char="–"/>
            </a:pPr>
            <a:r>
              <a:rPr b="0" lang="en-US" sz="1200" spc="-1" strike="noStrike">
                <a:solidFill>
                  <a:schemeClr val="dk1"/>
                </a:solidFill>
                <a:latin typeface="Calibri"/>
              </a:rPr>
              <a:t>Fourth level</a:t>
            </a:r>
            <a:endParaRPr b="0" lang="en-US" sz="1200" spc="-1" strike="noStrike">
              <a:solidFill>
                <a:schemeClr val="dk1"/>
              </a:solidFill>
              <a:latin typeface="Calibri"/>
            </a:endParaRPr>
          </a:p>
          <a:p>
            <a:pPr lvl="4" marL="1714680" indent="-343080" defTabSz="343080">
              <a:lnSpc>
                <a:spcPct val="100000"/>
              </a:lnSpc>
              <a:spcBef>
                <a:spcPts val="241"/>
              </a:spcBef>
              <a:buClr>
                <a:srgbClr val="000000"/>
              </a:buClr>
              <a:buFont typeface="Arial"/>
              <a:buChar char="»"/>
            </a:pPr>
            <a:r>
              <a:rPr b="0" lang="en-US" sz="1200" spc="-1" strike="noStrike">
                <a:solidFill>
                  <a:schemeClr val="dk1"/>
                </a:solidFill>
                <a:latin typeface="Calibri"/>
              </a:rPr>
              <a:t>Fifth level</a:t>
            </a:r>
            <a:endParaRPr b="0" lang="en-US" sz="1200" spc="-1" strike="noStrike">
              <a:solidFill>
                <a:schemeClr val="dk1"/>
              </a:solidFill>
              <a:latin typeface="Calibri"/>
            </a:endParaRPr>
          </a:p>
        </p:txBody>
      </p:sp>
      <p:sp>
        <p:nvSpPr>
          <p:cNvPr id="43" name="PlaceHolder 6"/>
          <p:cNvSpPr>
            <a:spLocks noGrp="1"/>
          </p:cNvSpPr>
          <p:nvPr>
            <p:ph type="dt" idx="19"/>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44" name="PlaceHolder 7"/>
          <p:cNvSpPr>
            <a:spLocks noGrp="1"/>
          </p:cNvSpPr>
          <p:nvPr>
            <p:ph type="ftr" idx="20"/>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8"/>
          <p:cNvSpPr>
            <a:spLocks noGrp="1"/>
          </p:cNvSpPr>
          <p:nvPr>
            <p:ph type="sldNum" idx="21"/>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D8D8F3AA-0DAB-442C-8C3F-1C9962091206}"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47" name="PlaceHolder 2"/>
          <p:cNvSpPr>
            <a:spLocks noGrp="1"/>
          </p:cNvSpPr>
          <p:nvPr>
            <p:ph type="dt" idx="22"/>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48" name="PlaceHolder 3"/>
          <p:cNvSpPr>
            <a:spLocks noGrp="1"/>
          </p:cNvSpPr>
          <p:nvPr>
            <p:ph type="ftr" idx="23"/>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 name="PlaceHolder 4"/>
          <p:cNvSpPr>
            <a:spLocks noGrp="1"/>
          </p:cNvSpPr>
          <p:nvPr>
            <p:ph type="sldNum" idx="24"/>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938BA59B-40B7-437A-96BA-8A29F5B679EB}"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 name="PlaceHolder 1"/>
          <p:cNvSpPr>
            <a:spLocks noGrp="1"/>
          </p:cNvSpPr>
          <p:nvPr>
            <p:ph type="dt" idx="25"/>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52" name="PlaceHolder 2"/>
          <p:cNvSpPr>
            <a:spLocks noGrp="1"/>
          </p:cNvSpPr>
          <p:nvPr>
            <p:ph type="ftr" idx="26"/>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3" name="PlaceHolder 3"/>
          <p:cNvSpPr>
            <a:spLocks noGrp="1"/>
          </p:cNvSpPr>
          <p:nvPr>
            <p:ph type="sldNum" idx="27"/>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00A7949A-9E7E-430E-BA9F-533B826AFDAE}"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04840"/>
            <a:ext cx="3007800" cy="871200"/>
          </a:xfrm>
          <a:prstGeom prst="rect">
            <a:avLst/>
          </a:prstGeom>
          <a:noFill/>
          <a:ln w="0">
            <a:noFill/>
          </a:ln>
        </p:spPr>
        <p:txBody>
          <a:bodyPr lIns="91440" rIns="91440" tIns="45720" bIns="45720" anchor="b">
            <a:noAutofit/>
          </a:bodyPr>
          <a:p>
            <a:pPr indent="0" defTabSz="343080">
              <a:lnSpc>
                <a:spcPct val="100000"/>
              </a:lnSpc>
              <a:buNone/>
            </a:pPr>
            <a:r>
              <a:rPr b="1" lang="en-US" sz="1500" spc="-1" strike="noStrike">
                <a:solidFill>
                  <a:schemeClr val="dk1"/>
                </a:solidFill>
                <a:latin typeface="Calibri"/>
              </a:rPr>
              <a:t>Click to edit Master title style</a:t>
            </a:r>
            <a:endParaRPr b="0" lang="en-US" sz="1500" spc="-1" strike="noStrike">
              <a:solidFill>
                <a:schemeClr val="dk1"/>
              </a:solidFill>
              <a:latin typeface="Calibri"/>
            </a:endParaRPr>
          </a:p>
        </p:txBody>
      </p:sp>
      <p:sp>
        <p:nvSpPr>
          <p:cNvPr id="55" name="PlaceHolder 2"/>
          <p:cNvSpPr>
            <a:spLocks noGrp="1"/>
          </p:cNvSpPr>
          <p:nvPr>
            <p:ph type="body"/>
          </p:nvPr>
        </p:nvSpPr>
        <p:spPr>
          <a:xfrm>
            <a:off x="3575160" y="204840"/>
            <a:ext cx="5111280" cy="4389480"/>
          </a:xfrm>
          <a:prstGeom prst="rect">
            <a:avLst/>
          </a:prstGeom>
          <a:noFill/>
          <a:ln w="0">
            <a:noFill/>
          </a:ln>
        </p:spPr>
        <p:txBody>
          <a:bodyPr lIns="91440" rIns="91440" tIns="45720" bIns="45720" anchor="t">
            <a:no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Second level</a:t>
            </a:r>
            <a:endParaRPr b="0" lang="en-US" sz="2100" spc="-1" strike="noStrike">
              <a:solidFill>
                <a:schemeClr val="dk1"/>
              </a:solidFill>
              <a:latin typeface="Calibri"/>
            </a:endParaRPr>
          </a:p>
          <a:p>
            <a:pPr lvl="2" marL="10288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3716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Fourth level</a:t>
            </a:r>
            <a:endParaRPr b="0" lang="en-US" sz="1500" spc="-1" strike="noStrike">
              <a:solidFill>
                <a:schemeClr val="dk1"/>
              </a:solidFill>
              <a:latin typeface="Calibri"/>
            </a:endParaRPr>
          </a:p>
          <a:p>
            <a:pPr lvl="4" marL="17146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Fifth level</a:t>
            </a:r>
            <a:endParaRPr b="0" lang="en-US" sz="1500" spc="-1" strike="noStrike">
              <a:solidFill>
                <a:schemeClr val="dk1"/>
              </a:solidFill>
              <a:latin typeface="Calibri"/>
            </a:endParaRPr>
          </a:p>
        </p:txBody>
      </p:sp>
      <p:sp>
        <p:nvSpPr>
          <p:cNvPr id="56" name="PlaceHolder 3"/>
          <p:cNvSpPr>
            <a:spLocks noGrp="1"/>
          </p:cNvSpPr>
          <p:nvPr>
            <p:ph type="body"/>
          </p:nvPr>
        </p:nvSpPr>
        <p:spPr>
          <a:xfrm>
            <a:off x="457200" y="1076400"/>
            <a:ext cx="3007800" cy="3517920"/>
          </a:xfrm>
          <a:prstGeom prst="rect">
            <a:avLst/>
          </a:prstGeom>
          <a:noFill/>
          <a:ln w="0">
            <a:noFill/>
          </a:ln>
        </p:spPr>
        <p:txBody>
          <a:bodyPr lIns="91440" rIns="91440" tIns="45720" bIns="45720" anchor="t">
            <a:noAutofit/>
          </a:bodyPr>
          <a:p>
            <a:pPr indent="0" defTabSz="343080">
              <a:lnSpc>
                <a:spcPct val="100000"/>
              </a:lnSpc>
              <a:spcBef>
                <a:spcPts val="210"/>
              </a:spcBef>
              <a:buNone/>
              <a:tabLst>
                <a:tab algn="l" pos="0"/>
              </a:tabLst>
            </a:pPr>
            <a:r>
              <a:rPr b="0" lang="en-US" sz="1050" spc="-1" strike="noStrike">
                <a:solidFill>
                  <a:schemeClr val="dk1"/>
                </a:solidFill>
                <a:latin typeface="Calibri"/>
              </a:rPr>
              <a:t>Click to edit Master text styles</a:t>
            </a:r>
            <a:endParaRPr b="0" lang="en-US" sz="1050" spc="-1" strike="noStrike">
              <a:solidFill>
                <a:schemeClr val="dk1"/>
              </a:solidFill>
              <a:latin typeface="Calibri"/>
            </a:endParaRPr>
          </a:p>
        </p:txBody>
      </p:sp>
      <p:sp>
        <p:nvSpPr>
          <p:cNvPr id="57" name="PlaceHolder 4"/>
          <p:cNvSpPr>
            <a:spLocks noGrp="1"/>
          </p:cNvSpPr>
          <p:nvPr>
            <p:ph type="dt" idx="28"/>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58" name="PlaceHolder 5"/>
          <p:cNvSpPr>
            <a:spLocks noGrp="1"/>
          </p:cNvSpPr>
          <p:nvPr>
            <p:ph type="ftr" idx="29"/>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9" name="PlaceHolder 6"/>
          <p:cNvSpPr>
            <a:spLocks noGrp="1"/>
          </p:cNvSpPr>
          <p:nvPr>
            <p:ph type="sldNum" idx="30"/>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EF01376E-77E9-4400-AA68-C95122E13E1F}"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0" name="PlaceHolder 1"/>
          <p:cNvSpPr>
            <a:spLocks noGrp="1"/>
          </p:cNvSpPr>
          <p:nvPr>
            <p:ph type="title"/>
          </p:nvPr>
        </p:nvSpPr>
        <p:spPr>
          <a:xfrm>
            <a:off x="1792440" y="3600360"/>
            <a:ext cx="5486040" cy="424800"/>
          </a:xfrm>
          <a:prstGeom prst="rect">
            <a:avLst/>
          </a:prstGeom>
          <a:noFill/>
          <a:ln w="0">
            <a:noFill/>
          </a:ln>
        </p:spPr>
        <p:txBody>
          <a:bodyPr lIns="91440" rIns="91440" tIns="45720" bIns="45720" anchor="b">
            <a:noAutofit/>
          </a:bodyPr>
          <a:p>
            <a:pPr indent="0" defTabSz="343080">
              <a:lnSpc>
                <a:spcPct val="100000"/>
              </a:lnSpc>
              <a:buNone/>
            </a:pPr>
            <a:r>
              <a:rPr b="1" lang="en-US" sz="1500" spc="-1" strike="noStrike">
                <a:solidFill>
                  <a:schemeClr val="dk1"/>
                </a:solidFill>
                <a:latin typeface="Calibri"/>
              </a:rPr>
              <a:t>Click to edit Master title style</a:t>
            </a:r>
            <a:endParaRPr b="0" lang="en-US" sz="1500" spc="-1" strike="noStrike">
              <a:solidFill>
                <a:schemeClr val="dk1"/>
              </a:solidFill>
              <a:latin typeface="Calibri"/>
            </a:endParaRPr>
          </a:p>
        </p:txBody>
      </p:sp>
      <p:sp>
        <p:nvSpPr>
          <p:cNvPr id="61" name="PlaceHolder 2"/>
          <p:cNvSpPr>
            <a:spLocks noGrp="1"/>
          </p:cNvSpPr>
          <p:nvPr>
            <p:ph type="body"/>
          </p:nvPr>
        </p:nvSpPr>
        <p:spPr>
          <a:xfrm>
            <a:off x="1792440" y="459720"/>
            <a:ext cx="5486040" cy="3085920"/>
          </a:xfrm>
          <a:prstGeom prst="rect">
            <a:avLst/>
          </a:prstGeom>
          <a:noFill/>
          <a:ln w="0">
            <a:noFill/>
          </a:ln>
        </p:spPr>
        <p:txBody>
          <a:bodyPr lIns="90000" rIns="90000" tIns="45000" bIns="45000" anchor="t">
            <a:noAutofit/>
          </a:bodyPr>
          <a:p>
            <a:pPr marL="432000" indent="-324000">
              <a:spcBef>
                <a:spcPts val="1417"/>
              </a:spcBef>
              <a:buClr>
                <a:srgbClr val="000000"/>
              </a:buClr>
              <a:buSzPct val="45000"/>
              <a:buFont typeface="Wingdings" charset="2"/>
              <a:buChar char=""/>
            </a:pPr>
            <a:r>
              <a:rPr b="0" lang="en-US" sz="2400" spc="-1" strike="noStrike">
                <a:solidFill>
                  <a:schemeClr val="dk1"/>
                </a:solidFill>
                <a:latin typeface="Calibri"/>
              </a:rPr>
              <a:t>Click to edit the outline text format</a:t>
            </a:r>
            <a:endParaRPr b="0" lang="en-US" sz="24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400" spc="-1" strike="noStrike">
                <a:solidFill>
                  <a:schemeClr val="dk1"/>
                </a:solidFill>
                <a:latin typeface="Calibri"/>
              </a:rPr>
              <a:t>Third Outline Level</a:t>
            </a:r>
            <a:endParaRPr b="0" lang="en-US" sz="24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400" spc="-1" strike="noStrike">
                <a:solidFill>
                  <a:schemeClr val="dk1"/>
                </a:solidFill>
                <a:latin typeface="Calibri"/>
              </a:rPr>
              <a:t>Fourth Outline Level</a:t>
            </a:r>
            <a:endParaRPr b="0" lang="en-US" sz="24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400" spc="-1" strike="noStrike">
                <a:solidFill>
                  <a:schemeClr val="dk1"/>
                </a:solidFill>
                <a:latin typeface="Calibri"/>
              </a:rPr>
              <a:t>Fifth Outline Level</a:t>
            </a:r>
            <a:endParaRPr b="0" lang="en-US" sz="24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400" spc="-1" strike="noStrike">
                <a:solidFill>
                  <a:schemeClr val="dk1"/>
                </a:solidFill>
                <a:latin typeface="Calibri"/>
              </a:rPr>
              <a:t>Sixth Outline Level</a:t>
            </a:r>
            <a:endParaRPr b="0" lang="en-US" sz="24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400" spc="-1" strike="noStrike">
                <a:solidFill>
                  <a:schemeClr val="dk1"/>
                </a:solidFill>
                <a:latin typeface="Calibri"/>
              </a:rPr>
              <a:t>Seventh Outline Level</a:t>
            </a:r>
            <a:endParaRPr b="0" lang="en-US" sz="2400" spc="-1" strike="noStrike">
              <a:solidFill>
                <a:schemeClr val="dk1"/>
              </a:solidFill>
              <a:latin typeface="Calibri"/>
            </a:endParaRPr>
          </a:p>
        </p:txBody>
      </p:sp>
      <p:sp>
        <p:nvSpPr>
          <p:cNvPr id="62" name="PlaceHolder 3"/>
          <p:cNvSpPr>
            <a:spLocks noGrp="1"/>
          </p:cNvSpPr>
          <p:nvPr>
            <p:ph type="body"/>
          </p:nvPr>
        </p:nvSpPr>
        <p:spPr>
          <a:xfrm>
            <a:off x="1792440" y="4025520"/>
            <a:ext cx="5486040" cy="603360"/>
          </a:xfrm>
          <a:prstGeom prst="rect">
            <a:avLst/>
          </a:prstGeom>
          <a:noFill/>
          <a:ln w="0">
            <a:noFill/>
          </a:ln>
        </p:spPr>
        <p:txBody>
          <a:bodyPr lIns="91440" rIns="91440" tIns="45720" bIns="45720" anchor="t">
            <a:noAutofit/>
          </a:bodyPr>
          <a:p>
            <a:pPr indent="0" defTabSz="343080">
              <a:lnSpc>
                <a:spcPct val="100000"/>
              </a:lnSpc>
              <a:spcBef>
                <a:spcPts val="210"/>
              </a:spcBef>
              <a:buNone/>
              <a:tabLst>
                <a:tab algn="l" pos="0"/>
              </a:tabLst>
            </a:pPr>
            <a:r>
              <a:rPr b="0" lang="en-US" sz="1050" spc="-1" strike="noStrike">
                <a:solidFill>
                  <a:schemeClr val="dk1"/>
                </a:solidFill>
                <a:latin typeface="Calibri"/>
              </a:rPr>
              <a:t>Click to edit Master text styles</a:t>
            </a:r>
            <a:endParaRPr b="0" lang="en-US" sz="1050" spc="-1" strike="noStrike">
              <a:solidFill>
                <a:schemeClr val="dk1"/>
              </a:solidFill>
              <a:latin typeface="Calibri"/>
            </a:endParaRPr>
          </a:p>
        </p:txBody>
      </p:sp>
      <p:sp>
        <p:nvSpPr>
          <p:cNvPr id="63" name="PlaceHolder 4"/>
          <p:cNvSpPr>
            <a:spLocks noGrp="1"/>
          </p:cNvSpPr>
          <p:nvPr>
            <p:ph type="dt" idx="31"/>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64" name="PlaceHolder 5"/>
          <p:cNvSpPr>
            <a:spLocks noGrp="1"/>
          </p:cNvSpPr>
          <p:nvPr>
            <p:ph type="ftr" idx="32"/>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5" name="PlaceHolder 6"/>
          <p:cNvSpPr>
            <a:spLocks noGrp="1"/>
          </p:cNvSpPr>
          <p:nvPr>
            <p:ph type="sldNum" idx="33"/>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B4986A65-2219-4B98-95FA-C6122E66126E}"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4.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4.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4.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4.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4.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4.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4.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4.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4.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4.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4.xml"/><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4.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4.xml"/><Relationship Id="rId3"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47.xml.rels><?xml version="1.0" encoding="UTF-8"?>
<Relationships xmlns="http://schemas.openxmlformats.org/package/2006/relationships"><Relationship Id="rId1" Type="http://schemas.openxmlformats.org/officeDocument/2006/relationships/image" Target="../media/image17.jpeg"/><Relationship Id="rId2" Type="http://schemas.openxmlformats.org/officeDocument/2006/relationships/image" Target="../media/image18.jpeg"/><Relationship Id="rId3" Type="http://schemas.openxmlformats.org/officeDocument/2006/relationships/slideLayout" Target="../slideLayouts/slideLayout7.xml"/><Relationship Id="rId4"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image" Target="../media/image19.jpeg"/><Relationship Id="rId2" Type="http://schemas.openxmlformats.org/officeDocument/2006/relationships/image" Target="../media/image20.jpeg"/><Relationship Id="rId3" Type="http://schemas.openxmlformats.org/officeDocument/2006/relationships/slideLayout" Target="../slideLayouts/slideLayout7.xml"/><Relationship Id="rId4"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slideLayout" Target="../slideLayouts/slideLayout7.xml"/><Relationship Id="rId4"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image" Target="../media/image23.jpeg"/><Relationship Id="rId2" Type="http://schemas.openxmlformats.org/officeDocument/2006/relationships/image" Target="../media/image24.jpeg"/><Relationship Id="rId3" Type="http://schemas.openxmlformats.org/officeDocument/2006/relationships/slideLayout" Target="../slideLayouts/slideLayout7.xml"/><Relationship Id="rId4"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image" Target="../media/image25.jpeg"/><Relationship Id="rId2" Type="http://schemas.openxmlformats.org/officeDocument/2006/relationships/image" Target="../media/image26.jpeg"/><Relationship Id="rId3" Type="http://schemas.openxmlformats.org/officeDocument/2006/relationships/slideLayout" Target="../slideLayouts/slideLayout7.xml"/><Relationship Id="rId4"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PlaceHolder 1"/>
          <p:cNvSpPr>
            <a:spLocks noGrp="1"/>
          </p:cNvSpPr>
          <p:nvPr>
            <p:ph type="title"/>
          </p:nvPr>
        </p:nvSpPr>
        <p:spPr>
          <a:xfrm>
            <a:off x="685800" y="1597680"/>
            <a:ext cx="7772040" cy="110232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Session 1</a:t>
            </a:r>
            <a:br>
              <a:rPr sz="3300"/>
            </a:br>
            <a:r>
              <a:rPr b="0" lang="en-US" sz="3300" spc="-1" strike="noStrike">
                <a:solidFill>
                  <a:schemeClr val="dk1"/>
                </a:solidFill>
                <a:latin typeface="Calibri"/>
              </a:rPr>
              <a:t>Course Introduction &amp; Healthcare Data</a:t>
            </a:r>
            <a:endParaRPr b="0" lang="en-US" sz="3300" spc="-1" strike="noStrike">
              <a:solidFill>
                <a:schemeClr val="dk1"/>
              </a:solidFill>
              <a:latin typeface="Calibri"/>
            </a:endParaRPr>
          </a:p>
        </p:txBody>
      </p:sp>
      <p:sp>
        <p:nvSpPr>
          <p:cNvPr id="73" name="PlaceHolder 2"/>
          <p:cNvSpPr>
            <a:spLocks noGrp="1"/>
          </p:cNvSpPr>
          <p:nvPr>
            <p:ph type="subTitle"/>
          </p:nvPr>
        </p:nvSpPr>
        <p:spPr>
          <a:xfrm>
            <a:off x="1371600" y="2914560"/>
            <a:ext cx="6400440" cy="1314000"/>
          </a:xfrm>
          <a:prstGeom prst="rect">
            <a:avLst/>
          </a:prstGeom>
          <a:noFill/>
          <a:ln w="0">
            <a:noFill/>
          </a:ln>
        </p:spPr>
        <p:txBody>
          <a:bodyPr lIns="91440" rIns="91440" tIns="45720" bIns="45720" anchor="t">
            <a:normAutofit/>
          </a:bodyPr>
          <a:p>
            <a:pPr indent="0" algn="ctr" defTabSz="343080">
              <a:lnSpc>
                <a:spcPct val="100000"/>
              </a:lnSpc>
              <a:spcBef>
                <a:spcPts val="479"/>
              </a:spcBef>
              <a:buNone/>
              <a:tabLst>
                <a:tab algn="l" pos="0"/>
              </a:tabLst>
            </a:pPr>
            <a:r>
              <a:rPr b="0" lang="en-US" sz="2400" spc="-1" strike="noStrike">
                <a:solidFill>
                  <a:schemeClr val="dk1">
                    <a:tint val="75000"/>
                  </a:schemeClr>
                </a:solidFill>
                <a:latin typeface="Calibri"/>
              </a:rPr>
              <a:t>Advanced Data Science · NYU Paris · 2026</a:t>
            </a:r>
            <a:br>
              <a:rPr sz="2400"/>
            </a:br>
            <a:br>
              <a:rPr sz="2400"/>
            </a:br>
            <a:r>
              <a:rPr b="0" lang="en-US" sz="2400" spc="-1" strike="noStrike">
                <a:solidFill>
                  <a:schemeClr val="dk1">
                    <a:tint val="75000"/>
                  </a:schemeClr>
                </a:solidFill>
                <a:latin typeface="Calibri"/>
              </a:rPr>
              <a:t>Paul Dubois</a:t>
            </a:r>
            <a:endParaRPr b="0" lang="en-US" sz="2400" spc="-1" strike="noStrike">
              <a:solidFill>
                <a:srgbClr val="000000"/>
              </a:solidFill>
              <a:latin typeface="Arial"/>
            </a:endParaRPr>
          </a:p>
        </p:txBody>
      </p:sp>
      <p:sp>
        <p:nvSpPr>
          <p:cNvPr id="74" name="PlaceHolder 3"/>
          <p:cNvSpPr>
            <a:spLocks noGrp="1"/>
          </p:cNvSpPr>
          <p:nvPr>
            <p:ph type="dt" idx="37"/>
          </p:nvPr>
        </p:nvSpPr>
        <p:spPr>
          <a:xfrm>
            <a:off x="457200" y="4767120"/>
            <a:ext cx="2133360" cy="273600"/>
          </a:xfrm>
          <a:prstGeom prst="rect">
            <a:avLst/>
          </a:prstGeom>
          <a:noFill/>
          <a:ln w="0">
            <a:noFill/>
          </a:ln>
        </p:spPr>
        <p:txBody>
          <a:bodyPr lIns="91440" rIns="91440" tIns="45720" bIns="45720" anchor="ctr">
            <a:normAutofit/>
          </a:bodyPr>
          <a:lstStyle>
            <a:lvl1pPr indent="0" defTabSz="457200">
              <a:lnSpc>
                <a:spcPct val="100000"/>
              </a:lnSpc>
              <a:buNone/>
              <a:tabLst>
                <a:tab algn="l" pos="0"/>
              </a:tabLst>
              <a:defRPr b="0" lang="en-US" sz="900" spc="-1" strike="noStrike">
                <a:solidFill>
                  <a:schemeClr val="dk1">
                    <a:tint val="75000"/>
                  </a:schemeClr>
                </a:solidFill>
                <a:latin typeface="Calibri"/>
              </a:defRPr>
            </a:lvl1pPr>
          </a:lstStyle>
          <a:p>
            <a:pPr indent="0" defTabSz="457200">
              <a:lnSpc>
                <a:spcPct val="100000"/>
              </a:lnSpc>
              <a:buNone/>
              <a:tabLst>
                <a:tab algn="l" pos="0"/>
              </a:tabLst>
            </a:pPr>
            <a:r>
              <a:rPr b="0" lang="en-US" sz="900" spc="-1" strike="noStrike">
                <a:solidFill>
                  <a:schemeClr val="dk1">
                    <a:tint val="75000"/>
                  </a:schemeClr>
                </a:solidFill>
                <a:latin typeface="Calibri"/>
              </a:rPr>
              <a:t>Week 1 — Lecture (2.5h)</a:t>
            </a:r>
            <a:endParaRPr b="0" lang="en-US" sz="9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rmAutofit/>
          </a:bodyPr>
          <a:p>
            <a:pPr indent="0" defTabSz="343080">
              <a:lnSpc>
                <a:spcPct val="100000"/>
              </a:lnSpc>
              <a:buNone/>
              <a:tabLst>
                <a:tab algn="l" pos="0"/>
              </a:tabLst>
            </a:pPr>
            <a:r>
              <a:rPr b="1" lang="en-US" sz="3000" spc="-1" strike="noStrike" cap="all">
                <a:solidFill>
                  <a:schemeClr val="dk1"/>
                </a:solidFill>
                <a:latin typeface="Calibri"/>
              </a:rPr>
              <a:t>0. Welcome</a:t>
            </a:r>
            <a:endParaRPr b="0" lang="en-US" sz="30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Who I am, who you are</a:t>
            </a:r>
            <a:endParaRPr b="0" lang="en-US" sz="3300" spc="-1" strike="noStrike">
              <a:solidFill>
                <a:schemeClr val="dk1"/>
              </a:solidFill>
              <a:latin typeface="Calibri"/>
            </a:endParaRPr>
          </a:p>
        </p:txBody>
      </p:sp>
      <p:sp>
        <p:nvSpPr>
          <p:cNvPr id="77"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Instructor:</a:t>
            </a:r>
            <a:r>
              <a:rPr b="0" lang="en-US" sz="2400" spc="-1" strike="noStrike">
                <a:solidFill>
                  <a:schemeClr val="dk1"/>
                </a:solidFill>
                <a:latin typeface="Calibri"/>
              </a:rPr>
              <a:t> Paul Dubois — data science &amp; AI applied to healthcare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You:</a:t>
            </a:r>
            <a:r>
              <a:rPr b="0" lang="en-US" sz="2400" spc="-1" strike="noStrike">
                <a:solidFill>
                  <a:schemeClr val="dk1"/>
                </a:solidFill>
                <a:latin typeface="Calibri"/>
              </a:rPr>
              <a:t> 4th year undergraduates, with background in</a:t>
            </a:r>
            <a:endParaRPr b="0" lang="en-US" sz="24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linear algebra</a:t>
            </a:r>
            <a:endParaRPr b="0" lang="en-US" sz="21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probability &amp; statistics</a:t>
            </a:r>
            <a:endParaRPr b="0" lang="en-US" sz="21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Python programming</a:t>
            </a:r>
            <a:endParaRPr b="0" lang="en-US" sz="21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Around the room: name, major, one dataset you have already worked with</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What this course is</a:t>
            </a:r>
            <a:endParaRPr b="0" lang="en-US" sz="3300" spc="-1" strike="noStrike">
              <a:solidFill>
                <a:schemeClr val="dk1"/>
              </a:solidFill>
              <a:latin typeface="Calibri"/>
            </a:endParaRPr>
          </a:p>
        </p:txBody>
      </p:sp>
      <p:sp>
        <p:nvSpPr>
          <p:cNvPr id="79"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97878"/>
          </a:bodyPr>
          <a:p>
            <a:pPr marL="190080" indent="0" defTabSz="343080">
              <a:lnSpc>
                <a:spcPct val="100000"/>
              </a:lnSpc>
              <a:spcBef>
                <a:spcPts val="400"/>
              </a:spcBef>
              <a:buNone/>
              <a:tabLst>
                <a:tab algn="l" pos="0"/>
              </a:tabLst>
            </a:pPr>
            <a:r>
              <a:rPr b="0" lang="en-US" sz="2000" spc="-1" strike="noStrike">
                <a:solidFill>
                  <a:schemeClr val="dk1"/>
                </a:solidFill>
                <a:latin typeface="Calibri"/>
              </a:rPr>
              <a:t>Advanced methods in data science and applied machine learning, with case studies drawn from healthcare and biomedical research.</a:t>
            </a:r>
            <a:endParaRPr b="0" lang="en-US" sz="2000" spc="-1" strike="noStrike">
              <a:solidFill>
                <a:schemeClr val="dk1"/>
              </a:solidFill>
              <a:latin typeface="Calibri"/>
              <a:ea typeface="Noto Sans CJK SC"/>
            </a:endParaRPr>
          </a:p>
          <a:p>
            <a:pPr marL="190080" indent="0" defTabSz="343080">
              <a:lnSpc>
                <a:spcPct val="100000"/>
              </a:lnSpc>
              <a:spcBef>
                <a:spcPts val="400"/>
              </a:spcBef>
              <a:buNone/>
              <a:tabLst>
                <a:tab algn="l" pos="0"/>
              </a:tabLst>
            </a:pPr>
            <a:endParaRPr b="0" lang="en-US" sz="2000" spc="-1" strike="noStrike">
              <a:solidFill>
                <a:schemeClr val="dk1"/>
              </a:solidFill>
              <a:latin typeface="Calibri"/>
              <a:ea typeface="Noto Sans CJK SC"/>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The </a:t>
            </a:r>
            <a:r>
              <a:rPr b="1" lang="en-US" sz="2400" spc="-1" strike="noStrike">
                <a:solidFill>
                  <a:schemeClr val="dk1"/>
                </a:solidFill>
                <a:latin typeface="Calibri"/>
              </a:rPr>
              <a:t>theory is domain-general:</a:t>
            </a:r>
            <a:endParaRPr b="0" lang="en-US" sz="2400" spc="-1" strike="noStrike">
              <a:solidFill>
                <a:schemeClr val="dk1"/>
              </a:solidFill>
              <a:latin typeface="Calibri"/>
              <a:ea typeface="Noto Sans CJK SC"/>
            </a:endParaRPr>
          </a:p>
          <a:p>
            <a:pPr indent="0" defTabSz="343080">
              <a:lnSpc>
                <a:spcPct val="100000"/>
              </a:lnSpc>
              <a:spcBef>
                <a:spcPts val="420"/>
              </a:spcBef>
              <a:buNone/>
              <a:tabLst>
                <a:tab algn="l" pos="0"/>
              </a:tabLst>
            </a:pPr>
            <a:r>
              <a:rPr b="0" lang="en-US" sz="2100" spc="-1" strike="noStrike">
                <a:solidFill>
                  <a:schemeClr val="dk1"/>
                </a:solidFill>
                <a:latin typeface="Calibri"/>
              </a:rPr>
              <a:t>it transfers to finance, industry, climate, anything</a:t>
            </a:r>
            <a:endParaRPr b="0" lang="en-US" sz="2100" spc="-1" strike="noStrike">
              <a:solidFill>
                <a:schemeClr val="dk1"/>
              </a:solidFill>
              <a:latin typeface="Calibri"/>
              <a:ea typeface="Noto Sans CJK SC"/>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The </a:t>
            </a:r>
            <a:r>
              <a:rPr b="1" lang="en-US" sz="2400" spc="-1" strike="noStrike">
                <a:solidFill>
                  <a:schemeClr val="dk1"/>
                </a:solidFill>
                <a:latin typeface="Calibri"/>
              </a:rPr>
              <a:t>applications are clinical:</a:t>
            </a:r>
            <a:endParaRPr b="0" lang="en-US" sz="2400" spc="-1" strike="noStrike">
              <a:solidFill>
                <a:schemeClr val="dk1"/>
              </a:solidFill>
              <a:latin typeface="Calibri"/>
              <a:ea typeface="Noto Sans CJK SC"/>
            </a:endParaRPr>
          </a:p>
          <a:p>
            <a:pPr indent="0" defTabSz="343080">
              <a:lnSpc>
                <a:spcPct val="100000"/>
              </a:lnSpc>
              <a:spcBef>
                <a:spcPts val="420"/>
              </a:spcBef>
              <a:buNone/>
              <a:tabLst>
                <a:tab algn="l" pos="0"/>
              </a:tabLst>
            </a:pPr>
            <a:r>
              <a:rPr b="0" lang="en-US" sz="2100" spc="-1" strike="noStrike">
                <a:solidFill>
                  <a:schemeClr val="dk1"/>
                </a:solidFill>
                <a:latin typeface="Calibri"/>
              </a:rPr>
              <a:t>because that is my expertise</a:t>
            </a:r>
            <a:endParaRPr b="0" lang="en-US" sz="2100" spc="-1" strike="noStrike">
              <a:solidFill>
                <a:schemeClr val="dk1"/>
              </a:solidFill>
              <a:latin typeface="Calibri"/>
              <a:ea typeface="Noto Sans CJK SC"/>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All labs use </a:t>
            </a:r>
            <a:r>
              <a:rPr b="1" lang="en-US" sz="2400" spc="-1" strike="noStrike">
                <a:solidFill>
                  <a:schemeClr val="dk1"/>
                </a:solidFill>
                <a:latin typeface="Calibri"/>
              </a:rPr>
              <a:t>public datasets</a:t>
            </a:r>
            <a:endParaRPr b="0" lang="en-US" sz="2400" spc="-1" strike="noStrike">
              <a:solidFill>
                <a:schemeClr val="dk1"/>
              </a:solidFill>
              <a:latin typeface="Calibri"/>
              <a:ea typeface="Noto Sans CJK SC"/>
            </a:endParaRPr>
          </a:p>
          <a:p>
            <a:pPr indent="0" defTabSz="343080">
              <a:lnSpc>
                <a:spcPct val="100000"/>
              </a:lnSpc>
              <a:spcBef>
                <a:spcPts val="420"/>
              </a:spcBef>
              <a:buNone/>
              <a:tabLst>
                <a:tab algn="l" pos="0"/>
              </a:tabLst>
            </a:pPr>
            <a:r>
              <a:rPr b="0" lang="en-US" sz="2100" spc="-1" strike="noStrike">
                <a:solidFill>
                  <a:schemeClr val="dk1"/>
                </a:solidFill>
                <a:latin typeface="Calibri"/>
              </a:rPr>
              <a:t>(for legal issues)</a:t>
            </a:r>
            <a:endParaRPr b="0" lang="en-US" sz="2100" spc="-1" strike="noStrike">
              <a:solidFill>
                <a:schemeClr val="dk1"/>
              </a:solidFill>
              <a:latin typeface="Calibri"/>
              <a:ea typeface="Noto Sans CJK SC"/>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What this course is </a:t>
            </a:r>
            <a:r>
              <a:rPr b="0" i="1" lang="en-US" sz="3300" spc="-1" strike="noStrike">
                <a:solidFill>
                  <a:schemeClr val="dk1"/>
                </a:solidFill>
                <a:latin typeface="Calibri"/>
              </a:rPr>
              <a:t>not</a:t>
            </a:r>
            <a:endParaRPr b="0" lang="en-US" sz="3300" spc="-1" strike="noStrike">
              <a:solidFill>
                <a:schemeClr val="dk1"/>
              </a:solidFill>
              <a:latin typeface="Calibri"/>
            </a:endParaRPr>
          </a:p>
        </p:txBody>
      </p:sp>
      <p:sp>
        <p:nvSpPr>
          <p:cNvPr id="81"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Not a medical course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Not a “call </a:t>
            </a:r>
            <a:r>
              <a:rPr b="0" lang="en-US" sz="2400" spc="-1" strike="noStrike">
                <a:solidFill>
                  <a:schemeClr val="dk1"/>
                </a:solidFill>
                <a:latin typeface="Courier New"/>
              </a:rPr>
              <a:t>.fit()</a:t>
            </a:r>
            <a:r>
              <a:rPr b="0" lang="en-US" sz="2400" spc="-1" strike="noStrike">
                <a:solidFill>
                  <a:schemeClr val="dk1"/>
                </a:solidFill>
                <a:latin typeface="Calibri"/>
              </a:rPr>
              <a:t>” course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Not a deep learning theory course</a:t>
            </a:r>
            <a:endParaRPr b="0" lang="en-US" sz="2400" spc="-1" strike="noStrike">
              <a:solidFill>
                <a:schemeClr val="dk1"/>
              </a:solidFill>
              <a:latin typeface="Calibri"/>
            </a:endParaRPr>
          </a:p>
          <a:p>
            <a:pPr marL="343080" indent="0" defTabSz="343080">
              <a:lnSpc>
                <a:spcPct val="100000"/>
              </a:lnSpc>
              <a:spcBef>
                <a:spcPts val="420"/>
              </a:spcBef>
              <a:buNone/>
              <a:tabLst>
                <a:tab algn="l" pos="0"/>
              </a:tabLst>
            </a:pPr>
            <a:r>
              <a:rPr b="0" lang="en-US" sz="2100" spc="-1" strike="noStrike">
                <a:solidFill>
                  <a:schemeClr val="dk1"/>
                </a:solidFill>
                <a:latin typeface="Calibri"/>
              </a:rPr>
              <a:t>we will use deep learning if and only if it is appropriate</a:t>
            </a:r>
            <a:endParaRPr b="0" lang="en-US" sz="21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Format</a:t>
            </a:r>
            <a:endParaRPr b="0" lang="en-US" sz="3300" spc="-1" strike="noStrike">
              <a:solidFill>
                <a:schemeClr val="dk1"/>
              </a:solidFill>
              <a:latin typeface="Calibri"/>
            </a:endParaRPr>
          </a:p>
        </p:txBody>
      </p:sp>
      <p:graphicFrame>
        <p:nvGraphicFramePr>
          <p:cNvPr id="83" name="Content Placeholder 5"/>
          <p:cNvGraphicFramePr/>
          <p:nvPr/>
        </p:nvGraphicFramePr>
        <p:xfrm>
          <a:off x="457200" y="1193760"/>
          <a:ext cx="8229240" cy="1202400"/>
        </p:xfrm>
        <a:graphic>
          <a:graphicData uri="http://schemas.openxmlformats.org/drawingml/2006/table">
            <a:tbl>
              <a:tblPr/>
              <a:tblGrid>
                <a:gridCol w="4114800"/>
                <a:gridCol w="4114800"/>
              </a:tblGrid>
              <a:tr h="0">
                <a:tc>
                  <a:txBody>
                    <a:bodyPr anchor="t">
                      <a:noAutofit/>
                    </a:bodyPr>
                    <a:p>
                      <a:pPr defTabSz="343080">
                        <a:lnSpc>
                          <a:spcPct val="100000"/>
                        </a:lnSpc>
                        <a:tabLst>
                          <a:tab algn="l" pos="0"/>
                        </a:tabLst>
                      </a:pPr>
                      <a:r>
                        <a:rPr b="1" lang="en-US" sz="1350" spc="-1" strike="noStrike">
                          <a:solidFill>
                            <a:srgbClr val="000000"/>
                          </a:solidFill>
                          <a:latin typeface="Calibri"/>
                        </a:rPr>
                        <a:t>Lecture</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2.5h per week: concepts, methods</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Recitation</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1.5h per week: hands-on lab</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Duration</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14.5 weeks</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Language</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English</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bl>
          </a:graphicData>
        </a:graphic>
      </p:graphicFrame>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Grading</a:t>
            </a:r>
            <a:endParaRPr b="0" lang="en-US" sz="3300" spc="-1" strike="noStrike">
              <a:solidFill>
                <a:schemeClr val="dk1"/>
              </a:solidFill>
              <a:latin typeface="Calibri"/>
            </a:endParaRPr>
          </a:p>
        </p:txBody>
      </p:sp>
      <p:graphicFrame>
        <p:nvGraphicFramePr>
          <p:cNvPr id="85" name="Content Placeholder 5"/>
          <p:cNvGraphicFramePr/>
          <p:nvPr/>
        </p:nvGraphicFramePr>
        <p:xfrm>
          <a:off x="457200" y="1193760"/>
          <a:ext cx="8229240" cy="1803600"/>
        </p:xfrm>
        <a:graphic>
          <a:graphicData uri="http://schemas.openxmlformats.org/drawingml/2006/table">
            <a:tbl>
              <a:tblPr/>
              <a:tblGrid>
                <a:gridCol w="4114800"/>
                <a:gridCol w="4114800"/>
              </a:tblGrid>
              <a:tr h="0">
                <a:tc>
                  <a:txBody>
                    <a:bodyPr anchor="t">
                      <a:noAutofit/>
                    </a:bodyPr>
                    <a:p>
                      <a:pPr defTabSz="343080">
                        <a:lnSpc>
                          <a:spcPct val="100000"/>
                        </a:lnSpc>
                        <a:tabLst>
                          <a:tab algn="l" pos="0"/>
                        </a:tabLst>
                      </a:pPr>
                      <a:r>
                        <a:rPr b="0" lang="en-US" sz="1350" spc="-1" strike="noStrike">
                          <a:solidFill>
                            <a:srgbClr val="ffffff"/>
                          </a:solidFill>
                          <a:latin typeface="Calibri"/>
                        </a:rPr>
                        <a:t>Component</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c>
                  <a:txBody>
                    <a:bodyPr anchor="t">
                      <a:noAutofit/>
                    </a:bodyPr>
                    <a:p>
                      <a:pPr defTabSz="343080">
                        <a:lnSpc>
                          <a:spcPct val="100000"/>
                        </a:lnSpc>
                        <a:tabLst>
                          <a:tab algn="l" pos="0"/>
                        </a:tabLst>
                      </a:pPr>
                      <a:r>
                        <a:rPr b="0" lang="en-US" sz="1350" spc="-1" strike="noStrike">
                          <a:solidFill>
                            <a:srgbClr val="ffffff"/>
                          </a:solidFill>
                          <a:latin typeface="Calibri"/>
                        </a:rPr>
                        <a:t>Weight</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r>
              <a:tr h="0">
                <a:tc>
                  <a:txBody>
                    <a:bodyPr anchor="t">
                      <a:noAutofit/>
                    </a:bodyPr>
                    <a:p>
                      <a:pPr defTabSz="343080">
                        <a:lnSpc>
                          <a:spcPct val="100000"/>
                        </a:lnSpc>
                        <a:tabLst>
                          <a:tab algn="l" pos="0"/>
                        </a:tabLst>
                      </a:pPr>
                      <a:r>
                        <a:rPr b="0" lang="en-US" sz="1350" spc="-1" strike="noStrike">
                          <a:solidFill>
                            <a:srgbClr val="000000"/>
                          </a:solidFill>
                          <a:latin typeface="Calibri"/>
                        </a:rPr>
                        <a:t>Weekly labs</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0%</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0" lang="en-US" sz="1350" spc="-1" strike="noStrike">
                          <a:solidFill>
                            <a:srgbClr val="000000"/>
                          </a:solidFill>
                          <a:latin typeface="Calibri"/>
                        </a:rPr>
                        <a:t>Kaggle challenges</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 %</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r h="0">
                <a:tc>
                  <a:txBody>
                    <a:bodyPr anchor="t">
                      <a:noAutofit/>
                    </a:bodyPr>
                    <a:p>
                      <a:pPr defTabSz="343080">
                        <a:lnSpc>
                          <a:spcPct val="100000"/>
                        </a:lnSpc>
                        <a:tabLst>
                          <a:tab algn="l" pos="0"/>
                        </a:tabLst>
                      </a:pPr>
                      <a:r>
                        <a:rPr b="0" lang="en-US" sz="1350" spc="-1" strike="noStrike">
                          <a:solidFill>
                            <a:srgbClr val="000000"/>
                          </a:solidFill>
                          <a:latin typeface="Calibri"/>
                        </a:rPr>
                        <a:t>Paper reading presentation/report</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 %</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0" lang="en-US" sz="1350" spc="-1" strike="noStrike">
                          <a:solidFill>
                            <a:srgbClr val="000000"/>
                          </a:solidFill>
                          <a:latin typeface="Calibri"/>
                        </a:rPr>
                        <a:t>Poster mini-project</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 %</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r h="0">
                <a:tc>
                  <a:txBody>
                    <a:bodyPr anchor="t">
                      <a:noAutofit/>
                    </a:bodyPr>
                    <a:p>
                      <a:pPr defTabSz="343080">
                        <a:lnSpc>
                          <a:spcPct val="100000"/>
                        </a:lnSpc>
                        <a:tabLst>
                          <a:tab algn="l" pos="0"/>
                        </a:tabLst>
                      </a:pPr>
                      <a:r>
                        <a:rPr b="0" lang="en-US" sz="1350" spc="-1" strike="noStrike">
                          <a:solidFill>
                            <a:srgbClr val="000000"/>
                          </a:solidFill>
                          <a:latin typeface="Calibri"/>
                        </a:rPr>
                        <a:t>Final project presentation/report</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 %</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Roadmap of the semester</a:t>
            </a:r>
            <a:endParaRPr b="0" lang="en-US" sz="3300" spc="-1" strike="noStrike">
              <a:solidFill>
                <a:schemeClr val="dk1"/>
              </a:solidFill>
              <a:latin typeface="Calibri"/>
            </a:endParaRPr>
          </a:p>
        </p:txBody>
      </p:sp>
      <p:sp>
        <p:nvSpPr>
          <p:cNvPr id="87"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1–4:</a:t>
            </a:r>
            <a:r>
              <a:rPr b="0" lang="en-US" sz="2400" spc="-1" strike="noStrike">
                <a:solidFill>
                  <a:schemeClr val="dk1"/>
                </a:solidFill>
                <a:latin typeface="Calibri"/>
              </a:rPr>
              <a:t> Foundations (data, features, missingness…)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5–6:</a:t>
            </a:r>
            <a:r>
              <a:rPr b="0" lang="en-US" sz="2400" spc="-1" strike="noStrike">
                <a:solidFill>
                  <a:schemeClr val="dk1"/>
                </a:solidFill>
                <a:latin typeface="Calibri"/>
              </a:rPr>
              <a:t> Time series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7–10:</a:t>
            </a:r>
            <a:r>
              <a:rPr b="0" lang="en-US" sz="2400" spc="-1" strike="noStrike">
                <a:solidFill>
                  <a:schemeClr val="dk1"/>
                </a:solidFill>
                <a:latin typeface="Calibri"/>
              </a:rPr>
              <a:t> Images (2D and 3D)</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11–12:</a:t>
            </a:r>
            <a:r>
              <a:rPr b="0" lang="en-US" sz="2400" spc="-1" strike="noStrike">
                <a:solidFill>
                  <a:schemeClr val="dk1"/>
                </a:solidFill>
                <a:latin typeface="Calibri"/>
              </a:rPr>
              <a:t> Text (NLP/LLMs)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13–14:</a:t>
            </a:r>
            <a:r>
              <a:rPr b="0" lang="en-US" sz="2400" spc="-1" strike="noStrike">
                <a:solidFill>
                  <a:schemeClr val="dk1"/>
                </a:solidFill>
                <a:latin typeface="Calibri"/>
              </a:rPr>
              <a:t> Causality, bias, privacy, deployment</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i="1" lang="en-US" sz="2400" spc="-1" strike="noStrike">
                <a:solidFill>
                  <a:schemeClr val="dk1"/>
                </a:solidFill>
                <a:latin typeface="Calibri"/>
              </a:rPr>
              <a:t>This syllabus is provisional and may be adjusted weekly depending on the pace of the class.</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Tooling</a:t>
            </a:r>
            <a:endParaRPr b="0" lang="en-US" sz="3300" spc="-1" strike="noStrike">
              <a:solidFill>
                <a:schemeClr val="dk1"/>
              </a:solidFill>
              <a:latin typeface="Calibri"/>
            </a:endParaRPr>
          </a:p>
        </p:txBody>
      </p:sp>
      <p:sp>
        <p:nvSpPr>
          <p:cNvPr id="89"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Python 3.11+</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ourier New"/>
              </a:rPr>
              <a:t>uv</a:t>
            </a:r>
            <a:r>
              <a:rPr b="0" lang="en-US" sz="2400" spc="-1" strike="noStrike">
                <a:solidFill>
                  <a:schemeClr val="dk1"/>
                </a:solidFill>
                <a:latin typeface="Calibri"/>
              </a:rPr>
              <a:t> for environments (or </a:t>
            </a:r>
            <a:r>
              <a:rPr b="0" lang="en-US" sz="2400" spc="-1" strike="noStrike">
                <a:solidFill>
                  <a:schemeClr val="dk1"/>
                </a:solidFill>
                <a:latin typeface="Courier New"/>
              </a:rPr>
              <a:t>pip</a:t>
            </a:r>
            <a:r>
              <a:rPr b="0" lang="en-US" sz="2400" spc="-1" strike="noStrike">
                <a:solidFill>
                  <a:schemeClr val="dk1"/>
                </a:solidFill>
                <a:latin typeface="Calibri"/>
              </a:rPr>
              <a:t>)</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ourier New"/>
              </a:rPr>
              <a:t>pandas</a:t>
            </a:r>
            <a:r>
              <a:rPr b="0" lang="en-US" sz="2400" spc="-1" strike="noStrike">
                <a:solidFill>
                  <a:schemeClr val="dk1"/>
                </a:solidFill>
                <a:latin typeface="Calibri"/>
              </a:rPr>
              <a:t>, </a:t>
            </a:r>
            <a:r>
              <a:rPr b="0" lang="en-US" sz="2400" spc="-1" strike="noStrike">
                <a:solidFill>
                  <a:schemeClr val="dk1"/>
                </a:solidFill>
                <a:latin typeface="Courier New"/>
              </a:rPr>
              <a:t>numpy</a:t>
            </a:r>
            <a:r>
              <a:rPr b="0" lang="en-US" sz="2400" spc="-1" strike="noStrike">
                <a:solidFill>
                  <a:schemeClr val="dk1"/>
                </a:solidFill>
                <a:latin typeface="Calibri"/>
              </a:rPr>
              <a:t>, </a:t>
            </a:r>
            <a:r>
              <a:rPr b="0" lang="en-US" sz="2400" spc="-1" strike="noStrike">
                <a:solidFill>
                  <a:schemeClr val="dk1"/>
                </a:solidFill>
                <a:latin typeface="Courier New"/>
              </a:rPr>
              <a:t>scikit-learn</a:t>
            </a:r>
            <a:r>
              <a:rPr b="0" lang="en-US" sz="2400" spc="-1" strike="noStrike">
                <a:solidFill>
                  <a:schemeClr val="dk1"/>
                </a:solidFill>
                <a:latin typeface="Calibri"/>
              </a:rPr>
              <a:t>, </a:t>
            </a:r>
            <a:r>
              <a:rPr b="0" lang="en-US" sz="2400" spc="-1" strike="noStrike">
                <a:solidFill>
                  <a:schemeClr val="dk1"/>
                </a:solidFill>
                <a:latin typeface="Courier New"/>
              </a:rPr>
              <a:t>matplotlib</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ourier New"/>
              </a:rPr>
              <a:t>pytorch</a:t>
            </a:r>
            <a:r>
              <a:rPr b="0" lang="en-US" sz="2400" spc="-1" strike="noStrike">
                <a:solidFill>
                  <a:schemeClr val="dk1"/>
                </a:solidFill>
                <a:latin typeface="Calibri"/>
              </a:rPr>
              <a:t> for deep learning</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Jupyter notebooks for labs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Compute: a modern laptop should be enough</a:t>
            </a:r>
            <a:endParaRPr b="0" lang="en-US" sz="2400" spc="-1" strike="noStrike">
              <a:solidFill>
                <a:schemeClr val="dk1"/>
              </a:solidFill>
              <a:latin typeface="Calibri"/>
            </a:endParaRPr>
          </a:p>
          <a:p>
            <a:pPr marL="343080" indent="0" defTabSz="343080">
              <a:lnSpc>
                <a:spcPct val="100000"/>
              </a:lnSpc>
              <a:spcBef>
                <a:spcPts val="420"/>
              </a:spcBef>
              <a:buNone/>
              <a:tabLst>
                <a:tab algn="l" pos="0"/>
              </a:tabLst>
            </a:pPr>
            <a:r>
              <a:rPr b="0" lang="en-US" sz="2100" spc="-1" strike="noStrike">
                <a:solidFill>
                  <a:schemeClr val="dk1"/>
                </a:solidFill>
                <a:latin typeface="Calibri"/>
              </a:rPr>
              <a:t>if more compute is needed, we will make arrangements</a:t>
            </a:r>
            <a:endParaRPr b="0" lang="en-US" sz="21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rmAutofit/>
          </a:bodyPr>
          <a:p>
            <a:pPr indent="0" defTabSz="343080">
              <a:lnSpc>
                <a:spcPct val="100000"/>
              </a:lnSpc>
              <a:buNone/>
              <a:tabLst>
                <a:tab algn="l" pos="0"/>
              </a:tabLst>
            </a:pPr>
            <a:r>
              <a:rPr b="1" lang="en-US" sz="3000" spc="-1" strike="noStrike" cap="all">
                <a:solidFill>
                  <a:schemeClr val="dk1"/>
                </a:solidFill>
                <a:latin typeface="Calibri"/>
              </a:rPr>
              <a:t>1. What makes data science hard</a:t>
            </a:r>
            <a:endParaRPr b="0" lang="en-US" sz="30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The textbook picture</a:t>
            </a:r>
            <a:endParaRPr b="0" lang="en-US" sz="3300" spc="-1" strike="noStrike">
              <a:solidFill>
                <a:schemeClr val="dk1"/>
              </a:solidFill>
              <a:latin typeface="Calibri"/>
            </a:endParaRPr>
          </a:p>
        </p:txBody>
      </p:sp>
      <p:sp>
        <p:nvSpPr>
          <p:cNvPr id="92"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1270080" indent="0" defTabSz="343080">
              <a:lnSpc>
                <a:spcPct val="100000"/>
              </a:lnSpc>
              <a:spcBef>
                <a:spcPts val="400"/>
              </a:spcBef>
              <a:buNone/>
              <a:tabLst>
                <a:tab algn="l" pos="0"/>
              </a:tabLst>
            </a:pPr>
            <a:r>
              <a:rPr b="1" lang="en-US" sz="2000" spc="-1" strike="noStrike">
                <a:solidFill>
                  <a:schemeClr val="dk1"/>
                </a:solidFill>
                <a:latin typeface="Calibri"/>
              </a:rPr>
              <a:t>D</a:t>
            </a:r>
            <a:r>
              <a:rPr b="0" lang="en-US" sz="2000" spc="-1" strike="noStrike">
                <a:solidFill>
                  <a:schemeClr val="dk1"/>
                </a:solidFill>
                <a:latin typeface="Calibri"/>
              </a:rPr>
              <a:t> = {(x⁽ⁱ⁾, y⁽ⁱ⁾)}, i = 1 … n drawn </a:t>
            </a:r>
            <a:r>
              <a:rPr b="1" lang="en-US" sz="2000" spc="-1" strike="noStrike">
                <a:solidFill>
                  <a:schemeClr val="dk1"/>
                </a:solidFill>
                <a:latin typeface="Calibri"/>
              </a:rPr>
              <a:t>i.i.d.</a:t>
            </a:r>
            <a:r>
              <a:rPr b="0" lang="en-US" sz="2000" spc="-1" strike="noStrike">
                <a:solidFill>
                  <a:schemeClr val="dk1"/>
                </a:solidFill>
                <a:latin typeface="Calibri"/>
              </a:rPr>
              <a:t> from P(X, Y)</a:t>
            </a:r>
            <a:endParaRPr b="0" lang="en-US" sz="20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Given </a:t>
            </a:r>
            <a:r>
              <a:rPr b="1" lang="en-US" sz="2400" spc="-1" strike="noStrike">
                <a:solidFill>
                  <a:schemeClr val="dk1"/>
                </a:solidFill>
                <a:latin typeface="Calibri"/>
              </a:rPr>
              <a:t>D</a:t>
            </a:r>
            <a:r>
              <a:rPr b="0" lang="en-US" sz="2400" spc="-1" strike="noStrike">
                <a:solidFill>
                  <a:schemeClr val="dk1"/>
                </a:solidFill>
                <a:latin typeface="Calibri"/>
              </a:rPr>
              <a:t>, generalise to new draws from P.</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Noise/errors:</a:t>
            </a:r>
            <a:r>
              <a:rPr b="0" lang="en-US" sz="2400" spc="-1" strike="noStrike">
                <a:solidFill>
                  <a:schemeClr val="dk1"/>
                </a:solidFill>
                <a:latin typeface="Calibri"/>
              </a:rPr>
              <a:t> the labels and the features are wrong, sometimes badly</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Missingness:</a:t>
            </a:r>
            <a:r>
              <a:rPr b="0" lang="en-US" sz="2400" spc="-1" strike="noStrike">
                <a:solidFill>
                  <a:schemeClr val="dk1"/>
                </a:solidFill>
                <a:latin typeface="Calibri"/>
              </a:rPr>
              <a:t> the data is (sometimes) absent</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Class imbalance:</a:t>
            </a:r>
            <a:r>
              <a:rPr b="0" lang="en-US" sz="2400" spc="-1" strike="noStrike">
                <a:solidFill>
                  <a:schemeClr val="dk1"/>
                </a:solidFill>
                <a:latin typeface="Calibri"/>
              </a:rPr>
              <a:t> the event you care about is rare</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Noise</a:t>
            </a:r>
            <a:endParaRPr b="0" lang="en-US" sz="3300" spc="-1" strike="noStrike">
              <a:solidFill>
                <a:schemeClr val="dk1"/>
              </a:solidFill>
              <a:latin typeface="Calibri"/>
            </a:endParaRPr>
          </a:p>
        </p:txBody>
      </p:sp>
      <p:sp>
        <p:nvSpPr>
          <p:cNvPr id="94"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87465" lnSpcReduction="10000"/>
          </a:bodyPr>
          <a:p>
            <a:pPr indent="0" defTabSz="343080">
              <a:lnSpc>
                <a:spcPct val="100000"/>
              </a:lnSpc>
              <a:spcBef>
                <a:spcPts val="479"/>
              </a:spcBef>
              <a:buNone/>
              <a:tabLst>
                <a:tab algn="l" pos="0"/>
              </a:tabLst>
            </a:pPr>
            <a:r>
              <a:rPr b="0" lang="en-US" sz="2400" spc="-1" strike="noStrike">
                <a:solidFill>
                  <a:schemeClr val="dk1"/>
                </a:solidFill>
                <a:latin typeface="Calibri"/>
              </a:rPr>
              <a:t>Your label is not the truth: It is a </a:t>
            </a:r>
            <a:r>
              <a:rPr b="1" lang="en-US" sz="2400" spc="-1" strike="noStrike">
                <a:solidFill>
                  <a:schemeClr val="dk1"/>
                </a:solidFill>
                <a:latin typeface="Calibri"/>
              </a:rPr>
              <a:t>proxy</a:t>
            </a:r>
            <a:r>
              <a:rPr b="0" lang="en-US" sz="2400" spc="-1" strike="noStrike">
                <a:solidFill>
                  <a:schemeClr val="dk1"/>
                </a:solidFill>
                <a:latin typeface="Calibri"/>
              </a:rPr>
              <a:t> produced by the measurement process.</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Example: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a:t>
            </a:r>
            <a:r>
              <a:rPr b="0" lang="en-US" sz="2400" spc="-1" strike="noStrike">
                <a:solidFill>
                  <a:schemeClr val="dk1"/>
                </a:solidFill>
                <a:latin typeface="Calibri"/>
              </a:rPr>
              <a:t>Pneumonia” on a chest X-ray: one radiologist’s opinion, alone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Inter-rater agreement between radiologists is often 40% to 70%</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1" lang="en-US" sz="2400" spc="-1" strike="noStrike">
                <a:solidFill>
                  <a:schemeClr val="dk1"/>
                </a:solidFill>
                <a:latin typeface="Calibri"/>
              </a:rPr>
              <a:t>Practical rule:</a:t>
            </a:r>
            <a:r>
              <a:rPr b="0" lang="en-US" sz="2400" spc="-1" strike="noStrike">
                <a:solidFill>
                  <a:schemeClr val="dk1"/>
                </a:solidFill>
                <a:latin typeface="Calibri"/>
              </a:rPr>
              <a:t> before modelling, ask </a:t>
            </a:r>
            <a:r>
              <a:rPr b="0" i="1" lang="en-US" sz="2400" spc="-1" strike="noStrike">
                <a:solidFill>
                  <a:schemeClr val="dk1"/>
                </a:solidFill>
                <a:latin typeface="Calibri"/>
              </a:rPr>
              <a:t>who</a:t>
            </a:r>
            <a:r>
              <a:rPr b="0" lang="en-US" sz="2400" spc="-1" strike="noStrike">
                <a:solidFill>
                  <a:schemeClr val="dk1"/>
                </a:solidFill>
                <a:latin typeface="Calibri"/>
              </a:rPr>
              <a:t> produced this label, </a:t>
            </a:r>
            <a:r>
              <a:rPr b="0" i="1" lang="en-US" sz="2400" spc="-1" strike="noStrike">
                <a:solidFill>
                  <a:schemeClr val="dk1"/>
                </a:solidFill>
                <a:latin typeface="Calibri"/>
              </a:rPr>
              <a:t>when</a:t>
            </a:r>
            <a:r>
              <a:rPr b="0" lang="en-US" sz="2400" spc="-1" strike="noStrike">
                <a:solidFill>
                  <a:schemeClr val="dk1"/>
                </a:solidFill>
                <a:latin typeface="Calibri"/>
              </a:rPr>
              <a:t>, and </a:t>
            </a:r>
            <a:r>
              <a:rPr b="0" i="1" lang="en-US" sz="2400" spc="-1" strike="noStrike">
                <a:solidFill>
                  <a:schemeClr val="dk1"/>
                </a:solidFill>
                <a:latin typeface="Calibri"/>
              </a:rPr>
              <a:t>why</a:t>
            </a:r>
            <a:r>
              <a:rPr b="0" lang="en-US" sz="2400" spc="-1" strike="noStrike">
                <a:solidFill>
                  <a:schemeClr val="dk1"/>
                </a:solidFill>
                <a:latin typeface="Calibri"/>
              </a:rPr>
              <a:t>.</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Label noise caps your achievable performance: you cannot beat the annotator.</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Symmetric noise hurts </a:t>
            </a:r>
            <a:r>
              <a:rPr b="0" i="1" lang="en-US" sz="2400" spc="-1" strike="noStrike">
                <a:solidFill>
                  <a:schemeClr val="dk1"/>
                </a:solidFill>
                <a:latin typeface="Calibri"/>
              </a:rPr>
              <a:t>variance</a:t>
            </a:r>
            <a:r>
              <a:rPr b="0" lang="en-US" sz="2400" spc="-1" strike="noStrike">
                <a:solidFill>
                  <a:schemeClr val="dk1"/>
                </a:solidFill>
                <a:latin typeface="Calibri"/>
              </a:rPr>
              <a:t>; asymmetric noise creates a </a:t>
            </a:r>
            <a:r>
              <a:rPr b="0" i="1" lang="en-US" sz="2400" spc="-1" strike="noStrike">
                <a:solidFill>
                  <a:schemeClr val="dk1"/>
                </a:solidFill>
                <a:latin typeface="Calibri"/>
              </a:rPr>
              <a:t>bias</a:t>
            </a:r>
            <a:r>
              <a:rPr b="0" lang="en-US" sz="2400" spc="-1" strike="noStrike">
                <a:solidFill>
                  <a:schemeClr val="dk1"/>
                </a:solidFill>
                <a:latin typeface="Calibri"/>
              </a:rPr>
              <a: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Noise</a:t>
            </a:r>
            <a:endParaRPr b="0" lang="en-US" sz="3300" spc="-1" strike="noStrike">
              <a:solidFill>
                <a:schemeClr val="dk1"/>
              </a:solidFill>
              <a:latin typeface="Calibri"/>
            </a:endParaRPr>
          </a:p>
        </p:txBody>
      </p:sp>
      <p:pic>
        <p:nvPicPr>
          <p:cNvPr id="96" name="Picture 1" descr="img/noise_q.png"/>
          <p:cNvPicPr/>
          <p:nvPr/>
        </p:nvPicPr>
        <p:blipFill>
          <a:blip r:embed="rId1"/>
          <a:stretch/>
        </p:blipFill>
        <p:spPr>
          <a:xfrm>
            <a:off x="457200" y="1244520"/>
            <a:ext cx="8229240" cy="3288960"/>
          </a:xfrm>
          <a:prstGeom prst="rect">
            <a:avLst/>
          </a:prstGeom>
          <a:ln w="9525">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Noise</a:t>
            </a:r>
            <a:endParaRPr b="0" lang="en-US" sz="3300" spc="-1" strike="noStrike">
              <a:solidFill>
                <a:schemeClr val="dk1"/>
              </a:solidFill>
              <a:latin typeface="Calibri"/>
            </a:endParaRPr>
          </a:p>
        </p:txBody>
      </p:sp>
      <p:pic>
        <p:nvPicPr>
          <p:cNvPr id="98" name="Picture 1" descr="img/noise.png"/>
          <p:cNvPicPr/>
          <p:nvPr/>
        </p:nvPicPr>
        <p:blipFill>
          <a:blip r:embed="rId1"/>
          <a:stretch/>
        </p:blipFill>
        <p:spPr>
          <a:xfrm>
            <a:off x="457200" y="1244520"/>
            <a:ext cx="8229240" cy="3288960"/>
          </a:xfrm>
          <a:prstGeom prst="rect">
            <a:avLst/>
          </a:prstGeom>
          <a:ln w="9525">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Noise</a:t>
            </a:r>
            <a:endParaRPr b="0" lang="en-US" sz="3300" spc="-1" strike="noStrike">
              <a:solidFill>
                <a:schemeClr val="dk1"/>
              </a:solidFill>
              <a:latin typeface="Calibri"/>
            </a:endParaRPr>
          </a:p>
        </p:txBody>
      </p:sp>
      <p:pic>
        <p:nvPicPr>
          <p:cNvPr id="100" name="Picture 1" descr="img/noise_alt.png"/>
          <p:cNvPicPr/>
          <p:nvPr/>
        </p:nvPicPr>
        <p:blipFill>
          <a:blip r:embed="rId1"/>
          <a:stretch/>
        </p:blipFill>
        <p:spPr>
          <a:xfrm>
            <a:off x="457200" y="1244520"/>
            <a:ext cx="8229240" cy="3288960"/>
          </a:xfrm>
          <a:prstGeom prst="rect">
            <a:avLst/>
          </a:prstGeom>
          <a:ln w="9525">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Errors in features</a:t>
            </a:r>
            <a:endParaRPr b="0" lang="en-US" sz="3300" spc="-1" strike="noStrike">
              <a:solidFill>
                <a:schemeClr val="dk1"/>
              </a:solidFill>
              <a:latin typeface="Calibri"/>
            </a:endParaRPr>
          </a:p>
        </p:txBody>
      </p:sp>
      <p:sp>
        <p:nvSpPr>
          <p:cNvPr id="102"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Sensor artefacts: a heart rate of 300 bpm is a detached lead, not tachycardia</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Unit chaos: weight in kg </a:t>
            </a:r>
            <a:r>
              <a:rPr b="0" i="1" lang="en-US" sz="2400" spc="-1" strike="noStrike">
                <a:solidFill>
                  <a:schemeClr val="dk1"/>
                </a:solidFill>
                <a:latin typeface="Calibri"/>
              </a:rPr>
              <a:t>and</a:t>
            </a:r>
            <a:r>
              <a:rPr b="0" lang="en-US" sz="2400" spc="-1" strike="noStrike">
                <a:solidFill>
                  <a:schemeClr val="dk1"/>
                </a:solidFill>
                <a:latin typeface="Calibri"/>
              </a:rPr>
              <a:t> lb in the same column; glucose in mg/dL </a:t>
            </a:r>
            <a:r>
              <a:rPr b="0" i="1" lang="en-US" sz="2400" spc="-1" strike="noStrike">
                <a:solidFill>
                  <a:schemeClr val="dk1"/>
                </a:solidFill>
                <a:latin typeface="Calibri"/>
              </a:rPr>
              <a:t>and</a:t>
            </a:r>
            <a:r>
              <a:rPr b="0" lang="en-US" sz="2400" spc="-1" strike="noStrike">
                <a:solidFill>
                  <a:schemeClr val="dk1"/>
                </a:solidFill>
                <a:latin typeface="Calibri"/>
              </a:rPr>
              <a:t> mmol/L</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Copy-forward: the same “current” value duplicated across days of notes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Timestamps: charted at the time of </a:t>
            </a:r>
            <a:r>
              <a:rPr b="0" i="1" lang="en-US" sz="2400" spc="-1" strike="noStrike">
                <a:solidFill>
                  <a:schemeClr val="dk1"/>
                </a:solidFill>
                <a:latin typeface="Calibri"/>
              </a:rPr>
              <a:t>entry</a:t>
            </a:r>
            <a:r>
              <a:rPr b="0" lang="en-US" sz="2400" spc="-1" strike="noStrike">
                <a:solidFill>
                  <a:schemeClr val="dk1"/>
                </a:solidFill>
                <a:latin typeface="Calibri"/>
              </a:rPr>
              <a:t>, not the time of </a:t>
            </a:r>
            <a:r>
              <a:rPr b="0" i="1" lang="en-US" sz="2400" spc="-1" strike="noStrike">
                <a:solidFill>
                  <a:schemeClr val="dk1"/>
                </a:solidFill>
                <a:latin typeface="Calibri"/>
              </a:rPr>
              <a:t>measurement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Errors in features</a:t>
            </a:r>
            <a:endParaRPr b="0" lang="en-US" sz="3300" spc="-1" strike="noStrike">
              <a:solidFill>
                <a:schemeClr val="dk1"/>
              </a:solidFill>
              <a:latin typeface="Calibri"/>
            </a:endParaRPr>
          </a:p>
        </p:txBody>
      </p:sp>
      <p:sp>
        <p:nvSpPr>
          <p:cNvPr id="104"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87465"/>
          </a:bodyPr>
          <a:p>
            <a:pPr marL="343080" indent="0" defTabSz="343080">
              <a:lnSpc>
                <a:spcPct val="100000"/>
              </a:lnSpc>
              <a:spcBef>
                <a:spcPts val="479"/>
              </a:spcBef>
              <a:buNone/>
              <a:tabLst>
                <a:tab algn="l" pos="0"/>
              </a:tabLst>
            </a:pPr>
            <a:r>
              <a:rPr b="0" lang="en-US" sz="2400" spc="-1" strike="noStrike">
                <a:solidFill>
                  <a:srgbClr val="666666"/>
                </a:solidFill>
                <a:latin typeface="Courier New"/>
              </a:rPr>
              <a:t>&gt;&gt;&gt;</a:t>
            </a:r>
            <a:r>
              <a:rPr b="0" lang="en-US" sz="2400" spc="-1" strike="noStrike">
                <a:solidFill>
                  <a:schemeClr val="dk1"/>
                </a:solidFill>
                <a:latin typeface="Courier New"/>
              </a:rPr>
              <a:t> vitals.heart_rate.agg([</a:t>
            </a:r>
            <a:r>
              <a:rPr b="0" lang="en-US" sz="2400" spc="-1" strike="noStrike">
                <a:solidFill>
                  <a:srgbClr val="4070a0"/>
                </a:solidFill>
                <a:latin typeface="Courier New"/>
              </a:rPr>
              <a:t>"min"</a:t>
            </a:r>
            <a:r>
              <a:rPr b="0" lang="en-US" sz="2400" spc="-1" strike="noStrike">
                <a:solidFill>
                  <a:schemeClr val="dk1"/>
                </a:solidFill>
                <a:latin typeface="Courier New"/>
              </a:rPr>
              <a:t>, </a:t>
            </a:r>
            <a:r>
              <a:rPr b="0" lang="en-US" sz="2400" spc="-1" strike="noStrike">
                <a:solidFill>
                  <a:srgbClr val="4070a0"/>
                </a:solidFill>
                <a:latin typeface="Courier New"/>
              </a:rPr>
              <a:t>"max"</a:t>
            </a:r>
            <a:r>
              <a:rPr b="0" lang="en-US" sz="2400" spc="-1" strike="noStrike">
                <a:solidFill>
                  <a:schemeClr val="dk1"/>
                </a:solidFill>
                <a:latin typeface="Courier New"/>
              </a:rPr>
              <a:t>])</a:t>
            </a:r>
            <a:br>
              <a:rPr sz="2400"/>
            </a:br>
            <a:r>
              <a:rPr b="0" lang="en-US" sz="2400" spc="-1" strike="noStrike">
                <a:solidFill>
                  <a:srgbClr val="008000"/>
                </a:solidFill>
                <a:latin typeface="Courier New"/>
              </a:rPr>
              <a:t>min</a:t>
            </a:r>
            <a:r>
              <a:rPr b="0" lang="en-US" sz="2400" spc="-1" strike="noStrike">
                <a:solidFill>
                  <a:schemeClr val="dk1"/>
                </a:solidFill>
                <a:latin typeface="Courier New"/>
              </a:rPr>
              <a:t>      </a:t>
            </a:r>
            <a:r>
              <a:rPr b="0" lang="en-US" sz="2400" spc="-1" strike="noStrike">
                <a:solidFill>
                  <a:srgbClr val="40a070"/>
                </a:solidFill>
                <a:latin typeface="Courier New"/>
              </a:rPr>
              <a:t>0.0</a:t>
            </a:r>
            <a:br>
              <a:rPr sz="2400"/>
            </a:br>
            <a:r>
              <a:rPr b="0" lang="en-US" sz="2400" spc="-1" strike="noStrike">
                <a:solidFill>
                  <a:srgbClr val="008000"/>
                </a:solidFill>
                <a:latin typeface="Courier New"/>
              </a:rPr>
              <a:t>max</a:t>
            </a:r>
            <a:r>
              <a:rPr b="0" lang="en-US" sz="2400" spc="-1" strike="noStrike">
                <a:solidFill>
                  <a:schemeClr val="dk1"/>
                </a:solidFill>
                <a:latin typeface="Courier New"/>
              </a:rPr>
              <a:t>    </a:t>
            </a:r>
            <a:r>
              <a:rPr b="0" lang="en-US" sz="2400" spc="-1" strike="noStrike">
                <a:solidFill>
                  <a:srgbClr val="40a070"/>
                </a:solidFill>
                <a:latin typeface="Courier New"/>
              </a:rPr>
              <a:t>300.0</a:t>
            </a:r>
            <a:r>
              <a:rPr b="0" lang="en-US" sz="2400" spc="-1" strike="noStrike">
                <a:solidFill>
                  <a:schemeClr val="dk1"/>
                </a:solidFill>
                <a:latin typeface="Courier New"/>
              </a:rPr>
              <a:t>    </a:t>
            </a:r>
            <a:r>
              <a:rPr b="0" i="1" lang="en-US" sz="2400" spc="-1" strike="noStrike">
                <a:solidFill>
                  <a:srgbClr val="60a0b0"/>
                </a:solidFill>
                <a:latin typeface="Courier New"/>
              </a:rPr>
              <a:t># a detached lead</a:t>
            </a:r>
            <a:br>
              <a:rPr sz="2400"/>
            </a:br>
            <a:br>
              <a:rPr sz="2400"/>
            </a:br>
            <a:r>
              <a:rPr b="0" lang="en-US" sz="2400" spc="-1" strike="noStrike">
                <a:solidFill>
                  <a:srgbClr val="666666"/>
                </a:solidFill>
                <a:latin typeface="Courier New"/>
              </a:rPr>
              <a:t>&gt;&gt;&gt;</a:t>
            </a:r>
            <a:r>
              <a:rPr b="0" lang="en-US" sz="2400" spc="-1" strike="noStrike">
                <a:solidFill>
                  <a:schemeClr val="dk1"/>
                </a:solidFill>
                <a:latin typeface="Courier New"/>
              </a:rPr>
              <a:t> vitals.weight.plot.hist(bins</a:t>
            </a:r>
            <a:r>
              <a:rPr b="0" lang="en-US" sz="2400" spc="-1" strike="noStrike">
                <a:solidFill>
                  <a:srgbClr val="666666"/>
                </a:solidFill>
                <a:latin typeface="Courier New"/>
              </a:rPr>
              <a:t>=</a:t>
            </a:r>
            <a:r>
              <a:rPr b="0" lang="en-US" sz="2400" spc="-1" strike="noStrike">
                <a:solidFill>
                  <a:srgbClr val="40a070"/>
                </a:solidFill>
                <a:latin typeface="Courier New"/>
              </a:rPr>
              <a:t>60</a:t>
            </a:r>
            <a:r>
              <a:rPr b="0" lang="en-US" sz="2400" spc="-1" strike="noStrike">
                <a:solidFill>
                  <a:schemeClr val="dk1"/>
                </a:solidFill>
                <a:latin typeface="Courier New"/>
              </a:rPr>
              <a:t>)</a:t>
            </a:r>
            <a:br>
              <a:rPr sz="2400"/>
            </a:br>
            <a:r>
              <a:rPr b="0" lang="en-US" sz="2400" spc="-1" strike="noStrike">
                <a:solidFill>
                  <a:schemeClr val="dk1"/>
                </a:solidFill>
                <a:latin typeface="Courier New"/>
              </a:rPr>
              <a:t>                </a:t>
            </a:r>
            <a:r>
              <a:rPr b="0" i="1" lang="en-US" sz="2400" spc="-1" strike="noStrike">
                <a:solidFill>
                  <a:srgbClr val="60a0b0"/>
                </a:solidFill>
                <a:latin typeface="Courier New"/>
              </a:rPr>
              <a:t># two humps: kg and lb</a:t>
            </a:r>
            <a:br>
              <a:rPr sz="2400"/>
            </a:br>
            <a:br>
              <a:rPr sz="2400"/>
            </a:br>
            <a:r>
              <a:rPr b="0" lang="en-US" sz="2400" spc="-1" strike="noStrike">
                <a:solidFill>
                  <a:srgbClr val="666666"/>
                </a:solidFill>
                <a:latin typeface="Courier New"/>
              </a:rPr>
              <a:t>&gt;&gt;&gt;</a:t>
            </a:r>
            <a:r>
              <a:rPr b="0" lang="en-US" sz="2400" spc="-1" strike="noStrike">
                <a:solidFill>
                  <a:schemeClr val="dk1"/>
                </a:solidFill>
                <a:latin typeface="Courier New"/>
              </a:rPr>
              <a:t> labs.groupby(</a:t>
            </a:r>
            <a:r>
              <a:rPr b="0" lang="en-US" sz="2400" spc="-1" strike="noStrike">
                <a:solidFill>
                  <a:srgbClr val="4070a0"/>
                </a:solidFill>
                <a:latin typeface="Courier New"/>
              </a:rPr>
              <a:t>"unit"</a:t>
            </a:r>
            <a:r>
              <a:rPr b="0" lang="en-US" sz="2400" spc="-1" strike="noStrike">
                <a:solidFill>
                  <a:schemeClr val="dk1"/>
                </a:solidFill>
                <a:latin typeface="Courier New"/>
              </a:rPr>
              <a:t>).glucose.median()</a:t>
            </a:r>
            <a:br>
              <a:rPr sz="2400"/>
            </a:br>
            <a:r>
              <a:rPr b="0" lang="en-US" sz="2400" spc="-1" strike="noStrike">
                <a:solidFill>
                  <a:schemeClr val="dk1"/>
                </a:solidFill>
                <a:latin typeface="Courier New"/>
              </a:rPr>
              <a:t>mg</a:t>
            </a:r>
            <a:r>
              <a:rPr b="0" lang="en-US" sz="2400" spc="-1" strike="noStrike">
                <a:solidFill>
                  <a:srgbClr val="666666"/>
                </a:solidFill>
                <a:latin typeface="Courier New"/>
              </a:rPr>
              <a:t>/</a:t>
            </a:r>
            <a:r>
              <a:rPr b="0" lang="en-US" sz="2400" spc="-1" strike="noStrike">
                <a:solidFill>
                  <a:schemeClr val="dk1"/>
                </a:solidFill>
                <a:latin typeface="Courier New"/>
              </a:rPr>
              <a:t>dL    </a:t>
            </a:r>
            <a:r>
              <a:rPr b="0" lang="en-US" sz="2400" spc="-1" strike="noStrike">
                <a:solidFill>
                  <a:srgbClr val="40a070"/>
                </a:solidFill>
                <a:latin typeface="Courier New"/>
              </a:rPr>
              <a:t>126.0</a:t>
            </a:r>
            <a:br>
              <a:rPr sz="2400"/>
            </a:br>
            <a:r>
              <a:rPr b="0" lang="en-US" sz="2400" spc="-1" strike="noStrike">
                <a:solidFill>
                  <a:schemeClr val="dk1"/>
                </a:solidFill>
                <a:latin typeface="Courier New"/>
              </a:rPr>
              <a:t>mmol</a:t>
            </a:r>
            <a:r>
              <a:rPr b="0" lang="en-US" sz="2400" spc="-1" strike="noStrike">
                <a:solidFill>
                  <a:srgbClr val="666666"/>
                </a:solidFill>
                <a:latin typeface="Courier New"/>
              </a:rPr>
              <a:t>/</a:t>
            </a:r>
            <a:r>
              <a:rPr b="0" lang="en-US" sz="2400" spc="-1" strike="noStrike">
                <a:solidFill>
                  <a:schemeClr val="dk1"/>
                </a:solidFill>
                <a:latin typeface="Courier New"/>
              </a:rPr>
              <a:t>L     </a:t>
            </a:r>
            <a:r>
              <a:rPr b="0" lang="en-US" sz="2400" spc="-1" strike="noStrike">
                <a:solidFill>
                  <a:srgbClr val="40a070"/>
                </a:solidFill>
                <a:latin typeface="Courier New"/>
              </a:rPr>
              <a:t>7.0</a:t>
            </a:r>
            <a:r>
              <a:rPr b="0" lang="en-US" sz="2400" spc="-1" strike="noStrike">
                <a:solidFill>
                  <a:schemeClr val="dk1"/>
                </a:solidFill>
                <a:latin typeface="Courier New"/>
              </a:rPr>
              <a:t>  </a:t>
            </a:r>
            <a:r>
              <a:rPr b="0" i="1" lang="en-US" sz="2400" spc="-1" strike="noStrike">
                <a:solidFill>
                  <a:srgbClr val="60a0b0"/>
                </a:solidFill>
                <a:latin typeface="Courier New"/>
              </a:rPr>
              <a:t># same test, same patient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Errors in features</a:t>
            </a:r>
            <a:endParaRPr b="0" lang="en-US" sz="3300" spc="-1" strike="noStrike">
              <a:solidFill>
                <a:schemeClr val="dk1"/>
              </a:solidFill>
              <a:latin typeface="Calibri"/>
            </a:endParaRPr>
          </a:p>
        </p:txBody>
      </p:sp>
      <p:pic>
        <p:nvPicPr>
          <p:cNvPr id="106" name="Picture 1" descr="img/errors_alt.png"/>
          <p:cNvPicPr/>
          <p:nvPr/>
        </p:nvPicPr>
        <p:blipFill>
          <a:blip r:embed="rId1"/>
          <a:stretch/>
        </p:blipFill>
        <p:spPr>
          <a:xfrm>
            <a:off x="1270080" y="1193760"/>
            <a:ext cx="6603480" cy="3390480"/>
          </a:xfrm>
          <a:prstGeom prst="rect">
            <a:avLst/>
          </a:prstGeom>
          <a:ln w="9525">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Errors in features</a:t>
            </a:r>
            <a:endParaRPr b="0" lang="en-US" sz="3300" spc="-1" strike="noStrike">
              <a:solidFill>
                <a:schemeClr val="dk1"/>
              </a:solidFill>
              <a:latin typeface="Calibri"/>
            </a:endParaRPr>
          </a:p>
        </p:txBody>
      </p:sp>
      <p:pic>
        <p:nvPicPr>
          <p:cNvPr id="108" name="Picture 1" descr="img/errors_alt_bis.png"/>
          <p:cNvPicPr/>
          <p:nvPr/>
        </p:nvPicPr>
        <p:blipFill>
          <a:blip r:embed="rId1"/>
          <a:stretch/>
        </p:blipFill>
        <p:spPr>
          <a:xfrm>
            <a:off x="507960" y="1193760"/>
            <a:ext cx="8140320" cy="3390480"/>
          </a:xfrm>
          <a:prstGeom prst="rect">
            <a:avLst/>
          </a:prstGeom>
          <a:ln w="9525">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Missingness</a:t>
            </a:r>
            <a:endParaRPr b="0" lang="en-US" sz="3300" spc="-1" strike="noStrike">
              <a:solidFill>
                <a:schemeClr val="dk1"/>
              </a:solidFill>
              <a:latin typeface="Calibri"/>
            </a:endParaRPr>
          </a:p>
        </p:txBody>
      </p:sp>
      <p:graphicFrame>
        <p:nvGraphicFramePr>
          <p:cNvPr id="110" name="Content Placeholder 5"/>
          <p:cNvGraphicFramePr/>
          <p:nvPr/>
        </p:nvGraphicFramePr>
        <p:xfrm>
          <a:off x="457200" y="1193760"/>
          <a:ext cx="8229240" cy="1411200"/>
        </p:xfrm>
        <a:graphic>
          <a:graphicData uri="http://schemas.openxmlformats.org/drawingml/2006/table">
            <a:tbl>
              <a:tblPr/>
              <a:tblGrid>
                <a:gridCol w="2743200"/>
                <a:gridCol w="2743200"/>
                <a:gridCol w="2743200"/>
              </a:tblGrid>
              <a:tr h="0">
                <a:tc>
                  <a:txBody>
                    <a:bodyPr anchor="t">
                      <a:noAutofit/>
                    </a:bodyPr>
                    <a:p>
                      <a:pPr defTabSz="343080">
                        <a:lnSpc>
                          <a:spcPct val="100000"/>
                        </a:lnSpc>
                        <a:tabLst>
                          <a:tab algn="l" pos="0"/>
                        </a:tabLst>
                      </a:pPr>
                      <a:r>
                        <a:rPr b="0" lang="en-US" sz="1350" spc="-1" strike="noStrike">
                          <a:solidFill>
                            <a:srgbClr val="ffffff"/>
                          </a:solidFill>
                          <a:latin typeface="Calibri"/>
                        </a:rPr>
                        <a:t>Mechanism</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c>
                  <a:txBody>
                    <a:bodyPr anchor="t">
                      <a:noAutofit/>
                    </a:bodyPr>
                    <a:p>
                      <a:pPr defTabSz="343080">
                        <a:lnSpc>
                          <a:spcPct val="100000"/>
                        </a:lnSpc>
                        <a:tabLst>
                          <a:tab algn="l" pos="0"/>
                        </a:tabLst>
                      </a:pPr>
                      <a:r>
                        <a:rPr b="0" lang="en-US" sz="1350" spc="-1" strike="noStrike">
                          <a:solidFill>
                            <a:srgbClr val="ffffff"/>
                          </a:solidFill>
                          <a:latin typeface="Calibri"/>
                        </a:rPr>
                        <a:t>Meaning</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c>
                  <a:txBody>
                    <a:bodyPr anchor="t">
                      <a:noAutofit/>
                    </a:bodyPr>
                    <a:p>
                      <a:pPr defTabSz="343080">
                        <a:lnSpc>
                          <a:spcPct val="100000"/>
                        </a:lnSpc>
                        <a:tabLst>
                          <a:tab algn="l" pos="0"/>
                        </a:tabLst>
                      </a:pPr>
                      <a:r>
                        <a:rPr b="0" lang="en-US" sz="1350" spc="-1" strike="noStrike">
                          <a:solidFill>
                            <a:srgbClr val="ffffff"/>
                          </a:solidFill>
                          <a:latin typeface="Calibri"/>
                        </a:rPr>
                        <a:t>Safe to drop?</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MCAR</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Missing completely at random</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Yes (lose power only)</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MAR</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Missing depends on </a:t>
                      </a:r>
                      <a:r>
                        <a:rPr b="0" i="1" lang="en-US" sz="1350" spc="-1" strike="noStrike">
                          <a:solidFill>
                            <a:srgbClr val="000000"/>
                          </a:solidFill>
                          <a:latin typeface="Calibri"/>
                        </a:rPr>
                        <a:t>observed</a:t>
                      </a:r>
                      <a:r>
                        <a:rPr b="0" lang="en-US" sz="1350" spc="-1" strike="noStrike">
                          <a:solidFill>
                            <a:srgbClr val="000000"/>
                          </a:solidFill>
                          <a:latin typeface="Calibri"/>
                        </a:rPr>
                        <a:t> data</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With correct modelling</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MNAR</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Missing depends on the </a:t>
                      </a:r>
                      <a:r>
                        <a:rPr b="0" i="1" lang="en-US" sz="1350" spc="-1" strike="noStrike">
                          <a:solidFill>
                            <a:srgbClr val="000000"/>
                          </a:solidFill>
                          <a:latin typeface="Calibri"/>
                        </a:rPr>
                        <a:t>unobserved</a:t>
                      </a:r>
                      <a:r>
                        <a:rPr b="0" lang="en-US" sz="1350" spc="-1" strike="noStrike">
                          <a:solidFill>
                            <a:srgbClr val="000000"/>
                          </a:solidFill>
                          <a:latin typeface="Calibri"/>
                        </a:rPr>
                        <a:t> value</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No — bias is unavoidable</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PlaceHolder 1"/>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Missingness is almost never random:</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A test is measured </a:t>
            </a:r>
            <a:r>
              <a:rPr b="1" lang="en-US" sz="2400" spc="-1" strike="noStrike">
                <a:solidFill>
                  <a:schemeClr val="dk1"/>
                </a:solidFill>
                <a:latin typeface="Calibri"/>
              </a:rPr>
              <a:t>because</a:t>
            </a:r>
            <a:r>
              <a:rPr b="0" lang="en-US" sz="2400" spc="-1" strike="noStrike">
                <a:solidFill>
                  <a:schemeClr val="dk1"/>
                </a:solidFill>
                <a:latin typeface="Calibri"/>
              </a:rPr>
              <a:t> the clinician suspects a problem</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A patient with no lab results is usually very healthy</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The </a:t>
            </a:r>
            <a:r>
              <a:rPr b="0" i="1" lang="en-US" sz="2400" spc="-1" strike="noStrike">
                <a:solidFill>
                  <a:schemeClr val="dk1"/>
                </a:solidFill>
                <a:latin typeface="Calibri"/>
              </a:rPr>
              <a:t>absence</a:t>
            </a:r>
            <a:r>
              <a:rPr b="0" lang="en-US" sz="2400" spc="-1" strike="noStrike">
                <a:solidFill>
                  <a:schemeClr val="dk1"/>
                </a:solidFill>
                <a:latin typeface="Calibri"/>
              </a:rPr>
              <a:t> of a test can predict the outcome better than the test’s value</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Missingness</a:t>
            </a:r>
            <a:endParaRPr b="0" lang="en-US" sz="3300" spc="-1" strike="noStrike">
              <a:solidFill>
                <a:schemeClr val="dk1"/>
              </a:solidFill>
              <a:latin typeface="Calibri"/>
            </a:endParaRPr>
          </a:p>
        </p:txBody>
      </p:sp>
      <p:pic>
        <p:nvPicPr>
          <p:cNvPr id="113" name="Picture 1" descr="img/missingness_q.png"/>
          <p:cNvPicPr/>
          <p:nvPr/>
        </p:nvPicPr>
        <p:blipFill>
          <a:blip r:embed="rId1"/>
          <a:stretch/>
        </p:blipFill>
        <p:spPr>
          <a:xfrm>
            <a:off x="457200" y="1257480"/>
            <a:ext cx="8229240" cy="3250800"/>
          </a:xfrm>
          <a:prstGeom prst="rect">
            <a:avLst/>
          </a:prstGeom>
          <a:ln w="9525">
            <a:noFill/>
          </a:ln>
        </p:spPr>
      </p:pic>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Missingness</a:t>
            </a:r>
            <a:endParaRPr b="0" lang="en-US" sz="3300" spc="-1" strike="noStrike">
              <a:solidFill>
                <a:schemeClr val="dk1"/>
              </a:solidFill>
              <a:latin typeface="Calibri"/>
            </a:endParaRPr>
          </a:p>
        </p:txBody>
      </p:sp>
      <p:pic>
        <p:nvPicPr>
          <p:cNvPr id="115" name="Picture 1" descr="img/missingness.png"/>
          <p:cNvPicPr/>
          <p:nvPr/>
        </p:nvPicPr>
        <p:blipFill>
          <a:blip r:embed="rId1"/>
          <a:stretch/>
        </p:blipFill>
        <p:spPr>
          <a:xfrm>
            <a:off x="457200" y="1257480"/>
            <a:ext cx="8229240" cy="3250800"/>
          </a:xfrm>
          <a:prstGeom prst="rect">
            <a:avLst/>
          </a:prstGeom>
          <a:ln w="9525">
            <a:noFill/>
          </a:ln>
        </p:spPr>
      </p:pic>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Guess the base rate</a:t>
            </a:r>
            <a:endParaRPr b="0" lang="en-US" sz="3300" spc="-1" strike="noStrike">
              <a:solidFill>
                <a:schemeClr val="dk1"/>
              </a:solidFill>
              <a:latin typeface="Calibri"/>
            </a:endParaRPr>
          </a:p>
        </p:txBody>
      </p:sp>
      <p:sp>
        <p:nvSpPr>
          <p:cNvPr id="117"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Write your guess down first. No phones, no neighbours.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In-hospital mortality, ICU admissions: </a:t>
            </a:r>
            <a:r>
              <a:rPr b="1" lang="en-US" sz="2400" spc="-1" strike="noStrike">
                <a:solidFill>
                  <a:schemeClr val="dk1"/>
                </a:solidFill>
                <a:latin typeface="Calibri"/>
              </a:rPr>
              <a:t>___ %</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30-day readmission after discharge: </a:t>
            </a:r>
            <a:r>
              <a:rPr b="1" lang="en-US" sz="2400" spc="-1" strike="noStrike">
                <a:solidFill>
                  <a:schemeClr val="dk1"/>
                </a:solidFill>
                <a:latin typeface="Calibri"/>
              </a:rPr>
              <a:t>___ %</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A rare disease at population screening: </a:t>
            </a:r>
            <a:r>
              <a:rPr b="1" lang="en-US" sz="2400" spc="-1" strike="noStrike">
                <a:solidFill>
                  <a:schemeClr val="dk1"/>
                </a:solidFill>
                <a:latin typeface="Calibri"/>
              </a:rPr>
              <a:t>1 in ___</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Guess the base rate</a:t>
            </a:r>
            <a:endParaRPr b="0" lang="en-US" sz="3300" spc="-1" strike="noStrike">
              <a:solidFill>
                <a:schemeClr val="dk1"/>
              </a:solidFill>
              <a:latin typeface="Calibri"/>
            </a:endParaRPr>
          </a:p>
        </p:txBody>
      </p:sp>
      <p:sp>
        <p:nvSpPr>
          <p:cNvPr id="119"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Write your guess down first. No phones, no neighbours.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In-hospital mortality, ICU admissions: </a:t>
            </a:r>
            <a:r>
              <a:rPr b="1" lang="en-US" sz="2400" spc="-1" strike="noStrike">
                <a:solidFill>
                  <a:schemeClr val="dk1"/>
                </a:solidFill>
                <a:latin typeface="Calibri"/>
              </a:rPr>
              <a:t>~20 %</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30-day readmission after discharge: </a:t>
            </a:r>
            <a:r>
              <a:rPr b="1" lang="en-US" sz="2400" spc="-1" strike="noStrike">
                <a:solidFill>
                  <a:schemeClr val="dk1"/>
                </a:solidFill>
                <a:latin typeface="Calibri"/>
              </a:rPr>
              <a:t>~15 %</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A rare disease at population screening: </a:t>
            </a:r>
            <a:r>
              <a:rPr b="1" lang="en-US" sz="2400" spc="-1" strike="noStrike">
                <a:solidFill>
                  <a:schemeClr val="dk1"/>
                </a:solidFill>
                <a:latin typeface="Calibri"/>
              </a:rPr>
              <a:t>1 in 10 000</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Class imbalance</a:t>
            </a:r>
            <a:endParaRPr b="0" lang="en-US" sz="3300" spc="-1" strike="noStrike">
              <a:solidFill>
                <a:schemeClr val="dk1"/>
              </a:solidFill>
              <a:latin typeface="Calibri"/>
            </a:endParaRPr>
          </a:p>
        </p:txBody>
      </p:sp>
      <p:sp>
        <p:nvSpPr>
          <p:cNvPr id="121"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Rare disease screening is 1 in 10 000</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=&gt; A model that predicts “no” always is 99.99% accurate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Blood types are not equally spread on the population</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The imbalance is changing according to the world regions</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=&gt; Can lead to distribution shift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Class imbalance</a:t>
            </a:r>
            <a:endParaRPr b="0" lang="en-US" sz="3300" spc="-1" strike="noStrike">
              <a:solidFill>
                <a:schemeClr val="dk1"/>
              </a:solidFill>
              <a:latin typeface="Calibri"/>
            </a:endParaRPr>
          </a:p>
        </p:txBody>
      </p:sp>
      <p:pic>
        <p:nvPicPr>
          <p:cNvPr id="123" name="Picture 1" descr="img/imbalance_q.png"/>
          <p:cNvPicPr/>
          <p:nvPr/>
        </p:nvPicPr>
        <p:blipFill>
          <a:blip r:embed="rId1"/>
          <a:stretch/>
        </p:blipFill>
        <p:spPr>
          <a:xfrm>
            <a:off x="457200" y="1219320"/>
            <a:ext cx="8229240" cy="3339720"/>
          </a:xfrm>
          <a:prstGeom prst="rect">
            <a:avLst/>
          </a:prstGeom>
          <a:ln w="9525">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Class imbalance</a:t>
            </a:r>
            <a:endParaRPr b="0" lang="en-US" sz="3300" spc="-1" strike="noStrike">
              <a:solidFill>
                <a:schemeClr val="dk1"/>
              </a:solidFill>
              <a:latin typeface="Calibri"/>
            </a:endParaRPr>
          </a:p>
        </p:txBody>
      </p:sp>
      <p:pic>
        <p:nvPicPr>
          <p:cNvPr id="125" name="Picture 1" descr="img/imbalance.png"/>
          <p:cNvPicPr/>
          <p:nvPr/>
        </p:nvPicPr>
        <p:blipFill>
          <a:blip r:embed="rId1"/>
          <a:stretch/>
        </p:blipFill>
        <p:spPr>
          <a:xfrm>
            <a:off x="520560" y="1193760"/>
            <a:ext cx="8089560" cy="3390480"/>
          </a:xfrm>
          <a:prstGeom prst="rect">
            <a:avLst/>
          </a:prstGeom>
          <a:ln w="9525">
            <a:noFill/>
          </a:ln>
        </p:spPr>
      </p:pic>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Class imbalance</a:t>
            </a:r>
            <a:endParaRPr b="0" lang="en-US" sz="3300" spc="-1" strike="noStrike">
              <a:solidFill>
                <a:schemeClr val="dk1"/>
              </a:solidFill>
              <a:latin typeface="Calibri"/>
            </a:endParaRPr>
          </a:p>
        </p:txBody>
      </p:sp>
      <p:pic>
        <p:nvPicPr>
          <p:cNvPr id="127" name="Picture 1" descr="img/imbalance_alt.png"/>
          <p:cNvPicPr/>
          <p:nvPr/>
        </p:nvPicPr>
        <p:blipFill>
          <a:blip r:embed="rId1"/>
          <a:stretch/>
        </p:blipFill>
        <p:spPr>
          <a:xfrm>
            <a:off x="457200" y="1244520"/>
            <a:ext cx="8229240" cy="3288960"/>
          </a:xfrm>
          <a:prstGeom prst="rect">
            <a:avLst/>
          </a:prstGeom>
          <a:ln w="9525">
            <a:noFill/>
          </a:ln>
        </p:spPr>
      </p:pic>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Distribution shift</a:t>
            </a:r>
            <a:endParaRPr b="0" lang="en-US" sz="3300" spc="-1" strike="noStrike">
              <a:solidFill>
                <a:schemeClr val="dk1"/>
              </a:solidFill>
              <a:latin typeface="Calibri"/>
            </a:endParaRPr>
          </a:p>
        </p:txBody>
      </p:sp>
      <p:sp>
        <p:nvSpPr>
          <p:cNvPr id="129"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Your model is trained on one slice of the world, then deployed in another:</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Covariate shift:</a:t>
            </a:r>
            <a:r>
              <a:rPr b="0" lang="en-US" sz="2400" spc="-1" strike="noStrike">
                <a:solidFill>
                  <a:schemeClr val="dk1"/>
                </a:solidFill>
                <a:latin typeface="Calibri"/>
              </a:rPr>
              <a:t> P(X) changes: new hospital, new scanner, new population</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Label shift:</a:t>
            </a:r>
            <a:r>
              <a:rPr b="0" lang="en-US" sz="2400" spc="-1" strike="noStrike">
                <a:solidFill>
                  <a:schemeClr val="dk1"/>
                </a:solidFill>
                <a:latin typeface="Calibri"/>
              </a:rPr>
              <a:t> P(Y) changes: a new variant, a new season</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Concept drift:</a:t>
            </a:r>
            <a:r>
              <a:rPr b="0" lang="en-US" sz="2400" spc="-1" strike="noStrike">
                <a:solidFill>
                  <a:schemeClr val="dk1"/>
                </a:solidFill>
                <a:latin typeface="Calibri"/>
              </a:rPr>
              <a:t> P(Y | X) changes: treatment guidelines are updated</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Distribution shift</a:t>
            </a:r>
            <a:endParaRPr b="0" lang="en-US" sz="3300" spc="-1" strike="noStrike">
              <a:solidFill>
                <a:schemeClr val="dk1"/>
              </a:solidFill>
              <a:latin typeface="Calibri"/>
            </a:endParaRPr>
          </a:p>
        </p:txBody>
      </p:sp>
      <p:pic>
        <p:nvPicPr>
          <p:cNvPr id="131" name="Picture 1" descr="img/shift.png"/>
          <p:cNvPicPr/>
          <p:nvPr/>
        </p:nvPicPr>
        <p:blipFill>
          <a:blip r:embed="rId1"/>
          <a:stretch/>
        </p:blipFill>
        <p:spPr>
          <a:xfrm>
            <a:off x="711360" y="1193760"/>
            <a:ext cx="7733880" cy="3390480"/>
          </a:xfrm>
          <a:prstGeom prst="rect">
            <a:avLst/>
          </a:prstGeom>
          <a:ln w="9525">
            <a:noFill/>
          </a:ln>
        </p:spPr>
      </p:pic>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Distribution shift</a:t>
            </a:r>
            <a:endParaRPr b="0" lang="en-US" sz="3300" spc="-1" strike="noStrike">
              <a:solidFill>
                <a:schemeClr val="dk1"/>
              </a:solidFill>
              <a:latin typeface="Calibri"/>
            </a:endParaRPr>
          </a:p>
        </p:txBody>
      </p:sp>
      <p:pic>
        <p:nvPicPr>
          <p:cNvPr id="133" name="Picture 1" descr="img/shift_alt.png"/>
          <p:cNvPicPr/>
          <p:nvPr/>
        </p:nvPicPr>
        <p:blipFill>
          <a:blip r:embed="rId1"/>
          <a:stretch/>
        </p:blipFill>
        <p:spPr>
          <a:xfrm>
            <a:off x="457200" y="1460520"/>
            <a:ext cx="8229240" cy="2844360"/>
          </a:xfrm>
          <a:prstGeom prst="rect">
            <a:avLst/>
          </a:prstGeom>
          <a:ln w="9525">
            <a:noFill/>
          </a:ln>
        </p:spPr>
      </p:pic>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Shortcuts</a:t>
            </a:r>
            <a:endParaRPr b="0" lang="en-US" sz="3300" spc="-1" strike="noStrike">
              <a:solidFill>
                <a:schemeClr val="dk1"/>
              </a:solidFill>
              <a:latin typeface="Calibri"/>
            </a:endParaRPr>
          </a:p>
        </p:txBody>
      </p:sp>
      <p:sp>
        <p:nvSpPr>
          <p:cNvPr id="135"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Models learn whatever correlates with y in </a:t>
            </a:r>
            <a:r>
              <a:rPr b="0" i="1" lang="en-US" sz="2400" spc="-1" strike="noStrike">
                <a:solidFill>
                  <a:schemeClr val="dk1"/>
                </a:solidFill>
                <a:latin typeface="Calibri"/>
              </a:rPr>
              <a:t>the</a:t>
            </a:r>
            <a:r>
              <a:rPr b="0" lang="en-US" sz="2400" spc="-1" strike="noStrike">
                <a:solidFill>
                  <a:schemeClr val="dk1"/>
                </a:solidFill>
                <a:latin typeface="Calibri"/>
              </a:rPr>
              <a:t> data.</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Pneumonia detectors that learned the </a:t>
            </a:r>
            <a:r>
              <a:rPr b="1" lang="en-US" sz="2400" spc="-1" strike="noStrike">
                <a:solidFill>
                  <a:schemeClr val="dk1"/>
                </a:solidFill>
                <a:latin typeface="Calibri"/>
              </a:rPr>
              <a:t>portable X-ray marker</a:t>
            </a:r>
            <a:r>
              <a:rPr b="0" lang="en-US" sz="2400" spc="-1" strike="noStrike">
                <a:solidFill>
                  <a:schemeClr val="dk1"/>
                </a:solidFill>
                <a:latin typeface="Calibri"/>
              </a:rPr>
              <a:t> (sicker patients get bedside imaging)</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Skin lesion classifiers that learned the </a:t>
            </a:r>
            <a:r>
              <a:rPr b="1" lang="en-US" sz="2400" spc="-1" strike="noStrike">
                <a:solidFill>
                  <a:schemeClr val="dk1"/>
                </a:solidFill>
                <a:latin typeface="Calibri"/>
              </a:rPr>
              <a:t>surgical ruler</a:t>
            </a:r>
            <a:r>
              <a:rPr b="0" lang="en-US" sz="2400" spc="-1" strike="noStrike">
                <a:solidFill>
                  <a:schemeClr val="dk1"/>
                </a:solidFill>
                <a:latin typeface="Calibri"/>
              </a:rPr>
              <a:t> placed next to malignant lesions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Portrait to age models looking at </a:t>
            </a:r>
            <a:r>
              <a:rPr b="1" lang="en-US" sz="2400" spc="-1" strike="noStrike">
                <a:solidFill>
                  <a:schemeClr val="dk1"/>
                </a:solidFill>
                <a:latin typeface="Calibri"/>
              </a:rPr>
              <a:t>ears size</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Shortcuts: what the model actually learned</a:t>
            </a:r>
            <a:endParaRPr b="0" lang="en-US" sz="3300" spc="-1" strike="noStrike">
              <a:solidFill>
                <a:schemeClr val="dk1"/>
              </a:solidFill>
              <a:latin typeface="Calibri"/>
            </a:endParaRPr>
          </a:p>
        </p:txBody>
      </p:sp>
      <p:pic>
        <p:nvPicPr>
          <p:cNvPr id="137" name="Picture 1" descr="img/shortcut_q.png"/>
          <p:cNvPicPr/>
          <p:nvPr/>
        </p:nvPicPr>
        <p:blipFill>
          <a:blip r:embed="rId1"/>
          <a:stretch/>
        </p:blipFill>
        <p:spPr>
          <a:xfrm>
            <a:off x="457200" y="1282680"/>
            <a:ext cx="8229240" cy="3225600"/>
          </a:xfrm>
          <a:prstGeom prst="rect">
            <a:avLst/>
          </a:prstGeom>
          <a:ln w="9525">
            <a:noFill/>
          </a:ln>
        </p:spPr>
      </p:pic>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Shortcuts: what the model actually learned</a:t>
            </a:r>
            <a:endParaRPr b="0" lang="en-US" sz="3300" spc="-1" strike="noStrike">
              <a:solidFill>
                <a:schemeClr val="dk1"/>
              </a:solidFill>
              <a:latin typeface="Calibri"/>
            </a:endParaRPr>
          </a:p>
        </p:txBody>
      </p:sp>
      <p:pic>
        <p:nvPicPr>
          <p:cNvPr id="139" name="Picture 1" descr="img/shortcut.png"/>
          <p:cNvPicPr/>
          <p:nvPr/>
        </p:nvPicPr>
        <p:blipFill>
          <a:blip r:embed="rId1"/>
          <a:stretch/>
        </p:blipFill>
        <p:spPr>
          <a:xfrm>
            <a:off x="673200" y="1193760"/>
            <a:ext cx="7797600" cy="3390480"/>
          </a:xfrm>
          <a:prstGeom prst="rect">
            <a:avLst/>
          </a:prstGeom>
          <a:ln w="9525">
            <a:noFill/>
          </a:ln>
        </p:spPr>
      </p:pic>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Shortcuts</a:t>
            </a:r>
            <a:endParaRPr b="0" lang="en-US" sz="3300" spc="-1" strike="noStrike">
              <a:solidFill>
                <a:schemeClr val="dk1"/>
              </a:solidFill>
              <a:latin typeface="Calibri"/>
            </a:endParaRPr>
          </a:p>
        </p:txBody>
      </p:sp>
      <p:pic>
        <p:nvPicPr>
          <p:cNvPr id="141" name="Picture 1" descr="img/shortcut_alt.png"/>
          <p:cNvPicPr/>
          <p:nvPr/>
        </p:nvPicPr>
        <p:blipFill>
          <a:blip r:embed="rId1"/>
          <a:stretch/>
        </p:blipFill>
        <p:spPr>
          <a:xfrm>
            <a:off x="800280" y="1193760"/>
            <a:ext cx="7556040" cy="3390480"/>
          </a:xfrm>
          <a:prstGeom prst="rect">
            <a:avLst/>
          </a:prstGeom>
          <a:ln w="9525">
            <a:noFill/>
          </a:ln>
        </p:spPr>
      </p:pic>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Leakage</a:t>
            </a:r>
            <a:endParaRPr b="0" lang="en-US" sz="3300" spc="-1" strike="noStrike">
              <a:solidFill>
                <a:schemeClr val="dk1"/>
              </a:solidFill>
              <a:latin typeface="Calibri"/>
            </a:endParaRPr>
          </a:p>
        </p:txBody>
      </p:sp>
      <p:sp>
        <p:nvSpPr>
          <p:cNvPr id="143"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Information at training time that will not exist at prediction time.</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Typically:</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The same patient in both train and test (e.g. duplicated)</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Feature that is a deterministic function of the outcome (e.g. </a:t>
            </a:r>
            <a:r>
              <a:rPr b="0" lang="en-US" sz="2400" spc="-1" strike="noStrike">
                <a:solidFill>
                  <a:schemeClr val="dk1"/>
                </a:solidFill>
                <a:latin typeface="Courier New"/>
              </a:rPr>
              <a:t>discharge_location == 'DIED'</a:t>
            </a:r>
            <a:r>
              <a:rPr b="0" lang="en-US" sz="2400" spc="-1" strike="noStrike">
                <a:solidFill>
                  <a:schemeClr val="dk1"/>
                </a:solidFill>
                <a:latin typeface="Calibri"/>
              </a:rPr>
              <a:t>)</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Bug in the train/test split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Spot the leakage</a:t>
            </a:r>
            <a:endParaRPr b="0" lang="en-US" sz="3300" spc="-1" strike="noStrike">
              <a:solidFill>
                <a:schemeClr val="dk1"/>
              </a:solidFill>
              <a:latin typeface="Calibri"/>
            </a:endParaRPr>
          </a:p>
        </p:txBody>
      </p:sp>
      <p:sp>
        <p:nvSpPr>
          <p:cNvPr id="145"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55811"/>
          </a:bodyPr>
          <a:p>
            <a:pPr marL="343080" indent="0" defTabSz="343080">
              <a:lnSpc>
                <a:spcPct val="100000"/>
              </a:lnSpc>
              <a:spcBef>
                <a:spcPts val="479"/>
              </a:spcBef>
              <a:buNone/>
              <a:tabLst>
                <a:tab algn="l" pos="0"/>
              </a:tabLst>
            </a:pPr>
            <a:r>
              <a:rPr b="0" i="1" lang="en-US" sz="2400" spc="-1" strike="noStrike">
                <a:solidFill>
                  <a:srgbClr val="60a0b0"/>
                </a:solidFill>
                <a:latin typeface="Courier New"/>
              </a:rPr>
              <a:t># A</a:t>
            </a:r>
            <a:br>
              <a:rPr sz="2400"/>
            </a:br>
            <a:r>
              <a:rPr b="0" lang="en-US" sz="2400" spc="-1" strike="noStrike">
                <a:solidFill>
                  <a:schemeClr val="dk1"/>
                </a:solidFill>
                <a:latin typeface="Courier New"/>
              </a:rPr>
              <a:t>X </a:t>
            </a:r>
            <a:r>
              <a:rPr b="0" lang="en-US" sz="2400" spc="-1" strike="noStrike">
                <a:solidFill>
                  <a:srgbClr val="666666"/>
                </a:solidFill>
                <a:latin typeface="Courier New"/>
              </a:rPr>
              <a:t>=</a:t>
            </a:r>
            <a:r>
              <a:rPr b="0" lang="en-US" sz="2400" spc="-1" strike="noStrike">
                <a:solidFill>
                  <a:schemeClr val="dk1"/>
                </a:solidFill>
                <a:latin typeface="Courier New"/>
              </a:rPr>
              <a:t> StandardScaler().fit_transform(X)</a:t>
            </a:r>
            <a:br>
              <a:rPr sz="2400"/>
            </a:br>
            <a:r>
              <a:rPr b="0" lang="en-US" sz="2400" spc="-1" strike="noStrike">
                <a:solidFill>
                  <a:schemeClr val="dk1"/>
                </a:solidFill>
                <a:latin typeface="Courier New"/>
              </a:rPr>
              <a:t>tr, te </a:t>
            </a:r>
            <a:r>
              <a:rPr b="0" lang="en-US" sz="2400" spc="-1" strike="noStrike">
                <a:solidFill>
                  <a:srgbClr val="666666"/>
                </a:solidFill>
                <a:latin typeface="Courier New"/>
              </a:rPr>
              <a:t>=</a:t>
            </a:r>
            <a:r>
              <a:rPr b="0" lang="en-US" sz="2400" spc="-1" strike="noStrike">
                <a:solidFill>
                  <a:schemeClr val="dk1"/>
                </a:solidFill>
                <a:latin typeface="Courier New"/>
              </a:rPr>
              <a:t> train_test_split(X)</a:t>
            </a:r>
            <a:br>
              <a:rPr sz="2400"/>
            </a:br>
            <a:br>
              <a:rPr sz="2400"/>
            </a:br>
            <a:r>
              <a:rPr b="0" i="1" lang="en-US" sz="2400" spc="-1" strike="noStrike">
                <a:solidFill>
                  <a:srgbClr val="60a0b0"/>
                </a:solidFill>
                <a:latin typeface="Courier New"/>
              </a:rPr>
              <a:t># B</a:t>
            </a:r>
            <a:br>
              <a:rPr sz="2400"/>
            </a:br>
            <a:r>
              <a:rPr b="0" lang="en-US" sz="2400" spc="-1" strike="noStrike">
                <a:solidFill>
                  <a:schemeClr val="dk1"/>
                </a:solidFill>
                <a:latin typeface="Courier New"/>
              </a:rPr>
              <a:t>df[</a:t>
            </a:r>
            <a:r>
              <a:rPr b="0" lang="en-US" sz="2400" spc="-1" strike="noStrike">
                <a:solidFill>
                  <a:srgbClr val="4070a0"/>
                </a:solidFill>
                <a:latin typeface="Courier New"/>
              </a:rPr>
              <a:t>"los"</a:t>
            </a:r>
            <a:r>
              <a:rPr b="0" lang="en-US" sz="2400" spc="-1" strike="noStrike">
                <a:solidFill>
                  <a:schemeClr val="dk1"/>
                </a:solidFill>
                <a:latin typeface="Courier New"/>
              </a:rPr>
              <a:t>] </a:t>
            </a:r>
            <a:r>
              <a:rPr b="0" lang="en-US" sz="2400" spc="-1" strike="noStrike">
                <a:solidFill>
                  <a:srgbClr val="666666"/>
                </a:solidFill>
                <a:latin typeface="Courier New"/>
              </a:rPr>
              <a:t>=</a:t>
            </a:r>
            <a:r>
              <a:rPr b="0" lang="en-US" sz="2400" spc="-1" strike="noStrike">
                <a:solidFill>
                  <a:schemeClr val="dk1"/>
                </a:solidFill>
                <a:latin typeface="Courier New"/>
              </a:rPr>
              <a:t> df.discharge </a:t>
            </a:r>
            <a:r>
              <a:rPr b="0" lang="en-US" sz="2400" spc="-1" strike="noStrike">
                <a:solidFill>
                  <a:srgbClr val="666666"/>
                </a:solidFill>
                <a:latin typeface="Courier New"/>
              </a:rPr>
              <a:t>-</a:t>
            </a:r>
            <a:r>
              <a:rPr b="0" lang="en-US" sz="2400" spc="-1" strike="noStrike">
                <a:solidFill>
                  <a:schemeClr val="dk1"/>
                </a:solidFill>
                <a:latin typeface="Courier New"/>
              </a:rPr>
              <a:t> df.admit</a:t>
            </a:r>
            <a:br>
              <a:rPr sz="2400"/>
            </a:br>
            <a:r>
              <a:rPr b="0" lang="en-US" sz="2400" spc="-1" strike="noStrike">
                <a:solidFill>
                  <a:schemeClr val="dk1"/>
                </a:solidFill>
                <a:latin typeface="Courier New"/>
              </a:rPr>
              <a:t>model.fit(df[[</a:t>
            </a:r>
            <a:r>
              <a:rPr b="0" lang="en-US" sz="2400" spc="-1" strike="noStrike">
                <a:solidFill>
                  <a:srgbClr val="4070a0"/>
                </a:solidFill>
                <a:latin typeface="Courier New"/>
              </a:rPr>
              <a:t>"los"</a:t>
            </a:r>
            <a:r>
              <a:rPr b="0" lang="en-US" sz="2400" spc="-1" strike="noStrike">
                <a:solidFill>
                  <a:schemeClr val="dk1"/>
                </a:solidFill>
                <a:latin typeface="Courier New"/>
              </a:rPr>
              <a:t>, </a:t>
            </a:r>
            <a:r>
              <a:rPr b="0" lang="en-US" sz="2400" spc="-1" strike="noStrike">
                <a:solidFill>
                  <a:srgbClr val="4070a0"/>
                </a:solidFill>
                <a:latin typeface="Courier New"/>
              </a:rPr>
              <a:t>"age"</a:t>
            </a:r>
            <a:r>
              <a:rPr b="0" lang="en-US" sz="2400" spc="-1" strike="noStrike">
                <a:solidFill>
                  <a:schemeClr val="dk1"/>
                </a:solidFill>
                <a:latin typeface="Courier New"/>
              </a:rPr>
              <a:t>]], df.died)</a:t>
            </a:r>
            <a:br>
              <a:rPr sz="2400"/>
            </a:br>
            <a:br>
              <a:rPr sz="2400"/>
            </a:br>
            <a:r>
              <a:rPr b="0" i="1" lang="en-US" sz="2400" spc="-1" strike="noStrike">
                <a:solidFill>
                  <a:srgbClr val="60a0b0"/>
                </a:solidFill>
                <a:latin typeface="Courier New"/>
              </a:rPr>
              <a:t># C</a:t>
            </a:r>
            <a:br>
              <a:rPr sz="2400"/>
            </a:br>
            <a:r>
              <a:rPr b="0" lang="en-US" sz="2400" spc="-1" strike="noStrike">
                <a:solidFill>
                  <a:schemeClr val="dk1"/>
                </a:solidFill>
                <a:latin typeface="Courier New"/>
              </a:rPr>
              <a:t>ids </a:t>
            </a:r>
            <a:r>
              <a:rPr b="0" lang="en-US" sz="2400" spc="-1" strike="noStrike">
                <a:solidFill>
                  <a:srgbClr val="666666"/>
                </a:solidFill>
                <a:latin typeface="Courier New"/>
              </a:rPr>
              <a:t>=</a:t>
            </a:r>
            <a:r>
              <a:rPr b="0" lang="en-US" sz="2400" spc="-1" strike="noStrike">
                <a:solidFill>
                  <a:schemeClr val="dk1"/>
                </a:solidFill>
                <a:latin typeface="Courier New"/>
              </a:rPr>
              <a:t> df.subject_id.unique()</a:t>
            </a:r>
            <a:br>
              <a:rPr sz="2400"/>
            </a:br>
            <a:r>
              <a:rPr b="0" lang="en-US" sz="2400" spc="-1" strike="noStrike">
                <a:solidFill>
                  <a:schemeClr val="dk1"/>
                </a:solidFill>
                <a:latin typeface="Courier New"/>
              </a:rPr>
              <a:t>tr, te </a:t>
            </a:r>
            <a:r>
              <a:rPr b="0" lang="en-US" sz="2400" spc="-1" strike="noStrike">
                <a:solidFill>
                  <a:srgbClr val="666666"/>
                </a:solidFill>
                <a:latin typeface="Courier New"/>
              </a:rPr>
              <a:t>=</a:t>
            </a:r>
            <a:r>
              <a:rPr b="0" lang="en-US" sz="2400" spc="-1" strike="noStrike">
                <a:solidFill>
                  <a:schemeClr val="dk1"/>
                </a:solidFill>
                <a:latin typeface="Courier New"/>
              </a:rPr>
              <a:t> train_test_split(ids)</a:t>
            </a:r>
            <a:br>
              <a:rPr sz="2400"/>
            </a:br>
            <a:br>
              <a:rPr sz="2400"/>
            </a:br>
            <a:r>
              <a:rPr b="0" i="1" lang="en-US" sz="2400" spc="-1" strike="noStrike">
                <a:solidFill>
                  <a:srgbClr val="60a0b0"/>
                </a:solidFill>
                <a:latin typeface="Courier New"/>
              </a:rPr>
              <a:t># D</a:t>
            </a:r>
            <a:br>
              <a:rPr sz="2400"/>
            </a:br>
            <a:r>
              <a:rPr b="0" lang="en-US" sz="2400" spc="-1" strike="noStrike">
                <a:solidFill>
                  <a:schemeClr val="dk1"/>
                </a:solidFill>
                <a:latin typeface="Courier New"/>
              </a:rPr>
              <a:t>df </a:t>
            </a:r>
            <a:r>
              <a:rPr b="0" lang="en-US" sz="2400" spc="-1" strike="noStrike">
                <a:solidFill>
                  <a:srgbClr val="666666"/>
                </a:solidFill>
                <a:latin typeface="Courier New"/>
              </a:rPr>
              <a:t>=</a:t>
            </a:r>
            <a:r>
              <a:rPr b="0" lang="en-US" sz="2400" spc="-1" strike="noStrike">
                <a:solidFill>
                  <a:schemeClr val="dk1"/>
                </a:solidFill>
                <a:latin typeface="Courier New"/>
              </a:rPr>
              <a:t> df.sort_values(</a:t>
            </a:r>
            <a:r>
              <a:rPr b="0" lang="en-US" sz="2400" spc="-1" strike="noStrike">
                <a:solidFill>
                  <a:srgbClr val="4070a0"/>
                </a:solidFill>
                <a:latin typeface="Courier New"/>
              </a:rPr>
              <a:t>"charttime"</a:t>
            </a:r>
            <a:r>
              <a:rPr b="0" lang="en-US" sz="2400" spc="-1" strike="noStrike">
                <a:solidFill>
                  <a:schemeClr val="dk1"/>
                </a:solidFill>
                <a:latin typeface="Courier New"/>
              </a:rPr>
              <a:t>)</a:t>
            </a:r>
            <a:br>
              <a:rPr sz="2400"/>
            </a:br>
            <a:r>
              <a:rPr b="0" lang="en-US" sz="2400" spc="-1" strike="noStrike">
                <a:solidFill>
                  <a:schemeClr val="dk1"/>
                </a:solidFill>
                <a:latin typeface="Courier New"/>
              </a:rPr>
              <a:t>tr, te </a:t>
            </a:r>
            <a:r>
              <a:rPr b="0" lang="en-US" sz="2400" spc="-1" strike="noStrike">
                <a:solidFill>
                  <a:srgbClr val="666666"/>
                </a:solidFill>
                <a:latin typeface="Courier New"/>
              </a:rPr>
              <a:t>=</a:t>
            </a:r>
            <a:r>
              <a:rPr b="0" lang="en-US" sz="2400" spc="-1" strike="noStrike">
                <a:solidFill>
                  <a:schemeClr val="dk1"/>
                </a:solidFill>
                <a:latin typeface="Courier New"/>
              </a:rPr>
              <a:t> df[:</a:t>
            </a:r>
            <a:r>
              <a:rPr b="0" lang="en-US" sz="2400" spc="-1" strike="noStrike">
                <a:solidFill>
                  <a:srgbClr val="40a070"/>
                </a:solidFill>
                <a:latin typeface="Courier New"/>
              </a:rPr>
              <a:t>8000</a:t>
            </a:r>
            <a:r>
              <a:rPr b="0" lang="en-US" sz="2400" spc="-1" strike="noStrike">
                <a:solidFill>
                  <a:schemeClr val="dk1"/>
                </a:solidFill>
                <a:latin typeface="Courier New"/>
              </a:rPr>
              <a:t>], df[</a:t>
            </a:r>
            <a:r>
              <a:rPr b="0" lang="en-US" sz="2400" spc="-1" strike="noStrike">
                <a:solidFill>
                  <a:srgbClr val="40a070"/>
                </a:solidFill>
                <a:latin typeface="Courier New"/>
              </a:rPr>
              <a:t>8000</a:t>
            </a:r>
            <a:r>
              <a:rPr b="0" lang="en-US" sz="2400" spc="-1" strike="noStrike">
                <a:solidFill>
                  <a:schemeClr val="dk1"/>
                </a:solidFill>
                <a:latin typeface="Courier New"/>
              </a:rPr>
              <a:t>:]</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Which of these leak?</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A — leaks: the scaler saw everything</a:t>
            </a:r>
            <a:endParaRPr b="0" lang="en-US" sz="3300" spc="-1" strike="noStrike">
              <a:solidFill>
                <a:schemeClr val="dk1"/>
              </a:solidFill>
              <a:latin typeface="Calibri"/>
            </a:endParaRPr>
          </a:p>
        </p:txBody>
      </p:sp>
      <p:sp>
        <p:nvSpPr>
          <p:cNvPr id="147"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87465"/>
          </a:bodyPr>
          <a:p>
            <a:pPr marL="343080" indent="0" defTabSz="343080">
              <a:lnSpc>
                <a:spcPct val="100000"/>
              </a:lnSpc>
              <a:spcBef>
                <a:spcPts val="479"/>
              </a:spcBef>
              <a:buNone/>
              <a:tabLst>
                <a:tab algn="l" pos="0"/>
              </a:tabLst>
            </a:pPr>
            <a:r>
              <a:rPr b="0" i="1" lang="en-US" sz="2400" spc="-1" strike="noStrike">
                <a:solidFill>
                  <a:srgbClr val="60a0b0"/>
                </a:solidFill>
                <a:latin typeface="Courier New"/>
              </a:rPr>
              <a:t># WRONG</a:t>
            </a:r>
            <a:br>
              <a:rPr sz="2400"/>
            </a:br>
            <a:r>
              <a:rPr b="0" lang="en-US" sz="2400" spc="-1" strike="noStrike">
                <a:solidFill>
                  <a:schemeClr val="dk1"/>
                </a:solidFill>
                <a:latin typeface="Courier New"/>
              </a:rPr>
              <a:t>X </a:t>
            </a:r>
            <a:r>
              <a:rPr b="0" lang="en-US" sz="2400" spc="-1" strike="noStrike">
                <a:solidFill>
                  <a:srgbClr val="666666"/>
                </a:solidFill>
                <a:latin typeface="Courier New"/>
              </a:rPr>
              <a:t>=</a:t>
            </a:r>
            <a:r>
              <a:rPr b="0" lang="en-US" sz="2400" spc="-1" strike="noStrike">
                <a:solidFill>
                  <a:schemeClr val="dk1"/>
                </a:solidFill>
                <a:latin typeface="Courier New"/>
              </a:rPr>
              <a:t> StandardScaler().fit_transform(X)</a:t>
            </a:r>
            <a:br>
              <a:rPr sz="2400"/>
            </a:br>
            <a:r>
              <a:rPr b="0" lang="en-US" sz="2400" spc="-1" strike="noStrike">
                <a:solidFill>
                  <a:schemeClr val="dk1"/>
                </a:solidFill>
                <a:latin typeface="Courier New"/>
              </a:rPr>
              <a:t>tr, te </a:t>
            </a:r>
            <a:r>
              <a:rPr b="0" lang="en-US" sz="2400" spc="-1" strike="noStrike">
                <a:solidFill>
                  <a:srgbClr val="666666"/>
                </a:solidFill>
                <a:latin typeface="Courier New"/>
              </a:rPr>
              <a:t>=</a:t>
            </a:r>
            <a:r>
              <a:rPr b="0" lang="en-US" sz="2400" spc="-1" strike="noStrike">
                <a:solidFill>
                  <a:schemeClr val="dk1"/>
                </a:solidFill>
                <a:latin typeface="Courier New"/>
              </a:rPr>
              <a:t> train_test_split(X)</a:t>
            </a:r>
            <a:br>
              <a:rPr sz="2400"/>
            </a:br>
            <a:br>
              <a:rPr sz="2400"/>
            </a:br>
            <a:r>
              <a:rPr b="0" i="1" lang="en-US" sz="2400" spc="-1" strike="noStrike">
                <a:solidFill>
                  <a:srgbClr val="60a0b0"/>
                </a:solidFill>
                <a:latin typeface="Courier New"/>
              </a:rPr>
              <a:t># RIGHT</a:t>
            </a:r>
            <a:br>
              <a:rPr sz="2400"/>
            </a:br>
            <a:r>
              <a:rPr b="0" lang="en-US" sz="2400" spc="-1" strike="noStrike">
                <a:solidFill>
                  <a:schemeClr val="dk1"/>
                </a:solidFill>
                <a:latin typeface="Courier New"/>
              </a:rPr>
              <a:t>tr, te </a:t>
            </a:r>
            <a:r>
              <a:rPr b="0" lang="en-US" sz="2400" spc="-1" strike="noStrike">
                <a:solidFill>
                  <a:srgbClr val="666666"/>
                </a:solidFill>
                <a:latin typeface="Courier New"/>
              </a:rPr>
              <a:t>=</a:t>
            </a:r>
            <a:r>
              <a:rPr b="0" lang="en-US" sz="2400" spc="-1" strike="noStrike">
                <a:solidFill>
                  <a:schemeClr val="dk1"/>
                </a:solidFill>
                <a:latin typeface="Courier New"/>
              </a:rPr>
              <a:t> train_test_split(X)</a:t>
            </a:r>
            <a:br>
              <a:rPr sz="2400"/>
            </a:br>
            <a:r>
              <a:rPr b="0" lang="en-US" sz="2400" spc="-1" strike="noStrike">
                <a:solidFill>
                  <a:schemeClr val="dk1"/>
                </a:solidFill>
                <a:latin typeface="Courier New"/>
              </a:rPr>
              <a:t>scaler </a:t>
            </a:r>
            <a:r>
              <a:rPr b="0" lang="en-US" sz="2400" spc="-1" strike="noStrike">
                <a:solidFill>
                  <a:srgbClr val="666666"/>
                </a:solidFill>
                <a:latin typeface="Courier New"/>
              </a:rPr>
              <a:t>=</a:t>
            </a:r>
            <a:r>
              <a:rPr b="0" lang="en-US" sz="2400" spc="-1" strike="noStrike">
                <a:solidFill>
                  <a:schemeClr val="dk1"/>
                </a:solidFill>
                <a:latin typeface="Courier New"/>
              </a:rPr>
              <a:t> StandardScaler().fit(X[tr])</a:t>
            </a:r>
            <a:br>
              <a:rPr sz="2400"/>
            </a:br>
            <a:r>
              <a:rPr b="0" lang="en-US" sz="2400" spc="-1" strike="noStrike">
                <a:solidFill>
                  <a:schemeClr val="dk1"/>
                </a:solidFill>
                <a:latin typeface="Courier New"/>
              </a:rPr>
              <a:t>X_tr </a:t>
            </a:r>
            <a:r>
              <a:rPr b="0" lang="en-US" sz="2400" spc="-1" strike="noStrike">
                <a:solidFill>
                  <a:srgbClr val="666666"/>
                </a:solidFill>
                <a:latin typeface="Courier New"/>
              </a:rPr>
              <a:t>=</a:t>
            </a:r>
            <a:r>
              <a:rPr b="0" lang="en-US" sz="2400" spc="-1" strike="noStrike">
                <a:solidFill>
                  <a:schemeClr val="dk1"/>
                </a:solidFill>
                <a:latin typeface="Courier New"/>
              </a:rPr>
              <a:t> scaler.transform(X[tr])</a:t>
            </a:r>
            <a:br>
              <a:rPr sz="2400"/>
            </a:br>
            <a:r>
              <a:rPr b="0" lang="en-US" sz="2400" spc="-1" strike="noStrike">
                <a:solidFill>
                  <a:schemeClr val="dk1"/>
                </a:solidFill>
                <a:latin typeface="Courier New"/>
              </a:rPr>
              <a:t>X_te </a:t>
            </a:r>
            <a:r>
              <a:rPr b="0" lang="en-US" sz="2400" spc="-1" strike="noStrike">
                <a:solidFill>
                  <a:srgbClr val="666666"/>
                </a:solidFill>
                <a:latin typeface="Courier New"/>
              </a:rPr>
              <a:t>=</a:t>
            </a:r>
            <a:r>
              <a:rPr b="0" lang="en-US" sz="2400" spc="-1" strike="noStrike">
                <a:solidFill>
                  <a:schemeClr val="dk1"/>
                </a:solidFill>
                <a:latin typeface="Courier New"/>
              </a:rPr>
              <a:t> scaler.transform(X[te])</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The mean and variance were computed over the test rows too.</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B — leaks: the feature knows the answer</a:t>
            </a:r>
            <a:endParaRPr b="0" lang="en-US" sz="3300" spc="-1" strike="noStrike">
              <a:solidFill>
                <a:schemeClr val="dk1"/>
              </a:solidFill>
              <a:latin typeface="Calibri"/>
            </a:endParaRPr>
          </a:p>
        </p:txBody>
      </p:sp>
      <p:sp>
        <p:nvSpPr>
          <p:cNvPr id="149"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96628" lnSpcReduction="10000"/>
          </a:bodyPr>
          <a:p>
            <a:pPr marL="343080" indent="0" defTabSz="343080">
              <a:lnSpc>
                <a:spcPct val="100000"/>
              </a:lnSpc>
              <a:spcBef>
                <a:spcPts val="479"/>
              </a:spcBef>
              <a:buNone/>
              <a:tabLst>
                <a:tab algn="l" pos="0"/>
              </a:tabLst>
            </a:pPr>
            <a:r>
              <a:rPr b="0" i="1" lang="en-US" sz="2400" spc="-1" strike="noStrike">
                <a:solidFill>
                  <a:srgbClr val="60a0b0"/>
                </a:solidFill>
                <a:latin typeface="Courier New"/>
              </a:rPr>
              <a:t># WRONG</a:t>
            </a:r>
            <a:br>
              <a:rPr sz="2400"/>
            </a:br>
            <a:r>
              <a:rPr b="0" lang="en-US" sz="2400" spc="-1" strike="noStrike">
                <a:solidFill>
                  <a:schemeClr val="dk1"/>
                </a:solidFill>
                <a:latin typeface="Courier New"/>
              </a:rPr>
              <a:t>df[</a:t>
            </a:r>
            <a:r>
              <a:rPr b="0" lang="en-US" sz="2400" spc="-1" strike="noStrike">
                <a:solidFill>
                  <a:srgbClr val="4070a0"/>
                </a:solidFill>
                <a:latin typeface="Courier New"/>
              </a:rPr>
              <a:t>"los"</a:t>
            </a:r>
            <a:r>
              <a:rPr b="0" lang="en-US" sz="2400" spc="-1" strike="noStrike">
                <a:solidFill>
                  <a:schemeClr val="dk1"/>
                </a:solidFill>
                <a:latin typeface="Courier New"/>
              </a:rPr>
              <a:t>] </a:t>
            </a:r>
            <a:r>
              <a:rPr b="0" lang="en-US" sz="2400" spc="-1" strike="noStrike">
                <a:solidFill>
                  <a:srgbClr val="666666"/>
                </a:solidFill>
                <a:latin typeface="Courier New"/>
              </a:rPr>
              <a:t>=</a:t>
            </a:r>
            <a:r>
              <a:rPr b="0" lang="en-US" sz="2400" spc="-1" strike="noStrike">
                <a:solidFill>
                  <a:schemeClr val="dk1"/>
                </a:solidFill>
                <a:latin typeface="Courier New"/>
              </a:rPr>
              <a:t> df.discharge </a:t>
            </a:r>
            <a:r>
              <a:rPr b="0" lang="en-US" sz="2400" spc="-1" strike="noStrike">
                <a:solidFill>
                  <a:srgbClr val="666666"/>
                </a:solidFill>
                <a:latin typeface="Courier New"/>
              </a:rPr>
              <a:t>-</a:t>
            </a:r>
            <a:r>
              <a:rPr b="0" lang="en-US" sz="2400" spc="-1" strike="noStrike">
                <a:solidFill>
                  <a:schemeClr val="dk1"/>
                </a:solidFill>
                <a:latin typeface="Courier New"/>
              </a:rPr>
              <a:t> df.admit</a:t>
            </a:r>
            <a:br>
              <a:rPr sz="2400"/>
            </a:br>
            <a:r>
              <a:rPr b="0" lang="en-US" sz="2400" spc="-1" strike="noStrike">
                <a:solidFill>
                  <a:schemeClr val="dk1"/>
                </a:solidFill>
                <a:latin typeface="Courier New"/>
              </a:rPr>
              <a:t>model.fit(df[[</a:t>
            </a:r>
            <a:r>
              <a:rPr b="0" lang="en-US" sz="2400" spc="-1" strike="noStrike">
                <a:solidFill>
                  <a:srgbClr val="4070a0"/>
                </a:solidFill>
                <a:latin typeface="Courier New"/>
              </a:rPr>
              <a:t>"los"</a:t>
            </a:r>
            <a:r>
              <a:rPr b="0" lang="en-US" sz="2400" spc="-1" strike="noStrike">
                <a:solidFill>
                  <a:schemeClr val="dk1"/>
                </a:solidFill>
                <a:latin typeface="Courier New"/>
              </a:rPr>
              <a:t>, </a:t>
            </a:r>
            <a:r>
              <a:rPr b="0" lang="en-US" sz="2400" spc="-1" strike="noStrike">
                <a:solidFill>
                  <a:srgbClr val="4070a0"/>
                </a:solidFill>
                <a:latin typeface="Courier New"/>
              </a:rPr>
              <a:t>"age"</a:t>
            </a:r>
            <a:r>
              <a:rPr b="0" lang="en-US" sz="2400" spc="-1" strike="noStrike">
                <a:solidFill>
                  <a:schemeClr val="dk1"/>
                </a:solidFill>
                <a:latin typeface="Courier New"/>
              </a:rPr>
              <a:t>]], df.died)</a:t>
            </a:r>
            <a:br>
              <a:rPr sz="2400"/>
            </a:br>
            <a:br>
              <a:rPr sz="2400"/>
            </a:br>
            <a:r>
              <a:rPr b="0" i="1" lang="en-US" sz="2400" spc="-1" strike="noStrike">
                <a:solidFill>
                  <a:srgbClr val="60a0b0"/>
                </a:solidFill>
                <a:latin typeface="Courier New"/>
              </a:rPr>
              <a:t># RIGHT - freeze features at a cut time</a:t>
            </a:r>
            <a:br>
              <a:rPr sz="2400"/>
            </a:br>
            <a:r>
              <a:rPr b="0" lang="en-US" sz="2400" spc="-1" strike="noStrike">
                <a:solidFill>
                  <a:schemeClr val="dk1"/>
                </a:solidFill>
                <a:latin typeface="Courier New"/>
              </a:rPr>
              <a:t>cut </a:t>
            </a:r>
            <a:r>
              <a:rPr b="0" lang="en-US" sz="2400" spc="-1" strike="noStrike">
                <a:solidFill>
                  <a:srgbClr val="666666"/>
                </a:solidFill>
                <a:latin typeface="Courier New"/>
              </a:rPr>
              <a:t>=</a:t>
            </a:r>
            <a:r>
              <a:rPr b="0" lang="en-US" sz="2400" spc="-1" strike="noStrike">
                <a:solidFill>
                  <a:schemeClr val="dk1"/>
                </a:solidFill>
                <a:latin typeface="Courier New"/>
              </a:rPr>
              <a:t> df.admit </a:t>
            </a:r>
            <a:r>
              <a:rPr b="0" lang="en-US" sz="2400" spc="-1" strike="noStrike">
                <a:solidFill>
                  <a:srgbClr val="666666"/>
                </a:solidFill>
                <a:latin typeface="Courier New"/>
              </a:rPr>
              <a:t>+</a:t>
            </a:r>
            <a:r>
              <a:rPr b="0" lang="en-US" sz="2400" spc="-1" strike="noStrike">
                <a:solidFill>
                  <a:schemeClr val="dk1"/>
                </a:solidFill>
                <a:latin typeface="Courier New"/>
              </a:rPr>
              <a:t> pd.Timedelta(hours</a:t>
            </a:r>
            <a:r>
              <a:rPr b="0" lang="en-US" sz="2400" spc="-1" strike="noStrike">
                <a:solidFill>
                  <a:srgbClr val="666666"/>
                </a:solidFill>
                <a:latin typeface="Courier New"/>
              </a:rPr>
              <a:t>=</a:t>
            </a:r>
            <a:r>
              <a:rPr b="0" lang="en-US" sz="2400" spc="-1" strike="noStrike">
                <a:solidFill>
                  <a:srgbClr val="40a070"/>
                </a:solidFill>
                <a:latin typeface="Courier New"/>
              </a:rPr>
              <a:t>24</a:t>
            </a:r>
            <a:r>
              <a:rPr b="0" lang="en-US" sz="2400" spc="-1" strike="noStrike">
                <a:solidFill>
                  <a:schemeClr val="dk1"/>
                </a:solidFill>
                <a:latin typeface="Courier New"/>
              </a:rPr>
              <a:t>)</a:t>
            </a:r>
            <a:br>
              <a:rPr sz="2400"/>
            </a:br>
            <a:r>
              <a:rPr b="0" lang="en-US" sz="2400" spc="-1" strike="noStrike">
                <a:solidFill>
                  <a:schemeClr val="dk1"/>
                </a:solidFill>
                <a:latin typeface="Courier New"/>
              </a:rPr>
              <a:t>feats </a:t>
            </a:r>
            <a:r>
              <a:rPr b="0" lang="en-US" sz="2400" spc="-1" strike="noStrike">
                <a:solidFill>
                  <a:srgbClr val="666666"/>
                </a:solidFill>
                <a:latin typeface="Courier New"/>
              </a:rPr>
              <a:t>=</a:t>
            </a:r>
            <a:r>
              <a:rPr b="0" lang="en-US" sz="2400" spc="-1" strike="noStrike">
                <a:solidFill>
                  <a:schemeClr val="dk1"/>
                </a:solidFill>
                <a:latin typeface="Courier New"/>
              </a:rPr>
              <a:t> events[events.time </a:t>
            </a:r>
            <a:r>
              <a:rPr b="0" lang="en-US" sz="2400" spc="-1" strike="noStrike">
                <a:solidFill>
                  <a:srgbClr val="666666"/>
                </a:solidFill>
                <a:latin typeface="Courier New"/>
              </a:rPr>
              <a:t>&lt;=</a:t>
            </a:r>
            <a:r>
              <a:rPr b="0" lang="en-US" sz="2400" spc="-1" strike="noStrike">
                <a:solidFill>
                  <a:schemeClr val="dk1"/>
                </a:solidFill>
                <a:latin typeface="Courier New"/>
              </a:rPr>
              <a:t> cut]</a:t>
            </a:r>
            <a:br>
              <a:rPr sz="2400"/>
            </a:br>
            <a:r>
              <a:rPr b="0" lang="en-US" sz="2400" spc="-1" strike="noStrike">
                <a:solidFill>
                  <a:schemeClr val="dk1"/>
                </a:solidFill>
                <a:latin typeface="Courier New"/>
              </a:rPr>
              <a:t>model.fit(summarise(feats), df.died)</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Length of stay is only known once the stay is over — and dying ends it.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C — safe: the split is on patients</a:t>
            </a:r>
            <a:endParaRPr b="0" lang="en-US" sz="3300" spc="-1" strike="noStrike">
              <a:solidFill>
                <a:schemeClr val="dk1"/>
              </a:solidFill>
              <a:latin typeface="Calibri"/>
            </a:endParaRPr>
          </a:p>
        </p:txBody>
      </p:sp>
      <p:sp>
        <p:nvSpPr>
          <p:cNvPr id="151"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0" defTabSz="343080">
              <a:lnSpc>
                <a:spcPct val="100000"/>
              </a:lnSpc>
              <a:spcBef>
                <a:spcPts val="479"/>
              </a:spcBef>
              <a:buNone/>
              <a:tabLst>
                <a:tab algn="l" pos="0"/>
              </a:tabLst>
            </a:pPr>
            <a:r>
              <a:rPr b="0" lang="en-US" sz="2400" spc="-1" strike="noStrike">
                <a:solidFill>
                  <a:schemeClr val="dk1"/>
                </a:solidFill>
                <a:latin typeface="Courier New"/>
              </a:rPr>
              <a:t>ids </a:t>
            </a:r>
            <a:r>
              <a:rPr b="0" lang="en-US" sz="2400" spc="-1" strike="noStrike">
                <a:solidFill>
                  <a:srgbClr val="666666"/>
                </a:solidFill>
                <a:latin typeface="Courier New"/>
              </a:rPr>
              <a:t>=</a:t>
            </a:r>
            <a:r>
              <a:rPr b="0" lang="en-US" sz="2400" spc="-1" strike="noStrike">
                <a:solidFill>
                  <a:schemeClr val="dk1"/>
                </a:solidFill>
                <a:latin typeface="Courier New"/>
              </a:rPr>
              <a:t> df.subject_id.unique()</a:t>
            </a:r>
            <a:br>
              <a:rPr sz="2400"/>
            </a:br>
            <a:r>
              <a:rPr b="0" lang="en-US" sz="2400" spc="-1" strike="noStrike">
                <a:solidFill>
                  <a:schemeClr val="dk1"/>
                </a:solidFill>
                <a:latin typeface="Courier New"/>
              </a:rPr>
              <a:t>tr, te </a:t>
            </a:r>
            <a:r>
              <a:rPr b="0" lang="en-US" sz="2400" spc="-1" strike="noStrike">
                <a:solidFill>
                  <a:srgbClr val="666666"/>
                </a:solidFill>
                <a:latin typeface="Courier New"/>
              </a:rPr>
              <a:t>=</a:t>
            </a:r>
            <a:r>
              <a:rPr b="0" lang="en-US" sz="2400" spc="-1" strike="noStrike">
                <a:solidFill>
                  <a:schemeClr val="dk1"/>
                </a:solidFill>
                <a:latin typeface="Courier New"/>
              </a:rPr>
              <a:t> train_test_split(ids)</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One patient’s rows now land entirely on one side.</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D — leaks: same patient, both sides</a:t>
            </a:r>
            <a:endParaRPr b="0" lang="en-US" sz="3300" spc="-1" strike="noStrike">
              <a:solidFill>
                <a:schemeClr val="dk1"/>
              </a:solidFill>
              <a:latin typeface="Calibri"/>
            </a:endParaRPr>
          </a:p>
        </p:txBody>
      </p:sp>
      <p:sp>
        <p:nvSpPr>
          <p:cNvPr id="153"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96628"/>
          </a:bodyPr>
          <a:p>
            <a:pPr marL="343080" indent="0" defTabSz="343080">
              <a:lnSpc>
                <a:spcPct val="100000"/>
              </a:lnSpc>
              <a:spcBef>
                <a:spcPts val="479"/>
              </a:spcBef>
              <a:buNone/>
              <a:tabLst>
                <a:tab algn="l" pos="0"/>
              </a:tabLst>
            </a:pPr>
            <a:r>
              <a:rPr b="0" i="1" lang="en-US" sz="2400" spc="-1" strike="noStrike">
                <a:solidFill>
                  <a:srgbClr val="60a0b0"/>
                </a:solidFill>
                <a:latin typeface="Courier New"/>
              </a:rPr>
              <a:t># WRONG - a stay can straddle the cut</a:t>
            </a:r>
            <a:br>
              <a:rPr sz="2400"/>
            </a:br>
            <a:r>
              <a:rPr b="0" lang="en-US" sz="2400" spc="-1" strike="noStrike">
                <a:solidFill>
                  <a:schemeClr val="dk1"/>
                </a:solidFill>
                <a:latin typeface="Courier New"/>
              </a:rPr>
              <a:t>df </a:t>
            </a:r>
            <a:r>
              <a:rPr b="0" lang="en-US" sz="2400" spc="-1" strike="noStrike">
                <a:solidFill>
                  <a:srgbClr val="666666"/>
                </a:solidFill>
                <a:latin typeface="Courier New"/>
              </a:rPr>
              <a:t>=</a:t>
            </a:r>
            <a:r>
              <a:rPr b="0" lang="en-US" sz="2400" spc="-1" strike="noStrike">
                <a:solidFill>
                  <a:schemeClr val="dk1"/>
                </a:solidFill>
                <a:latin typeface="Courier New"/>
              </a:rPr>
              <a:t> df.sort_values(</a:t>
            </a:r>
            <a:r>
              <a:rPr b="0" lang="en-US" sz="2400" spc="-1" strike="noStrike">
                <a:solidFill>
                  <a:srgbClr val="4070a0"/>
                </a:solidFill>
                <a:latin typeface="Courier New"/>
              </a:rPr>
              <a:t>"charttime"</a:t>
            </a:r>
            <a:r>
              <a:rPr b="0" lang="en-US" sz="2400" spc="-1" strike="noStrike">
                <a:solidFill>
                  <a:schemeClr val="dk1"/>
                </a:solidFill>
                <a:latin typeface="Courier New"/>
              </a:rPr>
              <a:t>)</a:t>
            </a:r>
            <a:br>
              <a:rPr sz="2400"/>
            </a:br>
            <a:r>
              <a:rPr b="0" lang="en-US" sz="2400" spc="-1" strike="noStrike">
                <a:solidFill>
                  <a:schemeClr val="dk1"/>
                </a:solidFill>
                <a:latin typeface="Courier New"/>
              </a:rPr>
              <a:t>tr, te </a:t>
            </a:r>
            <a:r>
              <a:rPr b="0" lang="en-US" sz="2400" spc="-1" strike="noStrike">
                <a:solidFill>
                  <a:srgbClr val="666666"/>
                </a:solidFill>
                <a:latin typeface="Courier New"/>
              </a:rPr>
              <a:t>=</a:t>
            </a:r>
            <a:r>
              <a:rPr b="0" lang="en-US" sz="2400" spc="-1" strike="noStrike">
                <a:solidFill>
                  <a:schemeClr val="dk1"/>
                </a:solidFill>
                <a:latin typeface="Courier New"/>
              </a:rPr>
              <a:t> df[:</a:t>
            </a:r>
            <a:r>
              <a:rPr b="0" lang="en-US" sz="2400" spc="-1" strike="noStrike">
                <a:solidFill>
                  <a:srgbClr val="40a070"/>
                </a:solidFill>
                <a:latin typeface="Courier New"/>
              </a:rPr>
              <a:t>8000</a:t>
            </a:r>
            <a:r>
              <a:rPr b="0" lang="en-US" sz="2400" spc="-1" strike="noStrike">
                <a:solidFill>
                  <a:schemeClr val="dk1"/>
                </a:solidFill>
                <a:latin typeface="Courier New"/>
              </a:rPr>
              <a:t>], df[</a:t>
            </a:r>
            <a:r>
              <a:rPr b="0" lang="en-US" sz="2400" spc="-1" strike="noStrike">
                <a:solidFill>
                  <a:srgbClr val="40a070"/>
                </a:solidFill>
                <a:latin typeface="Courier New"/>
              </a:rPr>
              <a:t>8000</a:t>
            </a:r>
            <a:r>
              <a:rPr b="0" lang="en-US" sz="2400" spc="-1" strike="noStrike">
                <a:solidFill>
                  <a:schemeClr val="dk1"/>
                </a:solidFill>
                <a:latin typeface="Courier New"/>
              </a:rPr>
              <a:t>:]</a:t>
            </a:r>
            <a:br>
              <a:rPr sz="2400"/>
            </a:br>
            <a:br>
              <a:rPr sz="2400"/>
            </a:br>
            <a:r>
              <a:rPr b="0" i="1" lang="en-US" sz="2400" spc="-1" strike="noStrike">
                <a:solidFill>
                  <a:srgbClr val="60a0b0"/>
                </a:solidFill>
                <a:latin typeface="Courier New"/>
              </a:rPr>
              <a:t># RIGHT - split by time AND by patient</a:t>
            </a:r>
            <a:br>
              <a:rPr sz="2400"/>
            </a:br>
            <a:r>
              <a:rPr b="0" lang="en-US" sz="2400" spc="-1" strike="noStrike">
                <a:solidFill>
                  <a:schemeClr val="dk1"/>
                </a:solidFill>
                <a:latin typeface="Courier New"/>
              </a:rPr>
              <a:t>cut </a:t>
            </a:r>
            <a:r>
              <a:rPr b="0" lang="en-US" sz="2400" spc="-1" strike="noStrike">
                <a:solidFill>
                  <a:srgbClr val="666666"/>
                </a:solidFill>
                <a:latin typeface="Courier New"/>
              </a:rPr>
              <a:t>=</a:t>
            </a:r>
            <a:r>
              <a:rPr b="0" lang="en-US" sz="2400" spc="-1" strike="noStrike">
                <a:solidFill>
                  <a:schemeClr val="dk1"/>
                </a:solidFill>
                <a:latin typeface="Courier New"/>
              </a:rPr>
              <a:t> df.charttime.quantile(</a:t>
            </a:r>
            <a:r>
              <a:rPr b="0" lang="en-US" sz="2400" spc="-1" strike="noStrike">
                <a:solidFill>
                  <a:srgbClr val="40a070"/>
                </a:solidFill>
                <a:latin typeface="Courier New"/>
              </a:rPr>
              <a:t>0.8</a:t>
            </a:r>
            <a:r>
              <a:rPr b="0" lang="en-US" sz="2400" spc="-1" strike="noStrike">
                <a:solidFill>
                  <a:schemeClr val="dk1"/>
                </a:solidFill>
                <a:latin typeface="Courier New"/>
              </a:rPr>
              <a:t>)</a:t>
            </a:r>
            <a:br>
              <a:rPr sz="2400"/>
            </a:br>
            <a:r>
              <a:rPr b="0" lang="en-US" sz="2400" spc="-1" strike="noStrike">
                <a:solidFill>
                  <a:schemeClr val="dk1"/>
                </a:solidFill>
                <a:latin typeface="Courier New"/>
              </a:rPr>
              <a:t>ids </a:t>
            </a:r>
            <a:r>
              <a:rPr b="0" lang="en-US" sz="2400" spc="-1" strike="noStrike">
                <a:solidFill>
                  <a:srgbClr val="666666"/>
                </a:solidFill>
                <a:latin typeface="Courier New"/>
              </a:rPr>
              <a:t>=</a:t>
            </a:r>
            <a:r>
              <a:rPr b="0" lang="en-US" sz="2400" spc="-1" strike="noStrike">
                <a:solidFill>
                  <a:schemeClr val="dk1"/>
                </a:solidFill>
                <a:latin typeface="Courier New"/>
              </a:rPr>
              <a:t> df[df.charttime </a:t>
            </a:r>
            <a:r>
              <a:rPr b="0" lang="en-US" sz="2400" spc="-1" strike="noStrike">
                <a:solidFill>
                  <a:srgbClr val="666666"/>
                </a:solidFill>
                <a:latin typeface="Courier New"/>
              </a:rPr>
              <a:t>&lt;=</a:t>
            </a:r>
            <a:r>
              <a:rPr b="0" lang="en-US" sz="2400" spc="-1" strike="noStrike">
                <a:solidFill>
                  <a:schemeClr val="dk1"/>
                </a:solidFill>
                <a:latin typeface="Courier New"/>
              </a:rPr>
              <a:t> cut].subject_id</a:t>
            </a:r>
            <a:br>
              <a:rPr sz="2400"/>
            </a:br>
            <a:r>
              <a:rPr b="0" lang="en-US" sz="2400" spc="-1" strike="noStrike">
                <a:solidFill>
                  <a:schemeClr val="dk1"/>
                </a:solidFill>
                <a:latin typeface="Courier New"/>
              </a:rPr>
              <a:t>te </a:t>
            </a:r>
            <a:r>
              <a:rPr b="0" lang="en-US" sz="2400" spc="-1" strike="noStrike">
                <a:solidFill>
                  <a:srgbClr val="666666"/>
                </a:solidFill>
                <a:latin typeface="Courier New"/>
              </a:rPr>
              <a:t>=</a:t>
            </a:r>
            <a:r>
              <a:rPr b="0" lang="en-US" sz="2400" spc="-1" strike="noStrike">
                <a:solidFill>
                  <a:schemeClr val="dk1"/>
                </a:solidFill>
                <a:latin typeface="Courier New"/>
              </a:rPr>
              <a:t> df[</a:t>
            </a:r>
            <a:r>
              <a:rPr b="0" lang="en-US" sz="2400" spc="-1" strike="noStrike">
                <a:solidFill>
                  <a:srgbClr val="666666"/>
                </a:solidFill>
                <a:latin typeface="Courier New"/>
              </a:rPr>
              <a:t>~</a:t>
            </a:r>
            <a:r>
              <a:rPr b="0" lang="en-US" sz="2400" spc="-1" strike="noStrike">
                <a:solidFill>
                  <a:schemeClr val="dk1"/>
                </a:solidFill>
                <a:latin typeface="Courier New"/>
              </a:rPr>
              <a:t>df.subject_id.isin(ids)]</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A time split is the right instinct; on its own it still leaks by group.</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Autopsy</a:t>
            </a:r>
            <a:endParaRPr b="0" lang="en-US" sz="3300" spc="-1" strike="noStrike">
              <a:solidFill>
                <a:schemeClr val="dk1"/>
              </a:solidFill>
              <a:latin typeface="Calibri"/>
            </a:endParaRPr>
          </a:p>
        </p:txBody>
      </p:sp>
      <p:sp>
        <p:nvSpPr>
          <p:cNvPr id="155"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Name the failure mode for each:</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1" lang="en-US" sz="2400" spc="-1" strike="noStrike">
                <a:solidFill>
                  <a:schemeClr val="dk1"/>
                </a:solidFill>
                <a:latin typeface="Calibri"/>
              </a:rPr>
              <a:t>Google Flu Trends:</a:t>
            </a:r>
            <a:r>
              <a:rPr b="0" lang="en-US" sz="2400" spc="-1" strike="noStrike">
                <a:solidFill>
                  <a:schemeClr val="dk1"/>
                </a:solidFill>
                <a:latin typeface="Calibri"/>
              </a:rPr>
              <a:t> tracked flu well for years, then overshot the 2013 peak by roughly double, and was retired</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1" lang="en-US" sz="2400" spc="-1" strike="noStrike">
                <a:solidFill>
                  <a:schemeClr val="dk1"/>
                </a:solidFill>
                <a:latin typeface="Calibri"/>
              </a:rPr>
              <a:t>Epic’s sepsis model:</a:t>
            </a:r>
            <a:r>
              <a:rPr b="0" lang="en-US" sz="2400" spc="-1" strike="noStrike">
                <a:solidFill>
                  <a:schemeClr val="dk1"/>
                </a:solidFill>
                <a:latin typeface="Calibri"/>
              </a:rPr>
              <a:t> sold on an AUC of 0.76–0.83, scored 0.63 in an independent evaluation of ~28 000 admissions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1" lang="en-US" sz="2400" spc="-1" strike="noStrike">
                <a:solidFill>
                  <a:schemeClr val="dk1"/>
                </a:solidFill>
                <a:latin typeface="Calibri"/>
              </a:rPr>
              <a:t>COVID chest X-ray models:</a:t>
            </a:r>
            <a:r>
              <a:rPr b="0" lang="en-US" sz="2400" spc="-1" strike="noStrike">
                <a:solidFill>
                  <a:schemeClr val="dk1"/>
                </a:solidFill>
                <a:latin typeface="Calibri"/>
              </a:rPr>
              <a:t> hundreds published in 2020, an independent review found none fit for clinical use</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Autopsy</a:t>
            </a:r>
            <a:endParaRPr b="0" lang="en-US" sz="3300" spc="-1" strike="noStrike">
              <a:solidFill>
                <a:schemeClr val="dk1"/>
              </a:solidFill>
              <a:latin typeface="Calibri"/>
            </a:endParaRPr>
          </a:p>
        </p:txBody>
      </p:sp>
      <p:sp>
        <p:nvSpPr>
          <p:cNvPr id="157"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Name the failure mode for each:</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0" lang="en-US" sz="2400" spc="-1" strike="noStrike">
                <a:solidFill>
                  <a:schemeClr val="dk1"/>
                </a:solidFill>
                <a:latin typeface="Calibri"/>
              </a:rPr>
              <a:t>Google Flu Trends: </a:t>
            </a:r>
            <a:r>
              <a:rPr b="1" lang="en-US" sz="2400" spc="-1" strike="noStrike">
                <a:solidFill>
                  <a:schemeClr val="dk1"/>
                </a:solidFill>
                <a:latin typeface="Calibri"/>
              </a:rPr>
              <a:t>Concept drift</a:t>
            </a:r>
            <a:r>
              <a:rPr b="0" lang="en-US" sz="2400" spc="-1" strike="noStrike">
                <a:solidFill>
                  <a:schemeClr val="dk1"/>
                </a:solidFill>
                <a:latin typeface="Calibri"/>
              </a:rPr>
              <a:t>, plus a </a:t>
            </a:r>
            <a:r>
              <a:rPr b="0" i="1" lang="en-US" sz="2400" spc="-1" strike="noStrike">
                <a:solidFill>
                  <a:schemeClr val="dk1"/>
                </a:solidFill>
                <a:latin typeface="Calibri"/>
              </a:rPr>
              <a:t>feedback loop</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0" lang="en-US" sz="2400" spc="-1" strike="noStrike">
                <a:solidFill>
                  <a:schemeClr val="dk1"/>
                </a:solidFill>
                <a:latin typeface="Calibri"/>
              </a:rPr>
              <a:t>Epic’s sepsis model: </a:t>
            </a:r>
            <a:r>
              <a:rPr b="1" lang="en-US" sz="2400" spc="-1" strike="noStrike">
                <a:solidFill>
                  <a:schemeClr val="dk1"/>
                </a:solidFill>
                <a:latin typeface="Calibri"/>
              </a:rPr>
              <a:t>Shift</a:t>
            </a:r>
            <a:r>
              <a:rPr b="0" lang="en-US" sz="2400" spc="-1" strike="noStrike">
                <a:solidFill>
                  <a:schemeClr val="dk1"/>
                </a:solidFill>
                <a:latin typeface="Calibri"/>
              </a:rPr>
              <a:t> + </a:t>
            </a:r>
            <a:r>
              <a:rPr b="0" i="1" lang="en-US" sz="2400" spc="-1" strike="noStrike">
                <a:solidFill>
                  <a:schemeClr val="dk1"/>
                </a:solidFill>
                <a:latin typeface="Calibri"/>
              </a:rPr>
              <a:t>label noise</a:t>
            </a:r>
            <a:r>
              <a:rPr b="0" lang="en-US" sz="2400" spc="-1" strike="noStrike">
                <a:solidFill>
                  <a:schemeClr val="dk1"/>
                </a:solidFill>
                <a:latin typeface="Calibri"/>
              </a:rPr>
              <a:t> in the outcome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0" lang="en-US" sz="2400" spc="-1" strike="noStrike">
                <a:solidFill>
                  <a:schemeClr val="dk1"/>
                </a:solidFill>
                <a:latin typeface="Calibri"/>
              </a:rPr>
              <a:t>COVID chest X-ray models: </a:t>
            </a:r>
            <a:r>
              <a:rPr b="1" lang="en-US" sz="2400" spc="-1" strike="noStrike">
                <a:solidFill>
                  <a:schemeClr val="dk1"/>
                </a:solidFill>
                <a:latin typeface="Calibri"/>
              </a:rPr>
              <a:t>Shortcuts</a:t>
            </a:r>
            <a:r>
              <a:rPr b="0" lang="en-US" sz="2400" spc="-1" strike="noStrike">
                <a:solidFill>
                  <a:schemeClr val="dk1"/>
                </a:solidFill>
                <a:latin typeface="Calibri"/>
              </a:rPr>
              <a:t>, and </a:t>
            </a:r>
            <a:r>
              <a:rPr b="1" lang="en-US" sz="2400" spc="-1" strike="noStrike">
                <a:solidFill>
                  <a:schemeClr val="dk1"/>
                </a:solidFill>
                <a:latin typeface="Calibri"/>
              </a:rPr>
              <a:t>leakage</a:t>
            </a:r>
            <a:r>
              <a:rPr b="0" lang="en-US" sz="2400" spc="-1" strike="noStrike">
                <a:solidFill>
                  <a:schemeClr val="dk1"/>
                </a:solidFill>
                <a:latin typeface="Calibri"/>
              </a:rPr>
              <a:t> across sources</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Break time</a:t>
            </a:r>
            <a:endParaRPr b="0" lang="en-US" sz="3300" spc="-1" strike="noStrike">
              <a:solidFill>
                <a:schemeClr val="dk1"/>
              </a:solidFill>
              <a:latin typeface="Calibri"/>
            </a:endParaRPr>
          </a:p>
        </p:txBody>
      </p:sp>
      <p:pic>
        <p:nvPicPr>
          <p:cNvPr id="159" name="Picture 1" descr="img/break.png"/>
          <p:cNvPicPr/>
          <p:nvPr/>
        </p:nvPicPr>
        <p:blipFill>
          <a:blip r:embed="rId1"/>
          <a:stretch/>
        </p:blipFill>
        <p:spPr>
          <a:xfrm>
            <a:off x="1460520" y="1193760"/>
            <a:ext cx="6210000" cy="3390480"/>
          </a:xfrm>
          <a:prstGeom prst="rect">
            <a:avLst/>
          </a:prstGeom>
          <a:ln w="9525">
            <a:noFill/>
          </a:ln>
        </p:spPr>
      </p:pic>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rmAutofit/>
          </a:bodyPr>
          <a:p>
            <a:pPr indent="0" defTabSz="343080">
              <a:lnSpc>
                <a:spcPct val="100000"/>
              </a:lnSpc>
              <a:buNone/>
              <a:tabLst>
                <a:tab algn="l" pos="0"/>
              </a:tabLst>
            </a:pPr>
            <a:r>
              <a:rPr b="1" lang="en-US" sz="3000" spc="-1" strike="noStrike" cap="all">
                <a:solidFill>
                  <a:schemeClr val="dk1"/>
                </a:solidFill>
                <a:latin typeface="Calibri"/>
              </a:rPr>
              <a:t>2. Data types and example</a:t>
            </a:r>
            <a:endParaRPr b="0" lang="en-US" sz="30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Tabular: one row per unit </a:t>
            </a:r>
            <a:r>
              <a:rPr b="0" lang="en-US" sz="3300" spc="-1" strike="noStrike">
                <a:solidFill>
                  <a:schemeClr val="dk1"/>
                </a:solidFill>
                <a:latin typeface="Courier New"/>
              </a:rPr>
              <a:t>n × p</a:t>
            </a:r>
            <a:endParaRPr b="0" lang="en-US" sz="3300" spc="-1" strike="noStrike">
              <a:solidFill>
                <a:schemeClr val="dk1"/>
              </a:solidFill>
              <a:latin typeface="Calibri"/>
            </a:endParaRPr>
          </a:p>
        </p:txBody>
      </p:sp>
      <p:sp>
        <p:nvSpPr>
          <p:cNvPr id="162" name="PlaceHolder 2"/>
          <p:cNvSpPr>
            <a:spLocks noGrp="1"/>
          </p:cNvSpPr>
          <p:nvPr>
            <p:ph/>
          </p:nvPr>
        </p:nvSpPr>
        <p:spPr>
          <a:xfrm>
            <a:off x="457200" y="1151280"/>
            <a:ext cx="403992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Ward interventions</a:t>
            </a:r>
            <a:endParaRPr b="0" lang="en-US" sz="1800" spc="-1" strike="noStrike">
              <a:solidFill>
                <a:schemeClr val="dk1"/>
              </a:solidFill>
              <a:latin typeface="Calibri"/>
            </a:endParaRPr>
          </a:p>
        </p:txBody>
      </p:sp>
      <p:pic>
        <p:nvPicPr>
          <p:cNvPr id="163" name="Picture 1" descr="img/tabular_medical.jpg"/>
          <p:cNvPicPr/>
          <p:nvPr/>
        </p:nvPicPr>
        <p:blipFill>
          <a:blip r:embed="rId1"/>
          <a:stretch/>
        </p:blipFill>
        <p:spPr>
          <a:xfrm>
            <a:off x="457200" y="2336760"/>
            <a:ext cx="4038120" cy="1549080"/>
          </a:xfrm>
          <a:prstGeom prst="rect">
            <a:avLst/>
          </a:prstGeom>
          <a:ln w="9525">
            <a:noFill/>
          </a:ln>
        </p:spPr>
      </p:pic>
      <p:sp>
        <p:nvSpPr>
          <p:cNvPr id="164" name="PlaceHolder 3"/>
          <p:cNvSpPr>
            <a:spLocks noGrp="1"/>
          </p:cNvSpPr>
          <p:nvPr>
            <p:ph/>
          </p:nvPr>
        </p:nvSpPr>
        <p:spPr>
          <a:xfrm>
            <a:off x="4645080" y="1151280"/>
            <a:ext cx="404136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ship’s passenger manifest</a:t>
            </a:r>
            <a:endParaRPr b="0" lang="en-US" sz="1800" spc="-1" strike="noStrike">
              <a:solidFill>
                <a:schemeClr val="dk1"/>
              </a:solidFill>
              <a:latin typeface="Calibri"/>
            </a:endParaRPr>
          </a:p>
        </p:txBody>
      </p:sp>
      <p:pic>
        <p:nvPicPr>
          <p:cNvPr id="165" name="Picture 1" descr="img/tabular_other.jpg"/>
          <p:cNvPicPr/>
          <p:nvPr/>
        </p:nvPicPr>
        <p:blipFill>
          <a:blip r:embed="rId2"/>
          <a:stretch/>
        </p:blipFill>
        <p:spPr>
          <a:xfrm>
            <a:off x="5219640" y="1625760"/>
            <a:ext cx="2857320" cy="2958840"/>
          </a:xfrm>
          <a:prstGeom prst="rect">
            <a:avLst/>
          </a:prstGeom>
          <a:ln w="9525">
            <a:noFill/>
          </a:ln>
        </p:spPr>
      </p:pic>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1D signals: a value over time </a:t>
            </a:r>
            <a:r>
              <a:rPr b="0" lang="en-US" sz="3300" spc="-1" strike="noStrike">
                <a:solidFill>
                  <a:schemeClr val="dk1"/>
                </a:solidFill>
                <a:latin typeface="Courier New"/>
              </a:rPr>
              <a:t>n × T</a:t>
            </a:r>
            <a:endParaRPr b="0" lang="en-US" sz="3300" spc="-1" strike="noStrike">
              <a:solidFill>
                <a:schemeClr val="dk1"/>
              </a:solidFill>
              <a:latin typeface="Calibri"/>
            </a:endParaRPr>
          </a:p>
        </p:txBody>
      </p:sp>
      <p:sp>
        <p:nvSpPr>
          <p:cNvPr id="167" name="PlaceHolder 2"/>
          <p:cNvSpPr>
            <a:spLocks noGrp="1"/>
          </p:cNvSpPr>
          <p:nvPr>
            <p:ph/>
          </p:nvPr>
        </p:nvSpPr>
        <p:spPr>
          <a:xfrm>
            <a:off x="457200" y="1151280"/>
            <a:ext cx="403992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12-lead ECG</a:t>
            </a:r>
            <a:endParaRPr b="0" lang="en-US" sz="1800" spc="-1" strike="noStrike">
              <a:solidFill>
                <a:schemeClr val="dk1"/>
              </a:solidFill>
              <a:latin typeface="Calibri"/>
            </a:endParaRPr>
          </a:p>
        </p:txBody>
      </p:sp>
      <p:pic>
        <p:nvPicPr>
          <p:cNvPr id="168" name="Picture 1" descr="img/signal_medical.jpg"/>
          <p:cNvPicPr/>
          <p:nvPr/>
        </p:nvPicPr>
        <p:blipFill>
          <a:blip r:embed="rId1"/>
          <a:stretch/>
        </p:blipFill>
        <p:spPr>
          <a:xfrm>
            <a:off x="457200" y="2286000"/>
            <a:ext cx="4038120" cy="1638000"/>
          </a:xfrm>
          <a:prstGeom prst="rect">
            <a:avLst/>
          </a:prstGeom>
          <a:ln w="9525">
            <a:noFill/>
          </a:ln>
        </p:spPr>
      </p:pic>
      <p:sp>
        <p:nvSpPr>
          <p:cNvPr id="169" name="PlaceHolder 3"/>
          <p:cNvSpPr>
            <a:spLocks noGrp="1"/>
          </p:cNvSpPr>
          <p:nvPr>
            <p:ph/>
          </p:nvPr>
        </p:nvSpPr>
        <p:spPr>
          <a:xfrm>
            <a:off x="4645080" y="1151280"/>
            <a:ext cx="404136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An audio waveform</a:t>
            </a:r>
            <a:endParaRPr b="0" lang="en-US" sz="1800" spc="-1" strike="noStrike">
              <a:solidFill>
                <a:schemeClr val="dk1"/>
              </a:solidFill>
              <a:latin typeface="Calibri"/>
            </a:endParaRPr>
          </a:p>
        </p:txBody>
      </p:sp>
      <p:pic>
        <p:nvPicPr>
          <p:cNvPr id="170" name="Picture 1" descr="img/signal_other.jpg"/>
          <p:cNvPicPr/>
          <p:nvPr/>
        </p:nvPicPr>
        <p:blipFill>
          <a:blip r:embed="rId2"/>
          <a:stretch/>
        </p:blipFill>
        <p:spPr>
          <a:xfrm>
            <a:off x="4635360" y="2158920"/>
            <a:ext cx="4038120" cy="1904760"/>
          </a:xfrm>
          <a:prstGeom prst="rect">
            <a:avLst/>
          </a:prstGeom>
          <a:ln w="9525">
            <a:noFill/>
          </a:ln>
        </p:spPr>
      </p:pic>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2D images: a grid of pixels </a:t>
            </a:r>
            <a:r>
              <a:rPr b="0" lang="en-US" sz="3300" spc="-1" strike="noStrike">
                <a:solidFill>
                  <a:schemeClr val="dk1"/>
                </a:solidFill>
                <a:latin typeface="Courier New"/>
              </a:rPr>
              <a:t>H × W × C</a:t>
            </a:r>
            <a:endParaRPr b="0" lang="en-US" sz="3300" spc="-1" strike="noStrike">
              <a:solidFill>
                <a:schemeClr val="dk1"/>
              </a:solidFill>
              <a:latin typeface="Calibri"/>
            </a:endParaRPr>
          </a:p>
        </p:txBody>
      </p:sp>
      <p:sp>
        <p:nvSpPr>
          <p:cNvPr id="172" name="PlaceHolder 2"/>
          <p:cNvSpPr>
            <a:spLocks noGrp="1"/>
          </p:cNvSpPr>
          <p:nvPr>
            <p:ph/>
          </p:nvPr>
        </p:nvSpPr>
        <p:spPr>
          <a:xfrm>
            <a:off x="457200" y="1151280"/>
            <a:ext cx="403992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chest radiograph</a:t>
            </a:r>
            <a:endParaRPr b="0" lang="en-US" sz="1800" spc="-1" strike="noStrike">
              <a:solidFill>
                <a:schemeClr val="dk1"/>
              </a:solidFill>
              <a:latin typeface="Calibri"/>
            </a:endParaRPr>
          </a:p>
        </p:txBody>
      </p:sp>
      <p:pic>
        <p:nvPicPr>
          <p:cNvPr id="173" name="Picture 1" descr="img/image2d_medical.jpg"/>
          <p:cNvPicPr/>
          <p:nvPr/>
        </p:nvPicPr>
        <p:blipFill>
          <a:blip r:embed="rId1"/>
          <a:stretch/>
        </p:blipFill>
        <p:spPr>
          <a:xfrm>
            <a:off x="1181160" y="1625760"/>
            <a:ext cx="2590560" cy="2958840"/>
          </a:xfrm>
          <a:prstGeom prst="rect">
            <a:avLst/>
          </a:prstGeom>
          <a:ln w="9525">
            <a:noFill/>
          </a:ln>
        </p:spPr>
      </p:pic>
      <p:sp>
        <p:nvSpPr>
          <p:cNvPr id="174" name="PlaceHolder 3"/>
          <p:cNvSpPr>
            <a:spLocks noGrp="1"/>
          </p:cNvSpPr>
          <p:nvPr>
            <p:ph/>
          </p:nvPr>
        </p:nvSpPr>
        <p:spPr>
          <a:xfrm>
            <a:off x="4645080" y="1151280"/>
            <a:ext cx="404136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satellite view of farmland</a:t>
            </a:r>
            <a:endParaRPr b="0" lang="en-US" sz="1800" spc="-1" strike="noStrike">
              <a:solidFill>
                <a:schemeClr val="dk1"/>
              </a:solidFill>
              <a:latin typeface="Calibri"/>
            </a:endParaRPr>
          </a:p>
        </p:txBody>
      </p:sp>
      <p:pic>
        <p:nvPicPr>
          <p:cNvPr id="175" name="Picture 1" descr="img/image2d_other.jpg"/>
          <p:cNvPicPr/>
          <p:nvPr/>
        </p:nvPicPr>
        <p:blipFill>
          <a:blip r:embed="rId2"/>
          <a:stretch/>
        </p:blipFill>
        <p:spPr>
          <a:xfrm>
            <a:off x="5105520" y="1625760"/>
            <a:ext cx="3085920" cy="2958840"/>
          </a:xfrm>
          <a:prstGeom prst="rect">
            <a:avLst/>
          </a:prstGeom>
          <a:ln w="9525">
            <a:noFill/>
          </a:ln>
        </p:spPr>
      </p:pic>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3D volumes: a stack of slices, </a:t>
            </a:r>
            <a:r>
              <a:rPr b="0" lang="en-US" sz="3300" spc="-1" strike="noStrike">
                <a:solidFill>
                  <a:schemeClr val="dk1"/>
                </a:solidFill>
                <a:latin typeface="Courier New"/>
              </a:rPr>
              <a:t>D × H × W</a:t>
            </a:r>
            <a:endParaRPr b="0" lang="en-US" sz="3300" spc="-1" strike="noStrike">
              <a:solidFill>
                <a:schemeClr val="dk1"/>
              </a:solidFill>
              <a:latin typeface="Calibri"/>
            </a:endParaRPr>
          </a:p>
        </p:txBody>
      </p:sp>
      <p:sp>
        <p:nvSpPr>
          <p:cNvPr id="177" name="PlaceHolder 2"/>
          <p:cNvSpPr>
            <a:spLocks noGrp="1"/>
          </p:cNvSpPr>
          <p:nvPr>
            <p:ph/>
          </p:nvPr>
        </p:nvSpPr>
        <p:spPr>
          <a:xfrm>
            <a:off x="457200" y="1151280"/>
            <a:ext cx="403992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CT</a:t>
            </a:r>
            <a:endParaRPr b="0" lang="en-US" sz="1800" spc="-1" strike="noStrike">
              <a:solidFill>
                <a:schemeClr val="dk1"/>
              </a:solidFill>
              <a:latin typeface="Calibri"/>
            </a:endParaRPr>
          </a:p>
        </p:txBody>
      </p:sp>
      <p:pic>
        <p:nvPicPr>
          <p:cNvPr id="178" name="Picture 1" descr="img/volume3d_medical.jpg"/>
          <p:cNvPicPr/>
          <p:nvPr/>
        </p:nvPicPr>
        <p:blipFill>
          <a:blip r:embed="rId1"/>
          <a:stretch/>
        </p:blipFill>
        <p:spPr>
          <a:xfrm>
            <a:off x="1295280" y="1625760"/>
            <a:ext cx="2349000" cy="2958840"/>
          </a:xfrm>
          <a:prstGeom prst="rect">
            <a:avLst/>
          </a:prstGeom>
          <a:ln w="9525">
            <a:noFill/>
          </a:ln>
        </p:spPr>
      </p:pic>
      <p:sp>
        <p:nvSpPr>
          <p:cNvPr id="179" name="PlaceHolder 3"/>
          <p:cNvSpPr>
            <a:spLocks noGrp="1"/>
          </p:cNvSpPr>
          <p:nvPr>
            <p:ph/>
          </p:nvPr>
        </p:nvSpPr>
        <p:spPr>
          <a:xfrm>
            <a:off x="457200" y="1631160"/>
            <a:ext cx="4039920" cy="2963160"/>
          </a:xfrm>
          <a:prstGeom prst="rect">
            <a:avLst/>
          </a:prstGeom>
          <a:noFill/>
          <a:ln w="0">
            <a:noFill/>
          </a:ln>
        </p:spPr>
        <p:txBody>
          <a:bodyPr lIns="91440" rIns="91440" tIns="45720" bIns="45720" anchor="t">
            <a:normAutofit/>
          </a:bodyPr>
          <a:p>
            <a:pPr indent="0" defTabSz="343080">
              <a:lnSpc>
                <a:spcPct val="100000"/>
              </a:lnSpc>
              <a:spcBef>
                <a:spcPts val="360"/>
              </a:spcBef>
              <a:buNone/>
              <a:tabLst>
                <a:tab algn="l" pos="0"/>
              </a:tabLst>
            </a:pPr>
            <a:r>
              <a:rPr b="0" i="1" lang="en-US" sz="1800" spc="-1" strike="noStrike">
                <a:solidFill>
                  <a:schemeClr val="dk1"/>
                </a:solidFill>
                <a:latin typeface="Calibri"/>
              </a:rPr>
              <a:t>(three planes view)</a:t>
            </a:r>
            <a:endParaRPr b="0" lang="en-US" sz="1800" spc="-1" strike="noStrike">
              <a:solidFill>
                <a:schemeClr val="dk1"/>
              </a:solidFill>
              <a:latin typeface="Calibri"/>
            </a:endParaRPr>
          </a:p>
        </p:txBody>
      </p:sp>
      <p:sp>
        <p:nvSpPr>
          <p:cNvPr id="180" name="PlaceHolder 4"/>
          <p:cNvSpPr>
            <a:spLocks noGrp="1"/>
          </p:cNvSpPr>
          <p:nvPr>
            <p:ph/>
          </p:nvPr>
        </p:nvSpPr>
        <p:spPr>
          <a:xfrm>
            <a:off x="4645080" y="1151280"/>
            <a:ext cx="404136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LiDAR point cloud</a:t>
            </a:r>
            <a:endParaRPr b="0" lang="en-US" sz="1800" spc="-1" strike="noStrike">
              <a:solidFill>
                <a:schemeClr val="dk1"/>
              </a:solidFill>
              <a:latin typeface="Calibri"/>
            </a:endParaRPr>
          </a:p>
        </p:txBody>
      </p:sp>
      <p:pic>
        <p:nvPicPr>
          <p:cNvPr id="181" name="Picture 1" descr="img/volume3d_other.jpg"/>
          <p:cNvPicPr/>
          <p:nvPr/>
        </p:nvPicPr>
        <p:blipFill>
          <a:blip r:embed="rId2"/>
          <a:stretch/>
        </p:blipFill>
        <p:spPr>
          <a:xfrm>
            <a:off x="4635360" y="1968480"/>
            <a:ext cx="4038120" cy="2273040"/>
          </a:xfrm>
          <a:prstGeom prst="rect">
            <a:avLst/>
          </a:prstGeom>
          <a:ln w="9525">
            <a:noFill/>
          </a:ln>
        </p:spPr>
      </p:pic>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Text: a sequence of tokens</a:t>
            </a:r>
            <a:endParaRPr b="0" lang="en-US" sz="3300" spc="-1" strike="noStrike">
              <a:solidFill>
                <a:schemeClr val="dk1"/>
              </a:solidFill>
              <a:latin typeface="Calibri"/>
            </a:endParaRPr>
          </a:p>
        </p:txBody>
      </p:sp>
      <p:sp>
        <p:nvSpPr>
          <p:cNvPr id="183" name="PlaceHolder 2"/>
          <p:cNvSpPr>
            <a:spLocks noGrp="1"/>
          </p:cNvSpPr>
          <p:nvPr>
            <p:ph/>
          </p:nvPr>
        </p:nvSpPr>
        <p:spPr>
          <a:xfrm>
            <a:off x="457200" y="1151280"/>
            <a:ext cx="403992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radiology report</a:t>
            </a:r>
            <a:endParaRPr b="0" lang="en-US" sz="1800" spc="-1" strike="noStrike">
              <a:solidFill>
                <a:schemeClr val="dk1"/>
              </a:solidFill>
              <a:latin typeface="Calibri"/>
            </a:endParaRPr>
          </a:p>
        </p:txBody>
      </p:sp>
      <p:pic>
        <p:nvPicPr>
          <p:cNvPr id="184" name="Picture 1" descr="img/text_medical.jpg"/>
          <p:cNvPicPr/>
          <p:nvPr/>
        </p:nvPicPr>
        <p:blipFill>
          <a:blip r:embed="rId1"/>
          <a:stretch/>
        </p:blipFill>
        <p:spPr>
          <a:xfrm>
            <a:off x="457200" y="2565360"/>
            <a:ext cx="4038120" cy="1079280"/>
          </a:xfrm>
          <a:prstGeom prst="rect">
            <a:avLst/>
          </a:prstGeom>
          <a:ln w="9525">
            <a:noFill/>
          </a:ln>
        </p:spPr>
      </p:pic>
      <p:sp>
        <p:nvSpPr>
          <p:cNvPr id="185" name="PlaceHolder 3"/>
          <p:cNvSpPr>
            <a:spLocks noGrp="1"/>
          </p:cNvSpPr>
          <p:nvPr>
            <p:ph/>
          </p:nvPr>
        </p:nvSpPr>
        <p:spPr>
          <a:xfrm>
            <a:off x="4645080" y="1151280"/>
            <a:ext cx="404136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newspaper page</a:t>
            </a:r>
            <a:endParaRPr b="0" lang="en-US" sz="1800" spc="-1" strike="noStrike">
              <a:solidFill>
                <a:schemeClr val="dk1"/>
              </a:solidFill>
              <a:latin typeface="Calibri"/>
            </a:endParaRPr>
          </a:p>
        </p:txBody>
      </p:sp>
      <p:pic>
        <p:nvPicPr>
          <p:cNvPr id="186" name="Picture 1" descr="img/text_other.jpg"/>
          <p:cNvPicPr/>
          <p:nvPr/>
        </p:nvPicPr>
        <p:blipFill>
          <a:blip r:embed="rId2"/>
          <a:stretch/>
        </p:blipFill>
        <p:spPr>
          <a:xfrm>
            <a:off x="5372280" y="1625760"/>
            <a:ext cx="2565000" cy="2958840"/>
          </a:xfrm>
          <a:prstGeom prst="rect">
            <a:avLst/>
          </a:prstGeom>
          <a:ln w="9525">
            <a:noFill/>
          </a:ln>
        </p:spPr>
      </p:pic>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rmAutofit/>
          </a:bodyPr>
          <a:p>
            <a:pPr indent="0" defTabSz="343080">
              <a:lnSpc>
                <a:spcPct val="100000"/>
              </a:lnSpc>
              <a:buNone/>
              <a:tabLst>
                <a:tab algn="l" pos="0"/>
              </a:tabLst>
            </a:pPr>
            <a:r>
              <a:rPr b="1" lang="en-US" sz="3000" spc="-1" strike="noStrike" cap="all">
                <a:solidFill>
                  <a:schemeClr val="dk1"/>
                </a:solidFill>
                <a:latin typeface="Calibri"/>
              </a:rPr>
              <a:t>4. Wrapping up</a:t>
            </a:r>
            <a:endParaRPr b="0" lang="en-US" sz="30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Recitation today</a:t>
            </a:r>
            <a:endParaRPr b="0" lang="en-US" sz="3300" spc="-1" strike="noStrike">
              <a:solidFill>
                <a:schemeClr val="dk1"/>
              </a:solidFill>
              <a:latin typeface="Calibri"/>
            </a:endParaRPr>
          </a:p>
        </p:txBody>
      </p:sp>
      <p:sp>
        <p:nvSpPr>
          <p:cNvPr id="189"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1" lang="en-US" sz="2400" spc="-1" strike="noStrike">
                <a:solidFill>
                  <a:schemeClr val="dk1"/>
                </a:solidFill>
                <a:latin typeface="Calibri"/>
              </a:rPr>
              <a:t>MIMIC-IV structure and data exploration</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Download the open-access MIMIC-IV Clinical Database Demo (100 patients)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Map the </a:t>
            </a:r>
            <a:r>
              <a:rPr b="0" lang="en-US" sz="2400" spc="-1" strike="noStrike">
                <a:solidFill>
                  <a:schemeClr val="dk1"/>
                </a:solidFill>
                <a:latin typeface="Courier New"/>
              </a:rPr>
              <a:t>hosp</a:t>
            </a:r>
            <a:r>
              <a:rPr b="0" lang="en-US" sz="2400" spc="-1" strike="noStrike">
                <a:solidFill>
                  <a:schemeClr val="dk1"/>
                </a:solidFill>
                <a:latin typeface="Calibri"/>
              </a:rPr>
              <a:t> and </a:t>
            </a:r>
            <a:r>
              <a:rPr b="0" lang="en-US" sz="2400" spc="-1" strike="noStrike">
                <a:solidFill>
                  <a:schemeClr val="dk1"/>
                </a:solidFill>
                <a:latin typeface="Courier New"/>
              </a:rPr>
              <a:t>icu</a:t>
            </a:r>
            <a:r>
              <a:rPr b="0" lang="en-US" sz="2400" spc="-1" strike="noStrike">
                <a:solidFill>
                  <a:schemeClr val="dk1"/>
                </a:solidFill>
                <a:latin typeface="Calibri"/>
              </a:rPr>
              <a:t> schemas: what joins to what, on which key</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Quantify missingness, imbalance, and irregular sampling</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Find at least one leakage trap and one ICD-version trap</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Notebook: </a:t>
            </a:r>
            <a:r>
              <a:rPr b="0" lang="en-US" sz="2400" spc="-1" strike="noStrike">
                <a:solidFill>
                  <a:schemeClr val="dk1"/>
                </a:solidFill>
                <a:latin typeface="Courier New"/>
              </a:rPr>
              <a:t>Course01/notebook.ipynb</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For next week</a:t>
            </a:r>
            <a:endParaRPr b="0" lang="en-US" sz="3300" spc="-1" strike="noStrike">
              <a:solidFill>
                <a:schemeClr val="dk1"/>
              </a:solidFill>
              <a:latin typeface="Calibri"/>
            </a:endParaRPr>
          </a:p>
        </p:txBody>
      </p:sp>
      <p:sp>
        <p:nvSpPr>
          <p:cNvPr id="191"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TO DO:</a:t>
            </a:r>
            <a:r>
              <a:rPr b="0" lang="en-US" sz="2400" spc="-1" strike="noStrike">
                <a:solidFill>
                  <a:schemeClr val="dk1"/>
                </a:solidFill>
                <a:latin typeface="Calibri"/>
              </a:rPr>
              <a:t> finish the recitation notebook, including the open questions at the end</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Next lecture:</a:t>
            </a:r>
            <a:r>
              <a:rPr b="0" lang="en-US" sz="2400" spc="-1" strike="noStrike">
                <a:solidFill>
                  <a:schemeClr val="dk1"/>
                </a:solidFill>
                <a:latin typeface="Calibri"/>
              </a:rPr>
              <a:t> advanced feature engineering, and missing-ness done properly</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Before you go</a:t>
            </a:r>
            <a:endParaRPr b="0" lang="en-US" sz="3300" spc="-1" strike="noStrike">
              <a:solidFill>
                <a:schemeClr val="dk1"/>
              </a:solidFill>
              <a:latin typeface="Calibri"/>
            </a:endParaRPr>
          </a:p>
        </p:txBody>
      </p:sp>
      <p:sp>
        <p:nvSpPr>
          <p:cNvPr id="193"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On a slip of paper, one line each:</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One thing you will check before you trust a dataset</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One thing today that did not make sense</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Leave it on the desk on your way out.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92</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2026-08-09T10:40:07Z</dcterms:created>
  <dc:creator>Paul Dubois</dc:creator>
  <dc:description/>
  <dc:language>en-US</dc:language>
  <cp:lastModifiedBy/>
  <dcterms:modified xsi:type="dcterms:W3CDTF">2026-08-14T15:36:32Z</dcterms:modified>
  <cp:revision>1</cp:revision>
  <dc:subject/>
  <dc:title>Session 1 — Course Introduction &amp; Healthcare Data</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 Lecture (2.5h)</vt:lpwstr>
  </property>
  <property fmtid="{D5CDD505-2E9C-101B-9397-08002B2CF9AE}" pid="3" name="subtitle">
    <vt:lpwstr>Advanced Data Science · NYU Paris · 2026</vt:lpwstr>
  </property>
</Properties>
</file>