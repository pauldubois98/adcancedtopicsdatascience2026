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7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notesMaster" Target="notesMasters/notesMaster1.xml" /><Relationship Id="rId76" Type="http://schemas.openxmlformats.org/officeDocument/2006/relationships/viewProps" Target="viewProps.xml" /><Relationship Id="rId75" Type="http://schemas.openxmlformats.org/officeDocument/2006/relationships/presProps" Target="presProps.xml" /><Relationship Id="rId1" Type="http://schemas.openxmlformats.org/officeDocument/2006/relationships/slideMaster" Target="slideMasters/slideMaster1.xml" /><Relationship Id="rId78" Type="http://schemas.openxmlformats.org/officeDocument/2006/relationships/tableStyles" Target="tableStyles.xml" /><Relationship Id="rId77"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7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expectations early: a model with 0.95 AUC that is useless in the clinic is a failed project in this course.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if two experts only agree 70% of the time, what does 95% accuracy mean?</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Hands up before you click on. The annotator over-calls: 35% of the true negatives came back as findings. Ask for a show of hands - does the fitted line move left, move right, or stay put? Take a vote, then reveal. Most rooms say “stay put” because they are thinking of symmetric noise averaging out.</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the labels you wish you had. Right: the same 600 points, but the annotator is cautious and calls 35% of the negatives positive. The grey line is the truth, the amber line is what least squares gives you. Ask the room: which way did it move, and why is that worse than random flipping?</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Product-review sentiment, labelled twice by crowdworkers. Same mechanism, no radiologist in sight. Ask the room what accuracy they would put in a paper if worker B is the test set: the honest answer is that 83% is the ceiling, and a model reported at 90% is measuring the annotator, not the language. Show of hands before you reveal: does a bigger model fix this? It does not - the only fix is more annotators per item, or a better annotation guideline.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Run these three before anything else. </a:t>
            </a:r>
            <a:r>
              <a:rPr>
                <a:latin typeface="Courier"/>
              </a:rPr>
              <a:t>min</a:t>
            </a:r>
            <a:r>
              <a:rPr/>
              <a:t>/</a:t>
            </a:r>
            <a:r>
              <a:rPr>
                <a:latin typeface="Courier"/>
              </a:rPr>
              <a:t>max</a:t>
            </a:r>
            <a:r>
              <a:rPr/>
              <a:t> catch impossible values, a histogram catches mixed units far faster than reading a data dictionary, and grouping by unit catches the column that was silently concatenated from two sites.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delivery fleet’s telemetry, checked with the same three lines. Left: “no GPS fix” was written to the database as the number (0, 0) - a sentinel, not a null, and it is off the coast of Africa. Exactly the same bug as a heart rate of 0. Right: one supplier never converted mph to km/h, so a single column holds two units and the histogram has two humps. The expensive version of this is the Mars Climate Orbiter, lost in 1999 because one team worked in pound-force seconds and the other in newton-seconds.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same fleet, split by supplier. Both are driving the same roads at the same speeds - but supplier B’s firmware reports mph and nobody converted it, so the column holds 24 where it should hold 38. Walk the panels left to right and ask after each of the first two whether anything is wrong. Nothing is: each supplier’s distribution is a clean bell curve with a plausible mean, and every per-source sanity check passes. The bug exists only in the concatenation, which is the one view nobody plots. The expensive version is the Mars Climate Orbiter, lost in 1999 because one team worked in pound-force seconds and the other in newton-seconds.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return to this in depth in Week 2 — imputation strategies and multiple imputation.</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Show the matrix, let them read it for fifteen seconds, then take the vote: who died more often, the patients whose lactate was drawn or the ones where it never was? Hands for each. The room usually splits, which is the point - nobody has looked at a single lactate value yet.</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patients sorted by how unwell they are: routine observations are almost always there, the specialised ones only for the sick. Right: the patients who had a lactate drawn died five times more often — and that is before anyone looked at the number. Impute it away and you delete the strongest signal in the table.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Make them commit to a number before you say anything - written down, not shouted out, otherwise the first loud answer anchors the room. Rooms routinely guess far too low for ICU mortality and far too high for the rare disease. Ask why the guess is high: because the cases you hear about are the ones that went wrong, which is the same selection effect that shapes the data.</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“Hands up if you would ship it.” Wait for the hands, then ask one person who put their hand up to say why, and one who did not. Then reveal. Do not rush this one - the discomfort is the lesson.</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model has no parameters — it is </a:t>
            </a:r>
            <a:r>
              <a:rPr>
                <a:latin typeface="Courier"/>
              </a:rPr>
              <a:t>return 0</a:t>
            </a:r>
            <a:r>
              <a:rPr/>
              <a:t>. It beats most first attempts on accuracy and it would kill everyone it was meant to save. Every metric we use from Week 3 onwards exists to make this model score zero.</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Card fraud: 492 in 284 807 transactions. Real figures, from the ULB/Worldline dataset that half of them will meet on Kaggle. </a:t>
            </a:r>
            <a:r>
              <a:rPr>
                <a:latin typeface="Courier"/>
              </a:rPr>
              <a:t>return 0</a:t>
            </a:r>
            <a:r>
              <a:rPr/>
              <a:t> scores 99.83% and catches nothing. Ask what the bank actually cares about, and you get the answer that accuracy was never the objective: they care about euros recovered per false alarm, because every false alarm blocks a real customer’s card in a supermarket queue.</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Nothing was retrained, no code changed. The deployment hospital simply admits older patients, and the case mix kept drifting. Without a monitoring dashboard you find out from a complaint, not from a metric. Week 14.</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Weekly demand forecasting, and a competitor opens in week 70. The hospital example on the previous slide was covariate shift - P(X) moved. This one is a concept change: the relationship between the calendar and demand is simply not the same after week 70, and no amount of retraining on pre-70 data helps. Forecast error goes from 2% to 60% in a single week, and nobody touched the code. Ask them how they would have found out. The honest answer, in most companies, is “someone in finance noticed the numbers were wrong”.</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Zech et al. 2018 (cross-site CNN generalisation); Esteva/ISIC ruler artefact. These come back in Week 7.</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training images and a perfect score. Give them thirty seconds in pairs, then take two or three guesses out loud before revealing the third panel. Someone usually spots the marker; if nobody does, that is the more interesting outcome.</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 “pneumonia” scan in this hospital was shot at the bedside, so the portable unit’s marker is in the corner of every positive. The model finds it in one epoch, scores perfectly, and collapses the moment you deploy it anywhere else. The marker here is drawn on — the phenomenon is Zech et al. 2018.</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Huskies and wolves — the classifier that learned snow. Ribeiro et al. 2016, the LIME paper. They trained a deliberately bad husky-vs-wolf classifier, and the explanation showed it was scoring the background: every wolf photo had snow in it. When they showed the predictions to graduate students, most trusted the model - until they saw where it was looking. The images here are drawn, not photographs; the experiment is real.</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Vote by fingers on each one before discussing. A leaks: the scaler saw the test set. B leaks: length of stay is only known at discharge, and death shortens it. C is the right idea - split on patients, not rows. D is the one worth arguing about: a time-ordered split is good practice against shift, but the same patient can still straddle the cut, so it leaks by group unless you also split by patient. Answer: A, B and D leak. Only C is safe.</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optimism is small but real, and it grows fast as p grows or n shrinks. The same bug hides inside feature selection, PCA, and target encoding - anything fitted before the split. The durable fix is a </a:t>
            </a:r>
            <a:r>
              <a:rPr>
                <a:latin typeface="Courier"/>
              </a:rPr>
              <a:t>Pipeline</a:t>
            </a:r>
            <a:r>
              <a:rPr/>
              <a:t>, so the preprocessing is refitted inside every CV fold rather than remembered from the whole dataset.</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target leakage, and it is the one that produces AUCs of 0.99. Ask the room what a deployed model would actually have at prediction time: a patient who is still in a bed has no discharge date. The general rule is to pick a decision time and refuse every value recorded after it.</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right idea. The version worth writing is </a:t>
            </a:r>
            <a:r>
              <a:rPr>
                <a:latin typeface="Courier"/>
              </a:rPr>
              <a:t>GroupShuffleSplit</a:t>
            </a:r>
            <a:r>
              <a:rPr/>
              <a:t>, which does the same thing without you handling ids by hand, and which composes with cross-validation. Note it is necessary but not sufficient - C is still vulnerable to the time problem in D if the model will be deployed forwards in time.</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one worth arguing about, and the honest answer is “both”. Splitting by time is what you want if the model will run forwards - it is the only split that measures shift. But a stay spanning the cut puts the same patient in both halves. You need both constraints, and the two fight each other: patients admitted before the cut and discharged after it have to be thrown away.</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Give them three minutes in pairs, collect answers on the board under the four headings, then reveal the next slide. Answers, and none is a single cause: 1. Concept drift, plus a feedback loop - Google’s own autocomplete changed what people searched for, so the features moved under the model. 2. Shift and label noise: sepsis is defined by a billing code that varies by site, and the model was tuned somewhere else. Wong et al., JAMA Intern Med 2021. 3. Shortcuts, mostly - models learned the source hospital, scanner and laterality tokens rather than the disease. Roberts et al., Nat Mach Intell 2021; DeGrave et al. 2021. Collect answers on the board under the four headings before moving on.</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Insist that none of the three has a single cause - that is why the four headings are a checklist and not a taxonomy. Flu Trends: the search terms drifted, partly because Google’s own autocomplete changed what people typed, so the features moved under a model nobody retrained. Epic: sepsis is defined by a billing code applied differently at every site, so both P(X) and the meaning of Y moved. Wong et al., JAMA Intern Med 2021. COVID: models learned the source hospital, the scanner and laterality tokens. Many also pooled adult pneumonia with paediatric controls, so the classifier had only to detect a child. Roberts et al., Nat Mach Intell 2021; DeGrave et al. 2021.</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Write the resume time on the board before you walk off. “Ten minutes” announced from the front of a lecture theatre reliably becomes fifteen, and this is the half-way point of a 2.5h session - section 2 still has to fit. This is also the moment the students who will not put a hand up in front of the room will come and ask you something, so stay near the front for the first few minutes.</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workhorse: gradient boosting still wins here more often than deep learning. The hard part is never the model, it is deciding what one row </a:t>
            </a:r>
            <a:r>
              <a:rPr i="1"/>
              <a:t>is</a:t>
            </a:r>
            <a:r>
              <a:rPr/>
              <a:t>. Left: Cortejoso et al., Clin Interv Aging (CC BY 3.0). Right: US Bureau of Immigration, 1912 (CC0) — the Titanic dataset you have all seen.</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Same object: a regularly sampled sequence. Same toolbox: filtering, spectrograms, 1D convolutions, transformers. The ECG is 500 Hz, the audio 44.1 kHz — three orders of magnitude apart, identical methods. Left: Glenlarson (public domain). Right: Em3rgent0rdr (CC BY-SA 4.0).</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Both are arrays of numbers on a grid, and a CNN or a ViT does not know the difference. What differs is the </a:t>
            </a:r>
            <a:r>
              <a:rPr i="1"/>
              <a:t>label</a:t>
            </a:r>
            <a:r>
              <a:rPr/>
              <a:t>: “pneumonia” is one radiologist’s opinion, “wheat” is ground truth you can go and check. Left: Mikael Häggström (CC0). Right: NASA/ASTER, Kansas (public domain).</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third dimension costs you: memory grows cubically, labelled data gets scarcer, and pretrained weights are far rarer than in 2D. Note the two are not the same kind of 3D — the CT is a dense voxel grid, the point cloud is sparse and unordered. Left: Mikael Häggström (CC0). Right: Daniel L. Lu, San Francisco (CC BY 4.0).</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Clinical text is its own dialect: abbreviations, negation (“no evidence of hydrocephalus”), copy-paste, and dictation errors. A model trained on newspapers reads “PT” as a person and not as prothrombin time. Weeks 11–12. Left: Tu et al., MultiMedBench (CC BY 4.0). Right: The Echo, 1920 (public domain).</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columns are section 2’s five data types. The point is the density: no column belongs to one field, and no field lives in one column. Ask which cell surprises them. Usual answer is 3D volumes for sport - it is pose and player tracking reconstructed in three dimensions, and it is the same convolution.</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card-fraud figure from section 1 was this. Worth adding the adversarial twist: unlike a disease, fraud pushes back. Retrain monthly or the pattern you learned is the one the fraudsters have already abandoned. The 100 ms is not decoration - it rules out most of what we will cover in week 3.</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demand-forecast figure in section 1 was this one. Millions of series, most of them mostly zero: intermittent demand is its own literature, and it is imbalance wearing a time series costume.</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defects per thousand parts, and two inspectors agree maybe 80% of the time. This is the cleanest industrial example of the ceiling from the noise slides: you cannot score above your inspectors, and management will ask you to.</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DeepMind’s GraphCast (2023) beat the operational physics model on most verification scores, which is the result that got attention. The part that matters here is the caveat: it is trained on a reanalysis of the past, and the climate is not stationary, so what it learned is drifting under it by construction. Nobody has a clean answer.</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Forecast wrong by 2% and someone starts a gas turbine. The missingness point is the good one: the outages are not random, they cluster in precisely the conditions you most need to forecast. MNAR, on a power grid.</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Ninety-nine percent of driving, and of routing, is trivially easy, and the entire problem is the remaining fraction. This is why aggregate accuracy is meaningless here - the same argument as the imbalance slides, told about safety instead of screening.</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whole season is a few hundred shots per team - genuinely small data, which is why the arguments about xG are statistical arguments. The selection point is the deeper one: you never observe the shot the player decided not to take.</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Take this one slowly. The model was trained on who had been investigated and found at fault before, so it learned who gets investigated - and nationality was among the inputs. Its output then generated the next round of investigations, which became the next round of training data. This is the one domain on the list where the failure ended careers and ruined lives, and it is worth saying that the technical error is one they can now name.</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Take all four before revealing. These are deliberately the same four mistakes from this morning, wearing different clothes - if the room names them quickly, section 1 worked.</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Number four is the one to dwell on: there is no bug in it. The data is accurate, the split is clean, the metric is fine, and the model is a faithful reproduction of who got hired before. Ask what you would even measure to catch it. That question is Week 14.</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Row three is the Dutch case, and it is the row where the institution had the ratio backwards. Ask the room to fill in a fifth row for their own final project before they write a line of code - if they cannot, they do not yet have a problem. This is Week 4: net benefit and decision curves are how you put this in a number.</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Google Flu Trends from the autopsy slide, the hiring model two slides ago, the Dutch benefits model, and every recommender ever shipped. Once a model acts, the data stops being a sample of the world and becomes a sample of the world your model made. None of the theory in this course covers that arrow. Week 13 on causality is the closest we get.</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right-hand halves out loud. Every block of the syllabus was on the tour, so nothing here is healthcare-specific machinery.</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Tell them to photograph this slide. It is the last section of the recitation notebook and they will answer all seven against MIMIC before they leave.</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minutes in pairs, then collect answers on questions 1, 2 and 6 only - that is enough to make the point and it fits the time. The answers you are steering towards: one row is ambiguous (a study? a patient? a visit?); the label is a model reading a human’s summary of the image, so it is two proxies deep; and without the hospital you cannot split by site, which after this morning they should recognise as fatal. Somebody usually asks whether you can recover the site from the images - yes, and that is exactly the problem.</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1.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2.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3.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4.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5.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6.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7.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8.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 Id="rId3" Type="http://schemas.openxmlformats.org/officeDocument/2006/relationships/image" Target="../media/image9.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10.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11.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image" Target="../media/image12.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image" Target="../media/image13.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image" Target="../media/image14.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image" Target="../media/image15.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 Id="rId3" Type="http://schemas.openxmlformats.org/officeDocument/2006/relationships/image" Target="../media/image16.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30.xml" /><Relationship Id="rId4" Type="http://schemas.openxmlformats.org/officeDocument/2006/relationships/image" Target="../media/image18.jpg" /><Relationship Id="rId3" Type="http://schemas.openxmlformats.org/officeDocument/2006/relationships/image" Target="../media/image17.jpg" /></Relationships>
</file>

<file path=ppt/slides/_rels/slide48.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31.xml" /><Relationship Id="rId4" Type="http://schemas.openxmlformats.org/officeDocument/2006/relationships/image" Target="../media/image20.jpg" /><Relationship Id="rId3" Type="http://schemas.openxmlformats.org/officeDocument/2006/relationships/image" Target="../media/image19.jpg" /></Relationships>
</file>

<file path=ppt/slides/_rels/slide49.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32.xml" /><Relationship Id="rId4" Type="http://schemas.openxmlformats.org/officeDocument/2006/relationships/image" Target="../media/image22.jpg" /><Relationship Id="rId3" Type="http://schemas.openxmlformats.org/officeDocument/2006/relationships/image" Target="../media/image21.jpg" /></Relationships>
</file>

<file path=ppt/slides/_rels/slide50.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33.xml" /><Relationship Id="rId4" Type="http://schemas.openxmlformats.org/officeDocument/2006/relationships/image" Target="../media/image24.jpg" /><Relationship Id="rId3" Type="http://schemas.openxmlformats.org/officeDocument/2006/relationships/image" Target="../media/image23.jpg" /></Relationships>
</file>

<file path=ppt/slides/_rels/slide51.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34.xml" /><Relationship Id="rId4" Type="http://schemas.openxmlformats.org/officeDocument/2006/relationships/image" Target="../media/image26.jpg" /><Relationship Id="rId3" Type="http://schemas.openxmlformats.org/officeDocument/2006/relationships/image" Target="../media/image25.jpg" /></Relationships>
</file>

<file path=ppt/slides/_rels/slide5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 Id="rId3" Type="http://schemas.openxmlformats.org/officeDocument/2006/relationships/image" Target="../media/image27.png" /></Relationships>
</file>

<file path=ppt/slides/_rels/slide5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6.xml" /><Relationship Id="rId3" Type="http://schemas.openxmlformats.org/officeDocument/2006/relationships/image" Target="../media/image28.png" /></Relationships>
</file>

<file path=ppt/slides/_rels/slide5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7.xml" /><Relationship Id="rId3" Type="http://schemas.openxmlformats.org/officeDocument/2006/relationships/image" Target="../media/image29.png" /></Relationships>
</file>

<file path=ppt/slides/_rels/slide5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8.xml" /><Relationship Id="rId3" Type="http://schemas.openxmlformats.org/officeDocument/2006/relationships/image" Target="../media/image30.png" /></Relationships>
</file>

<file path=ppt/slides/_rels/slide5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9.xml" /><Relationship Id="rId3" Type="http://schemas.openxmlformats.org/officeDocument/2006/relationships/image" Target="../media/image31.png" /></Relationships>
</file>

<file path=ppt/slides/_rels/slide5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0.xml" /><Relationship Id="rId3" Type="http://schemas.openxmlformats.org/officeDocument/2006/relationships/image" Target="../media/image32.png" /></Relationships>
</file>

<file path=ppt/slides/_rels/slide5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1.xml" /><Relationship Id="rId3" Type="http://schemas.openxmlformats.org/officeDocument/2006/relationships/image" Target="../media/image33.png" /></Relationships>
</file>

<file path=ppt/slides/_rels/slide6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2.xml" /><Relationship Id="rId3" Type="http://schemas.openxmlformats.org/officeDocument/2006/relationships/image" Target="../media/image34.png" /></Relationships>
</file>

<file path=ppt/slides/_rels/slide6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3.xml" /><Relationship Id="rId3" Type="http://schemas.openxmlformats.org/officeDocument/2006/relationships/image" Target="../media/image35.png"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 Id="rId3" Type="http://schemas.openxmlformats.org/officeDocument/2006/relationships/image" Target="../media/image36.png"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normAutofit/>
          </a:bodyPr>
          <a:lstStyle/>
          <a:p>
            <a:pPr lvl="0" indent="0" marL="0">
              <a:buNone/>
            </a:pPr>
            <a:r>
              <a:rPr/>
              <a:t>Session 1</a:t>
            </a:r>
            <a:br/>
            <a:r>
              <a:rPr/>
              <a:t>Course Introduction &amp; Healthcare Data</a:t>
            </a:r>
          </a:p>
        </p:txBody>
      </p:sp>
      <p:sp>
        <p:nvSpPr>
          <p:cNvPr id="3" name="Subtitle 2"/>
          <p:cNvSpPr>
            <a:spLocks noGrp="1"/>
          </p:cNvSpPr>
          <p:nvPr>
            <p:ph idx="1" type="subTitle"/>
          </p:nvPr>
        </p:nvSpPr>
        <p:spPr>
          <a:xfrm>
            <a:off x="1371600" y="2914650"/>
            <a:ext cx="6400800" cy="1314450"/>
          </a:xfrm>
        </p:spPr>
        <p:txBody>
          <a:bodyPr>
            <a:normAutofit/>
          </a:bodyPr>
          <a:lstStyle/>
          <a:p>
            <a:pPr lvl="0" indent="0" marL="0">
              <a:buNone/>
            </a:pPr>
            <a:r>
              <a:rPr/>
              <a:t>Advanced Data Science · NYU Paris · 2026</a:t>
            </a:r>
            <a:br/>
            <a:br/>
            <a:r>
              <a:rPr/>
              <a:t>Paul Dubois</a:t>
            </a:r>
          </a:p>
        </p:txBody>
      </p:sp>
      <p:sp>
        <p:nvSpPr>
          <p:cNvPr id="4" name="Date Placeholder 3"/>
          <p:cNvSpPr>
            <a:spLocks noGrp="1"/>
          </p:cNvSpPr>
          <p:nvPr>
            <p:ph idx="10" sz="half" type="dt"/>
          </p:nvPr>
        </p:nvSpPr>
        <p:spPr/>
        <p:txBody>
          <a:bodyPr>
            <a:normAutofit/>
          </a:bodyPr>
          <a:lstStyle/>
          <a:p>
            <a:pPr lvl="0" indent="0" marL="0">
              <a:buNone/>
            </a:pPr>
            <a:r>
              <a:rPr/>
              <a:t>Week 1 — Lecture (2.5h)</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0. Welcome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Who I am, who you are</a:t>
            </a:r>
          </a:p>
        </p:txBody>
      </p:sp>
      <p:sp>
        <p:nvSpPr>
          <p:cNvPr id="3" name="Content Placeholder 2"/>
          <p:cNvSpPr>
            <a:spLocks noGrp="1"/>
          </p:cNvSpPr>
          <p:nvPr>
            <p:ph idx="1"/>
          </p:nvPr>
        </p:nvSpPr>
        <p:spPr/>
        <p:txBody>
          <a:bodyPr>
            <a:normAutofit/>
          </a:bodyPr>
          <a:lstStyle/>
          <a:p>
            <a:pPr lvl="0"/>
            <a:r>
              <a:rPr b="1"/>
              <a:t>Instructor:</a:t>
            </a:r>
            <a:r>
              <a:rPr/>
              <a:t> Paul Dubois — data science &amp; AI applied to healthcare</a:t>
            </a:r>
          </a:p>
          <a:p>
            <a:pPr lvl="0"/>
            <a:r>
              <a:rPr b="1"/>
              <a:t>You:</a:t>
            </a:r>
            <a:r>
              <a:rPr/>
              <a:t> 4th year undergraduates, with background in</a:t>
            </a:r>
          </a:p>
          <a:p>
            <a:pPr lvl="1"/>
            <a:r>
              <a:rPr/>
              <a:t>linear algebra</a:t>
            </a:r>
          </a:p>
          <a:p>
            <a:pPr lvl="1"/>
            <a:r>
              <a:rPr/>
              <a:t>probability &amp; statistics</a:t>
            </a:r>
          </a:p>
          <a:p>
            <a:pPr lvl="1"/>
            <a:r>
              <a:rPr/>
              <a:t>Python programming</a:t>
            </a:r>
          </a:p>
          <a:p>
            <a:pPr lvl="0"/>
            <a:r>
              <a:rPr/>
              <a:t>Around the room: name, major, one dataset you have already worked with</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What this course is</a:t>
            </a:r>
          </a:p>
        </p:txBody>
      </p:sp>
      <p:sp>
        <p:nvSpPr>
          <p:cNvPr id="3" name="Content Placeholder 2"/>
          <p:cNvSpPr>
            <a:spLocks noGrp="1"/>
          </p:cNvSpPr>
          <p:nvPr>
            <p:ph idx="1"/>
          </p:nvPr>
        </p:nvSpPr>
        <p:spPr/>
        <p:txBody>
          <a:bodyPr>
            <a:normAutofit/>
          </a:bodyPr>
          <a:lstStyle/>
          <a:p>
            <a:pPr lvl="0" indent="0" marL="1270000">
              <a:buNone/>
            </a:pPr>
            <a:r>
              <a:rPr sz="2000"/>
              <a:t>Advanced methods in data science and applied machine learning, with case studies drawn from healthcare and biomedical research.</a:t>
            </a:r>
          </a:p>
          <a:p>
            <a:pPr lvl="0"/>
            <a:r>
              <a:rPr/>
              <a:t>The </a:t>
            </a:r>
            <a:r>
              <a:rPr b="1"/>
              <a:t>theory is domain-general:</a:t>
            </a:r>
          </a:p>
          <a:p>
            <a:pPr lvl="1" indent="0" marL="342900">
              <a:buNone/>
            </a:pPr>
            <a:r>
              <a:rPr/>
              <a:t>it transfers to finance, industry, climate, anything</a:t>
            </a:r>
          </a:p>
          <a:p>
            <a:pPr lvl="0"/>
            <a:r>
              <a:rPr/>
              <a:t>The </a:t>
            </a:r>
            <a:r>
              <a:rPr b="1"/>
              <a:t>applications are clinical:</a:t>
            </a:r>
          </a:p>
          <a:p>
            <a:pPr lvl="1" indent="0" marL="342900">
              <a:buNone/>
            </a:pPr>
            <a:r>
              <a:rPr/>
              <a:t>because that is my expertise</a:t>
            </a:r>
          </a:p>
          <a:p>
            <a:pPr lvl="0"/>
            <a:r>
              <a:rPr/>
              <a:t>All labs use </a:t>
            </a:r>
            <a:r>
              <a:rPr b="1"/>
              <a:t>public datasets</a:t>
            </a:r>
          </a:p>
          <a:p>
            <a:pPr lvl="1" indent="0" marL="342900">
              <a:buNone/>
            </a:pPr>
            <a:r>
              <a:rPr/>
              <a:t>(for legal issues)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What this course is </a:t>
            </a:r>
            <a:r>
              <a:rPr i="1"/>
              <a:t>not</a:t>
            </a:r>
          </a:p>
        </p:txBody>
      </p:sp>
      <p:sp>
        <p:nvSpPr>
          <p:cNvPr id="3" name="Content Placeholder 2"/>
          <p:cNvSpPr>
            <a:spLocks noGrp="1"/>
          </p:cNvSpPr>
          <p:nvPr>
            <p:ph idx="1"/>
          </p:nvPr>
        </p:nvSpPr>
        <p:spPr/>
        <p:txBody>
          <a:bodyPr>
            <a:normAutofit/>
          </a:bodyPr>
          <a:lstStyle/>
          <a:p>
            <a:pPr lvl="0"/>
            <a:r>
              <a:rPr/>
              <a:t>Not a medical course</a:t>
            </a:r>
          </a:p>
          <a:p>
            <a:pPr lvl="0"/>
            <a:r>
              <a:rPr/>
              <a:t>Not a “call </a:t>
            </a:r>
            <a:r>
              <a:rPr>
                <a:latin typeface="Courier"/>
              </a:rPr>
              <a:t>.fit()</a:t>
            </a:r>
            <a:r>
              <a:rPr/>
              <a:t>” course</a:t>
            </a:r>
          </a:p>
          <a:p>
            <a:pPr lvl="0"/>
            <a:r>
              <a:rPr/>
              <a:t>Not a deep learning theory course</a:t>
            </a:r>
          </a:p>
          <a:p>
            <a:pPr lvl="1" indent="0" marL="342900">
              <a:buNone/>
            </a:pPr>
            <a:r>
              <a:rPr/>
              <a:t>we will use deep learning if and only if it is appropriate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Format</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0" bandRow="1">
                <a:tableStyleId>{5C22544A-7EE6-4342-B048-85BDC9FD1C3A}</a:tableStyleId>
              </a:tblPr>
              <a:tblGrid>
                <a:gridCol w="4114800"/>
                <a:gridCol w="4114800"/>
              </a:tblGrid>
              <a:tr h="0">
                <a:tc>
                  <a:txBody>
                    <a:bodyPr>
                      <a:normAutofit/>
                    </a:bodyPr>
                    <a:lstStyle/>
                    <a:p>
                      <a:pPr lvl="0" indent="0" marL="0">
                        <a:buNone/>
                      </a:pPr>
                      <a:r>
                        <a:rPr b="1"/>
                        <a:t>Lecture</a:t>
                      </a:r>
                    </a:p>
                  </a:txBody>
                </a:tc>
                <a:tc>
                  <a:txBody>
                    <a:bodyPr>
                      <a:normAutofit/>
                    </a:bodyPr>
                    <a:lstStyle/>
                    <a:p>
                      <a:pPr lvl="0" indent="0" marL="0">
                        <a:buNone/>
                      </a:pPr>
                      <a:r>
                        <a:rPr/>
                        <a:t>2.5h per week: concepts, methods</a:t>
                      </a:r>
                    </a:p>
                  </a:txBody>
                </a:tc>
              </a:tr>
              <a:tr h="0">
                <a:tc>
                  <a:txBody>
                    <a:bodyPr>
                      <a:normAutofit/>
                    </a:bodyPr>
                    <a:lstStyle/>
                    <a:p>
                      <a:pPr lvl="0" indent="0" marL="0">
                        <a:buNone/>
                      </a:pPr>
                      <a:r>
                        <a:rPr b="1"/>
                        <a:t>Recitation</a:t>
                      </a:r>
                    </a:p>
                  </a:txBody>
                </a:tc>
                <a:tc>
                  <a:txBody>
                    <a:bodyPr>
                      <a:normAutofit/>
                    </a:bodyPr>
                    <a:lstStyle/>
                    <a:p>
                      <a:pPr lvl="0" indent="0" marL="0">
                        <a:buNone/>
                      </a:pPr>
                      <a:r>
                        <a:rPr/>
                        <a:t>1.5h per week: hands-on lab</a:t>
                      </a:r>
                    </a:p>
                  </a:txBody>
                </a:tc>
              </a:tr>
              <a:tr h="0">
                <a:tc>
                  <a:txBody>
                    <a:bodyPr>
                      <a:normAutofit/>
                    </a:bodyPr>
                    <a:lstStyle/>
                    <a:p>
                      <a:pPr lvl="0" indent="0" marL="0">
                        <a:buNone/>
                      </a:pPr>
                      <a:r>
                        <a:rPr b="1"/>
                        <a:t>Duration</a:t>
                      </a:r>
                    </a:p>
                  </a:txBody>
                </a:tc>
                <a:tc>
                  <a:txBody>
                    <a:bodyPr>
                      <a:normAutofit/>
                    </a:bodyPr>
                    <a:lstStyle/>
                    <a:p>
                      <a:pPr lvl="0" indent="0" marL="0">
                        <a:buNone/>
                      </a:pPr>
                      <a:r>
                        <a:rPr/>
                        <a:t>14.5 weeks</a:t>
                      </a:r>
                    </a:p>
                  </a:txBody>
                </a:tc>
              </a:tr>
              <a:tr h="0">
                <a:tc>
                  <a:txBody>
                    <a:bodyPr>
                      <a:normAutofit/>
                    </a:bodyPr>
                    <a:lstStyle/>
                    <a:p>
                      <a:pPr lvl="0" indent="0" marL="0">
                        <a:buNone/>
                      </a:pPr>
                      <a:r>
                        <a:rPr b="1"/>
                        <a:t>Language</a:t>
                      </a:r>
                    </a:p>
                  </a:txBody>
                </a:tc>
                <a:tc>
                  <a:txBody>
                    <a:bodyPr>
                      <a:normAutofit/>
                    </a:bodyPr>
                    <a:lstStyle/>
                    <a:p>
                      <a:pPr lvl="0" indent="0" marL="0">
                        <a:buNone/>
                      </a:pPr>
                      <a:r>
                        <a:rPr/>
                        <a:t>English</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Grading</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normAutofit/>
                    </a:bodyPr>
                    <a:lstStyle/>
                    <a:p>
                      <a:pPr lvl="0" indent="0" marL="0">
                        <a:buNone/>
                      </a:pPr>
                      <a:r>
                        <a:rPr/>
                        <a:t>Component</a:t>
                      </a:r>
                    </a:p>
                  </a:txBody>
                  <a:tcPr/>
                </a:tc>
                <a:tc>
                  <a:txBody>
                    <a:bodyPr>
                      <a:normAutofit/>
                    </a:bodyPr>
                    <a:lstStyle/>
                    <a:p>
                      <a:pPr lvl="0" indent="0" marL="0">
                        <a:buNone/>
                      </a:pPr>
                      <a:r>
                        <a:rPr/>
                        <a:t>Weight</a:t>
                      </a:r>
                    </a:p>
                  </a:txBody>
                  <a:tcPr/>
                </a:tc>
              </a:tr>
              <a:tr h="0">
                <a:tc>
                  <a:txBody>
                    <a:bodyPr>
                      <a:normAutofit/>
                    </a:bodyPr>
                    <a:lstStyle/>
                    <a:p>
                      <a:pPr lvl="0" indent="0" marL="0">
                        <a:buNone/>
                      </a:pPr>
                      <a:r>
                        <a:rPr/>
                        <a:t>Weekly labs</a:t>
                      </a:r>
                    </a:p>
                  </a:txBody>
                </a:tc>
                <a:tc>
                  <a:txBody>
                    <a:bodyPr>
                      <a:normAutofit/>
                    </a:bodyPr>
                    <a:lstStyle/>
                    <a:p>
                      <a:pPr lvl="0" indent="0" marL="0">
                        <a:buNone/>
                      </a:pPr>
                      <a:r>
                        <a:rPr/>
                        <a:t>0%</a:t>
                      </a:r>
                    </a:p>
                  </a:txBody>
                </a:tc>
              </a:tr>
              <a:tr h="0">
                <a:tc>
                  <a:txBody>
                    <a:bodyPr>
                      <a:normAutofit/>
                    </a:bodyPr>
                    <a:lstStyle/>
                    <a:p>
                      <a:pPr lvl="0" indent="0" marL="0">
                        <a:buNone/>
                      </a:pPr>
                      <a:r>
                        <a:rPr/>
                        <a:t>Kaggle challenges</a:t>
                      </a:r>
                    </a:p>
                  </a:txBody>
                </a:tc>
                <a:tc>
                  <a:txBody>
                    <a:bodyPr>
                      <a:normAutofit/>
                    </a:bodyPr>
                    <a:lstStyle/>
                    <a:p>
                      <a:pPr lvl="0" indent="0" marL="0">
                        <a:buNone/>
                      </a:pPr>
                      <a:r>
                        <a:rPr/>
                        <a:t>? %</a:t>
                      </a:r>
                    </a:p>
                  </a:txBody>
                </a:tc>
              </a:tr>
              <a:tr h="0">
                <a:tc>
                  <a:txBody>
                    <a:bodyPr>
                      <a:normAutofit/>
                    </a:bodyPr>
                    <a:lstStyle/>
                    <a:p>
                      <a:pPr lvl="0" indent="0" marL="0">
                        <a:buNone/>
                      </a:pPr>
                      <a:r>
                        <a:rPr/>
                        <a:t>Paper reading presentation/report</a:t>
                      </a:r>
                    </a:p>
                  </a:txBody>
                </a:tc>
                <a:tc>
                  <a:txBody>
                    <a:bodyPr>
                      <a:normAutofit/>
                    </a:bodyPr>
                    <a:lstStyle/>
                    <a:p>
                      <a:pPr lvl="0" indent="0" marL="0">
                        <a:buNone/>
                      </a:pPr>
                      <a:r>
                        <a:rPr/>
                        <a:t>? %</a:t>
                      </a:r>
                    </a:p>
                  </a:txBody>
                </a:tc>
              </a:tr>
              <a:tr h="0">
                <a:tc>
                  <a:txBody>
                    <a:bodyPr>
                      <a:normAutofit/>
                    </a:bodyPr>
                    <a:lstStyle/>
                    <a:p>
                      <a:pPr lvl="0" indent="0" marL="0">
                        <a:buNone/>
                      </a:pPr>
                      <a:r>
                        <a:rPr/>
                        <a:t>Poster mini-project</a:t>
                      </a:r>
                    </a:p>
                  </a:txBody>
                </a:tc>
                <a:tc>
                  <a:txBody>
                    <a:bodyPr>
                      <a:normAutofit/>
                    </a:bodyPr>
                    <a:lstStyle/>
                    <a:p>
                      <a:pPr lvl="0" indent="0" marL="0">
                        <a:buNone/>
                      </a:pPr>
                      <a:r>
                        <a:rPr/>
                        <a:t>? %</a:t>
                      </a:r>
                    </a:p>
                  </a:txBody>
                </a:tc>
              </a:tr>
              <a:tr h="0">
                <a:tc>
                  <a:txBody>
                    <a:bodyPr>
                      <a:normAutofit/>
                    </a:bodyPr>
                    <a:lstStyle/>
                    <a:p>
                      <a:pPr lvl="0" indent="0" marL="0">
                        <a:buNone/>
                      </a:pPr>
                      <a:r>
                        <a:rPr/>
                        <a:t>Final project presentation/report</a:t>
                      </a:r>
                    </a:p>
                  </a:txBody>
                </a:tc>
                <a:tc>
                  <a:txBody>
                    <a:bodyPr>
                      <a:normAutofit/>
                    </a:bodyPr>
                    <a:lstStyle/>
                    <a:p>
                      <a:pPr lvl="0" indent="0" marL="0">
                        <a:buNone/>
                      </a:pPr>
                      <a:r>
                        <a:rPr/>
                        <a:t>? %</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Roadmap of the semester</a:t>
            </a:r>
          </a:p>
        </p:txBody>
      </p:sp>
      <p:sp>
        <p:nvSpPr>
          <p:cNvPr id="3" name="Content Placeholder 2"/>
          <p:cNvSpPr>
            <a:spLocks noGrp="1"/>
          </p:cNvSpPr>
          <p:nvPr>
            <p:ph idx="1"/>
          </p:nvPr>
        </p:nvSpPr>
        <p:spPr/>
        <p:txBody>
          <a:bodyPr>
            <a:normAutofit/>
          </a:bodyPr>
          <a:lstStyle/>
          <a:p>
            <a:pPr lvl="0"/>
            <a:r>
              <a:rPr b="1"/>
              <a:t>Weeks 1–4:</a:t>
            </a:r>
            <a:r>
              <a:rPr/>
              <a:t> Foundations (data, features, missingness…)</a:t>
            </a:r>
          </a:p>
          <a:p>
            <a:pPr lvl="0"/>
            <a:r>
              <a:rPr b="1"/>
              <a:t>Weeks 5–6:</a:t>
            </a:r>
            <a:r>
              <a:rPr/>
              <a:t> Time series</a:t>
            </a:r>
          </a:p>
          <a:p>
            <a:pPr lvl="0"/>
            <a:r>
              <a:rPr b="1"/>
              <a:t>Weeks 7–10:</a:t>
            </a:r>
            <a:r>
              <a:rPr/>
              <a:t> Images (2D and 3D)</a:t>
            </a:r>
          </a:p>
          <a:p>
            <a:pPr lvl="0"/>
            <a:r>
              <a:rPr b="1"/>
              <a:t>Weeks 11–12:</a:t>
            </a:r>
            <a:r>
              <a:rPr/>
              <a:t> Text (NLP/LLMs)</a:t>
            </a:r>
          </a:p>
          <a:p>
            <a:pPr lvl="0"/>
            <a:r>
              <a:rPr b="1"/>
              <a:t>Weeks 13–14:</a:t>
            </a:r>
            <a:r>
              <a:rPr/>
              <a:t> Causality, bias, privacy, deployment</a:t>
            </a:r>
          </a:p>
          <a:p>
            <a:pPr lvl="0" indent="0" marL="0">
              <a:buNone/>
            </a:pPr>
            <a:r>
              <a:rPr i="1"/>
              <a:t>This syllabus is provisional and may be adjusted weekly depending on the pace of the class.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Tooling</a:t>
            </a:r>
          </a:p>
        </p:txBody>
      </p:sp>
      <p:sp>
        <p:nvSpPr>
          <p:cNvPr id="3" name="Content Placeholder 2"/>
          <p:cNvSpPr>
            <a:spLocks noGrp="1"/>
          </p:cNvSpPr>
          <p:nvPr>
            <p:ph idx="1"/>
          </p:nvPr>
        </p:nvSpPr>
        <p:spPr/>
        <p:txBody>
          <a:bodyPr>
            <a:normAutofit/>
          </a:bodyPr>
          <a:lstStyle/>
          <a:p>
            <a:pPr lvl="0"/>
            <a:r>
              <a:rPr b="1"/>
              <a:t>Python 3.11+</a:t>
            </a:r>
          </a:p>
          <a:p>
            <a:pPr lvl="0"/>
            <a:r>
              <a:rPr>
                <a:latin typeface="Courier"/>
              </a:rPr>
              <a:t>uv</a:t>
            </a:r>
            <a:r>
              <a:rPr/>
              <a:t> for environments (or </a:t>
            </a:r>
            <a:r>
              <a:rPr>
                <a:latin typeface="Courier"/>
              </a:rPr>
              <a:t>pip</a:t>
            </a:r>
            <a:r>
              <a:rPr/>
              <a:t>)</a:t>
            </a:r>
          </a:p>
          <a:p>
            <a:pPr lvl="0"/>
            <a:r>
              <a:rPr>
                <a:latin typeface="Courier"/>
              </a:rPr>
              <a:t>pandas</a:t>
            </a:r>
            <a:r>
              <a:rPr/>
              <a:t>, </a:t>
            </a:r>
            <a:r>
              <a:rPr>
                <a:latin typeface="Courier"/>
              </a:rPr>
              <a:t>numpy</a:t>
            </a:r>
            <a:r>
              <a:rPr/>
              <a:t>, </a:t>
            </a:r>
            <a:r>
              <a:rPr>
                <a:latin typeface="Courier"/>
              </a:rPr>
              <a:t>scikit-learn</a:t>
            </a:r>
            <a:r>
              <a:rPr/>
              <a:t>, </a:t>
            </a:r>
            <a:r>
              <a:rPr>
                <a:latin typeface="Courier"/>
              </a:rPr>
              <a:t>matplotlib</a:t>
            </a:r>
          </a:p>
          <a:p>
            <a:pPr lvl="0"/>
            <a:r>
              <a:rPr>
                <a:latin typeface="Courier"/>
              </a:rPr>
              <a:t>pytorch</a:t>
            </a:r>
            <a:r>
              <a:rPr/>
              <a:t> for deep learning</a:t>
            </a:r>
          </a:p>
          <a:p>
            <a:pPr lvl="0"/>
            <a:r>
              <a:rPr/>
              <a:t>Jupyter notebooks for labs</a:t>
            </a:r>
          </a:p>
          <a:p>
            <a:pPr lvl="0"/>
            <a:r>
              <a:rPr/>
              <a:t>Compute: a modern laptop should be enough</a:t>
            </a:r>
          </a:p>
          <a:p>
            <a:pPr lvl="1" indent="0" marL="342900">
              <a:buNone/>
            </a:pPr>
            <a:r>
              <a:rPr/>
              <a:t>if more compute is needed, we will make arrangements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1. What makes data science hard</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textbook picture</a:t>
            </a:r>
          </a:p>
        </p:txBody>
      </p:sp>
      <p:sp>
        <p:nvSpPr>
          <p:cNvPr id="3" name="Content Placeholder 2"/>
          <p:cNvSpPr>
            <a:spLocks noGrp="1"/>
          </p:cNvSpPr>
          <p:nvPr>
            <p:ph idx="1"/>
          </p:nvPr>
        </p:nvSpPr>
        <p:spPr/>
        <p:txBody>
          <a:bodyPr>
            <a:normAutofit/>
          </a:bodyPr>
          <a:lstStyle/>
          <a:p>
            <a:pPr lvl="0" indent="0" marL="1270000">
              <a:buNone/>
            </a:pPr>
            <a:r>
              <a:rPr sz="2000" b="1"/>
              <a:t>D</a:t>
            </a:r>
            <a:r>
              <a:rPr sz="2000"/>
              <a:t> = {(x⁽ⁱ⁾, y⁽ⁱ⁾)}, i = 1 … n drawn </a:t>
            </a:r>
            <a:r>
              <a:rPr sz="2000" b="1"/>
              <a:t>i.i.d.</a:t>
            </a:r>
            <a:r>
              <a:rPr sz="2000"/>
              <a:t> from P(X, Y)</a:t>
            </a:r>
          </a:p>
          <a:p>
            <a:pPr lvl="0" indent="0" marL="0">
              <a:buNone/>
            </a:pPr>
            <a:r>
              <a:rPr/>
              <a:t>Given </a:t>
            </a:r>
            <a:r>
              <a:rPr b="1"/>
              <a:t>D</a:t>
            </a:r>
            <a:r>
              <a:rPr/>
              <a:t>, generalise to new draws from P.</a:t>
            </a:r>
          </a:p>
          <a:p>
            <a:pPr lvl="0"/>
            <a:r>
              <a:rPr b="1"/>
              <a:t>Noise/errors:</a:t>
            </a:r>
            <a:r>
              <a:rPr/>
              <a:t> the labels and the features are wrong, sometimes badly</a:t>
            </a:r>
          </a:p>
          <a:p>
            <a:pPr lvl="0"/>
            <a:r>
              <a:rPr b="1"/>
              <a:t>Missingness:</a:t>
            </a:r>
            <a:r>
              <a:rPr/>
              <a:t> the data is (sometimes) absent</a:t>
            </a:r>
          </a:p>
          <a:p>
            <a:pPr lvl="0"/>
            <a:r>
              <a:rPr b="1"/>
              <a:t>Class imbalance:</a:t>
            </a:r>
            <a:r>
              <a:rPr/>
              <a:t> the event you care about is rare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Noise</a:t>
            </a:r>
          </a:p>
        </p:txBody>
      </p:sp>
      <p:sp>
        <p:nvSpPr>
          <p:cNvPr id="3" name="Content Placeholder 2"/>
          <p:cNvSpPr>
            <a:spLocks noGrp="1"/>
          </p:cNvSpPr>
          <p:nvPr>
            <p:ph idx="1"/>
          </p:nvPr>
        </p:nvSpPr>
        <p:spPr/>
        <p:txBody>
          <a:bodyPr>
            <a:normAutofit/>
          </a:bodyPr>
          <a:lstStyle/>
          <a:p>
            <a:pPr lvl="0" indent="0" marL="0">
              <a:buNone/>
            </a:pPr>
            <a:r>
              <a:rPr/>
              <a:t>Your label is not the truth: It is a </a:t>
            </a:r>
            <a:r>
              <a:rPr b="1"/>
              <a:t>proxy</a:t>
            </a:r>
            <a:r>
              <a:rPr/>
              <a:t> produced by the measurement process.</a:t>
            </a:r>
          </a:p>
          <a:p>
            <a:pPr lvl="0" indent="0" marL="0">
              <a:buNone/>
            </a:pPr>
            <a:r>
              <a:rPr/>
              <a:t>Example:</a:t>
            </a:r>
          </a:p>
          <a:p>
            <a:pPr lvl="0"/>
            <a:r>
              <a:rPr/>
              <a:t>“Pneumonia” on a chest X-ray: one radiologist’s opinion, alone</a:t>
            </a:r>
          </a:p>
          <a:p>
            <a:pPr lvl="0"/>
            <a:r>
              <a:rPr/>
              <a:t>Inter-rater agreement between radiologists is often 40% to 70%</a:t>
            </a:r>
          </a:p>
          <a:p>
            <a:pPr lvl="0" indent="0" marL="0">
              <a:buNone/>
            </a:pPr>
            <a:r>
              <a:rPr b="1"/>
              <a:t>Practical rule:</a:t>
            </a:r>
            <a:r>
              <a:rPr/>
              <a:t> before modelling, ask </a:t>
            </a:r>
            <a:r>
              <a:rPr i="1"/>
              <a:t>who</a:t>
            </a:r>
            <a:r>
              <a:rPr/>
              <a:t> produced this label, </a:t>
            </a:r>
            <a:r>
              <a:rPr i="1"/>
              <a:t>when</a:t>
            </a:r>
            <a:r>
              <a:rPr/>
              <a:t>, and </a:t>
            </a:r>
            <a:r>
              <a:rPr i="1"/>
              <a:t>why</a:t>
            </a:r>
            <a:r>
              <a:rPr/>
              <a:t>.</a:t>
            </a:r>
          </a:p>
          <a:p>
            <a:pPr lvl="0" indent="0" marL="0">
              <a:buNone/>
            </a:pPr>
            <a:r>
              <a:rPr/>
              <a:t>Label noise caps your achievable performance: you cannot beat the annotator.</a:t>
            </a:r>
          </a:p>
          <a:p>
            <a:pPr lvl="0" indent="0" marL="0">
              <a:buNone/>
            </a:pPr>
            <a:r>
              <a:rPr/>
              <a:t>Symmetric noise hurts </a:t>
            </a:r>
            <a:r>
              <a:rPr i="1"/>
              <a:t>variance</a:t>
            </a:r>
            <a:r>
              <a:rPr/>
              <a:t>; asymmetric noise creates a </a:t>
            </a:r>
            <a:r>
              <a:rPr i="1"/>
              <a:t>bias</a:t>
            </a:r>
            <a:r>
              <a:rPr/>
              <a: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Noise</a:t>
            </a:r>
          </a:p>
        </p:txBody>
      </p:sp>
      <p:pic>
        <p:nvPicPr>
          <p:cNvPr descr="img/noise_q.png" id="0" name="Picture 1"/>
          <p:cNvPicPr>
            <a:picLocks noGrp="1" noChangeAspect="1"/>
          </p:cNvPicPr>
          <p:nvPr/>
        </p:nvPicPr>
        <p:blipFill>
          <a:blip r:embed="rId3"/>
          <a:stretch>
            <a:fillRect/>
          </a:stretch>
        </p:blipFill>
        <p:spPr bwMode="auto">
          <a:xfrm>
            <a:off x="457200" y="1244600"/>
            <a:ext cx="8229600" cy="32893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Noise</a:t>
            </a:r>
          </a:p>
        </p:txBody>
      </p:sp>
      <p:pic>
        <p:nvPicPr>
          <p:cNvPr descr="img/noise.png" id="0" name="Picture 1"/>
          <p:cNvPicPr>
            <a:picLocks noGrp="1" noChangeAspect="1"/>
          </p:cNvPicPr>
          <p:nvPr/>
        </p:nvPicPr>
        <p:blipFill>
          <a:blip r:embed="rId3"/>
          <a:stretch>
            <a:fillRect/>
          </a:stretch>
        </p:blipFill>
        <p:spPr bwMode="auto">
          <a:xfrm>
            <a:off x="457200" y="1244600"/>
            <a:ext cx="8229600" cy="32893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Noise</a:t>
            </a:r>
          </a:p>
        </p:txBody>
      </p:sp>
      <p:pic>
        <p:nvPicPr>
          <p:cNvPr descr="img/noise_alt.png" id="0" name="Picture 1"/>
          <p:cNvPicPr>
            <a:picLocks noGrp="1" noChangeAspect="1"/>
          </p:cNvPicPr>
          <p:nvPr/>
        </p:nvPicPr>
        <p:blipFill>
          <a:blip r:embed="rId3"/>
          <a:stretch>
            <a:fillRect/>
          </a:stretch>
        </p:blipFill>
        <p:spPr bwMode="auto">
          <a:xfrm>
            <a:off x="457200" y="1244600"/>
            <a:ext cx="8229600" cy="32893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Errors in features</a:t>
            </a:r>
          </a:p>
        </p:txBody>
      </p:sp>
      <p:sp>
        <p:nvSpPr>
          <p:cNvPr id="3" name="Content Placeholder 2"/>
          <p:cNvSpPr>
            <a:spLocks noGrp="1"/>
          </p:cNvSpPr>
          <p:nvPr>
            <p:ph idx="1"/>
          </p:nvPr>
        </p:nvSpPr>
        <p:spPr/>
        <p:txBody>
          <a:bodyPr>
            <a:normAutofit/>
          </a:bodyPr>
          <a:lstStyle/>
          <a:p>
            <a:pPr lvl="0"/>
            <a:r>
              <a:rPr/>
              <a:t>Sensor artefacts: a heart rate of 300 bpm is a detached lead, not tachycardia</a:t>
            </a:r>
          </a:p>
          <a:p>
            <a:pPr lvl="0"/>
            <a:r>
              <a:rPr/>
              <a:t>Unit chaos: weight in kg </a:t>
            </a:r>
            <a:r>
              <a:rPr i="1"/>
              <a:t>and</a:t>
            </a:r>
            <a:r>
              <a:rPr/>
              <a:t> lb in the same column; glucose in mg/dL </a:t>
            </a:r>
            <a:r>
              <a:rPr i="1"/>
              <a:t>and</a:t>
            </a:r>
            <a:r>
              <a:rPr/>
              <a:t> mmol/L</a:t>
            </a:r>
          </a:p>
          <a:p>
            <a:pPr lvl="0"/>
            <a:r>
              <a:rPr/>
              <a:t>Copy-forward: the same “current” value duplicated across days of notes</a:t>
            </a:r>
          </a:p>
          <a:p>
            <a:pPr lvl="0"/>
            <a:r>
              <a:rPr/>
              <a:t>Timestamps: charted at the time of </a:t>
            </a:r>
            <a:r>
              <a:rPr i="1"/>
              <a:t>entry</a:t>
            </a:r>
            <a:r>
              <a:rPr/>
              <a:t>, not the time of </a:t>
            </a:r>
            <a:r>
              <a:rPr i="1"/>
              <a:t>measurement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Errors in features</a:t>
            </a:r>
          </a:p>
        </p:txBody>
      </p:sp>
      <p:sp>
        <p:nvSpPr>
          <p:cNvPr id="3" name="Content Placeholder 2"/>
          <p:cNvSpPr>
            <a:spLocks noGrp="1"/>
          </p:cNvSpPr>
          <p:nvPr>
            <p:ph idx="1"/>
          </p:nvPr>
        </p:nvSpPr>
        <p:spPr/>
        <p:txBody>
          <a:bodyPr>
            <a:normAutofit/>
          </a:bodyPr>
          <a:lstStyle/>
          <a:p>
            <a:pPr lvl="0" indent="0">
              <a:buNone/>
            </a:pPr>
            <a:r>
              <a:rPr>
                <a:solidFill>
                  <a:srgbClr val="666666"/>
                </a:solidFill>
                <a:latin typeface="Courier"/>
              </a:rPr>
              <a:t>&gt;&gt;&gt;</a:t>
            </a:r>
            <a:r>
              <a:rPr>
                <a:latin typeface="Courier"/>
              </a:rPr>
              <a:t> vitals.heart_rate.agg([</a:t>
            </a:r>
            <a:r>
              <a:rPr>
                <a:solidFill>
                  <a:srgbClr val="4070A0"/>
                </a:solidFill>
                <a:latin typeface="Courier"/>
              </a:rPr>
              <a:t>"min"</a:t>
            </a:r>
            <a:r>
              <a:rPr>
                <a:latin typeface="Courier"/>
              </a:rPr>
              <a:t>, </a:t>
            </a:r>
            <a:r>
              <a:rPr>
                <a:solidFill>
                  <a:srgbClr val="4070A0"/>
                </a:solidFill>
                <a:latin typeface="Courier"/>
              </a:rPr>
              <a:t>"max"</a:t>
            </a:r>
            <a:r>
              <a:rPr>
                <a:latin typeface="Courier"/>
              </a:rPr>
              <a:t>])</a:t>
            </a:r>
            <a:br/>
            <a:r>
              <a:rPr>
                <a:solidFill>
                  <a:srgbClr val="008000"/>
                </a:solidFill>
                <a:latin typeface="Courier"/>
              </a:rPr>
              <a:t>min</a:t>
            </a:r>
            <a:r>
              <a:rPr>
                <a:latin typeface="Courier"/>
              </a:rPr>
              <a:t>      </a:t>
            </a:r>
            <a:r>
              <a:rPr>
                <a:solidFill>
                  <a:srgbClr val="40A070"/>
                </a:solidFill>
                <a:latin typeface="Courier"/>
              </a:rPr>
              <a:t>0.0</a:t>
            </a:r>
            <a:br/>
            <a:r>
              <a:rPr>
                <a:solidFill>
                  <a:srgbClr val="008000"/>
                </a:solidFill>
                <a:latin typeface="Courier"/>
              </a:rPr>
              <a:t>max</a:t>
            </a:r>
            <a:r>
              <a:rPr>
                <a:latin typeface="Courier"/>
              </a:rPr>
              <a:t>    </a:t>
            </a:r>
            <a:r>
              <a:rPr>
                <a:solidFill>
                  <a:srgbClr val="40A070"/>
                </a:solidFill>
                <a:latin typeface="Courier"/>
              </a:rPr>
              <a:t>300.0</a:t>
            </a:r>
            <a:r>
              <a:rPr>
                <a:latin typeface="Courier"/>
              </a:rPr>
              <a:t>    </a:t>
            </a:r>
            <a:r>
              <a:rPr i="1">
                <a:solidFill>
                  <a:srgbClr val="60A0B0"/>
                </a:solidFill>
                <a:latin typeface="Courier"/>
              </a:rPr>
              <a:t># a detached lead</a:t>
            </a:r>
            <a:br/>
            <a:br/>
            <a:r>
              <a:rPr>
                <a:solidFill>
                  <a:srgbClr val="666666"/>
                </a:solidFill>
                <a:latin typeface="Courier"/>
              </a:rPr>
              <a:t>&gt;&gt;&gt;</a:t>
            </a:r>
            <a:r>
              <a:rPr>
                <a:latin typeface="Courier"/>
              </a:rPr>
              <a:t> vitals.weight.plot.hist(bins</a:t>
            </a:r>
            <a:r>
              <a:rPr>
                <a:solidFill>
                  <a:srgbClr val="666666"/>
                </a:solidFill>
                <a:latin typeface="Courier"/>
              </a:rPr>
              <a:t>=</a:t>
            </a:r>
            <a:r>
              <a:rPr>
                <a:solidFill>
                  <a:srgbClr val="40A070"/>
                </a:solidFill>
                <a:latin typeface="Courier"/>
              </a:rPr>
              <a:t>60</a:t>
            </a:r>
            <a:r>
              <a:rPr>
                <a:latin typeface="Courier"/>
              </a:rPr>
              <a:t>)</a:t>
            </a:r>
            <a:br/>
            <a:r>
              <a:rPr>
                <a:latin typeface="Courier"/>
              </a:rPr>
              <a:t>                </a:t>
            </a:r>
            <a:r>
              <a:rPr i="1">
                <a:solidFill>
                  <a:srgbClr val="60A0B0"/>
                </a:solidFill>
                <a:latin typeface="Courier"/>
              </a:rPr>
              <a:t># two humps: kg and lb</a:t>
            </a:r>
            <a:br/>
            <a:br/>
            <a:r>
              <a:rPr>
                <a:solidFill>
                  <a:srgbClr val="666666"/>
                </a:solidFill>
                <a:latin typeface="Courier"/>
              </a:rPr>
              <a:t>&gt;&gt;&gt;</a:t>
            </a:r>
            <a:r>
              <a:rPr>
                <a:latin typeface="Courier"/>
              </a:rPr>
              <a:t> labs.groupby(</a:t>
            </a:r>
            <a:r>
              <a:rPr>
                <a:solidFill>
                  <a:srgbClr val="4070A0"/>
                </a:solidFill>
                <a:latin typeface="Courier"/>
              </a:rPr>
              <a:t>"unit"</a:t>
            </a:r>
            <a:r>
              <a:rPr>
                <a:latin typeface="Courier"/>
              </a:rPr>
              <a:t>).glucose.median()</a:t>
            </a:r>
            <a:br/>
            <a:r>
              <a:rPr>
                <a:latin typeface="Courier"/>
              </a:rPr>
              <a:t>mg</a:t>
            </a:r>
            <a:r>
              <a:rPr>
                <a:solidFill>
                  <a:srgbClr val="666666"/>
                </a:solidFill>
                <a:latin typeface="Courier"/>
              </a:rPr>
              <a:t>/</a:t>
            </a:r>
            <a:r>
              <a:rPr>
                <a:latin typeface="Courier"/>
              </a:rPr>
              <a:t>dL    </a:t>
            </a:r>
            <a:r>
              <a:rPr>
                <a:solidFill>
                  <a:srgbClr val="40A070"/>
                </a:solidFill>
                <a:latin typeface="Courier"/>
              </a:rPr>
              <a:t>126.0</a:t>
            </a:r>
            <a:br/>
            <a:r>
              <a:rPr>
                <a:latin typeface="Courier"/>
              </a:rPr>
              <a:t>mmol</a:t>
            </a:r>
            <a:r>
              <a:rPr>
                <a:solidFill>
                  <a:srgbClr val="666666"/>
                </a:solidFill>
                <a:latin typeface="Courier"/>
              </a:rPr>
              <a:t>/</a:t>
            </a:r>
            <a:r>
              <a:rPr>
                <a:latin typeface="Courier"/>
              </a:rPr>
              <a:t>L     </a:t>
            </a:r>
            <a:r>
              <a:rPr>
                <a:solidFill>
                  <a:srgbClr val="40A070"/>
                </a:solidFill>
                <a:latin typeface="Courier"/>
              </a:rPr>
              <a:t>7.0</a:t>
            </a:r>
            <a:r>
              <a:rPr>
                <a:latin typeface="Courier"/>
              </a:rPr>
              <a:t>  </a:t>
            </a:r>
            <a:r>
              <a:rPr i="1">
                <a:solidFill>
                  <a:srgbClr val="60A0B0"/>
                </a:solidFill>
                <a:latin typeface="Courier"/>
              </a:rPr>
              <a:t># same test, same patient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Errors in features</a:t>
            </a:r>
          </a:p>
        </p:txBody>
      </p:sp>
      <p:pic>
        <p:nvPicPr>
          <p:cNvPr descr="img/errors_alt.png" id="0" name="Picture 1"/>
          <p:cNvPicPr>
            <a:picLocks noGrp="1" noChangeAspect="1"/>
          </p:cNvPicPr>
          <p:nvPr/>
        </p:nvPicPr>
        <p:blipFill>
          <a:blip r:embed="rId3"/>
          <a:stretch>
            <a:fillRect/>
          </a:stretch>
        </p:blipFill>
        <p:spPr bwMode="auto">
          <a:xfrm>
            <a:off x="1270000" y="1193800"/>
            <a:ext cx="6604000" cy="33909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Errors in features</a:t>
            </a:r>
          </a:p>
        </p:txBody>
      </p:sp>
      <p:pic>
        <p:nvPicPr>
          <p:cNvPr descr="img/errors_alt_bis.png" id="0" name="Picture 1"/>
          <p:cNvPicPr>
            <a:picLocks noGrp="1" noChangeAspect="1"/>
          </p:cNvPicPr>
          <p:nvPr/>
        </p:nvPicPr>
        <p:blipFill>
          <a:blip r:embed="rId3"/>
          <a:stretch>
            <a:fillRect/>
          </a:stretch>
        </p:blipFill>
        <p:spPr bwMode="auto">
          <a:xfrm>
            <a:off x="508000" y="1193800"/>
            <a:ext cx="8140700" cy="3390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Missingness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normAutofit/>
                    </a:bodyPr>
                    <a:lstStyle/>
                    <a:p>
                      <a:pPr lvl="0" indent="0" marL="0">
                        <a:buNone/>
                      </a:pPr>
                      <a:r>
                        <a:rPr/>
                        <a:t>Mechanism</a:t>
                      </a:r>
                    </a:p>
                  </a:txBody>
                  <a:tcPr/>
                </a:tc>
                <a:tc>
                  <a:txBody>
                    <a:bodyPr>
                      <a:normAutofit/>
                    </a:bodyPr>
                    <a:lstStyle/>
                    <a:p>
                      <a:pPr lvl="0" indent="0" marL="0">
                        <a:buNone/>
                      </a:pPr>
                      <a:r>
                        <a:rPr/>
                        <a:t>Meaning</a:t>
                      </a:r>
                    </a:p>
                  </a:txBody>
                  <a:tcPr/>
                </a:tc>
                <a:tc>
                  <a:txBody>
                    <a:bodyPr>
                      <a:normAutofit/>
                    </a:bodyPr>
                    <a:lstStyle/>
                    <a:p>
                      <a:pPr lvl="0" indent="0" marL="0">
                        <a:buNone/>
                      </a:pPr>
                      <a:r>
                        <a:rPr/>
                        <a:t>Safe to drop?</a:t>
                      </a:r>
                    </a:p>
                  </a:txBody>
                  <a:tcPr/>
                </a:tc>
              </a:tr>
              <a:tr h="0">
                <a:tc>
                  <a:txBody>
                    <a:bodyPr>
                      <a:normAutofit/>
                    </a:bodyPr>
                    <a:lstStyle/>
                    <a:p>
                      <a:pPr lvl="0" indent="0" marL="0">
                        <a:buNone/>
                      </a:pPr>
                      <a:r>
                        <a:rPr b="1"/>
                        <a:t>MCAR</a:t>
                      </a:r>
                    </a:p>
                  </a:txBody>
                </a:tc>
                <a:tc>
                  <a:txBody>
                    <a:bodyPr>
                      <a:normAutofit/>
                    </a:bodyPr>
                    <a:lstStyle/>
                    <a:p>
                      <a:pPr lvl="0" indent="0" marL="0">
                        <a:buNone/>
                      </a:pPr>
                      <a:r>
                        <a:rPr/>
                        <a:t>Missing completely at random</a:t>
                      </a:r>
                    </a:p>
                  </a:txBody>
                </a:tc>
                <a:tc>
                  <a:txBody>
                    <a:bodyPr>
                      <a:normAutofit/>
                    </a:bodyPr>
                    <a:lstStyle/>
                    <a:p>
                      <a:pPr lvl="0" indent="0" marL="0">
                        <a:buNone/>
                      </a:pPr>
                      <a:r>
                        <a:rPr/>
                        <a:t>Yes (lose power only)</a:t>
                      </a:r>
                    </a:p>
                  </a:txBody>
                </a:tc>
              </a:tr>
              <a:tr h="0">
                <a:tc>
                  <a:txBody>
                    <a:bodyPr>
                      <a:normAutofit/>
                    </a:bodyPr>
                    <a:lstStyle/>
                    <a:p>
                      <a:pPr lvl="0" indent="0" marL="0">
                        <a:buNone/>
                      </a:pPr>
                      <a:r>
                        <a:rPr b="1"/>
                        <a:t>MAR</a:t>
                      </a:r>
                    </a:p>
                  </a:txBody>
                </a:tc>
                <a:tc>
                  <a:txBody>
                    <a:bodyPr>
                      <a:normAutofit/>
                    </a:bodyPr>
                    <a:lstStyle/>
                    <a:p>
                      <a:pPr lvl="0" indent="0" marL="0">
                        <a:buNone/>
                      </a:pPr>
                      <a:r>
                        <a:rPr/>
                        <a:t>Missing depends on </a:t>
                      </a:r>
                      <a:r>
                        <a:rPr i="1"/>
                        <a:t>observed</a:t>
                      </a:r>
                      <a:r>
                        <a:rPr/>
                        <a:t> data</a:t>
                      </a:r>
                    </a:p>
                  </a:txBody>
                </a:tc>
                <a:tc>
                  <a:txBody>
                    <a:bodyPr>
                      <a:normAutofit/>
                    </a:bodyPr>
                    <a:lstStyle/>
                    <a:p>
                      <a:pPr lvl="0" indent="0" marL="0">
                        <a:buNone/>
                      </a:pPr>
                      <a:r>
                        <a:rPr/>
                        <a:t>With correct modelling</a:t>
                      </a:r>
                    </a:p>
                  </a:txBody>
                </a:tc>
              </a:tr>
              <a:tr h="0">
                <a:tc>
                  <a:txBody>
                    <a:bodyPr>
                      <a:normAutofit/>
                    </a:bodyPr>
                    <a:lstStyle/>
                    <a:p>
                      <a:pPr lvl="0" indent="0" marL="0">
                        <a:buNone/>
                      </a:pPr>
                      <a:r>
                        <a:rPr b="1"/>
                        <a:t>MNAR</a:t>
                      </a:r>
                    </a:p>
                  </a:txBody>
                </a:tc>
                <a:tc>
                  <a:txBody>
                    <a:bodyPr>
                      <a:normAutofit/>
                    </a:bodyPr>
                    <a:lstStyle/>
                    <a:p>
                      <a:pPr lvl="0" indent="0" marL="0">
                        <a:buNone/>
                      </a:pPr>
                      <a:r>
                        <a:rPr/>
                        <a:t>Missing depends on the </a:t>
                      </a:r>
                      <a:r>
                        <a:rPr i="1"/>
                        <a:t>unobserved</a:t>
                      </a:r>
                      <a:r>
                        <a:rPr/>
                        <a:t> value</a:t>
                      </a:r>
                    </a:p>
                  </a:txBody>
                </a:tc>
                <a:tc>
                  <a:txBody>
                    <a:bodyPr>
                      <a:normAutofit/>
                    </a:bodyPr>
                    <a:lstStyle/>
                    <a:p>
                      <a:pPr lvl="0" indent="0" marL="0">
                        <a:buNone/>
                      </a:pPr>
                      <a:r>
                        <a:rPr/>
                        <a:t>No — bias is unavoidable</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r>
              <a:rPr/>
              <a:t>Missingness is almost never random:</a:t>
            </a:r>
          </a:p>
          <a:p>
            <a:pPr lvl="0"/>
            <a:r>
              <a:rPr/>
              <a:t>A test is measured </a:t>
            </a:r>
            <a:r>
              <a:rPr b="1"/>
              <a:t>because</a:t>
            </a:r>
            <a:r>
              <a:rPr/>
              <a:t> the clinician suspects a problem</a:t>
            </a:r>
          </a:p>
          <a:p>
            <a:pPr lvl="0"/>
            <a:r>
              <a:rPr/>
              <a:t>A patient with no lab results is usually very healthy</a:t>
            </a:r>
          </a:p>
          <a:p>
            <a:pPr lvl="0"/>
            <a:r>
              <a:rPr/>
              <a:t>The </a:t>
            </a:r>
            <a:r>
              <a:rPr i="1"/>
              <a:t>absence</a:t>
            </a:r>
            <a:r>
              <a:rPr/>
              <a:t> of a test can predict the outcome better than the test’s value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Missingness</a:t>
            </a:r>
          </a:p>
        </p:txBody>
      </p:sp>
      <p:pic>
        <p:nvPicPr>
          <p:cNvPr descr="img/missingness_q.png" id="0" name="Picture 1"/>
          <p:cNvPicPr>
            <a:picLocks noGrp="1" noChangeAspect="1"/>
          </p:cNvPicPr>
          <p:nvPr/>
        </p:nvPicPr>
        <p:blipFill>
          <a:blip r:embed="rId3"/>
          <a:stretch>
            <a:fillRect/>
          </a:stretch>
        </p:blipFill>
        <p:spPr bwMode="auto">
          <a:xfrm>
            <a:off x="457200" y="1257300"/>
            <a:ext cx="8229600" cy="32512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Missingness</a:t>
            </a:r>
          </a:p>
        </p:txBody>
      </p:sp>
      <p:pic>
        <p:nvPicPr>
          <p:cNvPr descr="img/missingness.png" id="0" name="Picture 1"/>
          <p:cNvPicPr>
            <a:picLocks noGrp="1" noChangeAspect="1"/>
          </p:cNvPicPr>
          <p:nvPr/>
        </p:nvPicPr>
        <p:blipFill>
          <a:blip r:embed="rId3"/>
          <a:stretch>
            <a:fillRect/>
          </a:stretch>
        </p:blipFill>
        <p:spPr bwMode="auto">
          <a:xfrm>
            <a:off x="457200" y="1257300"/>
            <a:ext cx="8229600" cy="32512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Guess the base rate</a:t>
            </a:r>
          </a:p>
        </p:txBody>
      </p:sp>
      <p:sp>
        <p:nvSpPr>
          <p:cNvPr id="3" name="Content Placeholder 2"/>
          <p:cNvSpPr>
            <a:spLocks noGrp="1"/>
          </p:cNvSpPr>
          <p:nvPr>
            <p:ph idx="1"/>
          </p:nvPr>
        </p:nvSpPr>
        <p:spPr/>
        <p:txBody>
          <a:bodyPr>
            <a:normAutofit/>
          </a:bodyPr>
          <a:lstStyle/>
          <a:p>
            <a:pPr lvl="0" indent="0" marL="0">
              <a:buNone/>
            </a:pPr>
            <a:r>
              <a:rPr/>
              <a:t>Write your guess down first. No phones, no neighbours.</a:t>
            </a:r>
          </a:p>
          <a:p>
            <a:pPr lvl="0"/>
            <a:r>
              <a:rPr/>
              <a:t>In-hospital mortality, ICU admissions: </a:t>
            </a:r>
            <a:r>
              <a:rPr b="1"/>
              <a:t>___ %</a:t>
            </a:r>
          </a:p>
          <a:p>
            <a:pPr lvl="0"/>
            <a:r>
              <a:rPr/>
              <a:t>30-day readmission after discharge: </a:t>
            </a:r>
            <a:r>
              <a:rPr b="1"/>
              <a:t>___ %</a:t>
            </a:r>
          </a:p>
          <a:p>
            <a:pPr lvl="0"/>
            <a:r>
              <a:rPr/>
              <a:t>A rare disease at population screening: </a:t>
            </a:r>
            <a:r>
              <a:rPr b="1"/>
              <a:t>1 in ___</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Guess the base rate</a:t>
            </a:r>
          </a:p>
        </p:txBody>
      </p:sp>
      <p:sp>
        <p:nvSpPr>
          <p:cNvPr id="3" name="Content Placeholder 2"/>
          <p:cNvSpPr>
            <a:spLocks noGrp="1"/>
          </p:cNvSpPr>
          <p:nvPr>
            <p:ph idx="1"/>
          </p:nvPr>
        </p:nvSpPr>
        <p:spPr/>
        <p:txBody>
          <a:bodyPr>
            <a:normAutofit/>
          </a:bodyPr>
          <a:lstStyle/>
          <a:p>
            <a:pPr lvl="0" indent="0" marL="0">
              <a:buNone/>
            </a:pPr>
            <a:r>
              <a:rPr/>
              <a:t>Write your guess down first. No phones, no neighbours.</a:t>
            </a:r>
          </a:p>
          <a:p>
            <a:pPr lvl="0"/>
            <a:r>
              <a:rPr/>
              <a:t>In-hospital mortality, ICU admissions: </a:t>
            </a:r>
            <a:r>
              <a:rPr b="1"/>
              <a:t>~20 %</a:t>
            </a:r>
          </a:p>
          <a:p>
            <a:pPr lvl="0"/>
            <a:r>
              <a:rPr/>
              <a:t>30-day readmission after discharge: </a:t>
            </a:r>
            <a:r>
              <a:rPr b="1"/>
              <a:t>~15 %</a:t>
            </a:r>
          </a:p>
          <a:p>
            <a:pPr lvl="0"/>
            <a:r>
              <a:rPr/>
              <a:t>A rare disease at population screening: </a:t>
            </a:r>
            <a:r>
              <a:rPr b="1"/>
              <a:t>1 in 10 000</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Class imbalance</a:t>
            </a:r>
          </a:p>
        </p:txBody>
      </p:sp>
      <p:sp>
        <p:nvSpPr>
          <p:cNvPr id="3" name="Content Placeholder 2"/>
          <p:cNvSpPr>
            <a:spLocks noGrp="1"/>
          </p:cNvSpPr>
          <p:nvPr>
            <p:ph idx="1"/>
          </p:nvPr>
        </p:nvSpPr>
        <p:spPr/>
        <p:txBody>
          <a:bodyPr>
            <a:normAutofit/>
          </a:bodyPr>
          <a:lstStyle/>
          <a:p>
            <a:pPr lvl="0"/>
            <a:r>
              <a:rPr/>
              <a:t>Rare disease screening is 1 in 10 000</a:t>
            </a:r>
          </a:p>
          <a:p>
            <a:pPr lvl="0" indent="0" marL="0">
              <a:buNone/>
            </a:pPr>
            <a:r>
              <a:rPr/>
              <a:t>=&gt; A model that predicts “no” always is 99.99% accurate</a:t>
            </a:r>
          </a:p>
          <a:p>
            <a:pPr lvl="0"/>
            <a:r>
              <a:rPr/>
              <a:t>Blood types are not equally spread on the population</a:t>
            </a:r>
          </a:p>
          <a:p>
            <a:pPr lvl="0" indent="0" marL="0">
              <a:buNone/>
            </a:pPr>
            <a:r>
              <a:rPr/>
              <a:t>The imbalance is changing according to the world regions</a:t>
            </a:r>
          </a:p>
          <a:p>
            <a:pPr lvl="0" indent="0" marL="0">
              <a:buNone/>
            </a:pPr>
            <a:r>
              <a:rPr/>
              <a:t>=&gt; Can lead to distribution shift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Class imbalance</a:t>
            </a:r>
          </a:p>
        </p:txBody>
      </p:sp>
      <p:pic>
        <p:nvPicPr>
          <p:cNvPr descr="img/imbalance_q.png" id="0" name="Picture 1"/>
          <p:cNvPicPr>
            <a:picLocks noGrp="1" noChangeAspect="1"/>
          </p:cNvPicPr>
          <p:nvPr/>
        </p:nvPicPr>
        <p:blipFill>
          <a:blip r:embed="rId3"/>
          <a:stretch>
            <a:fillRect/>
          </a:stretch>
        </p:blipFill>
        <p:spPr bwMode="auto">
          <a:xfrm>
            <a:off x="457200" y="1219200"/>
            <a:ext cx="8229600" cy="33401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Class imbalance</a:t>
            </a:r>
          </a:p>
        </p:txBody>
      </p:sp>
      <p:pic>
        <p:nvPicPr>
          <p:cNvPr descr="img/imbalance.png" id="0" name="Picture 1"/>
          <p:cNvPicPr>
            <a:picLocks noGrp="1" noChangeAspect="1"/>
          </p:cNvPicPr>
          <p:nvPr/>
        </p:nvPicPr>
        <p:blipFill>
          <a:blip r:embed="rId3"/>
          <a:stretch>
            <a:fillRect/>
          </a:stretch>
        </p:blipFill>
        <p:spPr bwMode="auto">
          <a:xfrm>
            <a:off x="520700" y="1193800"/>
            <a:ext cx="8089900" cy="33909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Class imbalance</a:t>
            </a:r>
          </a:p>
        </p:txBody>
      </p:sp>
      <p:pic>
        <p:nvPicPr>
          <p:cNvPr descr="img/imbalance_alt.png" id="0" name="Picture 1"/>
          <p:cNvPicPr>
            <a:picLocks noGrp="1" noChangeAspect="1"/>
          </p:cNvPicPr>
          <p:nvPr/>
        </p:nvPicPr>
        <p:blipFill>
          <a:blip r:embed="rId3"/>
          <a:stretch>
            <a:fillRect/>
          </a:stretch>
        </p:blipFill>
        <p:spPr bwMode="auto">
          <a:xfrm>
            <a:off x="457200" y="1244600"/>
            <a:ext cx="8229600" cy="32893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Distribution shift</a:t>
            </a:r>
          </a:p>
        </p:txBody>
      </p:sp>
      <p:sp>
        <p:nvSpPr>
          <p:cNvPr id="3" name="Content Placeholder 2"/>
          <p:cNvSpPr>
            <a:spLocks noGrp="1"/>
          </p:cNvSpPr>
          <p:nvPr>
            <p:ph idx="1"/>
          </p:nvPr>
        </p:nvSpPr>
        <p:spPr/>
        <p:txBody>
          <a:bodyPr>
            <a:normAutofit/>
          </a:bodyPr>
          <a:lstStyle/>
          <a:p>
            <a:pPr lvl="0" indent="0" marL="0">
              <a:buNone/>
            </a:pPr>
            <a:r>
              <a:rPr/>
              <a:t>Your model is trained on one slice of the world, then deployed in another:</a:t>
            </a:r>
          </a:p>
          <a:p>
            <a:pPr lvl="0"/>
            <a:r>
              <a:rPr b="1"/>
              <a:t>Covariate shift:</a:t>
            </a:r>
            <a:r>
              <a:rPr/>
              <a:t> P(X) changes: new hospital, new scanner, new population</a:t>
            </a:r>
          </a:p>
          <a:p>
            <a:pPr lvl="0"/>
            <a:r>
              <a:rPr b="1"/>
              <a:t>Label shift:</a:t>
            </a:r>
            <a:r>
              <a:rPr/>
              <a:t> P(Y) changes: a new variant, a new season</a:t>
            </a:r>
          </a:p>
          <a:p>
            <a:pPr lvl="0"/>
            <a:r>
              <a:rPr b="1"/>
              <a:t>Concept drift:</a:t>
            </a:r>
            <a:r>
              <a:rPr/>
              <a:t> P(Y | X) changes: treatment guidelines are updated</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Distribution shift</a:t>
            </a:r>
          </a:p>
        </p:txBody>
      </p:sp>
      <p:pic>
        <p:nvPicPr>
          <p:cNvPr descr="img/shift.png" id="0" name="Picture 1"/>
          <p:cNvPicPr>
            <a:picLocks noGrp="1" noChangeAspect="1"/>
          </p:cNvPicPr>
          <p:nvPr/>
        </p:nvPicPr>
        <p:blipFill>
          <a:blip r:embed="rId3"/>
          <a:stretch>
            <a:fillRect/>
          </a:stretch>
        </p:blipFill>
        <p:spPr bwMode="auto">
          <a:xfrm>
            <a:off x="711200" y="1193800"/>
            <a:ext cx="7734300" cy="33909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Distribution shift</a:t>
            </a:r>
          </a:p>
        </p:txBody>
      </p:sp>
      <p:pic>
        <p:nvPicPr>
          <p:cNvPr descr="img/shift_alt.png" id="0" name="Picture 1"/>
          <p:cNvPicPr>
            <a:picLocks noGrp="1" noChangeAspect="1"/>
          </p:cNvPicPr>
          <p:nvPr/>
        </p:nvPicPr>
        <p:blipFill>
          <a:blip r:embed="rId3"/>
          <a:stretch>
            <a:fillRect/>
          </a:stretch>
        </p:blipFill>
        <p:spPr bwMode="auto">
          <a:xfrm>
            <a:off x="457200" y="1460500"/>
            <a:ext cx="8229600" cy="2844800"/>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Shortcuts</a:t>
            </a:r>
          </a:p>
        </p:txBody>
      </p:sp>
      <p:sp>
        <p:nvSpPr>
          <p:cNvPr id="3" name="Content Placeholder 2"/>
          <p:cNvSpPr>
            <a:spLocks noGrp="1"/>
          </p:cNvSpPr>
          <p:nvPr>
            <p:ph idx="1"/>
          </p:nvPr>
        </p:nvSpPr>
        <p:spPr/>
        <p:txBody>
          <a:bodyPr>
            <a:normAutofit/>
          </a:bodyPr>
          <a:lstStyle/>
          <a:p>
            <a:pPr lvl="0" indent="0" marL="0">
              <a:buNone/>
            </a:pPr>
            <a:r>
              <a:rPr/>
              <a:t>Models learn whatever correlates with y in </a:t>
            </a:r>
            <a:r>
              <a:rPr i="1"/>
              <a:t>the</a:t>
            </a:r>
            <a:r>
              <a:rPr/>
              <a:t> data.</a:t>
            </a:r>
          </a:p>
          <a:p>
            <a:pPr lvl="0"/>
            <a:r>
              <a:rPr/>
              <a:t>Pneumonia detectors that learned the </a:t>
            </a:r>
            <a:r>
              <a:rPr b="1"/>
              <a:t>portable X-ray marker</a:t>
            </a:r>
            <a:r>
              <a:rPr/>
              <a:t> (sicker patients get bedside imaging)</a:t>
            </a:r>
          </a:p>
          <a:p>
            <a:pPr lvl="0"/>
            <a:r>
              <a:rPr/>
              <a:t>Skin lesion classifiers that learned the </a:t>
            </a:r>
            <a:r>
              <a:rPr b="1"/>
              <a:t>surgical ruler</a:t>
            </a:r>
            <a:r>
              <a:rPr/>
              <a:t> placed next to malignant lesions</a:t>
            </a:r>
          </a:p>
          <a:p>
            <a:pPr lvl="0"/>
            <a:r>
              <a:rPr/>
              <a:t>Portrait to age models looking at </a:t>
            </a:r>
            <a:r>
              <a:rPr b="1"/>
              <a:t>ears size</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Shortcuts: what the model actually learned</a:t>
            </a:r>
          </a:p>
        </p:txBody>
      </p:sp>
      <p:pic>
        <p:nvPicPr>
          <p:cNvPr descr="img/shortcut_q.png" id="0" name="Picture 1"/>
          <p:cNvPicPr>
            <a:picLocks noGrp="1" noChangeAspect="1"/>
          </p:cNvPicPr>
          <p:nvPr/>
        </p:nvPicPr>
        <p:blipFill>
          <a:blip r:embed="rId3"/>
          <a:stretch>
            <a:fillRect/>
          </a:stretch>
        </p:blipFill>
        <p:spPr bwMode="auto">
          <a:xfrm>
            <a:off x="457200" y="1282700"/>
            <a:ext cx="8229600" cy="32258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Shortcuts: what the model actually learned</a:t>
            </a:r>
          </a:p>
        </p:txBody>
      </p:sp>
      <p:pic>
        <p:nvPicPr>
          <p:cNvPr descr="img/shortcut.png" id="0" name="Picture 1"/>
          <p:cNvPicPr>
            <a:picLocks noGrp="1" noChangeAspect="1"/>
          </p:cNvPicPr>
          <p:nvPr/>
        </p:nvPicPr>
        <p:blipFill>
          <a:blip r:embed="rId3"/>
          <a:stretch>
            <a:fillRect/>
          </a:stretch>
        </p:blipFill>
        <p:spPr bwMode="auto">
          <a:xfrm>
            <a:off x="673100" y="1193800"/>
            <a:ext cx="7797800" cy="33909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Shortcuts</a:t>
            </a:r>
          </a:p>
        </p:txBody>
      </p:sp>
      <p:pic>
        <p:nvPicPr>
          <p:cNvPr descr="img/shortcut_alt.png" id="0" name="Picture 1"/>
          <p:cNvPicPr>
            <a:picLocks noGrp="1" noChangeAspect="1"/>
          </p:cNvPicPr>
          <p:nvPr/>
        </p:nvPicPr>
        <p:blipFill>
          <a:blip r:embed="rId3"/>
          <a:stretch>
            <a:fillRect/>
          </a:stretch>
        </p:blipFill>
        <p:spPr bwMode="auto">
          <a:xfrm>
            <a:off x="800100" y="1193800"/>
            <a:ext cx="7556500" cy="3390900"/>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Leakage</a:t>
            </a:r>
          </a:p>
        </p:txBody>
      </p:sp>
      <p:sp>
        <p:nvSpPr>
          <p:cNvPr id="3" name="Content Placeholder 2"/>
          <p:cNvSpPr>
            <a:spLocks noGrp="1"/>
          </p:cNvSpPr>
          <p:nvPr>
            <p:ph idx="1"/>
          </p:nvPr>
        </p:nvSpPr>
        <p:spPr/>
        <p:txBody>
          <a:bodyPr>
            <a:normAutofit/>
          </a:bodyPr>
          <a:lstStyle/>
          <a:p>
            <a:pPr lvl="0" indent="0" marL="0">
              <a:buNone/>
            </a:pPr>
            <a:r>
              <a:rPr/>
              <a:t>Information at training time that will not exist at prediction time.</a:t>
            </a:r>
          </a:p>
          <a:p>
            <a:pPr lvl="0" indent="0" marL="0">
              <a:buNone/>
            </a:pPr>
            <a:r>
              <a:rPr/>
              <a:t>Typically:</a:t>
            </a:r>
          </a:p>
          <a:p>
            <a:pPr lvl="0"/>
            <a:r>
              <a:rPr/>
              <a:t>The same patient in both train and test (e.g. duplicated)</a:t>
            </a:r>
          </a:p>
          <a:p>
            <a:pPr lvl="0"/>
            <a:r>
              <a:rPr/>
              <a:t>Feature that is a deterministic function of the outcome (e.g. </a:t>
            </a:r>
            <a:r>
              <a:rPr>
                <a:latin typeface="Courier"/>
              </a:rPr>
              <a:t>discharge_location == 'DIED'</a:t>
            </a:r>
            <a:r>
              <a:rPr/>
              <a:t>)</a:t>
            </a:r>
          </a:p>
          <a:p>
            <a:pPr lvl="0"/>
            <a:r>
              <a:rPr/>
              <a:t>Bug in the train/test split</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Spot the leakage</a:t>
            </a:r>
          </a:p>
        </p:txBody>
      </p:sp>
      <p:sp>
        <p:nvSpPr>
          <p:cNvPr id="3" name="Content Placeholder 2"/>
          <p:cNvSpPr>
            <a:spLocks noGrp="1"/>
          </p:cNvSpPr>
          <p:nvPr>
            <p:ph idx="1"/>
          </p:nvPr>
        </p:nvSpPr>
        <p:spPr/>
        <p:txBody>
          <a:bodyPr>
            <a:normAutofit/>
          </a:bodyPr>
          <a:lstStyle/>
          <a:p>
            <a:pPr lvl="0" indent="0">
              <a:buNone/>
            </a:pPr>
            <a:r>
              <a:rPr i="1">
                <a:solidFill>
                  <a:srgbClr val="60A0B0"/>
                </a:solidFill>
                <a:latin typeface="Courier"/>
              </a:rPr>
              <a:t># A</a:t>
            </a:r>
            <a:br/>
            <a:r>
              <a:rPr>
                <a:latin typeface="Courier"/>
              </a:rPr>
              <a:t>X </a:t>
            </a:r>
            <a:r>
              <a:rPr>
                <a:solidFill>
                  <a:srgbClr val="666666"/>
                </a:solidFill>
                <a:latin typeface="Courier"/>
              </a:rPr>
              <a:t>=</a:t>
            </a:r>
            <a:r>
              <a:rPr>
                <a:latin typeface="Courier"/>
              </a:rPr>
              <a:t> StandardScaler().fit_transform(X)</a:t>
            </a:r>
            <a:br/>
            <a:r>
              <a:rPr>
                <a:latin typeface="Courier"/>
              </a:rPr>
              <a:t>tr, te </a:t>
            </a:r>
            <a:r>
              <a:rPr>
                <a:solidFill>
                  <a:srgbClr val="666666"/>
                </a:solidFill>
                <a:latin typeface="Courier"/>
              </a:rPr>
              <a:t>=</a:t>
            </a:r>
            <a:r>
              <a:rPr>
                <a:latin typeface="Courier"/>
              </a:rPr>
              <a:t> train_test_split(X)</a:t>
            </a:r>
            <a:br/>
            <a:br/>
            <a:r>
              <a:rPr i="1">
                <a:solidFill>
                  <a:srgbClr val="60A0B0"/>
                </a:solidFill>
                <a:latin typeface="Courier"/>
              </a:rPr>
              <a:t># B</a:t>
            </a:r>
            <a:br/>
            <a:r>
              <a:rPr>
                <a:latin typeface="Courier"/>
              </a:rPr>
              <a:t>df[</a:t>
            </a:r>
            <a:r>
              <a:rPr>
                <a:solidFill>
                  <a:srgbClr val="4070A0"/>
                </a:solidFill>
                <a:latin typeface="Courier"/>
              </a:rPr>
              <a:t>"los"</a:t>
            </a:r>
            <a:r>
              <a:rPr>
                <a:latin typeface="Courier"/>
              </a:rPr>
              <a:t>] </a:t>
            </a:r>
            <a:r>
              <a:rPr>
                <a:solidFill>
                  <a:srgbClr val="666666"/>
                </a:solidFill>
                <a:latin typeface="Courier"/>
              </a:rPr>
              <a:t>=</a:t>
            </a:r>
            <a:r>
              <a:rPr>
                <a:latin typeface="Courier"/>
              </a:rPr>
              <a:t> df.discharge </a:t>
            </a:r>
            <a:r>
              <a:rPr>
                <a:solidFill>
                  <a:srgbClr val="666666"/>
                </a:solidFill>
                <a:latin typeface="Courier"/>
              </a:rPr>
              <a:t>-</a:t>
            </a:r>
            <a:r>
              <a:rPr>
                <a:latin typeface="Courier"/>
              </a:rPr>
              <a:t> df.admit</a:t>
            </a:r>
            <a:br/>
            <a:r>
              <a:rPr>
                <a:latin typeface="Courier"/>
              </a:rPr>
              <a:t>model.fit(df[[</a:t>
            </a:r>
            <a:r>
              <a:rPr>
                <a:solidFill>
                  <a:srgbClr val="4070A0"/>
                </a:solidFill>
                <a:latin typeface="Courier"/>
              </a:rPr>
              <a:t>"los"</a:t>
            </a:r>
            <a:r>
              <a:rPr>
                <a:latin typeface="Courier"/>
              </a:rPr>
              <a:t>, </a:t>
            </a:r>
            <a:r>
              <a:rPr>
                <a:solidFill>
                  <a:srgbClr val="4070A0"/>
                </a:solidFill>
                <a:latin typeface="Courier"/>
              </a:rPr>
              <a:t>"age"</a:t>
            </a:r>
            <a:r>
              <a:rPr>
                <a:latin typeface="Courier"/>
              </a:rPr>
              <a:t>]], df.died)</a:t>
            </a:r>
            <a:br/>
            <a:br/>
            <a:r>
              <a:rPr i="1">
                <a:solidFill>
                  <a:srgbClr val="60A0B0"/>
                </a:solidFill>
                <a:latin typeface="Courier"/>
              </a:rPr>
              <a:t># C</a:t>
            </a:r>
            <a:br/>
            <a:r>
              <a:rPr>
                <a:latin typeface="Courier"/>
              </a:rPr>
              <a:t>ids </a:t>
            </a:r>
            <a:r>
              <a:rPr>
                <a:solidFill>
                  <a:srgbClr val="666666"/>
                </a:solidFill>
                <a:latin typeface="Courier"/>
              </a:rPr>
              <a:t>=</a:t>
            </a:r>
            <a:r>
              <a:rPr>
                <a:latin typeface="Courier"/>
              </a:rPr>
              <a:t> df.subject_id.unique()</a:t>
            </a:r>
            <a:br/>
            <a:r>
              <a:rPr>
                <a:latin typeface="Courier"/>
              </a:rPr>
              <a:t>tr, te </a:t>
            </a:r>
            <a:r>
              <a:rPr>
                <a:solidFill>
                  <a:srgbClr val="666666"/>
                </a:solidFill>
                <a:latin typeface="Courier"/>
              </a:rPr>
              <a:t>=</a:t>
            </a:r>
            <a:r>
              <a:rPr>
                <a:latin typeface="Courier"/>
              </a:rPr>
              <a:t> train_test_split(ids)</a:t>
            </a:r>
            <a:br/>
            <a:br/>
            <a:r>
              <a:rPr i="1">
                <a:solidFill>
                  <a:srgbClr val="60A0B0"/>
                </a:solidFill>
                <a:latin typeface="Courier"/>
              </a:rPr>
              <a:t># D</a:t>
            </a:r>
            <a:br/>
            <a:r>
              <a:rPr>
                <a:latin typeface="Courier"/>
              </a:rPr>
              <a:t>df </a:t>
            </a:r>
            <a:r>
              <a:rPr>
                <a:solidFill>
                  <a:srgbClr val="666666"/>
                </a:solidFill>
                <a:latin typeface="Courier"/>
              </a:rPr>
              <a:t>=</a:t>
            </a:r>
            <a:r>
              <a:rPr>
                <a:latin typeface="Courier"/>
              </a:rPr>
              <a:t> df.sort_values(</a:t>
            </a:r>
            <a:r>
              <a:rPr>
                <a:solidFill>
                  <a:srgbClr val="4070A0"/>
                </a:solidFill>
                <a:latin typeface="Courier"/>
              </a:rPr>
              <a:t>"charttime"</a:t>
            </a:r>
            <a:r>
              <a:rPr>
                <a:latin typeface="Courier"/>
              </a:rPr>
              <a:t>)</a:t>
            </a:r>
            <a:br/>
            <a:r>
              <a:rPr>
                <a:latin typeface="Courier"/>
              </a:rPr>
              <a:t>tr, te </a:t>
            </a:r>
            <a:r>
              <a:rPr>
                <a:solidFill>
                  <a:srgbClr val="666666"/>
                </a:solidFill>
                <a:latin typeface="Courier"/>
              </a:rPr>
              <a:t>=</a:t>
            </a:r>
            <a:r>
              <a:rPr>
                <a:latin typeface="Courier"/>
              </a:rPr>
              <a:t> df[:</a:t>
            </a:r>
            <a:r>
              <a:rPr>
                <a:solidFill>
                  <a:srgbClr val="40A070"/>
                </a:solidFill>
                <a:latin typeface="Courier"/>
              </a:rPr>
              <a:t>8000</a:t>
            </a:r>
            <a:r>
              <a:rPr>
                <a:latin typeface="Courier"/>
              </a:rPr>
              <a:t>], df[</a:t>
            </a:r>
            <a:r>
              <a:rPr>
                <a:solidFill>
                  <a:srgbClr val="40A070"/>
                </a:solidFill>
                <a:latin typeface="Courier"/>
              </a:rPr>
              <a:t>8000</a:t>
            </a:r>
            <a:r>
              <a:rPr>
                <a:latin typeface="Courier"/>
              </a:rPr>
              <a:t>:]</a:t>
            </a:r>
          </a:p>
          <a:p>
            <a:pPr lvl="0" indent="0" marL="0">
              <a:buNone/>
            </a:pPr>
            <a:r>
              <a:rPr/>
              <a:t>Which of these leak?</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 — leaks: the scaler saw everything</a:t>
            </a:r>
          </a:p>
        </p:txBody>
      </p:sp>
      <p:sp>
        <p:nvSpPr>
          <p:cNvPr id="3" name="Content Placeholder 2"/>
          <p:cNvSpPr>
            <a:spLocks noGrp="1"/>
          </p:cNvSpPr>
          <p:nvPr>
            <p:ph idx="1"/>
          </p:nvPr>
        </p:nvSpPr>
        <p:spPr/>
        <p:txBody>
          <a:bodyPr>
            <a:normAutofit/>
          </a:bodyPr>
          <a:lstStyle/>
          <a:p>
            <a:pPr lvl="0" indent="0">
              <a:buNone/>
            </a:pPr>
            <a:r>
              <a:rPr i="1">
                <a:solidFill>
                  <a:srgbClr val="60A0B0"/>
                </a:solidFill>
                <a:latin typeface="Courier"/>
              </a:rPr>
              <a:t># WRONG</a:t>
            </a:r>
            <a:br/>
            <a:r>
              <a:rPr>
                <a:latin typeface="Courier"/>
              </a:rPr>
              <a:t>X </a:t>
            </a:r>
            <a:r>
              <a:rPr>
                <a:solidFill>
                  <a:srgbClr val="666666"/>
                </a:solidFill>
                <a:latin typeface="Courier"/>
              </a:rPr>
              <a:t>=</a:t>
            </a:r>
            <a:r>
              <a:rPr>
                <a:latin typeface="Courier"/>
              </a:rPr>
              <a:t> StandardScaler().fit_transform(X)</a:t>
            </a:r>
            <a:br/>
            <a:r>
              <a:rPr>
                <a:latin typeface="Courier"/>
              </a:rPr>
              <a:t>tr, te </a:t>
            </a:r>
            <a:r>
              <a:rPr>
                <a:solidFill>
                  <a:srgbClr val="666666"/>
                </a:solidFill>
                <a:latin typeface="Courier"/>
              </a:rPr>
              <a:t>=</a:t>
            </a:r>
            <a:r>
              <a:rPr>
                <a:latin typeface="Courier"/>
              </a:rPr>
              <a:t> train_test_split(X)</a:t>
            </a:r>
            <a:br/>
            <a:br/>
            <a:r>
              <a:rPr i="1">
                <a:solidFill>
                  <a:srgbClr val="60A0B0"/>
                </a:solidFill>
                <a:latin typeface="Courier"/>
              </a:rPr>
              <a:t># RIGHT</a:t>
            </a:r>
            <a:br/>
            <a:r>
              <a:rPr>
                <a:latin typeface="Courier"/>
              </a:rPr>
              <a:t>tr, te </a:t>
            </a:r>
            <a:r>
              <a:rPr>
                <a:solidFill>
                  <a:srgbClr val="666666"/>
                </a:solidFill>
                <a:latin typeface="Courier"/>
              </a:rPr>
              <a:t>=</a:t>
            </a:r>
            <a:r>
              <a:rPr>
                <a:latin typeface="Courier"/>
              </a:rPr>
              <a:t> train_test_split(X)</a:t>
            </a:r>
            <a:br/>
            <a:r>
              <a:rPr>
                <a:latin typeface="Courier"/>
              </a:rPr>
              <a:t>scaler </a:t>
            </a:r>
            <a:r>
              <a:rPr>
                <a:solidFill>
                  <a:srgbClr val="666666"/>
                </a:solidFill>
                <a:latin typeface="Courier"/>
              </a:rPr>
              <a:t>=</a:t>
            </a:r>
            <a:r>
              <a:rPr>
                <a:latin typeface="Courier"/>
              </a:rPr>
              <a:t> StandardScaler().fit(X[tr])</a:t>
            </a:r>
            <a:br/>
            <a:r>
              <a:rPr>
                <a:latin typeface="Courier"/>
              </a:rPr>
              <a:t>X_tr </a:t>
            </a:r>
            <a:r>
              <a:rPr>
                <a:solidFill>
                  <a:srgbClr val="666666"/>
                </a:solidFill>
                <a:latin typeface="Courier"/>
              </a:rPr>
              <a:t>=</a:t>
            </a:r>
            <a:r>
              <a:rPr>
                <a:latin typeface="Courier"/>
              </a:rPr>
              <a:t> scaler.transform(X[tr])</a:t>
            </a:r>
            <a:br/>
            <a:r>
              <a:rPr>
                <a:latin typeface="Courier"/>
              </a:rPr>
              <a:t>X_te </a:t>
            </a:r>
            <a:r>
              <a:rPr>
                <a:solidFill>
                  <a:srgbClr val="666666"/>
                </a:solidFill>
                <a:latin typeface="Courier"/>
              </a:rPr>
              <a:t>=</a:t>
            </a:r>
            <a:r>
              <a:rPr>
                <a:latin typeface="Courier"/>
              </a:rPr>
              <a:t> scaler.transform(X[te])</a:t>
            </a:r>
          </a:p>
          <a:p>
            <a:pPr lvl="0" indent="0" marL="0">
              <a:buNone/>
            </a:pPr>
            <a:r>
              <a:rPr/>
              <a:t>The mean and variance were computed over the test rows too.</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 — leaks: the feature knows the answer</a:t>
            </a:r>
          </a:p>
        </p:txBody>
      </p:sp>
      <p:sp>
        <p:nvSpPr>
          <p:cNvPr id="3" name="Content Placeholder 2"/>
          <p:cNvSpPr>
            <a:spLocks noGrp="1"/>
          </p:cNvSpPr>
          <p:nvPr>
            <p:ph idx="1"/>
          </p:nvPr>
        </p:nvSpPr>
        <p:spPr/>
        <p:txBody>
          <a:bodyPr>
            <a:normAutofit/>
          </a:bodyPr>
          <a:lstStyle/>
          <a:p>
            <a:pPr lvl="0" indent="0">
              <a:buNone/>
            </a:pPr>
            <a:r>
              <a:rPr i="1">
                <a:solidFill>
                  <a:srgbClr val="60A0B0"/>
                </a:solidFill>
                <a:latin typeface="Courier"/>
              </a:rPr>
              <a:t># WRONG</a:t>
            </a:r>
            <a:br/>
            <a:r>
              <a:rPr>
                <a:latin typeface="Courier"/>
              </a:rPr>
              <a:t>df[</a:t>
            </a:r>
            <a:r>
              <a:rPr>
                <a:solidFill>
                  <a:srgbClr val="4070A0"/>
                </a:solidFill>
                <a:latin typeface="Courier"/>
              </a:rPr>
              <a:t>"los"</a:t>
            </a:r>
            <a:r>
              <a:rPr>
                <a:latin typeface="Courier"/>
              </a:rPr>
              <a:t>] </a:t>
            </a:r>
            <a:r>
              <a:rPr>
                <a:solidFill>
                  <a:srgbClr val="666666"/>
                </a:solidFill>
                <a:latin typeface="Courier"/>
              </a:rPr>
              <a:t>=</a:t>
            </a:r>
            <a:r>
              <a:rPr>
                <a:latin typeface="Courier"/>
              </a:rPr>
              <a:t> df.discharge </a:t>
            </a:r>
            <a:r>
              <a:rPr>
                <a:solidFill>
                  <a:srgbClr val="666666"/>
                </a:solidFill>
                <a:latin typeface="Courier"/>
              </a:rPr>
              <a:t>-</a:t>
            </a:r>
            <a:r>
              <a:rPr>
                <a:latin typeface="Courier"/>
              </a:rPr>
              <a:t> df.admit</a:t>
            </a:r>
            <a:br/>
            <a:r>
              <a:rPr>
                <a:latin typeface="Courier"/>
              </a:rPr>
              <a:t>model.fit(df[[</a:t>
            </a:r>
            <a:r>
              <a:rPr>
                <a:solidFill>
                  <a:srgbClr val="4070A0"/>
                </a:solidFill>
                <a:latin typeface="Courier"/>
              </a:rPr>
              <a:t>"los"</a:t>
            </a:r>
            <a:r>
              <a:rPr>
                <a:latin typeface="Courier"/>
              </a:rPr>
              <a:t>, </a:t>
            </a:r>
            <a:r>
              <a:rPr>
                <a:solidFill>
                  <a:srgbClr val="4070A0"/>
                </a:solidFill>
                <a:latin typeface="Courier"/>
              </a:rPr>
              <a:t>"age"</a:t>
            </a:r>
            <a:r>
              <a:rPr>
                <a:latin typeface="Courier"/>
              </a:rPr>
              <a:t>]], df.died)</a:t>
            </a:r>
            <a:br/>
            <a:br/>
            <a:r>
              <a:rPr i="1">
                <a:solidFill>
                  <a:srgbClr val="60A0B0"/>
                </a:solidFill>
                <a:latin typeface="Courier"/>
              </a:rPr>
              <a:t># RIGHT - freeze features at a cut time</a:t>
            </a:r>
            <a:br/>
            <a:r>
              <a:rPr>
                <a:latin typeface="Courier"/>
              </a:rPr>
              <a:t>cut </a:t>
            </a:r>
            <a:r>
              <a:rPr>
                <a:solidFill>
                  <a:srgbClr val="666666"/>
                </a:solidFill>
                <a:latin typeface="Courier"/>
              </a:rPr>
              <a:t>=</a:t>
            </a:r>
            <a:r>
              <a:rPr>
                <a:latin typeface="Courier"/>
              </a:rPr>
              <a:t> df.admit </a:t>
            </a:r>
            <a:r>
              <a:rPr>
                <a:solidFill>
                  <a:srgbClr val="666666"/>
                </a:solidFill>
                <a:latin typeface="Courier"/>
              </a:rPr>
              <a:t>+</a:t>
            </a:r>
            <a:r>
              <a:rPr>
                <a:latin typeface="Courier"/>
              </a:rPr>
              <a:t> pd.Timedelta(hours</a:t>
            </a:r>
            <a:r>
              <a:rPr>
                <a:solidFill>
                  <a:srgbClr val="666666"/>
                </a:solidFill>
                <a:latin typeface="Courier"/>
              </a:rPr>
              <a:t>=</a:t>
            </a:r>
            <a:r>
              <a:rPr>
                <a:solidFill>
                  <a:srgbClr val="40A070"/>
                </a:solidFill>
                <a:latin typeface="Courier"/>
              </a:rPr>
              <a:t>24</a:t>
            </a:r>
            <a:r>
              <a:rPr>
                <a:latin typeface="Courier"/>
              </a:rPr>
              <a:t>)</a:t>
            </a:r>
            <a:br/>
            <a:r>
              <a:rPr>
                <a:latin typeface="Courier"/>
              </a:rPr>
              <a:t>feats </a:t>
            </a:r>
            <a:r>
              <a:rPr>
                <a:solidFill>
                  <a:srgbClr val="666666"/>
                </a:solidFill>
                <a:latin typeface="Courier"/>
              </a:rPr>
              <a:t>=</a:t>
            </a:r>
            <a:r>
              <a:rPr>
                <a:latin typeface="Courier"/>
              </a:rPr>
              <a:t> events[events.time </a:t>
            </a:r>
            <a:r>
              <a:rPr>
                <a:solidFill>
                  <a:srgbClr val="666666"/>
                </a:solidFill>
                <a:latin typeface="Courier"/>
              </a:rPr>
              <a:t>&lt;=</a:t>
            </a:r>
            <a:r>
              <a:rPr>
                <a:latin typeface="Courier"/>
              </a:rPr>
              <a:t> cut]</a:t>
            </a:r>
            <a:br/>
            <a:r>
              <a:rPr>
                <a:latin typeface="Courier"/>
              </a:rPr>
              <a:t>model.fit(summarise(feats), df.died)</a:t>
            </a:r>
          </a:p>
          <a:p>
            <a:pPr lvl="0" indent="0" marL="0">
              <a:buNone/>
            </a:pPr>
            <a:r>
              <a:rPr/>
              <a:t>Length of stay is only known once the stay is over — and dying ends it.</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 — safe: the split is on patients</a:t>
            </a:r>
          </a:p>
        </p:txBody>
      </p:sp>
      <p:sp>
        <p:nvSpPr>
          <p:cNvPr id="3" name="Content Placeholder 2"/>
          <p:cNvSpPr>
            <a:spLocks noGrp="1"/>
          </p:cNvSpPr>
          <p:nvPr>
            <p:ph idx="1"/>
          </p:nvPr>
        </p:nvSpPr>
        <p:spPr/>
        <p:txBody>
          <a:bodyPr>
            <a:normAutofit/>
          </a:bodyPr>
          <a:lstStyle/>
          <a:p>
            <a:pPr lvl="0" indent="0">
              <a:buNone/>
            </a:pPr>
            <a:r>
              <a:rPr>
                <a:latin typeface="Courier"/>
              </a:rPr>
              <a:t>ids </a:t>
            </a:r>
            <a:r>
              <a:rPr>
                <a:solidFill>
                  <a:srgbClr val="666666"/>
                </a:solidFill>
                <a:latin typeface="Courier"/>
              </a:rPr>
              <a:t>=</a:t>
            </a:r>
            <a:r>
              <a:rPr>
                <a:latin typeface="Courier"/>
              </a:rPr>
              <a:t> df.subject_id.unique()</a:t>
            </a:r>
            <a:br/>
            <a:r>
              <a:rPr>
                <a:latin typeface="Courier"/>
              </a:rPr>
              <a:t>tr, te </a:t>
            </a:r>
            <a:r>
              <a:rPr>
                <a:solidFill>
                  <a:srgbClr val="666666"/>
                </a:solidFill>
                <a:latin typeface="Courier"/>
              </a:rPr>
              <a:t>=</a:t>
            </a:r>
            <a:r>
              <a:rPr>
                <a:latin typeface="Courier"/>
              </a:rPr>
              <a:t> train_test_split(ids)</a:t>
            </a:r>
          </a:p>
          <a:p>
            <a:pPr lvl="0" indent="0" marL="0">
              <a:buNone/>
            </a:pPr>
            <a:r>
              <a:rPr/>
              <a:t>One patient’s rows now land entirely on one side.</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 — leaks: same patient, both sides</a:t>
            </a:r>
          </a:p>
        </p:txBody>
      </p:sp>
      <p:sp>
        <p:nvSpPr>
          <p:cNvPr id="3" name="Content Placeholder 2"/>
          <p:cNvSpPr>
            <a:spLocks noGrp="1"/>
          </p:cNvSpPr>
          <p:nvPr>
            <p:ph idx="1"/>
          </p:nvPr>
        </p:nvSpPr>
        <p:spPr/>
        <p:txBody>
          <a:bodyPr>
            <a:normAutofit/>
          </a:bodyPr>
          <a:lstStyle/>
          <a:p>
            <a:pPr lvl="0" indent="0">
              <a:buNone/>
            </a:pPr>
            <a:r>
              <a:rPr i="1">
                <a:solidFill>
                  <a:srgbClr val="60A0B0"/>
                </a:solidFill>
                <a:latin typeface="Courier"/>
              </a:rPr>
              <a:t># WRONG - a stay can straddle the cut</a:t>
            </a:r>
            <a:br/>
            <a:r>
              <a:rPr>
                <a:latin typeface="Courier"/>
              </a:rPr>
              <a:t>df </a:t>
            </a:r>
            <a:r>
              <a:rPr>
                <a:solidFill>
                  <a:srgbClr val="666666"/>
                </a:solidFill>
                <a:latin typeface="Courier"/>
              </a:rPr>
              <a:t>=</a:t>
            </a:r>
            <a:r>
              <a:rPr>
                <a:latin typeface="Courier"/>
              </a:rPr>
              <a:t> df.sort_values(</a:t>
            </a:r>
            <a:r>
              <a:rPr>
                <a:solidFill>
                  <a:srgbClr val="4070A0"/>
                </a:solidFill>
                <a:latin typeface="Courier"/>
              </a:rPr>
              <a:t>"charttime"</a:t>
            </a:r>
            <a:r>
              <a:rPr>
                <a:latin typeface="Courier"/>
              </a:rPr>
              <a:t>)</a:t>
            </a:r>
            <a:br/>
            <a:r>
              <a:rPr>
                <a:latin typeface="Courier"/>
              </a:rPr>
              <a:t>tr, te </a:t>
            </a:r>
            <a:r>
              <a:rPr>
                <a:solidFill>
                  <a:srgbClr val="666666"/>
                </a:solidFill>
                <a:latin typeface="Courier"/>
              </a:rPr>
              <a:t>=</a:t>
            </a:r>
            <a:r>
              <a:rPr>
                <a:latin typeface="Courier"/>
              </a:rPr>
              <a:t> df[:</a:t>
            </a:r>
            <a:r>
              <a:rPr>
                <a:solidFill>
                  <a:srgbClr val="40A070"/>
                </a:solidFill>
                <a:latin typeface="Courier"/>
              </a:rPr>
              <a:t>8000</a:t>
            </a:r>
            <a:r>
              <a:rPr>
                <a:latin typeface="Courier"/>
              </a:rPr>
              <a:t>], df[</a:t>
            </a:r>
            <a:r>
              <a:rPr>
                <a:solidFill>
                  <a:srgbClr val="40A070"/>
                </a:solidFill>
                <a:latin typeface="Courier"/>
              </a:rPr>
              <a:t>8000</a:t>
            </a:r>
            <a:r>
              <a:rPr>
                <a:latin typeface="Courier"/>
              </a:rPr>
              <a:t>:]</a:t>
            </a:r>
            <a:br/>
            <a:br/>
            <a:r>
              <a:rPr i="1">
                <a:solidFill>
                  <a:srgbClr val="60A0B0"/>
                </a:solidFill>
                <a:latin typeface="Courier"/>
              </a:rPr>
              <a:t># RIGHT - split by time AND by patient</a:t>
            </a:r>
            <a:br/>
            <a:r>
              <a:rPr>
                <a:latin typeface="Courier"/>
              </a:rPr>
              <a:t>cut </a:t>
            </a:r>
            <a:r>
              <a:rPr>
                <a:solidFill>
                  <a:srgbClr val="666666"/>
                </a:solidFill>
                <a:latin typeface="Courier"/>
              </a:rPr>
              <a:t>=</a:t>
            </a:r>
            <a:r>
              <a:rPr>
                <a:latin typeface="Courier"/>
              </a:rPr>
              <a:t> df.charttime.quantile(</a:t>
            </a:r>
            <a:r>
              <a:rPr>
                <a:solidFill>
                  <a:srgbClr val="40A070"/>
                </a:solidFill>
                <a:latin typeface="Courier"/>
              </a:rPr>
              <a:t>0.8</a:t>
            </a:r>
            <a:r>
              <a:rPr>
                <a:latin typeface="Courier"/>
              </a:rPr>
              <a:t>)</a:t>
            </a:r>
            <a:br/>
            <a:r>
              <a:rPr>
                <a:latin typeface="Courier"/>
              </a:rPr>
              <a:t>ids </a:t>
            </a:r>
            <a:r>
              <a:rPr>
                <a:solidFill>
                  <a:srgbClr val="666666"/>
                </a:solidFill>
                <a:latin typeface="Courier"/>
              </a:rPr>
              <a:t>=</a:t>
            </a:r>
            <a:r>
              <a:rPr>
                <a:latin typeface="Courier"/>
              </a:rPr>
              <a:t> df[df.charttime </a:t>
            </a:r>
            <a:r>
              <a:rPr>
                <a:solidFill>
                  <a:srgbClr val="666666"/>
                </a:solidFill>
                <a:latin typeface="Courier"/>
              </a:rPr>
              <a:t>&lt;=</a:t>
            </a:r>
            <a:r>
              <a:rPr>
                <a:latin typeface="Courier"/>
              </a:rPr>
              <a:t> cut].subject_id</a:t>
            </a:r>
            <a:br/>
            <a:r>
              <a:rPr>
                <a:latin typeface="Courier"/>
              </a:rPr>
              <a:t>te </a:t>
            </a:r>
            <a:r>
              <a:rPr>
                <a:solidFill>
                  <a:srgbClr val="666666"/>
                </a:solidFill>
                <a:latin typeface="Courier"/>
              </a:rPr>
              <a:t>=</a:t>
            </a:r>
            <a:r>
              <a:rPr>
                <a:latin typeface="Courier"/>
              </a:rPr>
              <a:t> df[</a:t>
            </a:r>
            <a:r>
              <a:rPr>
                <a:solidFill>
                  <a:srgbClr val="666666"/>
                </a:solidFill>
                <a:latin typeface="Courier"/>
              </a:rPr>
              <a:t>~</a:t>
            </a:r>
            <a:r>
              <a:rPr>
                <a:latin typeface="Courier"/>
              </a:rPr>
              <a:t>df.subject_id.isin(ids)]</a:t>
            </a:r>
          </a:p>
          <a:p>
            <a:pPr lvl="0" indent="0" marL="0">
              <a:buNone/>
            </a:pPr>
            <a:r>
              <a:rPr/>
              <a:t>A time split is the right instinct; on its own it still leaks by group.</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Autopsy</a:t>
            </a:r>
          </a:p>
        </p:txBody>
      </p:sp>
      <p:sp>
        <p:nvSpPr>
          <p:cNvPr id="3" name="Content Placeholder 2"/>
          <p:cNvSpPr>
            <a:spLocks noGrp="1"/>
          </p:cNvSpPr>
          <p:nvPr>
            <p:ph idx="1"/>
          </p:nvPr>
        </p:nvSpPr>
        <p:spPr/>
        <p:txBody>
          <a:bodyPr>
            <a:normAutofit/>
          </a:bodyPr>
          <a:lstStyle/>
          <a:p>
            <a:pPr lvl="0" indent="0" marL="0">
              <a:buNone/>
            </a:pPr>
            <a:r>
              <a:rPr/>
              <a:t>Name the failure mode for each:</a:t>
            </a:r>
          </a:p>
          <a:p>
            <a:pPr lvl="0" indent="-342900" marL="342900">
              <a:buAutoNum type="arabicPeriod"/>
            </a:pPr>
            <a:r>
              <a:rPr b="1"/>
              <a:t>Google Flu Trends:</a:t>
            </a:r>
            <a:r>
              <a:rPr/>
              <a:t> tracked flu well for years, then overshot the 2013 peak by roughly double, and was retired</a:t>
            </a:r>
          </a:p>
          <a:p>
            <a:pPr lvl="0" indent="-342900" marL="342900">
              <a:buAutoNum type="arabicPeriod"/>
            </a:pPr>
            <a:r>
              <a:rPr b="1"/>
              <a:t>Epic’s sepsis model:</a:t>
            </a:r>
            <a:r>
              <a:rPr/>
              <a:t> sold on an AUC of 0.76–0.83, scored 0.63 in an independent evaluation of ~28 000 admissions</a:t>
            </a:r>
          </a:p>
          <a:p>
            <a:pPr lvl="0" indent="-342900" marL="342900">
              <a:buAutoNum type="arabicPeriod"/>
            </a:pPr>
            <a:r>
              <a:rPr b="1"/>
              <a:t>COVID chest X-ray models:</a:t>
            </a:r>
            <a:r>
              <a:rPr/>
              <a:t> hundreds published in 2020, an independent review found none fit for clinical use</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Autopsy</a:t>
            </a:r>
          </a:p>
        </p:txBody>
      </p:sp>
      <p:sp>
        <p:nvSpPr>
          <p:cNvPr id="3" name="Content Placeholder 2"/>
          <p:cNvSpPr>
            <a:spLocks noGrp="1"/>
          </p:cNvSpPr>
          <p:nvPr>
            <p:ph idx="1"/>
          </p:nvPr>
        </p:nvSpPr>
        <p:spPr/>
        <p:txBody>
          <a:bodyPr>
            <a:normAutofit/>
          </a:bodyPr>
          <a:lstStyle/>
          <a:p>
            <a:pPr lvl="0" indent="0" marL="0">
              <a:buNone/>
            </a:pPr>
            <a:r>
              <a:rPr/>
              <a:t>Name the failure mode for each:</a:t>
            </a:r>
          </a:p>
          <a:p>
            <a:pPr lvl="0" indent="-342900" marL="342900">
              <a:buAutoNum type="arabicPeriod"/>
            </a:pPr>
            <a:r>
              <a:rPr/>
              <a:t>Google Flu Trends: </a:t>
            </a:r>
            <a:r>
              <a:rPr b="1"/>
              <a:t>Concept drift</a:t>
            </a:r>
            <a:r>
              <a:rPr/>
              <a:t>, plus a </a:t>
            </a:r>
            <a:r>
              <a:rPr i="1"/>
              <a:t>feedback loop</a:t>
            </a:r>
          </a:p>
          <a:p>
            <a:pPr lvl="0" indent="-342900" marL="342900">
              <a:buAutoNum type="arabicPeriod"/>
            </a:pPr>
            <a:r>
              <a:rPr/>
              <a:t>Epic’s sepsis model: </a:t>
            </a:r>
            <a:r>
              <a:rPr b="1"/>
              <a:t>Shift</a:t>
            </a:r>
            <a:r>
              <a:rPr/>
              <a:t> + </a:t>
            </a:r>
            <a:r>
              <a:rPr i="1"/>
              <a:t>label noise</a:t>
            </a:r>
            <a:r>
              <a:rPr/>
              <a:t> in the outcome</a:t>
            </a:r>
          </a:p>
          <a:p>
            <a:pPr lvl="0" indent="-342900" marL="342900">
              <a:buAutoNum type="arabicPeriod"/>
            </a:pPr>
            <a:r>
              <a:rPr/>
              <a:t>COVID chest X-ray models: </a:t>
            </a:r>
            <a:r>
              <a:rPr b="1"/>
              <a:t>Shortcuts</a:t>
            </a:r>
            <a:r>
              <a:rPr/>
              <a:t>, and </a:t>
            </a:r>
            <a:r>
              <a:rPr b="1"/>
              <a:t>leakage</a:t>
            </a:r>
            <a:r>
              <a:rPr/>
              <a:t> across sources</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Break time</a:t>
            </a:r>
          </a:p>
        </p:txBody>
      </p:sp>
      <p:pic>
        <p:nvPicPr>
          <p:cNvPr descr="img/break.png" id="0" name="Picture 1"/>
          <p:cNvPicPr>
            <a:picLocks noGrp="1" noChangeAspect="1"/>
          </p:cNvPicPr>
          <p:nvPr/>
        </p:nvPicPr>
        <p:blipFill>
          <a:blip r:embed="rId3"/>
          <a:stretch>
            <a:fillRect/>
          </a:stretch>
        </p:blipFill>
        <p:spPr bwMode="auto">
          <a:xfrm>
            <a:off x="1460500" y="1193800"/>
            <a:ext cx="6210300" cy="3390900"/>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2. Data types and example</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Tabular: one row per unit </a:t>
            </a:r>
            <a:r>
              <a:rPr>
                <a:latin typeface="Courier"/>
              </a:rPr>
              <a:t>n × p</a:t>
            </a:r>
          </a:p>
        </p:txBody>
      </p:sp>
      <p:sp>
        <p:nvSpPr>
          <p:cNvPr id="3" name="Text Placeholder 2"/>
          <p:cNvSpPr>
            <a:spLocks noGrp="1"/>
          </p:cNvSpPr>
          <p:nvPr>
            <p:ph idx="1" type="body"/>
          </p:nvPr>
        </p:nvSpPr>
        <p:spPr/>
        <p:txBody>
          <a:bodyPr>
            <a:normAutofit/>
          </a:bodyPr>
          <a:lstStyle/>
          <a:p>
            <a:pPr lvl="0" indent="0" marL="0">
              <a:buNone/>
            </a:pPr>
            <a:r>
              <a:rPr b="1"/>
              <a:t>Ward interventions</a:t>
            </a:r>
          </a:p>
        </p:txBody>
      </p:sp>
      <p:pic>
        <p:nvPicPr>
          <p:cNvPr descr="img/tabular_medical.jpg" id="0" name="Picture 1"/>
          <p:cNvPicPr>
            <a:picLocks noGrp="1" noChangeAspect="1"/>
          </p:cNvPicPr>
          <p:nvPr/>
        </p:nvPicPr>
        <p:blipFill>
          <a:blip r:embed="rId3"/>
          <a:stretch>
            <a:fillRect/>
          </a:stretch>
        </p:blipFill>
        <p:spPr bwMode="auto">
          <a:xfrm>
            <a:off x="457200" y="2336800"/>
            <a:ext cx="4038600" cy="1549400"/>
          </a:xfrm>
          <a:prstGeom prst="rect">
            <a:avLst/>
          </a:prstGeom>
          <a:noFill/>
          <a:ln w="9525">
            <a:noFill/>
            <a:headEnd/>
            <a:tailEnd/>
          </a:ln>
        </p:spPr>
      </p:pic>
      <p:sp>
        <p:nvSpPr>
          <p:cNvPr id="5" name="Text Placeholder 4"/>
          <p:cNvSpPr>
            <a:spLocks noGrp="1"/>
          </p:cNvSpPr>
          <p:nvPr>
            <p:ph idx="3" sz="quarter" type="body"/>
          </p:nvPr>
        </p:nvSpPr>
        <p:spPr/>
        <p:txBody>
          <a:bodyPr>
            <a:normAutofit/>
          </a:bodyPr>
          <a:lstStyle/>
          <a:p>
            <a:pPr lvl="0" indent="0" marL="0">
              <a:buNone/>
            </a:pPr>
            <a:r>
              <a:rPr b="1"/>
              <a:t>A ship’s passenger manifest</a:t>
            </a:r>
          </a:p>
        </p:txBody>
      </p:sp>
      <p:pic>
        <p:nvPicPr>
          <p:cNvPr descr="img/tabular_other.jpg" id="0" name="Picture 1"/>
          <p:cNvPicPr>
            <a:picLocks noGrp="1" noChangeAspect="1"/>
          </p:cNvPicPr>
          <p:nvPr/>
        </p:nvPicPr>
        <p:blipFill>
          <a:blip r:embed="rId4"/>
          <a:stretch>
            <a:fillRect/>
          </a:stretch>
        </p:blipFill>
        <p:spPr bwMode="auto">
          <a:xfrm>
            <a:off x="5219700" y="1625600"/>
            <a:ext cx="2857500" cy="2959100"/>
          </a:xfrm>
          <a:prstGeom prst="rect">
            <a:avLst/>
          </a:prstGeom>
          <a:noFill/>
          <a:ln w="9525">
            <a:noFill/>
            <a:headEnd/>
            <a:tailEnd/>
          </a:ln>
        </p:spPr>
      </p:pic>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1D signals: a value over time </a:t>
            </a:r>
            <a:r>
              <a:rPr>
                <a:latin typeface="Courier"/>
              </a:rPr>
              <a:t>n × T</a:t>
            </a:r>
          </a:p>
        </p:txBody>
      </p:sp>
      <p:sp>
        <p:nvSpPr>
          <p:cNvPr id="3" name="Text Placeholder 2"/>
          <p:cNvSpPr>
            <a:spLocks noGrp="1"/>
          </p:cNvSpPr>
          <p:nvPr>
            <p:ph idx="1" type="body"/>
          </p:nvPr>
        </p:nvSpPr>
        <p:spPr/>
        <p:txBody>
          <a:bodyPr>
            <a:normAutofit/>
          </a:bodyPr>
          <a:lstStyle/>
          <a:p>
            <a:pPr lvl="0" indent="0" marL="0">
              <a:buNone/>
            </a:pPr>
            <a:r>
              <a:rPr b="1"/>
              <a:t>A 12-lead ECG</a:t>
            </a:r>
          </a:p>
        </p:txBody>
      </p:sp>
      <p:pic>
        <p:nvPicPr>
          <p:cNvPr descr="img/signal_medical.jpg" id="0" name="Picture 1"/>
          <p:cNvPicPr>
            <a:picLocks noGrp="1" noChangeAspect="1"/>
          </p:cNvPicPr>
          <p:nvPr/>
        </p:nvPicPr>
        <p:blipFill>
          <a:blip r:embed="rId3"/>
          <a:stretch>
            <a:fillRect/>
          </a:stretch>
        </p:blipFill>
        <p:spPr bwMode="auto">
          <a:xfrm>
            <a:off x="457200" y="2286000"/>
            <a:ext cx="4038600" cy="1638300"/>
          </a:xfrm>
          <a:prstGeom prst="rect">
            <a:avLst/>
          </a:prstGeom>
          <a:noFill/>
          <a:ln w="9525">
            <a:noFill/>
            <a:headEnd/>
            <a:tailEnd/>
          </a:ln>
        </p:spPr>
      </p:pic>
      <p:sp>
        <p:nvSpPr>
          <p:cNvPr id="5" name="Text Placeholder 4"/>
          <p:cNvSpPr>
            <a:spLocks noGrp="1"/>
          </p:cNvSpPr>
          <p:nvPr>
            <p:ph idx="3" sz="quarter" type="body"/>
          </p:nvPr>
        </p:nvSpPr>
        <p:spPr/>
        <p:txBody>
          <a:bodyPr>
            <a:normAutofit/>
          </a:bodyPr>
          <a:lstStyle/>
          <a:p>
            <a:pPr lvl="0" indent="0" marL="0">
              <a:buNone/>
            </a:pPr>
            <a:r>
              <a:rPr b="1"/>
              <a:t>An audio waveform</a:t>
            </a:r>
          </a:p>
        </p:txBody>
      </p:sp>
      <p:pic>
        <p:nvPicPr>
          <p:cNvPr descr="img/signal_other.jpg" id="0" name="Picture 1"/>
          <p:cNvPicPr>
            <a:picLocks noGrp="1" noChangeAspect="1"/>
          </p:cNvPicPr>
          <p:nvPr/>
        </p:nvPicPr>
        <p:blipFill>
          <a:blip r:embed="rId4"/>
          <a:stretch>
            <a:fillRect/>
          </a:stretch>
        </p:blipFill>
        <p:spPr bwMode="auto">
          <a:xfrm>
            <a:off x="4635500" y="2159000"/>
            <a:ext cx="4038600" cy="1905000"/>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2D images: a grid of pixels </a:t>
            </a:r>
            <a:r>
              <a:rPr>
                <a:latin typeface="Courier"/>
              </a:rPr>
              <a:t>H × W × C</a:t>
            </a:r>
          </a:p>
        </p:txBody>
      </p:sp>
      <p:sp>
        <p:nvSpPr>
          <p:cNvPr id="3" name="Text Placeholder 2"/>
          <p:cNvSpPr>
            <a:spLocks noGrp="1"/>
          </p:cNvSpPr>
          <p:nvPr>
            <p:ph idx="1" type="body"/>
          </p:nvPr>
        </p:nvSpPr>
        <p:spPr/>
        <p:txBody>
          <a:bodyPr>
            <a:normAutofit/>
          </a:bodyPr>
          <a:lstStyle/>
          <a:p>
            <a:pPr lvl="0" indent="0" marL="0">
              <a:buNone/>
            </a:pPr>
            <a:r>
              <a:rPr b="1"/>
              <a:t>A chest radiograph</a:t>
            </a:r>
          </a:p>
        </p:txBody>
      </p:sp>
      <p:pic>
        <p:nvPicPr>
          <p:cNvPr descr="img/image2d_medical.jpg" id="0" name="Picture 1"/>
          <p:cNvPicPr>
            <a:picLocks noGrp="1" noChangeAspect="1"/>
          </p:cNvPicPr>
          <p:nvPr/>
        </p:nvPicPr>
        <p:blipFill>
          <a:blip r:embed="rId3"/>
          <a:stretch>
            <a:fillRect/>
          </a:stretch>
        </p:blipFill>
        <p:spPr bwMode="auto">
          <a:xfrm>
            <a:off x="1181100" y="1625600"/>
            <a:ext cx="2590800" cy="2959100"/>
          </a:xfrm>
          <a:prstGeom prst="rect">
            <a:avLst/>
          </a:prstGeom>
          <a:noFill/>
          <a:ln w="9525">
            <a:noFill/>
            <a:headEnd/>
            <a:tailEnd/>
          </a:ln>
        </p:spPr>
      </p:pic>
      <p:sp>
        <p:nvSpPr>
          <p:cNvPr id="5" name="Text Placeholder 4"/>
          <p:cNvSpPr>
            <a:spLocks noGrp="1"/>
          </p:cNvSpPr>
          <p:nvPr>
            <p:ph idx="3" sz="quarter" type="body"/>
          </p:nvPr>
        </p:nvSpPr>
        <p:spPr/>
        <p:txBody>
          <a:bodyPr>
            <a:normAutofit/>
          </a:bodyPr>
          <a:lstStyle/>
          <a:p>
            <a:pPr lvl="0" indent="0" marL="0">
              <a:buNone/>
            </a:pPr>
            <a:r>
              <a:rPr b="1"/>
              <a:t>A satellite view of farmland</a:t>
            </a:r>
          </a:p>
        </p:txBody>
      </p:sp>
      <p:pic>
        <p:nvPicPr>
          <p:cNvPr descr="img/image2d_other.jpg" id="0" name="Picture 1"/>
          <p:cNvPicPr>
            <a:picLocks noGrp="1" noChangeAspect="1"/>
          </p:cNvPicPr>
          <p:nvPr/>
        </p:nvPicPr>
        <p:blipFill>
          <a:blip r:embed="rId4"/>
          <a:stretch>
            <a:fillRect/>
          </a:stretch>
        </p:blipFill>
        <p:spPr bwMode="auto">
          <a:xfrm>
            <a:off x="5105400" y="1625600"/>
            <a:ext cx="3086100" cy="2959100"/>
          </a:xfrm>
          <a:prstGeom prst="rect">
            <a:avLst/>
          </a:prstGeom>
          <a:noFill/>
          <a:ln w="9525">
            <a:noFill/>
            <a:headEnd/>
            <a:tailEnd/>
          </a:ln>
        </p:spPr>
      </p:pic>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3D volumes: a stack of slices, </a:t>
            </a:r>
            <a:r>
              <a:rPr>
                <a:latin typeface="Courier"/>
              </a:rPr>
              <a:t>D × H × W</a:t>
            </a:r>
          </a:p>
        </p:txBody>
      </p:sp>
      <p:sp>
        <p:nvSpPr>
          <p:cNvPr id="3" name="Text Placeholder 2"/>
          <p:cNvSpPr>
            <a:spLocks noGrp="1"/>
          </p:cNvSpPr>
          <p:nvPr>
            <p:ph idx="1" type="body"/>
          </p:nvPr>
        </p:nvSpPr>
        <p:spPr/>
        <p:txBody>
          <a:bodyPr>
            <a:normAutofit/>
          </a:bodyPr>
          <a:lstStyle/>
          <a:p>
            <a:pPr lvl="0" indent="0" marL="0">
              <a:buNone/>
            </a:pPr>
            <a:r>
              <a:rPr b="1"/>
              <a:t>A CT</a:t>
            </a:r>
          </a:p>
        </p:txBody>
      </p:sp>
      <p:pic>
        <p:nvPicPr>
          <p:cNvPr descr="img/volume3d_medical.jpg" id="0" name="Picture 1"/>
          <p:cNvPicPr>
            <a:picLocks noGrp="1" noChangeAspect="1"/>
          </p:cNvPicPr>
          <p:nvPr/>
        </p:nvPicPr>
        <p:blipFill>
          <a:blip r:embed="rId3"/>
          <a:stretch>
            <a:fillRect/>
          </a:stretch>
        </p:blipFill>
        <p:spPr bwMode="auto">
          <a:xfrm>
            <a:off x="1295400" y="1625600"/>
            <a:ext cx="2349500" cy="2959100"/>
          </a:xfrm>
          <a:prstGeom prst="rect">
            <a:avLst/>
          </a:prstGeom>
          <a:noFill/>
          <a:ln w="9525">
            <a:noFill/>
            <a:headEnd/>
            <a:tailEnd/>
          </a:ln>
        </p:spPr>
      </p:pic>
      <p:sp>
        <p:nvSpPr>
          <p:cNvPr id="4" name="Content Placeholder 3"/>
          <p:cNvSpPr>
            <a:spLocks noGrp="1"/>
          </p:cNvSpPr>
          <p:nvPr>
            <p:ph idx="2" sz="half"/>
          </p:nvPr>
        </p:nvSpPr>
        <p:spPr/>
        <p:txBody>
          <a:bodyPr>
            <a:normAutofit/>
          </a:bodyPr>
          <a:lstStyle/>
          <a:p>
            <a:pPr lvl="0" indent="0" marL="0">
              <a:buNone/>
            </a:pPr>
            <a:r>
              <a:rPr i="1"/>
              <a:t>(three planes view)</a:t>
            </a:r>
          </a:p>
        </p:txBody>
      </p:sp>
      <p:sp>
        <p:nvSpPr>
          <p:cNvPr id="5" name="Text Placeholder 4"/>
          <p:cNvSpPr>
            <a:spLocks noGrp="1"/>
          </p:cNvSpPr>
          <p:nvPr>
            <p:ph idx="3" sz="quarter" type="body"/>
          </p:nvPr>
        </p:nvSpPr>
        <p:spPr/>
        <p:txBody>
          <a:bodyPr>
            <a:normAutofit/>
          </a:bodyPr>
          <a:lstStyle/>
          <a:p>
            <a:pPr lvl="0" indent="0" marL="0">
              <a:buNone/>
            </a:pPr>
            <a:r>
              <a:rPr b="1"/>
              <a:t>A LiDAR point cloud</a:t>
            </a:r>
          </a:p>
        </p:txBody>
      </p:sp>
      <p:pic>
        <p:nvPicPr>
          <p:cNvPr descr="img/volume3d_other.jpg" id="0" name="Picture 1"/>
          <p:cNvPicPr>
            <a:picLocks noGrp="1" noChangeAspect="1"/>
          </p:cNvPicPr>
          <p:nvPr/>
        </p:nvPicPr>
        <p:blipFill>
          <a:blip r:embed="rId4"/>
          <a:stretch>
            <a:fillRect/>
          </a:stretch>
        </p:blipFill>
        <p:spPr bwMode="auto">
          <a:xfrm>
            <a:off x="4635500" y="1968500"/>
            <a:ext cx="4038600" cy="2273300"/>
          </a:xfrm>
          <a:prstGeom prst="rect">
            <a:avLst/>
          </a:prstGeom>
          <a:noFill/>
          <a:ln w="9525">
            <a:noFill/>
            <a:headEnd/>
            <a:tailEnd/>
          </a:ln>
        </p:spPr>
      </p:pic>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Text: a sequence of tokens</a:t>
            </a:r>
          </a:p>
        </p:txBody>
      </p:sp>
      <p:sp>
        <p:nvSpPr>
          <p:cNvPr id="3" name="Text Placeholder 2"/>
          <p:cNvSpPr>
            <a:spLocks noGrp="1"/>
          </p:cNvSpPr>
          <p:nvPr>
            <p:ph idx="1" type="body"/>
          </p:nvPr>
        </p:nvSpPr>
        <p:spPr/>
        <p:txBody>
          <a:bodyPr>
            <a:normAutofit/>
          </a:bodyPr>
          <a:lstStyle/>
          <a:p>
            <a:pPr lvl="0" indent="0" marL="0">
              <a:buNone/>
            </a:pPr>
            <a:r>
              <a:rPr b="1"/>
              <a:t>A radiology report</a:t>
            </a:r>
          </a:p>
        </p:txBody>
      </p:sp>
      <p:pic>
        <p:nvPicPr>
          <p:cNvPr descr="img/text_medical.jpg" id="0" name="Picture 1"/>
          <p:cNvPicPr>
            <a:picLocks noGrp="1" noChangeAspect="1"/>
          </p:cNvPicPr>
          <p:nvPr/>
        </p:nvPicPr>
        <p:blipFill>
          <a:blip r:embed="rId3"/>
          <a:stretch>
            <a:fillRect/>
          </a:stretch>
        </p:blipFill>
        <p:spPr bwMode="auto">
          <a:xfrm>
            <a:off x="457200" y="2565400"/>
            <a:ext cx="4038600" cy="1079500"/>
          </a:xfrm>
          <a:prstGeom prst="rect">
            <a:avLst/>
          </a:prstGeom>
          <a:noFill/>
          <a:ln w="9525">
            <a:noFill/>
            <a:headEnd/>
            <a:tailEnd/>
          </a:ln>
        </p:spPr>
      </p:pic>
      <p:sp>
        <p:nvSpPr>
          <p:cNvPr id="5" name="Text Placeholder 4"/>
          <p:cNvSpPr>
            <a:spLocks noGrp="1"/>
          </p:cNvSpPr>
          <p:nvPr>
            <p:ph idx="3" sz="quarter" type="body"/>
          </p:nvPr>
        </p:nvSpPr>
        <p:spPr/>
        <p:txBody>
          <a:bodyPr>
            <a:normAutofit/>
          </a:bodyPr>
          <a:lstStyle/>
          <a:p>
            <a:pPr lvl="0" indent="0" marL="0">
              <a:buNone/>
            </a:pPr>
            <a:r>
              <a:rPr b="1"/>
              <a:t>A newspaper page</a:t>
            </a:r>
          </a:p>
        </p:txBody>
      </p:sp>
      <p:pic>
        <p:nvPicPr>
          <p:cNvPr descr="img/text_other.jpg" id="0" name="Picture 1"/>
          <p:cNvPicPr>
            <a:picLocks noGrp="1" noChangeAspect="1"/>
          </p:cNvPicPr>
          <p:nvPr/>
        </p:nvPicPr>
        <p:blipFill>
          <a:blip r:embed="rId4"/>
          <a:stretch>
            <a:fillRect/>
          </a:stretch>
        </p:blipFill>
        <p:spPr bwMode="auto">
          <a:xfrm>
            <a:off x="5372100" y="1625600"/>
            <a:ext cx="2565400" cy="2959100"/>
          </a:xfrm>
          <a:prstGeom prst="rect">
            <a:avLst/>
          </a:prstGeom>
          <a:noFill/>
          <a:ln w="9525">
            <a:noFill/>
            <a:headEnd/>
            <a:tailEnd/>
          </a:ln>
        </p:spPr>
      </p:pic>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3. Where data science is used</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same five datatypes</a:t>
            </a:r>
          </a:p>
        </p:txBody>
      </p:sp>
      <p:pic>
        <p:nvPicPr>
          <p:cNvPr descr="img/dsmap.png" id="0" name="Picture 1"/>
          <p:cNvPicPr>
            <a:picLocks noGrp="1" noChangeAspect="1"/>
          </p:cNvPicPr>
          <p:nvPr/>
        </p:nvPicPr>
        <p:blipFill>
          <a:blip r:embed="rId3"/>
          <a:stretch>
            <a:fillRect/>
          </a:stretch>
        </p:blipFill>
        <p:spPr bwMode="auto">
          <a:xfrm>
            <a:off x="609600" y="1193800"/>
            <a:ext cx="7924800" cy="3390900"/>
          </a:xfrm>
          <a:prstGeom prst="rect">
            <a:avLst/>
          </a:prstGeom>
          <a:noFill/>
          <a:ln w="9525">
            <a:noFill/>
            <a:headEnd/>
            <a:tailEnd/>
          </a:ln>
        </p:spPr>
      </p:pic>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Finance</a:t>
            </a:r>
          </a:p>
        </p:txBody>
      </p:sp>
      <p:sp>
        <p:nvSpPr>
          <p:cNvPr id="3" name="Content Placeholder 2"/>
          <p:cNvSpPr>
            <a:spLocks noGrp="1"/>
          </p:cNvSpPr>
          <p:nvPr>
            <p:ph idx="1" sz="half"/>
          </p:nvPr>
        </p:nvSpPr>
        <p:spPr/>
        <p:txBody>
          <a:bodyPr>
            <a:normAutofit/>
          </a:bodyPr>
          <a:lstStyle/>
          <a:p>
            <a:pPr lvl="0" indent="0" marL="0">
              <a:buNone/>
            </a:pPr>
            <a:r>
              <a:rPr b="1"/>
              <a:t>Fraud detection at a card network</a:t>
            </a:r>
          </a:p>
          <a:p>
            <a:pPr lvl="0"/>
            <a:r>
              <a:rPr b="1"/>
              <a:t>In:</a:t>
            </a:r>
            <a:r>
              <a:rPr/>
              <a:t> one transaction — amount, merchant, time, this card’s history</a:t>
            </a:r>
          </a:p>
          <a:p>
            <a:pPr lvl="0"/>
            <a:r>
              <a:rPr b="1"/>
              <a:t>Out:</a:t>
            </a:r>
            <a:r>
              <a:rPr/>
              <a:t> P(fraud), in under 100 ms</a:t>
            </a:r>
          </a:p>
          <a:p>
            <a:pPr lvl="0"/>
            <a:r>
              <a:rPr b="1"/>
              <a:t>Fails on:</a:t>
            </a:r>
            <a:r>
              <a:rPr/>
              <a:t> imbalance — 0.2% positive, and an adversary who adapts</a:t>
            </a:r>
          </a:p>
        </p:txBody>
      </p:sp>
      <p:pic>
        <p:nvPicPr>
          <p:cNvPr descr="img/task_finance.png" id="0" name="Picture 1"/>
          <p:cNvPicPr>
            <a:picLocks noGrp="1" noChangeAspect="1"/>
          </p:cNvPicPr>
          <p:nvPr/>
        </p:nvPicPr>
        <p:blipFill>
          <a:blip r:embed="rId3"/>
          <a:stretch>
            <a:fillRect/>
          </a:stretch>
        </p:blipFill>
        <p:spPr bwMode="auto">
          <a:xfrm>
            <a:off x="4927600" y="1193800"/>
            <a:ext cx="3479800" cy="3390900"/>
          </a:xfrm>
          <a:prstGeom prst="rect">
            <a:avLst/>
          </a:prstGeom>
          <a:noFill/>
          <a:ln w="9525">
            <a:noFill/>
            <a:headEnd/>
            <a:tailEnd/>
          </a:ln>
        </p:spPr>
      </p:pic>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Retail</a:t>
            </a:r>
          </a:p>
        </p:txBody>
      </p:sp>
      <p:sp>
        <p:nvSpPr>
          <p:cNvPr id="3" name="Content Placeholder 2"/>
          <p:cNvSpPr>
            <a:spLocks noGrp="1"/>
          </p:cNvSpPr>
          <p:nvPr>
            <p:ph idx="1" sz="half"/>
          </p:nvPr>
        </p:nvSpPr>
        <p:spPr/>
        <p:txBody>
          <a:bodyPr>
            <a:normAutofit/>
          </a:bodyPr>
          <a:lstStyle/>
          <a:p>
            <a:pPr lvl="0" indent="0" marL="0">
              <a:buNone/>
            </a:pPr>
            <a:r>
              <a:rPr b="1"/>
              <a:t>Demand forecasting for a supermarket chain</a:t>
            </a:r>
          </a:p>
          <a:p>
            <a:pPr lvl="0"/>
            <a:r>
              <a:rPr b="1"/>
              <a:t>In:</a:t>
            </a:r>
            <a:r>
              <a:rPr/>
              <a:t> one product in one store — two years of weekly sales, price, promotions</a:t>
            </a:r>
          </a:p>
          <a:p>
            <a:pPr lvl="0"/>
            <a:r>
              <a:rPr b="1"/>
              <a:t>Out:</a:t>
            </a:r>
            <a:r>
              <a:rPr/>
              <a:t> units sold, each of the next 14 weeks</a:t>
            </a:r>
          </a:p>
          <a:p>
            <a:pPr lvl="0"/>
            <a:r>
              <a:rPr b="1"/>
              <a:t>Fails on:</a:t>
            </a:r>
            <a:r>
              <a:rPr/>
              <a:t> distribution shift — promotions, weather, a competitor</a:t>
            </a:r>
          </a:p>
        </p:txBody>
      </p:sp>
      <p:pic>
        <p:nvPicPr>
          <p:cNvPr descr="img/task_retail.png" id="0" name="Picture 1"/>
          <p:cNvPicPr>
            <a:picLocks noGrp="1" noChangeAspect="1"/>
          </p:cNvPicPr>
          <p:nvPr/>
        </p:nvPicPr>
        <p:blipFill>
          <a:blip r:embed="rId3"/>
          <a:stretch>
            <a:fillRect/>
          </a:stretch>
        </p:blipFill>
        <p:spPr bwMode="auto">
          <a:xfrm>
            <a:off x="4914900" y="1193800"/>
            <a:ext cx="3505200" cy="3390900"/>
          </a:xfrm>
          <a:prstGeom prst="rect">
            <a:avLst/>
          </a:prstGeom>
          <a:noFill/>
          <a:ln w="9525">
            <a:noFill/>
            <a:headEnd/>
            <a:tailEnd/>
          </a:ln>
        </p:spPr>
      </p:pic>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Manufacturing</a:t>
            </a:r>
          </a:p>
        </p:txBody>
      </p:sp>
      <p:sp>
        <p:nvSpPr>
          <p:cNvPr id="3" name="Content Placeholder 2"/>
          <p:cNvSpPr>
            <a:spLocks noGrp="1"/>
          </p:cNvSpPr>
          <p:nvPr>
            <p:ph idx="1" sz="half"/>
          </p:nvPr>
        </p:nvSpPr>
        <p:spPr/>
        <p:txBody>
          <a:bodyPr>
            <a:normAutofit/>
          </a:bodyPr>
          <a:lstStyle/>
          <a:p>
            <a:pPr lvl="0" indent="0" marL="0">
              <a:buNone/>
            </a:pPr>
            <a:r>
              <a:rPr b="1"/>
              <a:t>Visual inspection on a production line</a:t>
            </a:r>
          </a:p>
          <a:p>
            <a:pPr lvl="0"/>
            <a:r>
              <a:rPr b="1"/>
              <a:t>In:</a:t>
            </a:r>
            <a:r>
              <a:rPr/>
              <a:t> one part, photographed as it passes</a:t>
            </a:r>
          </a:p>
          <a:p>
            <a:pPr lvl="0"/>
            <a:r>
              <a:rPr b="1"/>
              <a:t>Out:</a:t>
            </a:r>
            <a:r>
              <a:rPr/>
              <a:t> defect or not, and where on the part</a:t>
            </a:r>
          </a:p>
          <a:p>
            <a:pPr lvl="0"/>
            <a:r>
              <a:rPr b="1"/>
              <a:t>Fails on:</a:t>
            </a:r>
            <a:r>
              <a:rPr/>
              <a:t> imbalance </a:t>
            </a:r>
            <a:r>
              <a:rPr i="1"/>
              <a:t>and</a:t>
            </a:r>
            <a:r>
              <a:rPr/>
              <a:t> label noise, together</a:t>
            </a:r>
          </a:p>
        </p:txBody>
      </p:sp>
      <p:pic>
        <p:nvPicPr>
          <p:cNvPr descr="img/task_manufacturing.png" id="0" name="Picture 1"/>
          <p:cNvPicPr>
            <a:picLocks noGrp="1" noChangeAspect="1"/>
          </p:cNvPicPr>
          <p:nvPr/>
        </p:nvPicPr>
        <p:blipFill>
          <a:blip r:embed="rId3"/>
          <a:stretch>
            <a:fillRect/>
          </a:stretch>
        </p:blipFill>
        <p:spPr bwMode="auto">
          <a:xfrm>
            <a:off x="5359400" y="1193800"/>
            <a:ext cx="2616200" cy="3390900"/>
          </a:xfrm>
          <a:prstGeom prst="rect">
            <a:avLst/>
          </a:prstGeom>
          <a:noFill/>
          <a:ln w="9525">
            <a:noFill/>
            <a:headEnd/>
            <a:tailEnd/>
          </a:ln>
        </p:spPr>
      </p:pic>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Climate and weather</a:t>
            </a:r>
          </a:p>
        </p:txBody>
      </p:sp>
      <p:sp>
        <p:nvSpPr>
          <p:cNvPr id="3" name="Content Placeholder 2"/>
          <p:cNvSpPr>
            <a:spLocks noGrp="1"/>
          </p:cNvSpPr>
          <p:nvPr>
            <p:ph idx="1" sz="half"/>
          </p:nvPr>
        </p:nvSpPr>
        <p:spPr/>
        <p:txBody>
          <a:bodyPr>
            <a:normAutofit/>
          </a:bodyPr>
          <a:lstStyle/>
          <a:p>
            <a:pPr lvl="0" indent="0" marL="0">
              <a:buNone/>
            </a:pPr>
            <a:r>
              <a:rPr b="1"/>
              <a:t>Medium-range global forecasting</a:t>
            </a:r>
          </a:p>
          <a:p>
            <a:pPr lvl="0"/>
            <a:r>
              <a:rPr b="1"/>
              <a:t>In:</a:t>
            </a:r>
            <a:r>
              <a:rPr/>
              <a:t> the atmosphere on a grid — pressure, temperature, wind, now and 6 h ago</a:t>
            </a:r>
          </a:p>
          <a:p>
            <a:pPr lvl="0"/>
            <a:r>
              <a:rPr b="1"/>
              <a:t>Out:</a:t>
            </a:r>
            <a:r>
              <a:rPr/>
              <a:t> the same grid, up to 10 days ahead</a:t>
            </a:r>
          </a:p>
          <a:p>
            <a:pPr lvl="0"/>
            <a:r>
              <a:rPr b="1"/>
              <a:t>Fails on:</a:t>
            </a:r>
            <a:r>
              <a:rPr/>
              <a:t> shift — the training distribution is itself moving</a:t>
            </a:r>
          </a:p>
        </p:txBody>
      </p:sp>
      <p:pic>
        <p:nvPicPr>
          <p:cNvPr descr="img/task_climate.png" id="0" name="Picture 1"/>
          <p:cNvPicPr>
            <a:picLocks noGrp="1" noChangeAspect="1"/>
          </p:cNvPicPr>
          <p:nvPr/>
        </p:nvPicPr>
        <p:blipFill>
          <a:blip r:embed="rId3"/>
          <a:stretch>
            <a:fillRect/>
          </a:stretch>
        </p:blipFill>
        <p:spPr bwMode="auto">
          <a:xfrm>
            <a:off x="4889500" y="1193800"/>
            <a:ext cx="3543300" cy="3390900"/>
          </a:xfrm>
          <a:prstGeom prst="rect">
            <a:avLst/>
          </a:prstGeom>
          <a:noFill/>
          <a:ln w="9525">
            <a:noFill/>
            <a:headEnd/>
            <a:tailEnd/>
          </a:ln>
        </p:spPr>
      </p:pic>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Energy</a:t>
            </a:r>
          </a:p>
        </p:txBody>
      </p:sp>
      <p:sp>
        <p:nvSpPr>
          <p:cNvPr id="3" name="Content Placeholder 2"/>
          <p:cNvSpPr>
            <a:spLocks noGrp="1"/>
          </p:cNvSpPr>
          <p:nvPr>
            <p:ph idx="1" sz="half"/>
          </p:nvPr>
        </p:nvSpPr>
        <p:spPr/>
        <p:txBody>
          <a:bodyPr>
            <a:normAutofit/>
          </a:bodyPr>
          <a:lstStyle/>
          <a:p>
            <a:pPr lvl="0" indent="0" marL="0">
              <a:buNone/>
            </a:pPr>
            <a:r>
              <a:rPr b="1"/>
              <a:t>Grid load and renewable output</a:t>
            </a:r>
          </a:p>
          <a:p>
            <a:pPr lvl="0"/>
            <a:r>
              <a:rPr b="1"/>
              <a:t>In:</a:t>
            </a:r>
            <a:r>
              <a:rPr/>
              <a:t> the last 48 half-hours of demand, plus the weather forecast</a:t>
            </a:r>
          </a:p>
          <a:p>
            <a:pPr lvl="0"/>
            <a:r>
              <a:rPr b="1"/>
              <a:t>Out:</a:t>
            </a:r>
            <a:r>
              <a:rPr/>
              <a:t> demand for every half-hour of tomorrow</a:t>
            </a:r>
          </a:p>
          <a:p>
            <a:pPr lvl="0"/>
            <a:r>
              <a:rPr b="1"/>
              <a:t>Fails on:</a:t>
            </a:r>
            <a:r>
              <a:rPr/>
              <a:t> missingness — sensors drop out during storms</a:t>
            </a:r>
          </a:p>
        </p:txBody>
      </p:sp>
      <p:pic>
        <p:nvPicPr>
          <p:cNvPr descr="img/task_energy.png" id="0" name="Picture 1"/>
          <p:cNvPicPr>
            <a:picLocks noGrp="1" noChangeAspect="1"/>
          </p:cNvPicPr>
          <p:nvPr/>
        </p:nvPicPr>
        <p:blipFill>
          <a:blip r:embed="rId3"/>
          <a:stretch>
            <a:fillRect/>
          </a:stretch>
        </p:blipFill>
        <p:spPr bwMode="auto">
          <a:xfrm>
            <a:off x="4902200" y="1193800"/>
            <a:ext cx="3543300" cy="3390900"/>
          </a:xfrm>
          <a:prstGeom prst="rect">
            <a:avLst/>
          </a:prstGeom>
          <a:noFill/>
          <a:ln w="9525">
            <a:noFill/>
            <a:headEnd/>
            <a:tailEnd/>
          </a:ln>
        </p:spPr>
      </p:pic>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Transport</a:t>
            </a:r>
          </a:p>
        </p:txBody>
      </p:sp>
      <p:sp>
        <p:nvSpPr>
          <p:cNvPr id="3" name="Content Placeholder 2"/>
          <p:cNvSpPr>
            <a:spLocks noGrp="1"/>
          </p:cNvSpPr>
          <p:nvPr>
            <p:ph idx="1" sz="half"/>
          </p:nvPr>
        </p:nvSpPr>
        <p:spPr/>
        <p:txBody>
          <a:bodyPr>
            <a:normAutofit/>
          </a:bodyPr>
          <a:lstStyle/>
          <a:p>
            <a:pPr lvl="0" indent="0" marL="0">
              <a:buNone/>
            </a:pPr>
            <a:r>
              <a:rPr b="1"/>
              <a:t>Arrival times across a road network</a:t>
            </a:r>
          </a:p>
          <a:p>
            <a:pPr lvl="0"/>
            <a:r>
              <a:rPr b="1"/>
              <a:t>In:</a:t>
            </a:r>
            <a:r>
              <a:rPr/>
              <a:t> the network, plus live speed on every segment</a:t>
            </a:r>
          </a:p>
          <a:p>
            <a:pPr lvl="0"/>
            <a:r>
              <a:rPr b="1"/>
              <a:t>Out:</a:t>
            </a:r>
            <a:r>
              <a:rPr/>
              <a:t> arrival time, with an interval</a:t>
            </a:r>
          </a:p>
          <a:p>
            <a:pPr lvl="0"/>
            <a:r>
              <a:rPr b="1"/>
              <a:t>Fails on:</a:t>
            </a:r>
            <a:r>
              <a:rPr/>
              <a:t> the long tail — the rare case is the only one that matters</a:t>
            </a:r>
          </a:p>
        </p:txBody>
      </p:sp>
      <p:pic>
        <p:nvPicPr>
          <p:cNvPr descr="img/task_transport.png" id="0" name="Picture 1"/>
          <p:cNvPicPr>
            <a:picLocks noGrp="1" noChangeAspect="1"/>
          </p:cNvPicPr>
          <p:nvPr/>
        </p:nvPicPr>
        <p:blipFill>
          <a:blip r:embed="rId3"/>
          <a:stretch>
            <a:fillRect/>
          </a:stretch>
        </p:blipFill>
        <p:spPr bwMode="auto">
          <a:xfrm>
            <a:off x="5130800" y="1193800"/>
            <a:ext cx="3073400" cy="3390900"/>
          </a:xfrm>
          <a:prstGeom prst="rect">
            <a:avLst/>
          </a:prstGeom>
          <a:noFill/>
          <a:ln w="9525">
            <a:noFill/>
            <a:headEnd/>
            <a:tailEnd/>
          </a:ln>
        </p:spPr>
      </p:pic>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Sport</a:t>
            </a:r>
          </a:p>
        </p:txBody>
      </p:sp>
      <p:sp>
        <p:nvSpPr>
          <p:cNvPr id="3" name="Content Placeholder 2"/>
          <p:cNvSpPr>
            <a:spLocks noGrp="1"/>
          </p:cNvSpPr>
          <p:nvPr>
            <p:ph idx="1" sz="half"/>
          </p:nvPr>
        </p:nvSpPr>
        <p:spPr/>
        <p:txBody>
          <a:bodyPr>
            <a:normAutofit/>
          </a:bodyPr>
          <a:lstStyle/>
          <a:p>
            <a:pPr lvl="0" indent="0" marL="0">
              <a:buNone/>
            </a:pPr>
            <a:r>
              <a:rPr b="1"/>
              <a:t>Expected goals from tracking data</a:t>
            </a:r>
          </a:p>
          <a:p>
            <a:pPr lvl="0"/>
            <a:r>
              <a:rPr b="1"/>
              <a:t>In:</a:t>
            </a:r>
            <a:r>
              <a:rPr/>
              <a:t> one shot — position, defenders, body part, phase of play</a:t>
            </a:r>
          </a:p>
          <a:p>
            <a:pPr lvl="0"/>
            <a:r>
              <a:rPr b="1"/>
              <a:t>Out:</a:t>
            </a:r>
            <a:r>
              <a:rPr/>
              <a:t> P(goal) for that shot</a:t>
            </a:r>
          </a:p>
          <a:p>
            <a:pPr lvl="0"/>
            <a:r>
              <a:rPr b="1"/>
              <a:t>Fails on:</a:t>
            </a:r>
            <a:r>
              <a:rPr/>
              <a:t> small n, and you only see the shots that were taken</a:t>
            </a:r>
          </a:p>
        </p:txBody>
      </p:sp>
      <p:pic>
        <p:nvPicPr>
          <p:cNvPr descr="img/task_sport.png" id="0" name="Picture 1"/>
          <p:cNvPicPr>
            <a:picLocks noGrp="1" noChangeAspect="1"/>
          </p:cNvPicPr>
          <p:nvPr/>
        </p:nvPicPr>
        <p:blipFill>
          <a:blip r:embed="rId3"/>
          <a:stretch>
            <a:fillRect/>
          </a:stretch>
        </p:blipFill>
        <p:spPr bwMode="auto">
          <a:xfrm>
            <a:off x="5359400" y="1193800"/>
            <a:ext cx="2628900" cy="3390900"/>
          </a:xfrm>
          <a:prstGeom prst="rect">
            <a:avLst/>
          </a:prstGeom>
          <a:noFill/>
          <a:ln w="9525">
            <a:noFill/>
            <a:headEnd/>
            <a:tailEnd/>
          </a:ln>
        </p:spPr>
      </p:pic>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Public sector</a:t>
            </a:r>
          </a:p>
        </p:txBody>
      </p:sp>
      <p:sp>
        <p:nvSpPr>
          <p:cNvPr id="3" name="Content Placeholder 2"/>
          <p:cNvSpPr>
            <a:spLocks noGrp="1"/>
          </p:cNvSpPr>
          <p:nvPr>
            <p:ph idx="1" sz="half"/>
          </p:nvPr>
        </p:nvSpPr>
        <p:spPr/>
        <p:txBody>
          <a:bodyPr>
            <a:normAutofit/>
          </a:bodyPr>
          <a:lstStyle/>
          <a:p>
            <a:pPr lvl="0" indent="0" marL="0">
              <a:buNone/>
            </a:pPr>
            <a:r>
              <a:rPr b="1"/>
              <a:t>Risk scoring for benefits and tax</a:t>
            </a:r>
          </a:p>
          <a:p>
            <a:pPr lvl="0"/>
            <a:r>
              <a:rPr b="1"/>
              <a:t>In:</a:t>
            </a:r>
            <a:r>
              <a:rPr/>
              <a:t> one household’s claim — income, composition, history</a:t>
            </a:r>
          </a:p>
          <a:p>
            <a:pPr lvl="0"/>
            <a:r>
              <a:rPr b="1"/>
              <a:t>Out:</a:t>
            </a:r>
            <a:r>
              <a:rPr/>
              <a:t> a risk score, and a queue for investigators</a:t>
            </a:r>
          </a:p>
        </p:txBody>
      </p:sp>
      <p:pic>
        <p:nvPicPr>
          <p:cNvPr descr="img/task_public.png" id="0" name="Picture 1"/>
          <p:cNvPicPr>
            <a:picLocks noGrp="1" noChangeAspect="1"/>
          </p:cNvPicPr>
          <p:nvPr/>
        </p:nvPicPr>
        <p:blipFill>
          <a:blip r:embed="rId3"/>
          <a:stretch>
            <a:fillRect/>
          </a:stretch>
        </p:blipFill>
        <p:spPr bwMode="auto">
          <a:xfrm>
            <a:off x="4889500" y="1193800"/>
            <a:ext cx="3543300" cy="3390900"/>
          </a:xfrm>
          <a:prstGeom prst="rect">
            <a:avLst/>
          </a:prstGeom>
          <a:noFill/>
          <a:ln w="9525">
            <a:noFill/>
            <a:headEnd/>
            <a:tailEnd/>
          </a:ln>
        </p:spPr>
      </p:pic>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Which failure mode?</a:t>
            </a:r>
          </a:p>
        </p:txBody>
      </p:sp>
      <p:sp>
        <p:nvSpPr>
          <p:cNvPr id="3" name="Content Placeholder 2"/>
          <p:cNvSpPr>
            <a:spLocks noGrp="1"/>
          </p:cNvSpPr>
          <p:nvPr>
            <p:ph idx="1"/>
          </p:nvPr>
        </p:nvSpPr>
        <p:spPr/>
        <p:txBody>
          <a:bodyPr>
            <a:normAutofit/>
          </a:bodyPr>
          <a:lstStyle/>
          <a:p>
            <a:pPr lvl="0" indent="0" marL="0">
              <a:buNone/>
            </a:pPr>
            <a:r>
              <a:rPr/>
              <a:t>Try to identify what can fail:</a:t>
            </a:r>
          </a:p>
          <a:p>
            <a:pPr lvl="0" indent="-342900" marL="342900">
              <a:buAutoNum type="arabicPeriod"/>
            </a:pPr>
            <a:r>
              <a:rPr/>
              <a:t>A demand model was accurate for two years, then a competitor opened. Nobody retrained.</a:t>
            </a:r>
          </a:p>
          <a:p>
            <a:pPr lvl="0" indent="-342900" marL="342900">
              <a:buAutoNum type="arabicPeriod"/>
            </a:pPr>
            <a:r>
              <a:rPr/>
              <a:t>A defect classifier scores 99.8%. The line makes two bad parts per thousand.</a:t>
            </a:r>
          </a:p>
          <a:p>
            <a:pPr lvl="0" indent="-342900" marL="342900">
              <a:buAutoNum type="arabicPeriod"/>
            </a:pPr>
            <a:r>
              <a:rPr/>
              <a:t>A protein model is brilliant on a random split, mediocre on newly solved structures.</a:t>
            </a:r>
          </a:p>
          <a:p>
            <a:pPr lvl="0" indent="-342900" marL="342900">
              <a:buAutoNum type="arabicPeriod"/>
            </a:pPr>
            <a:r>
              <a:rPr/>
              <a:t>A hiring model trained on ten years of decisions reproduces those decisions exactly.</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Which failure mode?</a:t>
            </a:r>
          </a:p>
        </p:txBody>
      </p:sp>
      <p:sp>
        <p:nvSpPr>
          <p:cNvPr id="3" name="Content Placeholder 2"/>
          <p:cNvSpPr>
            <a:spLocks noGrp="1"/>
          </p:cNvSpPr>
          <p:nvPr>
            <p:ph idx="1"/>
          </p:nvPr>
        </p:nvSpPr>
        <p:spPr/>
        <p:txBody>
          <a:bodyPr>
            <a:normAutofit/>
          </a:bodyPr>
          <a:lstStyle/>
          <a:p>
            <a:pPr lvl="0" indent="-342900" marL="342900">
              <a:buAutoNum type="arabicPeriod"/>
            </a:pPr>
            <a:r>
              <a:rPr/>
              <a:t>Competitor opens — </a:t>
            </a:r>
            <a:r>
              <a:rPr b="1"/>
              <a:t>distribution shift</a:t>
            </a:r>
          </a:p>
          <a:p>
            <a:pPr lvl="0" indent="-342900" marL="342900">
              <a:buAutoNum type="arabicPeriod"/>
            </a:pPr>
            <a:r>
              <a:rPr/>
              <a:t>Defect classifier — </a:t>
            </a:r>
            <a:r>
              <a:rPr b="1"/>
              <a:t>class imbalance</a:t>
            </a:r>
          </a:p>
          <a:p>
            <a:pPr lvl="0" indent="-342900" marL="342900">
              <a:buAutoNum type="arabicPeriod"/>
            </a:pPr>
            <a:r>
              <a:rPr/>
              <a:t>Protein model — </a:t>
            </a:r>
            <a:r>
              <a:rPr b="1"/>
              <a:t>leakage</a:t>
            </a:r>
          </a:p>
          <a:p>
            <a:pPr lvl="0" indent="-342900" marL="342900">
              <a:buAutoNum type="arabicPeriod"/>
            </a:pPr>
            <a:r>
              <a:rPr/>
              <a:t>Hiring model — </a:t>
            </a:r>
            <a:r>
              <a:rPr b="1"/>
              <a:t>past decisions</a:t>
            </a:r>
            <a:r>
              <a:rPr/>
              <a:t>, not merit</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4. What all of these have in common</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cost of an error is usually not symmetric</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normAutofit/>
                    </a:bodyPr>
                    <a:lstStyle/>
                    <a:p>
                      <a:pPr lvl="0" indent="0" marL="0">
                        <a:buNone/>
                      </a:pPr>
                      <a:r>
                        <a:rPr/>
                        <a:t>Field</a:t>
                      </a:r>
                    </a:p>
                  </a:txBody>
                  <a:tcPr/>
                </a:tc>
                <a:tc>
                  <a:txBody>
                    <a:bodyPr>
                      <a:normAutofit/>
                    </a:bodyPr>
                    <a:lstStyle/>
                    <a:p>
                      <a:pPr lvl="0" indent="0" marL="0">
                        <a:buNone/>
                      </a:pPr>
                      <a:r>
                        <a:rPr/>
                        <a:t>A false positive costs</a:t>
                      </a:r>
                    </a:p>
                  </a:txBody>
                  <a:tcPr/>
                </a:tc>
                <a:tc>
                  <a:txBody>
                    <a:bodyPr>
                      <a:normAutofit/>
                    </a:bodyPr>
                    <a:lstStyle/>
                    <a:p>
                      <a:pPr lvl="0" indent="0" marL="0">
                        <a:buNone/>
                      </a:pPr>
                      <a:r>
                        <a:rPr/>
                        <a:t>A false negative costs</a:t>
                      </a:r>
                    </a:p>
                  </a:txBody>
                  <a:tcPr/>
                </a:tc>
              </a:tr>
              <a:tr h="0">
                <a:tc>
                  <a:txBody>
                    <a:bodyPr>
                      <a:normAutofit/>
                    </a:bodyPr>
                    <a:lstStyle/>
                    <a:p>
                      <a:pPr lvl="0" indent="0" marL="0">
                        <a:buNone/>
                      </a:pPr>
                      <a:r>
                        <a:rPr b="1"/>
                        <a:t>Card fraud</a:t>
                      </a:r>
                    </a:p>
                  </a:txBody>
                </a:tc>
                <a:tc>
                  <a:txBody>
                    <a:bodyPr>
                      <a:normAutofit/>
                    </a:bodyPr>
                    <a:lstStyle/>
                    <a:p>
                      <a:pPr lvl="0" indent="0" marL="0">
                        <a:buNone/>
                      </a:pPr>
                      <a:r>
                        <a:rPr/>
                        <a:t>a blocked card in a queue</a:t>
                      </a:r>
                    </a:p>
                  </a:txBody>
                </a:tc>
                <a:tc>
                  <a:txBody>
                    <a:bodyPr>
                      <a:normAutofit/>
                    </a:bodyPr>
                    <a:lstStyle/>
                    <a:p>
                      <a:pPr lvl="0" indent="0" marL="0">
                        <a:buNone/>
                      </a:pPr>
                      <a:r>
                        <a:rPr/>
                        <a:t>the value of the fraud</a:t>
                      </a:r>
                    </a:p>
                  </a:txBody>
                </a:tc>
              </a:tr>
              <a:tr h="0">
                <a:tc>
                  <a:txBody>
                    <a:bodyPr>
                      <a:normAutofit/>
                    </a:bodyPr>
                    <a:lstStyle/>
                    <a:p>
                      <a:pPr lvl="0" indent="0" marL="0">
                        <a:buNone/>
                      </a:pPr>
                      <a:r>
                        <a:rPr b="1"/>
                        <a:t>Manufacturing</a:t>
                      </a:r>
                    </a:p>
                  </a:txBody>
                </a:tc>
                <a:tc>
                  <a:txBody>
                    <a:bodyPr>
                      <a:normAutofit/>
                    </a:bodyPr>
                    <a:lstStyle/>
                    <a:p>
                      <a:pPr lvl="0" indent="0" marL="0">
                        <a:buNone/>
                      </a:pPr>
                      <a:r>
                        <a:rPr/>
                        <a:t>a good part scrapped</a:t>
                      </a:r>
                    </a:p>
                  </a:txBody>
                </a:tc>
                <a:tc>
                  <a:txBody>
                    <a:bodyPr>
                      <a:normAutofit/>
                    </a:bodyPr>
                    <a:lstStyle/>
                    <a:p>
                      <a:pPr lvl="0" indent="0" marL="0">
                        <a:buNone/>
                      </a:pPr>
                      <a:r>
                        <a:rPr/>
                        <a:t>a recall</a:t>
                      </a:r>
                    </a:p>
                  </a:txBody>
                </a:tc>
              </a:tr>
              <a:tr h="0">
                <a:tc>
                  <a:txBody>
                    <a:bodyPr>
                      <a:normAutofit/>
                    </a:bodyPr>
                    <a:lstStyle/>
                    <a:p>
                      <a:pPr lvl="0" indent="0" marL="0">
                        <a:buNone/>
                      </a:pPr>
                      <a:r>
                        <a:rPr b="1"/>
                        <a:t>Benefits fraud</a:t>
                      </a:r>
                    </a:p>
                  </a:txBody>
                </a:tc>
                <a:tc>
                  <a:txBody>
                    <a:bodyPr>
                      <a:normAutofit/>
                    </a:bodyPr>
                    <a:lstStyle/>
                    <a:p>
                      <a:pPr lvl="0" indent="0" marL="0">
                        <a:buNone/>
                      </a:pPr>
                      <a:r>
                        <a:rPr/>
                        <a:t>a family wrongly accused</a:t>
                      </a:r>
                    </a:p>
                  </a:txBody>
                </a:tc>
                <a:tc>
                  <a:txBody>
                    <a:bodyPr>
                      <a:normAutofit/>
                    </a:bodyPr>
                    <a:lstStyle/>
                    <a:p>
                      <a:pPr lvl="0" indent="0" marL="0">
                        <a:buNone/>
                      </a:pPr>
                      <a:r>
                        <a:rPr/>
                        <a:t>some money</a:t>
                      </a:r>
                    </a:p>
                  </a:txBody>
                </a:tc>
              </a:tr>
              <a:tr h="0">
                <a:tc>
                  <a:txBody>
                    <a:bodyPr>
                      <a:normAutofit/>
                    </a:bodyPr>
                    <a:lstStyle/>
                    <a:p>
                      <a:pPr lvl="0" indent="0" marL="0">
                        <a:buNone/>
                      </a:pPr>
                      <a:r>
                        <a:rPr b="1"/>
                        <a:t>Cancer screening</a:t>
                      </a:r>
                    </a:p>
                  </a:txBody>
                </a:tc>
                <a:tc>
                  <a:txBody>
                    <a:bodyPr>
                      <a:normAutofit/>
                    </a:bodyPr>
                    <a:lstStyle/>
                    <a:p>
                      <a:pPr lvl="0" indent="0" marL="0">
                        <a:buNone/>
                      </a:pPr>
                      <a:r>
                        <a:rPr/>
                        <a:t>a needless biopsy</a:t>
                      </a:r>
                    </a:p>
                  </a:txBody>
                </a:tc>
                <a:tc>
                  <a:txBody>
                    <a:bodyPr>
                      <a:normAutofit/>
                    </a:bodyPr>
                    <a:lstStyle/>
                    <a:p>
                      <a:pPr lvl="0" indent="0" marL="0">
                        <a:buNone/>
                      </a:pPr>
                      <a:r>
                        <a:rPr/>
                        <a:t>a death</a:t>
                      </a:r>
                    </a:p>
                  </a:txBody>
                </a:tc>
              </a:tr>
            </a:tbl>
          </a:graphicData>
        </a:graphic>
      </p:graphicFrame>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Feedback loops</a:t>
            </a:r>
          </a:p>
        </p:txBody>
      </p:sp>
      <p:pic>
        <p:nvPicPr>
          <p:cNvPr descr="img/feedback.png" id="0" name="Picture 1"/>
          <p:cNvPicPr>
            <a:picLocks noGrp="1" noChangeAspect="1"/>
          </p:cNvPicPr>
          <p:nvPr/>
        </p:nvPicPr>
        <p:blipFill>
          <a:blip r:embed="rId3"/>
          <a:stretch>
            <a:fillRect/>
          </a:stretch>
        </p:blipFill>
        <p:spPr bwMode="auto">
          <a:xfrm>
            <a:off x="457200" y="1320800"/>
            <a:ext cx="8229600" cy="3136900"/>
          </a:xfrm>
          <a:prstGeom prst="rect">
            <a:avLst/>
          </a:prstGeom>
          <a:noFill/>
          <a:ln w="9525">
            <a:noFill/>
            <a:headEnd/>
            <a:tailEnd/>
          </a:ln>
        </p:spPr>
      </p:pic>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Where this course goes</a:t>
            </a:r>
          </a:p>
        </p:txBody>
      </p:sp>
      <p:sp>
        <p:nvSpPr>
          <p:cNvPr id="3" name="Content Placeholder 2"/>
          <p:cNvSpPr>
            <a:spLocks noGrp="1"/>
          </p:cNvSpPr>
          <p:nvPr>
            <p:ph idx="1"/>
          </p:nvPr>
        </p:nvSpPr>
        <p:spPr/>
        <p:txBody>
          <a:bodyPr>
            <a:normAutofit/>
          </a:bodyPr>
          <a:lstStyle/>
          <a:p>
            <a:pPr lvl="0"/>
            <a:r>
              <a:rPr b="1"/>
              <a:t>Weeks 2–4:</a:t>
            </a:r>
            <a:r>
              <a:rPr/>
              <a:t> the foundations, on tabular data — every field on that list</a:t>
            </a:r>
          </a:p>
          <a:p>
            <a:pPr lvl="0"/>
            <a:r>
              <a:rPr b="1"/>
              <a:t>Weeks 5–6:</a:t>
            </a:r>
            <a:r>
              <a:rPr/>
              <a:t> time series — energy, finance, monitoring</a:t>
            </a:r>
          </a:p>
          <a:p>
            <a:pPr lvl="0"/>
            <a:r>
              <a:rPr b="1"/>
              <a:t>Weeks 7–10:</a:t>
            </a:r>
            <a:r>
              <a:rPr/>
              <a:t> images and volumes — manufacturing, satellites, radiology</a:t>
            </a:r>
          </a:p>
          <a:p>
            <a:pPr lvl="0"/>
            <a:r>
              <a:rPr b="1"/>
              <a:t>Weeks 11–12:</a:t>
            </a:r>
            <a:r>
              <a:rPr/>
              <a:t> text — support tickets, filings, clinical notes</a:t>
            </a:r>
          </a:p>
          <a:p>
            <a:pPr lvl="0"/>
            <a:r>
              <a:rPr b="1"/>
              <a:t>Weeks 13–14:</a:t>
            </a:r>
            <a:r>
              <a:rPr/>
              <a:t> causality, bias, privacy, deployment — the public-sector slide</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5. Wrapping up</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Sanity checklist for any new dataset</a:t>
            </a:r>
          </a:p>
        </p:txBody>
      </p:sp>
      <p:sp>
        <p:nvSpPr>
          <p:cNvPr id="3" name="Content Placeholder 2"/>
          <p:cNvSpPr>
            <a:spLocks noGrp="1"/>
          </p:cNvSpPr>
          <p:nvPr>
            <p:ph idx="1"/>
          </p:nvPr>
        </p:nvSpPr>
        <p:spPr/>
        <p:txBody>
          <a:bodyPr>
            <a:normAutofit/>
          </a:bodyPr>
          <a:lstStyle/>
          <a:p>
            <a:pPr lvl="0" indent="-342900" marL="342900">
              <a:buAutoNum type="arabicPeriod"/>
            </a:pPr>
            <a:r>
              <a:rPr/>
              <a:t>What is one row?</a:t>
            </a:r>
          </a:p>
          <a:p>
            <a:pPr lvl="0" indent="-342900" marL="342900">
              <a:buAutoNum type="arabicPeriod"/>
            </a:pPr>
            <a:r>
              <a:rPr/>
              <a:t>Where does the label come from, when is it known, and who is it wrong about?</a:t>
            </a:r>
          </a:p>
          <a:p>
            <a:pPr lvl="0" indent="-342900" marL="342900">
              <a:buAutoNum type="arabicPeriod"/>
            </a:pPr>
            <a:r>
              <a:rPr/>
              <a:t>Which values are impossible, and which are in the wrong unit?</a:t>
            </a:r>
          </a:p>
          <a:p>
            <a:pPr lvl="0" indent="-342900" marL="342900">
              <a:buAutoNum type="arabicPeriod"/>
            </a:pPr>
            <a:r>
              <a:rPr/>
              <a:t>What is missing, and why?</a:t>
            </a:r>
          </a:p>
          <a:p>
            <a:pPr lvl="0" indent="-342900" marL="342900">
              <a:buAutoNum type="arabicPeriod"/>
            </a:pPr>
            <a:r>
              <a:rPr/>
              <a:t>What is the base rate?</a:t>
            </a:r>
          </a:p>
          <a:p>
            <a:pPr lvl="0" indent="-342900" marL="342900">
              <a:buAutoNum type="arabicPeriod"/>
            </a:pPr>
            <a:r>
              <a:rPr/>
              <a:t>How do I split so leakage is impossible?</a:t>
            </a:r>
          </a:p>
          <a:p>
            <a:pPr lvl="0" indent="-342900" marL="342900">
              <a:buAutoNum type="arabicPeriod"/>
            </a:pPr>
            <a:r>
              <a:rPr/>
              <a:t>What would a trivial baseline score?</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Apply it</a:t>
            </a:r>
          </a:p>
        </p:txBody>
      </p:sp>
      <p:sp>
        <p:nvSpPr>
          <p:cNvPr id="3" name="Content Placeholder 2"/>
          <p:cNvSpPr>
            <a:spLocks noGrp="1"/>
          </p:cNvSpPr>
          <p:nvPr>
            <p:ph idx="1"/>
          </p:nvPr>
        </p:nvSpPr>
        <p:spPr/>
        <p:txBody>
          <a:bodyPr>
            <a:normAutofit/>
          </a:bodyPr>
          <a:lstStyle/>
          <a:p>
            <a:pPr lvl="0" indent="0" marL="1270000">
              <a:buNone/>
            </a:pPr>
            <a:r>
              <a:rPr sz="2000"/>
              <a:t>A vendor offers you 40 000 chest X-rays from three hospitals, labelled pneumonia / no pneumonia by a model that read the radiology reports.</a:t>
            </a:r>
          </a:p>
          <a:p>
            <a:pPr lvl="0" indent="0" marL="0">
              <a:buNone/>
            </a:pPr>
            <a:r>
              <a:rPr/>
              <a:t>Work through the seven.</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Recitation today</a:t>
            </a:r>
          </a:p>
        </p:txBody>
      </p:sp>
      <p:sp>
        <p:nvSpPr>
          <p:cNvPr id="3" name="Content Placeholder 2"/>
          <p:cNvSpPr>
            <a:spLocks noGrp="1"/>
          </p:cNvSpPr>
          <p:nvPr>
            <p:ph idx="1"/>
          </p:nvPr>
        </p:nvSpPr>
        <p:spPr/>
        <p:txBody>
          <a:bodyPr>
            <a:normAutofit/>
          </a:bodyPr>
          <a:lstStyle/>
          <a:p>
            <a:pPr lvl="0" indent="0" marL="0">
              <a:buNone/>
            </a:pPr>
            <a:r>
              <a:rPr b="1"/>
              <a:t>MIMIC-IV structure and data exploration</a:t>
            </a:r>
          </a:p>
          <a:p>
            <a:pPr lvl="0"/>
            <a:r>
              <a:rPr/>
              <a:t>Download the open-access MIMIC-IV Clinical Database Demo (100 patients)</a:t>
            </a:r>
          </a:p>
          <a:p>
            <a:pPr lvl="0"/>
            <a:r>
              <a:rPr/>
              <a:t>Map the </a:t>
            </a:r>
            <a:r>
              <a:rPr>
                <a:latin typeface="Courier"/>
              </a:rPr>
              <a:t>hosp</a:t>
            </a:r>
            <a:r>
              <a:rPr/>
              <a:t> and </a:t>
            </a:r>
            <a:r>
              <a:rPr>
                <a:latin typeface="Courier"/>
              </a:rPr>
              <a:t>icu</a:t>
            </a:r>
            <a:r>
              <a:rPr/>
              <a:t> schemas: what joins to what, on which key</a:t>
            </a:r>
          </a:p>
          <a:p>
            <a:pPr lvl="0"/>
            <a:r>
              <a:rPr/>
              <a:t>Quantify missingness, imbalance, and irregular sampling</a:t>
            </a:r>
          </a:p>
          <a:p>
            <a:pPr lvl="0"/>
            <a:r>
              <a:rPr/>
              <a:t>Find at least one leakage trap and one ICD-version trap</a:t>
            </a:r>
          </a:p>
          <a:p>
            <a:pPr lvl="0"/>
            <a:r>
              <a:rPr/>
              <a:t>Notebook: </a:t>
            </a:r>
            <a:r>
              <a:rPr>
                <a:latin typeface="Courier"/>
              </a:rPr>
              <a:t>Course01/notebook.ipynb</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For next week</a:t>
            </a:r>
          </a:p>
        </p:txBody>
      </p:sp>
      <p:sp>
        <p:nvSpPr>
          <p:cNvPr id="3" name="Content Placeholder 2"/>
          <p:cNvSpPr>
            <a:spLocks noGrp="1"/>
          </p:cNvSpPr>
          <p:nvPr>
            <p:ph idx="1"/>
          </p:nvPr>
        </p:nvSpPr>
        <p:spPr/>
        <p:txBody>
          <a:bodyPr>
            <a:normAutofit/>
          </a:bodyPr>
          <a:lstStyle/>
          <a:p>
            <a:pPr lvl="0"/>
            <a:r>
              <a:rPr b="1"/>
              <a:t>TO DO:</a:t>
            </a:r>
            <a:r>
              <a:rPr/>
              <a:t> finish the recitation notebook, including the open questions at the end</a:t>
            </a:r>
          </a:p>
          <a:p>
            <a:pPr lvl="0"/>
            <a:r>
              <a:rPr b="1"/>
              <a:t>Next lecture:</a:t>
            </a:r>
            <a:r>
              <a:rPr/>
              <a:t> advanced feature engineering, and missing-ness done properly</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1 Course Introduction &amp; Healthcare Data</dc:title>
  <dc:creator>Paul Dubois</dc:creator>
  <cp:keywords/>
  <dcterms:created xsi:type="dcterms:W3CDTF">2026-09-02T14:44:17Z</dcterms:created>
  <dcterms:modified xsi:type="dcterms:W3CDTF">2026-09-02T14:44:17Z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Week 1 — Lecture (2.5h)</vt:lpwstr>
  </property>
  <property fmtid="{D5CDD505-2E9C-101B-9397-08002B2CF9AE}" pid="3" name="subtitle">
    <vt:lpwstr>Advanced Data Science · NYU Paris · 2026</vt:lpwstr>
  </property>
</Properties>
</file>