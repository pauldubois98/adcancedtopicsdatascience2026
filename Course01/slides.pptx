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27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1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notesSlide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F36A507-28EF-4D0D-B61D-6877B7CA8B5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Set expectations early: a model with 0.95 AUC that is useless in the clinic is a failed project in this course.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95342D-C575-44D0-B084-15551827CBA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Ask: if two experts only agree 70% of the time, what does 95% accuracy mean?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455615-4F60-49EF-A7CA-B4B177099C7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We return to this in depth in Week 2 — imputation strategies and multiple imputation.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CE982D3-660F-4BC0-B215-5CC7A62F40E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Zech et al. 2018 (cross-site CNN generalisation); Esteva/ISIC ruler artefact. These come back in Week 7.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CC3C05-E0A7-4CD5-B5CE-60CF8521FD4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D36C9C-D9AC-481D-A8CC-BAFF5F7448E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45AB242-D4E4-4E87-BFBB-CCC8F5E0BB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8881CB6-E32D-4279-9B12-945CC17556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64ACF1A-B5C4-43CA-8F6D-A5FA22AC3C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14DA31F-808A-4E4C-B195-B4433CD81A8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401580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674240" y="1200240"/>
            <a:ext cx="401580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4B441C5-AC3B-4354-83FC-1710239BC2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6F1C94C2-AB3D-401D-8C53-8EACFD29BE2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F8F1927-749E-4B7D-81D6-B4BBC77A99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5AB7922-A6D8-49AD-A22B-10FA0A46F37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0F968CF7-6DF6-49EE-AE15-79003366910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5FBB04A6-C266-4B9C-A39B-F9B35A9FA6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2040" cy="110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9BF0-A860-4C00-80F9-8135B77A54D7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10CF41-32D1-4400-BD55-435CE4072DBA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05920"/>
            <a:ext cx="2057040" cy="43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ic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05920"/>
            <a:ext cx="6019560" cy="43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B36A44-A643-47B6-A236-E1CADFF4A14E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29B0EC-A1F0-4A53-9B92-D066B249600A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Click to </a:t>
            </a: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edit Master </a:t>
            </a: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22160" y="2180160"/>
            <a:ext cx="77720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AD9E2E-5BCD-4EA1-A63A-581B591B7C3D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4832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32D10F6-6651-41B6-AD4C-A414A8EBF608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631160"/>
            <a:ext cx="4039920" cy="296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1631160"/>
            <a:ext cx="4041360" cy="296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34C1272-AAE5-48C9-AA5D-1D6380F4AAC0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CFF0FC-397A-4392-9CB4-F837657001D8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E25C66-CCE3-4150-A997-A87848E2DA62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3575160" y="204840"/>
            <a:ext cx="5111280" cy="438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92C8DA-0ABE-4CD3-9A5E-12F5C3DBC83C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792440" y="3600360"/>
            <a:ext cx="5486040" cy="4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792440" y="459720"/>
            <a:ext cx="5486040" cy="3085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792440" y="4025520"/>
            <a:ext cx="5486040" cy="60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5A84D2-E632-4F9E-A5E8-2BE0344FFDA3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2040" cy="110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Session 1 — Course Introduction &amp; Healthcare Data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1371600" y="2914560"/>
            <a:ext cx="6400440" cy="131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Advanced Data Science · NYU Paris · 2026</a:t>
            </a:r>
            <a:br>
              <a:rPr sz="2400"/>
            </a:br>
            <a:br>
              <a:rPr sz="2400"/>
            </a:br>
            <a:r>
              <a:rPr b="0" lang="en-US" sz="24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Paul Dubois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dt" idx="37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Week 1 — Lecture (2.5h)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0. Welcome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Who I am, who you are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Instructor: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Paul Dubois — data science &amp; AI applied to healthcare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You: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4th year undergraduates, with background in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linear algebra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probability &amp; statistics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Python programming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Around the room: name, major, one dataset you have already worked with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What this course is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8294" lnSpcReduction="10000"/>
          </a:bodyPr>
          <a:p>
            <a:pPr marL="1270080" indent="0" defTabSz="34308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Advanced methods in data science and applied machine learning, with case studies drawn from healthcare and biomedical research.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theory is domain-general: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it transfers to finance, industry, climate, anything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applications are clinical: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because that is my expertise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All labs use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public datasets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(for legal issues)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What this course is </a:t>
            </a:r>
            <a:r>
              <a:rPr b="0" i="1" lang="en-US" sz="3300" spc="-1" strike="noStrike">
                <a:solidFill>
                  <a:schemeClr val="dk1"/>
                </a:solidFill>
                <a:latin typeface="Calibri"/>
              </a:rPr>
              <a:t>not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 a medical course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 a “call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.fit()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” course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 a deep learning theory course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we will use deep learning if and only if it is appropriate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83" name="Content Placeholder 5"/>
          <p:cNvGraphicFramePr/>
          <p:nvPr/>
        </p:nvGraphicFramePr>
        <p:xfrm>
          <a:off x="1808640" y="1193760"/>
          <a:ext cx="8229240" cy="1803600"/>
        </p:xfrm>
        <a:graphic>
          <a:graphicData uri="http://schemas.openxmlformats.org/drawingml/2006/table">
            <a:tbl>
              <a:tblPr/>
              <a:tblGrid>
                <a:gridCol w="1593000"/>
                <a:gridCol w="393408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Lecture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2.5h per week: concepts, methods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Recitation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1.5h per week: hands-on lab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Duration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14.5 weeks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Language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English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Grading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85" name="Content Placeholder 5"/>
          <p:cNvGraphicFramePr/>
          <p:nvPr/>
        </p:nvGraphicFramePr>
        <p:xfrm>
          <a:off x="457200" y="1265760"/>
          <a:ext cx="8229240" cy="15030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Weekly labs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0%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Kaggle challenges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? 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Paper reading presentation/report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? 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Poster mini-project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? 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Final project presentation/report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? 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Roadmap of the semester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1–4: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Foundations (data, features, missingness...)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5–6: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Time series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7–10: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Images (2D and 3D)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11–12: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Text (NLP/LLMs)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13–14: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Causality, bias, privacy, deployment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This syllabus is provisional and may be adjusted weekly depending on the pace of the class.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Tooling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Python 3.11+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uv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for environments (or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pip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pandas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numpy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scikit-learn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matplotlib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pytorch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for deep learning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Jupyter notebooks for labs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Compute: a modern laptop should be enough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0" defTabSz="343080">
              <a:spcBef>
                <a:spcPts val="1134"/>
              </a:spcBef>
              <a:buNone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if more compute is needed, we will make arrangements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1. What makes data science hard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The textbook picture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108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270080" indent="0" defTabSz="34308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2600" spc="-1" strike="noStrike">
                <a:solidFill>
                  <a:schemeClr val="dk1"/>
                </a:solidFill>
                <a:latin typeface="Calibri"/>
              </a:rPr>
              <a:t> = {(x⁽ⁱ⁾, y⁽ⁱ⁾)}, i = 1 … n drawn </a:t>
            </a:r>
            <a:r>
              <a:rPr b="1" lang="en-US" sz="2600" spc="-1" strike="noStrike">
                <a:solidFill>
                  <a:schemeClr val="dk1"/>
                </a:solidFill>
                <a:latin typeface="Calibri"/>
              </a:rPr>
              <a:t>i.i.d.</a:t>
            </a:r>
            <a:r>
              <a:rPr b="0" lang="en-US" sz="2600" spc="-1" strike="noStrike">
                <a:solidFill>
                  <a:schemeClr val="dk1"/>
                </a:solidFill>
                <a:latin typeface="Calibri"/>
              </a:rPr>
              <a:t> from P(X, Y)</a:t>
            </a:r>
            <a:endParaRPr b="0" lang="en-US" sz="26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600" spc="-1" strike="noStrike">
                <a:solidFill>
                  <a:schemeClr val="dk1"/>
                </a:solidFill>
                <a:latin typeface="Calibri"/>
              </a:rPr>
              <a:t>Given </a:t>
            </a:r>
            <a:r>
              <a:rPr b="1" lang="en-US" sz="2600" spc="-1" strike="noStrike">
                <a:solidFill>
                  <a:schemeClr val="dk1"/>
                </a:solidFill>
                <a:latin typeface="Calibri"/>
              </a:rPr>
              <a:t>D, </a:t>
            </a:r>
            <a:r>
              <a:rPr b="0" lang="en-US" sz="2600" spc="-1" strike="noStrike">
                <a:solidFill>
                  <a:schemeClr val="dk1"/>
                </a:solidFill>
                <a:latin typeface="Calibri"/>
              </a:rPr>
              <a:t>generalise to new draws from P.</a:t>
            </a:r>
            <a:endParaRPr b="0" lang="en-US" sz="26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3" name="Content Placeholder 1"/>
          <p:cNvSpPr txBox="1"/>
          <p:nvPr/>
        </p:nvSpPr>
        <p:spPr>
          <a:xfrm>
            <a:off x="457560" y="2743200"/>
            <a:ext cx="8229240" cy="1851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432000" indent="-324000" defTabSz="343080"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Noise/errors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: the labels and the features are wrong, sometimes badly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432000" indent="-324000" defTabSz="343080"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Missingness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: the data is (sometimes) absent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432000" indent="-324000" defTabSz="343080"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Class imbalance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: the event you care about is rare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Noise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458200" cy="38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713" lnSpcReduction="10000"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Your label is </a:t>
            </a:r>
            <a:r>
              <a:rPr b="1" lang="en-US" sz="2200" spc="-1" strike="noStrike">
                <a:solidFill>
                  <a:schemeClr val="dk1"/>
                </a:solidFill>
                <a:latin typeface="Calibri"/>
              </a:rPr>
              <a:t>not the truth</a:t>
            </a: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: It is a </a:t>
            </a:r>
            <a:r>
              <a:rPr b="1" lang="en-US" sz="2200" spc="-1" strike="noStrike">
                <a:solidFill>
                  <a:schemeClr val="dk1"/>
                </a:solidFill>
                <a:latin typeface="Calibri"/>
              </a:rPr>
              <a:t>proxy</a:t>
            </a: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 produced by the measurement process.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Example: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“</a:t>
            </a: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Pneumonia” on a chest X-ray: one radiologist’s opinion, alone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Inter-rater agreement between radiologists is often 40% to 70%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1"/>
                </a:solidFill>
                <a:latin typeface="Calibri"/>
              </a:rPr>
              <a:t>Practical rule:</a:t>
            </a: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 before modelling, ask </a:t>
            </a:r>
            <a:r>
              <a:rPr b="0" i="1" lang="en-US" sz="2200" spc="-1" strike="noStrike">
                <a:solidFill>
                  <a:schemeClr val="dk1"/>
                </a:solidFill>
                <a:latin typeface="Calibri"/>
              </a:rPr>
              <a:t>who</a:t>
            </a: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 produced this label, </a:t>
            </a:r>
            <a:r>
              <a:rPr b="0" i="1" lang="en-US" sz="2200" spc="-1" strike="noStrike">
                <a:solidFill>
                  <a:schemeClr val="dk1"/>
                </a:solidFill>
                <a:latin typeface="Calibri"/>
              </a:rPr>
              <a:t>when</a:t>
            </a: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, and </a:t>
            </a:r>
            <a:r>
              <a:rPr b="0" i="1" lang="en-US" sz="2200" spc="-1" strike="noStrike">
                <a:solidFill>
                  <a:schemeClr val="dk1"/>
                </a:solidFill>
                <a:latin typeface="Calibri"/>
              </a:rPr>
              <a:t>why</a:t>
            </a:r>
            <a:r>
              <a:rPr b="0" lang="en-US" sz="22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Label noise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caps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your achievable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performance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: you cannot beat the annotator.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Noto Sans CJK SC"/>
              </a:rPr>
              <a:t>Symmetric noise hurts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variance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; asymmetric noise creates a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bias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Errors in features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Sensor artefacts: a heart rate of 300 bpm is a detached lead, not tachycardia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Unit chaos: weight in kg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and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lb in the same column; glucose in mg/dL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and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mmol/L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Copy-forward: the same “current” value duplicated across days of notes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Timestamps: charted at the time of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entry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not the time of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measurement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Missingness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99" name="Content Placeholder 5"/>
          <p:cNvGraphicFramePr/>
          <p:nvPr/>
        </p:nvGraphicFramePr>
        <p:xfrm>
          <a:off x="1058040" y="1193760"/>
          <a:ext cx="8229240" cy="1411200"/>
        </p:xfrm>
        <a:graphic>
          <a:graphicData uri="http://schemas.openxmlformats.org/drawingml/2006/table">
            <a:tbl>
              <a:tblPr/>
              <a:tblGrid>
                <a:gridCol w="1284120"/>
                <a:gridCol w="3300120"/>
                <a:gridCol w="244404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Safe to drop?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MCAR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Missing completely at random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Yes (lose power only)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MAR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Missing depends on </a:t>
                      </a:r>
                      <a:r>
                        <a:rPr b="0" i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observed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 data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With correct modelling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MNAR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Missing depends on the </a:t>
                      </a:r>
                      <a:r>
                        <a:rPr b="0" i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unobserved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 value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No — bias is unavoidable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  <p:sp>
        <p:nvSpPr>
          <p:cNvPr id="100" name="Content Placeholder 3"/>
          <p:cNvSpPr txBox="1"/>
          <p:nvPr/>
        </p:nvSpPr>
        <p:spPr>
          <a:xfrm>
            <a:off x="457560" y="2743200"/>
            <a:ext cx="8229240" cy="2286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Missingness is almost never random: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 test is measured because the clinician suspects a problem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 patient with no lab results is usually very healthy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The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absence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of a test can predict the outcome better than the test’s value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Class imbalance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Rare disease screening: 1 in 10 000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</a:pP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A model that predicts “no” always is 99.99% accurate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Blood types are not equally spread on the population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</a:pP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The imbalance is changing according to the world regions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</a:pP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=&gt; Can lead to distribution shift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Distribution shift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Your model is trained on one slice of the world, then deployed in another: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Covariate shift: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P(X) changes: new hospital, new scanner, new population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Label shift: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P(Y) changes: a new variant, a new season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Concept drift: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P(Y | X) changes: treatment guidelines are updated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Shortcuts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Models learn whatever correlates with y in the data.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Pneumonia detectors that learned the portable X-ray marker (sicker patients get bedside imaging)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Skin lesion classifiers that learned the surgical ruler placed next to malignant lesions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Portrait to age models looking at ears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Leakage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Information at training time that will not exist at prediction time.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Typically: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The same patient in both train and test (e.g. duplicated)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Feature that is a deterministic function of the outcome (e.g. 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discharge_location == 'DIED'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Bug in the train/test split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Sanity checklist for any new dataset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What is one row?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Where does the label come from, and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when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is it known?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What is missing, and why?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What is the base rate?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How do I split so that leakage is impossible?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What would a trivial baseline score?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You will apply this checklist in today’s recitation.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2. Data types and example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The landscape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113" name="Content Placeholder 5"/>
          <p:cNvGraphicFramePr/>
          <p:nvPr/>
        </p:nvGraphicFramePr>
        <p:xfrm>
          <a:off x="571680" y="1193760"/>
          <a:ext cx="8001000" cy="2921040"/>
        </p:xfrm>
        <a:graphic>
          <a:graphicData uri="http://schemas.openxmlformats.org/drawingml/2006/table">
            <a:tbl>
              <a:tblPr/>
              <a:tblGrid>
                <a:gridCol w="2372040"/>
                <a:gridCol w="2545200"/>
                <a:gridCol w="3083760"/>
              </a:tblGrid>
              <a:tr h="41724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Example source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41724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EHR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MIMIC-IV, eICU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tabular + time series + text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1724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Claims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CMS Medicare, SEER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tabular, coded, longitudinal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41724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Imaging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NIH Chest X-ray, BraTS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2D / 3D arrays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1724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Waveforms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PhysioNet ECG, EEG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high-frequency signals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41724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Genomics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TCGA, UK Biobank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very wide, very few rows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1760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Registries / surveys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NHANES, CDC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curated, population-level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EHR: electronic health records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Demographics, admissions, transfers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Labs, vitals (irregularly sampled time series)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Medications, orders, procedures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Free-text notes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ICU monitoring at minute resolution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Strength: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rich and longitudinal.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Weakness: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biased by care processes.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Claims data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7465" lnSpcReduction="10000"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Generated for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billing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Complete coverage across providers (you see the whole patient journey)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Coded: ICD, CPT, HCPCS, NDC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 clinical values — no labs, no vitals, no notes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Upcoding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: codes are chosen to maximise reimbursement, not to describe reality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Lag of months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Good for: cohort size, health economics, causal studies. Bad for: physiology.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Medical imaging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2D: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X-ray, fundus photography, dermoscopy, histopathology slides (gigapixel!)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3D: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CT, MRI — volumes, not pictures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Stored as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DICOM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(pixels + a huge metadata header)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Labels are scarce and expensive; segmentation masks even more so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Weeks 7–10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Waveforms and signals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ECG (250–500 Hz), EEG, arterial blood pressure, PPG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Enormous volume, tiny labelled fraction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Artefact-dominated: movement, disconnection, electrical noise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Weeks 5–6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Genomics &amp; omics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 ≫ n: 20 000 genes, 300 patients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Batch effects dominate biological signal if you are careless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Multiple testing everywhere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Week 12 (survival on TCGA)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Multi-modality is the real world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 single patient generates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all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of these simultaneously.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MIMIC-IV (tabular + notes) ↔ MIMIC-CXR (images) — linked by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subject_id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Fusion strategies: early / late / joint embedding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Week 8: CLIP-style image–text pairing in radiology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4. Wrapping up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Key takeaways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713"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Real data violates every assumption of the textbook setup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Noise, missingness, imbalance, shift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— name them explicitly for every project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In healthcare you observe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care processes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not biology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Missingness carries information — and leakage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Standards (FHIR, OMOP) and vocabularies (ICD, LOINC, SNOMED) are what make data joinable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Always ask: what does one row mean, and when is the label known?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Recitation today (1.5h)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MIMIC-IV structure and data exploration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Download the open-access MIMIC-IV Clinical Database Demo (100 patients)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Map the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hosp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and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icu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schemas: what joins to what, on which key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Quantify missingness, imbalance, and irregular sampling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Find at least one leakage trap and one ICD-version trap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Notebook: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Course01/notebook.ipynb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For next week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Read: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Johnson et al.,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MIMIC-IV, a freely accessible electronic health record dataset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(Scientific Data, 2023)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Skim: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Rubin (1976) on missing data mechanisms — we build on it directly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Do: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finish the recitation notebook, including the open questions at the end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Next lecture: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advanced feature engineering, and missingness done properly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Questions?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Office hours: by appointment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Course01/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on the course repository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2026-07-31T18:23:52Z</dcterms:created>
  <dc:creator>Paul Dubois</dc:creator>
  <dc:description/>
  <dc:language>en-US</dc:language>
  <cp:lastModifiedBy/>
  <dcterms:modified xsi:type="dcterms:W3CDTF">2026-08-04T15:48:54Z</dcterms:modified>
  <cp:revision>2</cp:revision>
  <dc:subject/>
  <dc:title>Session 1 — Course Introduction &amp; Healthcare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1 — Lecture (2.5h)</vt:lpwstr>
  </property>
  <property fmtid="{D5CDD505-2E9C-101B-9397-08002B2CF9AE}" pid="3" name="subtitle">
    <vt:lpwstr>Advanced Data Science · NYU Paris · 2026</vt:lpwstr>
  </property>
</Properties>
</file>