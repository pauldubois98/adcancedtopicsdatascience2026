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10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_rels/notesSlide25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A35C828-6167-4868-9986-BEF302E4043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Set expectations early: a model with 0.95 AUC that is useless in the clinic is a failed project in this course.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F49525-DB27-4D8A-AC1F-B46DC86DEF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28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Ask: if two experts only agree 70% of the time, what does 95% accuracy mean?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3FF344-7684-4D48-8166-208FDD5965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28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We return to this in depth in Week 2 — imputation strategies and multiple imputation.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11D8F11-9E2A-4462-9F5B-9150ED1C05D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28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Zech et al. 2018 (cross-site CNN generalisation); Esteva/ISIC ruler artefact. These come back in Week 7.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2295A0A-C18E-4456-9EDE-FD828C2230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28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workhorse: gradient boosting still wins here more often than deep learning. The hard part is never the model, it is deciding what one row </a:t>
            </a:r>
            <a:r>
              <a:rPr b="0" i="1" lang="en-US" sz="2000" spc="-1" strike="noStrike">
                <a:solidFill>
                  <a:srgbClr val="000000"/>
                </a:solidFill>
                <a:latin typeface="Arial"/>
              </a:rPr>
              <a:t>is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. Left: Cortejoso et al., Clin Interv Aging (CC BY 3.0). Right: US Bureau of Immigration, 1912 (CC0) — the Titanic dataset you have all seen.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DC9C0C-F58C-47A9-A9BC-76CDC8DF29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28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Same object: a regularly sampled sequence. Same toolbox: filtering, spectrograms, 1D convolutions, transformers. The ECG is 500 Hz, the audio 44.1 kHz — three orders of magnitude apart, identical methods. Left: Glenlarson (public domain). Right: Em3rgent0rdr (CC BY-SA 4.0).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902B70-AD95-4B96-A4D2-D5E9802E05F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Both are arrays of numbers on a grid, and a CNN or a ViT does not know the difference. What differs is the </a:t>
            </a:r>
            <a:r>
              <a:rPr b="0" i="1" lang="en-US" sz="2000" spc="-1" strike="noStrike">
                <a:solidFill>
                  <a:srgbClr val="000000"/>
                </a:solidFill>
                <a:latin typeface="Arial"/>
              </a:rPr>
              <a:t>label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“pneumonia” is one radiologist’s opinion, “wheat” is ground truth you can go and check. Left: Mikael Häggström (CC0). Right: NASA/ASTER, Kansas (public domain).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019831-1725-4257-BAD6-37B665EAF88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third dimension costs you: memory grows cubically, labelled data gets scarcer, and pretrained weights are far rarer than in 2D. Note the two are not the same kind of 3D — the CT is a dense voxel grid, the point cloud is sparse and unordered. Left: Mikael Häggström (CC0). Right: Daniel L. Lu, San Francisco (CC BY 4.0).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2D4A5B-2D90-4F14-88FB-C9838D2182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Clinical text is its own dialect: abbreviations, negation (“no evidence of hydrocephalus”), copy-paste, and dictation errors. A model trained on newspapers reads “PT” as a person and not as prothrombin time. Weeks 11–12. Left: Tu et al., MultiMedBench (CC BY 4.0). Right: The Echo, 1920 (public domain).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70C025-A014-4042-BC8F-135F0FA8235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82891C5-FFC6-48C8-9731-23749D7291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29556CC-DCC0-4DEF-90FC-A7780DBF2F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6D373E1-788A-41C0-AE94-4C4991446E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AC46336-0C96-498F-AF01-05276E972C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C27C7CB-9350-45BF-8DB9-269464C471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401580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4240" y="1200240"/>
            <a:ext cx="4015800" cy="339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B8B2468-B86F-40F9-8834-C7EDF875BE3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538B380-07BD-4B76-9858-A8152A4B03F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A1BB795-0F11-4EC1-89E4-BFCE42CEE1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D3C5A8E-7269-4709-9677-2B6BFCA7FE0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2400209-3C03-4101-9F8F-EB0BDFFE7D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4EFA3ED2-8F22-4BCE-9D2A-7BFAA79739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93E0BF-CB50-46BC-845E-6C26F3BE1E29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27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F3993D-C3DA-4955-BFC0-107928E0583F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05920"/>
            <a:ext cx="205704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05920"/>
            <a:ext cx="6019560" cy="438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896D93-47E4-4BFE-84DD-1BADB664F538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71CC4C-EDEC-43EF-9FCA-1C9D7DE20D7F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22160" y="2180160"/>
            <a:ext cx="77720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2DF61D-8499-4EF4-8FD0-9C1C37624E65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48320" y="1200240"/>
            <a:ext cx="403812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6A3EA8-56BA-4614-83E2-027D96D8471C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631160"/>
            <a:ext cx="403992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1631160"/>
            <a:ext cx="4041360" cy="296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35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35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241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CB7505-3B8C-4A27-80B0-9CBD3D81E6B4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343080">
              <a:lnSpc>
                <a:spcPct val="100000"/>
              </a:lnSpc>
              <a:buNone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5F9593-1B96-4D85-B1FD-9A0C076410AF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C23493-323F-4359-9109-07104FE8A042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4840"/>
            <a:ext cx="300780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04840"/>
            <a:ext cx="5111280" cy="438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028880" indent="-343080" defTabSz="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37160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  <a:p>
            <a:pPr lvl="4" marL="1714680" indent="-343080" defTabSz="34308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076400"/>
            <a:ext cx="3007800" cy="351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73E0DC-865C-44C5-AFF6-4F82CF074B41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3600360"/>
            <a:ext cx="5486040" cy="4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343080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459720"/>
            <a:ext cx="5486040" cy="3085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4025520"/>
            <a:ext cx="5486040" cy="60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343080">
              <a:lnSpc>
                <a:spcPct val="100000"/>
              </a:lnSpc>
              <a:spcBef>
                <a:spcPts val="210"/>
              </a:spcBef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05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3124080" y="4767120"/>
            <a:ext cx="289512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655308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111A2AF-B435-42BC-A20F-FE838506B3FC}" type="slidenum"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85800" y="1597680"/>
            <a:ext cx="7772040" cy="110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Session 1 — Course Introduction &amp; Healthcare Data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1371600" y="2914560"/>
            <a:ext cx="6400440" cy="131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Advanced Data Science · NYU Paris · 2026</a:t>
            </a:r>
            <a:br>
              <a:rPr sz="2400"/>
            </a:br>
            <a:br>
              <a:rPr sz="2400"/>
            </a:br>
            <a:r>
              <a:rPr b="0" lang="en-US" sz="24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Paul Dubois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dt" idx="37"/>
          </p:nvPr>
        </p:nvSpPr>
        <p:spPr>
          <a:xfrm>
            <a:off x="457200" y="4767120"/>
            <a:ext cx="2133360" cy="27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Week 1 — Lecture (2.5h)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0. Welcome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Who I am, who you are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Instructor: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Paul Dubois — data science &amp; AI applied to healthcare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You: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4th year undergraduates, with background in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linear algebra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probability &amp; statistics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1" marL="685800" indent="-343080" defTabSz="34308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Python programming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Around the room: name, major, one dataset you have already worked with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What this course is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270080" indent="0" defTabSz="34308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Advanced methods in data science and applied machine learning, with case studies drawn from healthcare and biomedical research.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theory is domain-general: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it transfers to finance, industry, climate, anything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applications are clinical: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because that is my expertise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All labs use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public datasets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(for legal issues)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What this course is </a:t>
            </a:r>
            <a:r>
              <a:rPr b="0" i="1" lang="en-US" sz="3300" spc="-1" strike="noStrike">
                <a:solidFill>
                  <a:schemeClr val="dk1"/>
                </a:solidFill>
                <a:latin typeface="Calibri"/>
              </a:rPr>
              <a:t>not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 a medical course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 a “call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.fit()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” course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 a deep learning theory course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we will use deep learning if and only if it is appropriate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83" name="Content Placeholder 5"/>
          <p:cNvGraphicFramePr/>
          <p:nvPr/>
        </p:nvGraphicFramePr>
        <p:xfrm>
          <a:off x="457200" y="1193760"/>
          <a:ext cx="8229240" cy="1202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Lecture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2.5h per week: concepts, methods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Recitation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1.5h per week: hands-on lab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Duration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14.5 weeks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Language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English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Grading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85" name="Content Placeholder 5"/>
          <p:cNvGraphicFramePr/>
          <p:nvPr/>
        </p:nvGraphicFramePr>
        <p:xfrm>
          <a:off x="457200" y="1193760"/>
          <a:ext cx="8229240" cy="18036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Weekly labs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0%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Kaggle challenges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Paper reading presentation/report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Poster mini-project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Final project presentation/report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? %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Roadmap of the semester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1–4: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Foundations (data, features, missingness…)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5–6: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Time series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7–10: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Images (2D and 3D)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11–12: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Text (NLP/LLMs)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Weeks 13–14: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Causality, bias, privacy, deployment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This syllabus is provisional and may be adjusted weekly depending on the pace of the class.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Tooling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Python 3.11+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uv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for environments (or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pip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pandas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numpy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scikit-learn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matplotlib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pytorch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for deep learning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Jupyter notebooks for labs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Compute: a modern laptop should be enough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if more compute is needed, we will make arrangements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1. What makes data science hard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The textbook picture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270080" indent="0" defTabSz="34308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 = {(x⁽ⁱ⁾, y⁽ⁱ⁾)}, i = 1 … n drawn </a:t>
            </a: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i.i.d.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 from P(X, Y)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Given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generalise to new draws from P.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Noise/errors: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the labels and the features are wrong, sometimes badly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Missingness: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the data is (sometimes) absent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Class imbalance: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the event you care about is rare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Noise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465" lnSpcReduction="10000"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Your label is not the truth: It is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proxy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produced by the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measurement process.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Example: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“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Pneumonia” on a chest X-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ray: one radiologist’s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opinion, alone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Inter-rater agreement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between radiologists is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often 40% to 70%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Practical rule: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before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modelling, ask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who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produced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this label,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when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and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why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Label noise caps your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achievable performance: you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cannot beat the annotator.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Symmetric noise hurts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variance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; asymmetric noise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creates a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bias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Errors in features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Sensor artefacts: a heart rate of 300 bpm is a detached lead, not tachycardia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Unit chaos: weight in kg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and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lb in the same column; glucose in mg/dL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and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mmol/L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Copy-forward: the same “current” value duplicated across days of notes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Timestamps: charted at the time of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entry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, not the time of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measurement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Missingness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98" name="Content Placeholder 5"/>
          <p:cNvGraphicFramePr/>
          <p:nvPr/>
        </p:nvGraphicFramePr>
        <p:xfrm>
          <a:off x="457200" y="1193760"/>
          <a:ext cx="8229240" cy="14112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Safe to drop?</a:t>
                      </a:r>
                      <a:endParaRPr b="0" lang="en-US" sz="13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MCAR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Missing completely at random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Yes (lose power only)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MAR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Missing depends on </a:t>
                      </a:r>
                      <a:r>
                        <a:rPr b="0" i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observed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data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With correct modelling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MNAR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Missing depends on the </a:t>
                      </a:r>
                      <a:r>
                        <a:rPr b="0" i="1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unobserved</a:t>
                      </a: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 value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34308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5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No — bias is unavoidable</a:t>
                      </a:r>
                      <a:endParaRPr b="0" lang="en-US" sz="13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Missingness is almost never random: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 test is measured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because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the clinician suspects a problem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A patient with no lab results is usually very healthy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absence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of a test can predict the outcome better than the test’s value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Class imbalance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Rare disease screening: 1 in 10 000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A model that predicts “no” always is 99.99% accurate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Blood types are not equally spread on the population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The imbalance is changing according to the world regions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marL="343080" indent="0" defTabSz="34308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=&gt; Can lead to distribution shift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Distribution shift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Your model is trained on one slice of the world, then deployed in another: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Covariate shift: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P(X) changes: new hospital, new scanner, new population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Label shift: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P(Y) changes: a new variant, a new season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Concept drift: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P(Y | X) changes: treatment guidelines are updated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Shortcuts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Models learn whatever correlates with y in </a:t>
            </a:r>
            <a:r>
              <a:rPr b="0" i="1" lang="en-US" sz="2400" spc="-1" strike="noStrike">
                <a:solidFill>
                  <a:schemeClr val="dk1"/>
                </a:solidFill>
                <a:latin typeface="Calibri"/>
              </a:rPr>
              <a:t>the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data.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Pneumonia detectors that learned the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portable X-ray marker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(sicker patients get bedside imaging)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Skin lesion classifiers that learned the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surgical ruler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placed next to malignant lesions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Portrait to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age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models looking at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ears size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Leakage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Information at training time that will not exist at prediction time.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Typically: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The same patient in both train and test (e.g. duplicated)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Feature that is a deterministic function of the outcome (e.g. 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discharge_location == 'DIED'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Bug in the train/test split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2. Data types and example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Tabular: one row per unit </a:t>
            </a:r>
            <a:r>
              <a:rPr b="0" lang="en-US" sz="3300" spc="-1" strike="noStrike">
                <a:solidFill>
                  <a:schemeClr val="dk1"/>
                </a:solidFill>
                <a:latin typeface="Courier New"/>
              </a:rPr>
              <a:t>n × p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Ward interventions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1" name="Picture 1" descr="img/tabular_medical.jpg"/>
          <p:cNvPicPr/>
          <p:nvPr/>
        </p:nvPicPr>
        <p:blipFill>
          <a:blip r:embed="rId1"/>
          <a:stretch/>
        </p:blipFill>
        <p:spPr>
          <a:xfrm>
            <a:off x="457200" y="2336760"/>
            <a:ext cx="4038120" cy="1549080"/>
          </a:xfrm>
          <a:prstGeom prst="rect">
            <a:avLst/>
          </a:prstGeom>
          <a:ln w="9525">
            <a:noFill/>
          </a:ln>
        </p:spPr>
      </p:pic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ship’s passenger manifest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3" name="Picture 1" descr="img/tabular_other.jpg"/>
          <p:cNvPicPr/>
          <p:nvPr/>
        </p:nvPicPr>
        <p:blipFill>
          <a:blip r:embed="rId2"/>
          <a:stretch/>
        </p:blipFill>
        <p:spPr>
          <a:xfrm>
            <a:off x="5219640" y="1625760"/>
            <a:ext cx="2857320" cy="295884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1D signals: a value over time </a:t>
            </a:r>
            <a:r>
              <a:rPr b="0" lang="en-US" sz="3300" spc="-1" strike="noStrike">
                <a:solidFill>
                  <a:schemeClr val="dk1"/>
                </a:solidFill>
                <a:latin typeface="Courier New"/>
              </a:rPr>
              <a:t>n × 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12-lead ECG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6" name="Picture 1" descr="img/signal_medical.jpg"/>
          <p:cNvPicPr/>
          <p:nvPr/>
        </p:nvPicPr>
        <p:blipFill>
          <a:blip r:embed="rId1"/>
          <a:stretch/>
        </p:blipFill>
        <p:spPr>
          <a:xfrm>
            <a:off x="457200" y="2286000"/>
            <a:ext cx="4038120" cy="1638000"/>
          </a:xfrm>
          <a:prstGeom prst="rect">
            <a:avLst/>
          </a:prstGeom>
          <a:ln w="9525">
            <a:noFill/>
          </a:ln>
        </p:spPr>
      </p:pic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An audio waveform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18" name="Picture 1" descr="img/signal_other.jpg"/>
          <p:cNvPicPr/>
          <p:nvPr/>
        </p:nvPicPr>
        <p:blipFill>
          <a:blip r:embed="rId2"/>
          <a:stretch/>
        </p:blipFill>
        <p:spPr>
          <a:xfrm>
            <a:off x="4635360" y="2158920"/>
            <a:ext cx="4038120" cy="190476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2D images: a grid of pixels </a:t>
            </a:r>
            <a:r>
              <a:rPr b="0" lang="en-US" sz="3300" spc="-1" strike="noStrike">
                <a:solidFill>
                  <a:schemeClr val="dk1"/>
                </a:solidFill>
                <a:latin typeface="Courier New"/>
              </a:rPr>
              <a:t>H × W × C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chest radiograph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1" name="Picture 1" descr="img/image2d_medical.jpg"/>
          <p:cNvPicPr/>
          <p:nvPr/>
        </p:nvPicPr>
        <p:blipFill>
          <a:blip r:embed="rId1"/>
          <a:stretch/>
        </p:blipFill>
        <p:spPr>
          <a:xfrm>
            <a:off x="1181160" y="1625760"/>
            <a:ext cx="2590560" cy="2958840"/>
          </a:xfrm>
          <a:prstGeom prst="rect">
            <a:avLst/>
          </a:prstGeom>
          <a:ln w="9525">
            <a:noFill/>
          </a:ln>
        </p:spPr>
      </p:pic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satellite view of farmland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3" name="Picture 1" descr="img/image2d_other.jpg"/>
          <p:cNvPicPr/>
          <p:nvPr/>
        </p:nvPicPr>
        <p:blipFill>
          <a:blip r:embed="rId2"/>
          <a:stretch/>
        </p:blipFill>
        <p:spPr>
          <a:xfrm>
            <a:off x="5105520" y="1625760"/>
            <a:ext cx="3085920" cy="295884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3D volumes: a stack of slices, </a:t>
            </a:r>
            <a:r>
              <a:rPr b="0" lang="en-US" sz="3300" spc="-1" strike="noStrike">
                <a:solidFill>
                  <a:schemeClr val="dk1"/>
                </a:solidFill>
                <a:latin typeface="Courier New"/>
              </a:rPr>
              <a:t>D × H × W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CT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6" name="Picture 1" descr="img/volume3d_medical.jpg"/>
          <p:cNvPicPr/>
          <p:nvPr/>
        </p:nvPicPr>
        <p:blipFill>
          <a:blip r:embed="rId1"/>
          <a:stretch/>
        </p:blipFill>
        <p:spPr>
          <a:xfrm>
            <a:off x="1295280" y="1625760"/>
            <a:ext cx="2349000" cy="2958840"/>
          </a:xfrm>
          <a:prstGeom prst="rect">
            <a:avLst/>
          </a:prstGeom>
          <a:ln w="9525">
            <a:noFill/>
          </a:ln>
        </p:spPr>
      </p:pic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LiDAR point cloud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8" name="Picture 1" descr="img/volume3d_other.jpg"/>
          <p:cNvPicPr/>
          <p:nvPr/>
        </p:nvPicPr>
        <p:blipFill>
          <a:blip r:embed="rId2"/>
          <a:stretch/>
        </p:blipFill>
        <p:spPr>
          <a:xfrm>
            <a:off x="4635360" y="1968480"/>
            <a:ext cx="4038120" cy="2273040"/>
          </a:xfrm>
          <a:prstGeom prst="rect">
            <a:avLst/>
          </a:prstGeom>
          <a:ln w="9525">
            <a:noFill/>
          </a:ln>
        </p:spPr>
      </p:pic>
      <p:sp>
        <p:nvSpPr>
          <p:cNvPr id="129" name=""/>
          <p:cNvSpPr txBox="1"/>
          <p:nvPr/>
        </p:nvSpPr>
        <p:spPr>
          <a:xfrm>
            <a:off x="1265400" y="4609440"/>
            <a:ext cx="2392200" cy="41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i="1" lang="en-US" sz="1800" spc="-1" strike="noStrike">
                <a:solidFill>
                  <a:schemeClr val="dk1"/>
                </a:solidFill>
                <a:latin typeface="Calibri"/>
              </a:rPr>
              <a:t>(three planes view)</a:t>
            </a:r>
            <a:endParaRPr b="0" i="1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Text: a sequence of tokens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151280"/>
            <a:ext cx="403992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radiology report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32" name="Picture 1" descr="img/text_medical.jpg"/>
          <p:cNvPicPr/>
          <p:nvPr/>
        </p:nvPicPr>
        <p:blipFill>
          <a:blip r:embed="rId1"/>
          <a:stretch/>
        </p:blipFill>
        <p:spPr>
          <a:xfrm>
            <a:off x="457200" y="2565360"/>
            <a:ext cx="4038120" cy="1079280"/>
          </a:xfrm>
          <a:prstGeom prst="rect">
            <a:avLst/>
          </a:prstGeom>
          <a:ln w="9525">
            <a:noFill/>
          </a:ln>
        </p:spPr>
      </p:pic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645080" y="1151280"/>
            <a:ext cx="4041360" cy="47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A newspaper page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34" name="Picture 1" descr="img/text_other.jpg"/>
          <p:cNvPicPr/>
          <p:nvPr/>
        </p:nvPicPr>
        <p:blipFill>
          <a:blip r:embed="rId2"/>
          <a:stretch/>
        </p:blipFill>
        <p:spPr>
          <a:xfrm>
            <a:off x="5372280" y="1625760"/>
            <a:ext cx="2565000" cy="2958840"/>
          </a:xfrm>
          <a:prstGeom prst="rect">
            <a:avLst/>
          </a:prstGeom>
          <a:ln w="9525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722160" y="3305160"/>
            <a:ext cx="7772040" cy="102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pc="-1" strike="noStrike" cap="all">
                <a:solidFill>
                  <a:schemeClr val="dk1"/>
                </a:solidFill>
                <a:latin typeface="Calibri"/>
              </a:rPr>
              <a:t>4. Wrapping up</a:t>
            </a:r>
            <a:endParaRPr b="0" lang="en-US" sz="3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Recitation today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34308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MIMIC-IV structure and data exploration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Download the open-access MIMIC-IV Clinical Database Demo (100 patients)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Map the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hosp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and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icu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schemas: what joins to what, on which key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Quantify missingness, imbalance, and irregular sampling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Find at least one leakage trap and one ICD-version trap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Notebook: </a:t>
            </a:r>
            <a:r>
              <a:rPr b="0" lang="en-US" sz="2400" spc="-1" strike="noStrike">
                <a:solidFill>
                  <a:schemeClr val="dk1"/>
                </a:solidFill>
                <a:latin typeface="Courier New"/>
              </a:rPr>
              <a:t>Course01/notebook.ipynb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920"/>
            <a:ext cx="8229240" cy="85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3430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For next week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200240"/>
            <a:ext cx="8229240" cy="339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TO DO: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finish the recitation notebook, including the open questions at the end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34308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Next lecture: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advanced feature engineering, and missing-ness done properly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2026-08-04T16:18:19Z</dcterms:created>
  <dc:creator>Paul Dubois</dc:creator>
  <dc:description/>
  <dc:language>en-US</dc:language>
  <cp:lastModifiedBy/>
  <dcterms:modified xsi:type="dcterms:W3CDTF">2026-08-04T18:28:51Z</dcterms:modified>
  <cp:revision>2</cp:revision>
  <dc:subject/>
  <dc:title>Session 1 — Course Introduction &amp; Healthcare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1 — Lecture (2.5h)</vt:lpwstr>
  </property>
  <property fmtid="{D5CDD505-2E9C-101B-9397-08002B2CF9AE}" pid="3" name="subtitle">
    <vt:lpwstr>Advanced Data Science · NYU Paris · 2026</vt:lpwstr>
  </property>
</Properties>
</file>