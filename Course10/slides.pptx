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notesMaster" Target="notesMasters/notesMaster1.xml" /><Relationship Id="rId39" Type="http://schemas.openxmlformats.org/officeDocument/2006/relationships/viewProps" Target="viewProps.xml" /><Relationship Id="rId38" Type="http://schemas.openxmlformats.org/officeDocument/2006/relationships/presProps" Target="presProps.xml" /><Relationship Id="rId1" Type="http://schemas.openxmlformats.org/officeDocument/2006/relationships/slideMaster" Target="slideMasters/slideMaster1.xml" /><Relationship Id="rId41" Type="http://schemas.openxmlformats.org/officeDocument/2006/relationships/tableStyles" Target="tableStyles.xml" /><Relationship Id="rId4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new things today. First the architecture: recurrent networks, built for sequences. Then the representation: a word is not a number, so how do we give it to the network? Last session we trained CBOW and got word embeddings as a by-product; today we use them, and ask whether they are worth the trouble.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Clinical notes, ECG, EEG, vital signs over a hospital stay, DNA. Two properties: the order matters (shuffle the words of a sentence, the meaning is gone), and the length varies from one example to the next.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could take a fixed window of the last 5 words and feed it to a dense network. Three problems. The input size is fixed. Each position has its own weights, so what is learned about a word at position 4 does not transfer to position 2 — the same issue convolutions solve for images (share the weights across positions). And nothing outside the window can ever be used.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sequence one element at a time, and keep a memory: the hidden state h. At each step, the new state is computed from the current input and the previous state. The hidden state is a fixed-size summary of everything read so far — whatever the length of the sequence.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Unrolled, an RNN is just a deep network with one layer per time step — but every layer shares the same weights W_xh, W_hh, b. So the number of parameters does not depend on the length of the sequence, and what is learned at step 3 is used at step 30. Same idea as a convolution, along time instead of space.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Many to one: read the whole sequence, use the last state (sentiment of a review, arrhythmia from an ECG). Many to many: an output at every step (next word, part of speech of each word). One to many: generation. Today: many to many, the next word at every position.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Code along. Two linear layers: x2h computes x_t W_xh, h2h computes h_{t-1} W_hh. Each has its own bias; one would be enough (they are added together), but PyTorch’s nn.RNN also has two, which makes the comparison two slides from now exact. The activation is a parameter: tanh by default, we will try ReLU in a moment.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h_0 = 0, then the same two layers at every step. The for loop is the point: step t needs h_{t-1}, so the steps cannot run in parallel. We return every hidden state (for many-to-many tasks) and the last one (for many-to-one).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batch_first=True</a:t>
            </a:r>
            <a:r>
              <a:rPr/>
              <a:t> puts the batch dimension first, like everywhere else in the course (the default is time first, for historical reasons). </a:t>
            </a:r>
            <a:r>
              <a:rPr>
                <a:latin typeface="Courier"/>
              </a:rPr>
              <a:t>outputs</a:t>
            </a:r>
            <a:r>
              <a:rPr/>
              <a:t> holds the hidden state at every step, </a:t>
            </a:r>
            <a:r>
              <a:rPr>
                <a:latin typeface="Courier"/>
              </a:rPr>
              <a:t>h_last</a:t>
            </a:r>
            <a:r>
              <a:rPr/>
              <a:t> the last one (with an extra dimension for the number of stacked layers). From now on we use the built-in layers: same numbers as our for loop, much faster.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Training: compute the loss, backpropagate through the unrolled network. Nothing new — autograd does it — but the gradient that reaches the first steps went through T multiplications by W_hh and by tanh’. Also: the steps cannot run in parallel (step t needs step t − 1), so RNNs are slow on long sequences. That is one reason transformers replaced them.</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product of T numbers: if they are below 1, it shrinks exponentially; above 1, it explodes. Exploding: one huge step ruins the training — gradient clipping, seen in Session 6, the figure was about RNNs. Vanishing is worse because it is silent: the network trains, but it never learns to use anything more than ~20 steps back. Bengio, Simard, Frasconi (1994); Pascanu, Mikolov, Bengio (2013).</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grad[t] measures how much the input at time t influences the last state h_T: it is the signal training gets to learn a dependency from t to T. Default weights (the initialisation of nn.Linear, which is also nn.RNN’s), then h2h weights doubled and quadrupled; for tanh and for ReLU. Ask the room before the next slide: what shape do you expect, on a log scale? What changes with the scale? With ReLU?</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Default weights (blue): a straight line on a log scale, so exponential decay; 60 steps back the gradient is 10^20 times smaller, then exactly zero in float32. ×2 (orange): slower decay, still 10^11 times smaller after 100 steps. ×4 (red): it explodes going back in time. ReLU (right) behaves the same for the gradient — but with ×4 the state itself explodes: ‖h_T‖ = 10^19, while tanh keeps every coordinate in (−1, 1), so ‖h_T‖ ≤ √32 ≈ 5.7. Next slide: why it is exponential.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feed-forward networks ReLU won, but each layer has its own weights there. In an RNN the same map is applied again and again: if W_hh amplifies the state even slightly, a ReLU state grows exponentially (the ×4 curve: 10^19). tanh bounds it, and is centred on 0, while ReLU outputs are ≥ 0 and drift upwards. The cost: tanh’ ≤ 1, and close to 0 when saturated, which feeds the vanishing gradient. ReLU RNNs exist (nn.RNN(…, nonlinearity=“relu”)), with W_hh initialised close to the identity (Le, Jaitly, Hinton, 2015). GRU and LSTM keep bounded functions: tanh for the state, sigmoid for the gates.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simple RNN rewrites its whole state at every step: like a whiteboard you must recopy entirely, through a distortion, each time you add something. After 50 copies nothing is left of the first line — and the gradient, which goes back through the same copies, vanishes. The LSTM idea (Hochreiter &amp; Schmidhuber, 1997): keep a separate memory c, carried along a straight line, and only edit it — erase a little, write a little. If nothing is erased, the memory (and its gradient) goes through unchanged. Example: “The patients who were admitted on Monday after the accident … were”: the plural must survive many words.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 does the network decide what to erase or write? With gates: a vector of numbers between 0 and 1 (a sigmoid), computed from the current input and the previous state, multiplied element-wise with what it controls. 1 lets through, 0 blocks, and each coordinate is decided separately. A gate is differentiable, so when to keep and when to erase is learned by gradient descent like any other weight.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gate per question. On “patients”: write “plural subject” (input gate open). During “who were admitted on Monday after the accident”: keep it (forget gate ≈ 1), but there is no need to show it. On the verb: show it (output gate open), the network predicts “were” and not “was”. After the verb: it can be erased (forget gate ≈ 0).</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Top: the memory line. It is multiplied by the forget gate f (erase), then the input gate i times the candidate c~ is added (write). Bottom: the four boxes all read the same inputs, h_{t-1} and x_t: three sigmoids (gates) and one tanh (candidate, the same formula as a simple RNN). Right: the new state h_t is a tanh of the memory, filtered by the output gate o. Two states go to the next step: c_t and h_t.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gate is a small layer of its own, with the same form as a simple RNN: four weight blocks instead of one, so four times the parameters for the same hidden size. The forget gate was not in the 1997 paper; it was added by Gers, Schmidhuber and Cummins (2000), and it is the one that makes LSTMs work in practice.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Compare with the simple RNN, where each step back multiplies the gradient by W_hh and by tanh’ (both usually small). Along the memory line, each step back only multiplies by f_t, and the network can learn f_t ≈ 1 for whatever must be kept: the gradient survives hundreds of steps (ignoring the indirect paths through the gates). It is the same trick as the skip connections of ResNets: an additive path. Exploding gradients are still possible: keep gradient clipping.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Cho et al. (2014) kept the idea — an additive, gated path through time — and made it simpler. One state instead of two. One update gate z for erasing and writing at once: what is written replaces exactly what is erased (keep 1 − z of the old state, write z of the new). No output gate. And a reset gate r, which lets the candidate ignore the past (r ≈ 0) when something new starts. Chung et al. (2014) found no clear winner between the two.</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update gate z is between 0 and 1. When z ≈ 0 the state is copied unchanged, so the gradient flows back without being multiplied by anything small: the memory line of the LSTM, without a separate memory.</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are drop-in replacements for nn.RNN. Ask before the next slide: what are the shapes of h and c? Of weight_hh_l0?</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out</a:t>
            </a:r>
            <a:r>
              <a:rPr/>
              <a:t> is [64, 32, 256] for both: the state h at every step. The LSTM also returns its memory c. PyTorch stacks the weight blocks of the gates in one matrix: 4 × 256 rows for the LSTM (i, f, c~, o), 3 × 256 for the GRU (r, z, candidate). With 100 inputs and 256 hidden units: 366,592 parameters for the LSTM, 274,944 for the GRU, 91,648 for a simple RNN.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target is the input shifted by one word. At every position the network outputs a probability for every word of the vocabulary, and we take the cross-entropy with the word that actually comes next. One sequence of 32 words gives 32 training examples, and no labels are needed: the text is its own supervision.</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cross-entropy is in nats, which is hard to read; its exponential is on an intuitive scale. A perplexity of 150: the model is as unsure as if it picked uniformly among 150 words. Accuracy (is the top word the right one?) is also reported, but it ignores how much probability the right word got. Caveat: a smaller vocabulary (more words mapped to UNK) makes the task easier, so perplexities are only comparable on the same vocabulary and the same test text.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10.4M parameters against 2.3M: the first and the last layers are huge. Going through a vector of size 100 on both sides divides the model by 4.5. And the input is 99.99% zeros — 82 MB for one batch, where the word indices take 16 kB.</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Multiplying a one-hot vector by a matrix just reads one column. So a linear layer on one-hot inputs is a lookup table.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Reminder. CBOW predicts a word from its context; the encoder’s column j is the embedding of word j. It also learns a decoder: from a vector of size 100 to a score per word — exactly the two pieces our language model needs. word2vec (Mikolov et al., 2013) is the official version of the same idea, with tricks that make it much better and much faster: negative sampling (push the right word up and 5 random words down, instead of a softmax over 10 001 words), and subsampling of very frequent words like “the”. We use gensim’s implementation.</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experiments, one architecture. Frozen: embedding and decoder come from CBOW or from word2vec and are not trained; only the GRU and the small linear layer are. End to end: same layers, random initialisation, everything trained on the next-word task.</a:t>
            </a:r>
          </a:p>
          <a:p>
            <a:pPr lvl="0" indent="0" marL="0">
              <a:buNone/>
            </a:pPr>
          </a:p>
          <a:p>
            <a:pPr lvl="0" indent="0" marL="0">
              <a:buNone/>
            </a:pPr>
            <a:r>
              <a:rPr/>
              <a:t>One detail for word2vec: its decoder has no bias. With negative sampling, the score approximates log p(w | context) − log p(w), up to a constant, so we add the fixed bias log p(w), the frequency of each word. That turns the scores into log-probabilities without training anything.</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7.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0.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2.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3.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14.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image" Target="../media/image15.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16.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17.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18.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19.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10</a:t>
            </a:r>
            <a:br/>
            <a:r>
              <a:rPr/>
              <a:t>Recurrent Neural Networks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Data Science · NYU Paris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10 —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Main question</a:t>
            </a:r>
          </a:p>
        </p:txBody>
      </p:sp>
      <p:sp>
        <p:nvSpPr>
          <p:cNvPr id="3" name="Content Placeholder 2"/>
          <p:cNvSpPr>
            <a:spLocks noGrp="1"/>
          </p:cNvSpPr>
          <p:nvPr>
            <p:ph idx="1"/>
          </p:nvPr>
        </p:nvSpPr>
        <p:spPr/>
        <p:txBody>
          <a:bodyPr anchor="ctr">
            <a:normAutofit/>
          </a:bodyPr>
          <a:lstStyle/>
          <a:p>
            <a:pPr lvl="0" indent="0" marL="0" algn="ctr">
              <a:buNone/>
            </a:pPr>
            <a:r>
              <a:rPr sz="2000"/>
              <a:t>How do we feed a sequence to a network,</a:t>
            </a:r>
          </a:p>
          <a:p>
            <a:pPr lvl="0" indent="0" marL="0" algn="ctr">
              <a:buNone/>
            </a:pPr>
            <a:r>
              <a:rPr sz="2000"/>
              <a:t>and predict the next state?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Sequences types</a:t>
            </a:r>
          </a:p>
        </p:txBody>
      </p:sp>
      <p:pic>
        <p:nvPicPr>
          <p:cNvPr descr="img/sequenc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Dense networks are not for sequences</a:t>
            </a:r>
          </a:p>
        </p:txBody>
      </p:sp>
      <p:pic>
        <p:nvPicPr>
          <p:cNvPr descr="img/fixed_window.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Recurrent neural networks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recurrent cell</a:t>
            </a:r>
          </a:p>
        </p:txBody>
      </p:sp>
      <p:pic>
        <p:nvPicPr>
          <p:cNvPr descr="img/rnn_cel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Unrolled in time</a:t>
            </a:r>
          </a:p>
        </p:txBody>
      </p:sp>
      <p:pic>
        <p:nvPicPr>
          <p:cNvPr descr="img/rnn_unrolle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Tasks variations</a:t>
            </a:r>
          </a:p>
        </p:txBody>
      </p:sp>
      <p:pic>
        <p:nvPicPr>
          <p:cNvPr descr="img/rnn_task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RNN from scratch: layers</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class</a:t>
            </a:r>
            <a:r>
              <a:rPr>
                <a:latin typeface="Courier"/>
              </a:rPr>
              <a:t> torch.nn.RNN(nn.Module):</a:t>
            </a:r>
            <a:br/>
            <a:r>
              <a:rPr>
                <a:latin typeface="Courier"/>
              </a:rPr>
              <a:t>    </a:t>
            </a:r>
            <a:r>
              <a:rPr b="1">
                <a:solidFill>
                  <a:srgbClr val="007020"/>
                </a:solidFill>
                <a:latin typeface="Courier"/>
              </a:rPr>
              <a:t>def</a:t>
            </a:r>
            <a:r>
              <a:rPr>
                <a:latin typeface="Courier"/>
              </a:rPr>
              <a:t> </a:t>
            </a:r>
            <a:r>
              <a:rPr>
                <a:solidFill>
                  <a:srgbClr val="06287E"/>
                </a:solidFill>
                <a:latin typeface="Courier"/>
              </a:rPr>
              <a:t>__init__</a:t>
            </a:r>
            <a:r>
              <a:rPr>
                <a:latin typeface="Courier"/>
              </a:rPr>
              <a:t>(</a:t>
            </a:r>
            <a:r>
              <a:rPr>
                <a:solidFill>
                  <a:srgbClr val="19177C"/>
                </a:solidFill>
                <a:latin typeface="Courier"/>
              </a:rPr>
              <a:t>self</a:t>
            </a:r>
            <a:r>
              <a:rPr>
                <a:latin typeface="Courier"/>
              </a:rPr>
              <a:t>, d_in, d_h,</a:t>
            </a:r>
            <a:br/>
            <a:r>
              <a:rPr>
                <a:latin typeface="Courier"/>
              </a:rPr>
              <a:t>                 act</a:t>
            </a:r>
            <a:r>
              <a:rPr>
                <a:solidFill>
                  <a:srgbClr val="666666"/>
                </a:solidFill>
                <a:latin typeface="Courier"/>
              </a:rPr>
              <a:t>=</a:t>
            </a:r>
            <a:r>
              <a:rPr>
                <a:latin typeface="Courier"/>
              </a:rPr>
              <a:t>torch.tanh):</a:t>
            </a:r>
            <a:br/>
            <a:r>
              <a:rPr>
                <a:latin typeface="Courier"/>
              </a:rPr>
              <a:t>        </a:t>
            </a:r>
            <a:r>
              <a:rPr>
                <a:solidFill>
                  <a:srgbClr val="008000"/>
                </a:solidFill>
                <a:latin typeface="Courier"/>
              </a:rPr>
              <a:t>super</a:t>
            </a:r>
            <a:r>
              <a:rPr>
                <a:latin typeface="Courier"/>
              </a:rPr>
              <a:t>().</a:t>
            </a:r>
            <a:r>
              <a:rPr>
                <a:solidFill>
                  <a:srgbClr val="06287E"/>
                </a:solidFill>
                <a:latin typeface="Courier"/>
              </a:rPr>
              <a:t>__init__</a:t>
            </a:r>
            <a:r>
              <a:rPr>
                <a:latin typeface="Courier"/>
              </a:rPr>
              <a:t>()</a:t>
            </a:r>
            <a:br/>
            <a:r>
              <a:rPr>
                <a:latin typeface="Courier"/>
              </a:rPr>
              <a:t>        </a:t>
            </a:r>
            <a:r>
              <a:rPr>
                <a:solidFill>
                  <a:srgbClr val="19177C"/>
                </a:solidFill>
                <a:latin typeface="Courier"/>
              </a:rPr>
              <a:t>self</a:t>
            </a:r>
            <a:r>
              <a:rPr>
                <a:latin typeface="Courier"/>
              </a:rPr>
              <a:t>.d_h, </a:t>
            </a:r>
            <a:r>
              <a:rPr>
                <a:solidFill>
                  <a:srgbClr val="19177C"/>
                </a:solidFill>
                <a:latin typeface="Courier"/>
              </a:rPr>
              <a:t>self</a:t>
            </a:r>
            <a:r>
              <a:rPr>
                <a:latin typeface="Courier"/>
              </a:rPr>
              <a:t>.act </a:t>
            </a:r>
            <a:r>
              <a:rPr>
                <a:solidFill>
                  <a:srgbClr val="666666"/>
                </a:solidFill>
                <a:latin typeface="Courier"/>
              </a:rPr>
              <a:t>=</a:t>
            </a:r>
            <a:r>
              <a:rPr>
                <a:latin typeface="Courier"/>
              </a:rPr>
              <a:t> d_h, act</a:t>
            </a:r>
            <a:br/>
            <a:r>
              <a:rPr>
                <a:latin typeface="Courier"/>
              </a:rPr>
              <a:t>        </a:t>
            </a:r>
            <a:r>
              <a:rPr>
                <a:solidFill>
                  <a:srgbClr val="19177C"/>
                </a:solidFill>
                <a:latin typeface="Courier"/>
              </a:rPr>
              <a:t>self</a:t>
            </a:r>
            <a:r>
              <a:rPr>
                <a:latin typeface="Courier"/>
              </a:rPr>
              <a:t>.x2h </a:t>
            </a:r>
            <a:r>
              <a:rPr>
                <a:solidFill>
                  <a:srgbClr val="666666"/>
                </a:solidFill>
                <a:latin typeface="Courier"/>
              </a:rPr>
              <a:t>=</a:t>
            </a:r>
            <a:r>
              <a:rPr>
                <a:latin typeface="Courier"/>
              </a:rPr>
              <a:t> nn.Linear(d_in, d_h)</a:t>
            </a:r>
            <a:br/>
            <a:r>
              <a:rPr>
                <a:latin typeface="Courier"/>
              </a:rPr>
              <a:t>        </a:t>
            </a:r>
            <a:r>
              <a:rPr>
                <a:solidFill>
                  <a:srgbClr val="19177C"/>
                </a:solidFill>
                <a:latin typeface="Courier"/>
              </a:rPr>
              <a:t>self</a:t>
            </a:r>
            <a:r>
              <a:rPr>
                <a:latin typeface="Courier"/>
              </a:rPr>
              <a:t>.h2h </a:t>
            </a:r>
            <a:r>
              <a:rPr>
                <a:solidFill>
                  <a:srgbClr val="666666"/>
                </a:solidFill>
                <a:latin typeface="Courier"/>
              </a:rPr>
              <a:t>=</a:t>
            </a:r>
            <a:r>
              <a:rPr>
                <a:latin typeface="Courier"/>
              </a:rPr>
              <a:t> nn.Linear(d_h, d_h)</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RNN from scratch: predictions</a:t>
            </a:r>
          </a:p>
        </p:txBody>
      </p:sp>
      <p:sp>
        <p:nvSpPr>
          <p:cNvPr id="3" name="Content Placeholder 2"/>
          <p:cNvSpPr>
            <a:spLocks noGrp="1"/>
          </p:cNvSpPr>
          <p:nvPr>
            <p:ph idx="1"/>
          </p:nvPr>
        </p:nvSpPr>
        <p:spPr/>
        <p:txBody>
          <a:bodyPr>
            <a:normAutofit/>
          </a:bodyPr>
          <a:lstStyle/>
          <a:p>
            <a:pPr lvl="0" indent="0">
              <a:buNone/>
            </a:pPr>
            <a:r>
              <a:rPr>
                <a:latin typeface="Courier"/>
              </a:rPr>
              <a:t>    </a:t>
            </a:r>
            <a:r>
              <a:rPr b="1">
                <a:solidFill>
                  <a:srgbClr val="007020"/>
                </a:solidFill>
                <a:latin typeface="Courier"/>
              </a:rPr>
              <a:t>def</a:t>
            </a:r>
            <a:r>
              <a:rPr>
                <a:latin typeface="Courier"/>
              </a:rPr>
              <a:t> forward(</a:t>
            </a:r>
            <a:r>
              <a:rPr>
                <a:solidFill>
                  <a:srgbClr val="19177C"/>
                </a:solidFill>
                <a:latin typeface="Courier"/>
              </a:rPr>
              <a:t>self</a:t>
            </a:r>
            <a:r>
              <a:rPr>
                <a:latin typeface="Courier"/>
              </a:rPr>
              <a:t>, x):  </a:t>
            </a:r>
            <a:r>
              <a:rPr i="1">
                <a:solidFill>
                  <a:srgbClr val="60A0B0"/>
                </a:solidFill>
                <a:latin typeface="Courier"/>
              </a:rPr>
              <a:t># [B, T, d_in]</a:t>
            </a:r>
            <a:br/>
            <a:r>
              <a:rPr>
                <a:latin typeface="Courier"/>
              </a:rPr>
              <a:t>        B, T, _ </a:t>
            </a:r>
            <a:r>
              <a:rPr>
                <a:solidFill>
                  <a:srgbClr val="666666"/>
                </a:solidFill>
                <a:latin typeface="Courier"/>
              </a:rPr>
              <a:t>=</a:t>
            </a:r>
            <a:r>
              <a:rPr>
                <a:latin typeface="Courier"/>
              </a:rPr>
              <a:t> x.shape</a:t>
            </a:r>
            <a:br/>
            <a:r>
              <a:rPr>
                <a:latin typeface="Courier"/>
              </a:rPr>
              <a:t>        h </a:t>
            </a:r>
            <a:r>
              <a:rPr>
                <a:solidFill>
                  <a:srgbClr val="666666"/>
                </a:solidFill>
                <a:latin typeface="Courier"/>
              </a:rPr>
              <a:t>=</a:t>
            </a:r>
            <a:r>
              <a:rPr>
                <a:latin typeface="Courier"/>
              </a:rPr>
              <a:t> torch.zeros(B, </a:t>
            </a:r>
            <a:r>
              <a:rPr>
                <a:solidFill>
                  <a:srgbClr val="19177C"/>
                </a:solidFill>
                <a:latin typeface="Courier"/>
              </a:rPr>
              <a:t>self</a:t>
            </a:r>
            <a:r>
              <a:rPr>
                <a:latin typeface="Courier"/>
              </a:rPr>
              <a:t>.d_h)</a:t>
            </a:r>
            <a:br/>
            <a:r>
              <a:rPr>
                <a:latin typeface="Courier"/>
              </a:rPr>
              <a:t>        outs </a:t>
            </a:r>
            <a:r>
              <a:rPr>
                <a:solidFill>
                  <a:srgbClr val="666666"/>
                </a:solidFill>
                <a:latin typeface="Courier"/>
              </a:rPr>
              <a:t>=</a:t>
            </a:r>
            <a:r>
              <a:rPr>
                <a:latin typeface="Courier"/>
              </a:rPr>
              <a:t> []</a:t>
            </a:r>
            <a:br/>
            <a:r>
              <a:rPr>
                <a:latin typeface="Courier"/>
              </a:rPr>
              <a:t>        </a:t>
            </a:r>
            <a:r>
              <a:rPr b="1">
                <a:solidFill>
                  <a:srgbClr val="007020"/>
                </a:solidFill>
                <a:latin typeface="Courier"/>
              </a:rPr>
              <a:t>for</a:t>
            </a:r>
            <a:r>
              <a:rPr>
                <a:latin typeface="Courier"/>
              </a:rPr>
              <a:t> t </a:t>
            </a:r>
            <a:r>
              <a:rPr b="1">
                <a:solidFill>
                  <a:srgbClr val="007020"/>
                </a:solidFill>
                <a:latin typeface="Courier"/>
              </a:rPr>
              <a:t>in</a:t>
            </a:r>
            <a:r>
              <a:rPr>
                <a:latin typeface="Courier"/>
              </a:rPr>
              <a:t> </a:t>
            </a:r>
            <a:r>
              <a:rPr>
                <a:solidFill>
                  <a:srgbClr val="008000"/>
                </a:solidFill>
                <a:latin typeface="Courier"/>
              </a:rPr>
              <a:t>range</a:t>
            </a:r>
            <a:r>
              <a:rPr>
                <a:latin typeface="Courier"/>
              </a:rPr>
              <a:t>(T):</a:t>
            </a:r>
            <a:br/>
            <a:r>
              <a:rPr>
                <a:latin typeface="Courier"/>
              </a:rPr>
              <a:t>            h </a:t>
            </a:r>
            <a:r>
              <a:rPr>
                <a:solidFill>
                  <a:srgbClr val="666666"/>
                </a:solidFill>
                <a:latin typeface="Courier"/>
              </a:rPr>
              <a:t>=</a:t>
            </a:r>
            <a:r>
              <a:rPr>
                <a:latin typeface="Courier"/>
              </a:rPr>
              <a:t> </a:t>
            </a:r>
            <a:r>
              <a:rPr>
                <a:solidFill>
                  <a:srgbClr val="19177C"/>
                </a:solidFill>
                <a:latin typeface="Courier"/>
              </a:rPr>
              <a:t>self</a:t>
            </a:r>
            <a:r>
              <a:rPr>
                <a:latin typeface="Courier"/>
              </a:rPr>
              <a:t>.act(</a:t>
            </a:r>
            <a:r>
              <a:rPr>
                <a:solidFill>
                  <a:srgbClr val="19177C"/>
                </a:solidFill>
                <a:latin typeface="Courier"/>
              </a:rPr>
              <a:t>self</a:t>
            </a:r>
            <a:r>
              <a:rPr>
                <a:latin typeface="Courier"/>
              </a:rPr>
              <a:t>.x2h(x[:, t])</a:t>
            </a:r>
            <a:br/>
            <a:r>
              <a:rPr>
                <a:latin typeface="Courier"/>
              </a:rPr>
              <a:t>                         </a:t>
            </a:r>
            <a:r>
              <a:rPr>
                <a:solidFill>
                  <a:srgbClr val="666666"/>
                </a:solidFill>
                <a:latin typeface="Courier"/>
              </a:rPr>
              <a:t>+</a:t>
            </a:r>
            <a:r>
              <a:rPr>
                <a:latin typeface="Courier"/>
              </a:rPr>
              <a:t> </a:t>
            </a:r>
            <a:r>
              <a:rPr>
                <a:solidFill>
                  <a:srgbClr val="19177C"/>
                </a:solidFill>
                <a:latin typeface="Courier"/>
              </a:rPr>
              <a:t>self</a:t>
            </a:r>
            <a:r>
              <a:rPr>
                <a:latin typeface="Courier"/>
              </a:rPr>
              <a:t>.h2h(h))</a:t>
            </a:r>
            <a:br/>
            <a:r>
              <a:rPr>
                <a:latin typeface="Courier"/>
              </a:rPr>
              <a:t>            outs.append(h)</a:t>
            </a:r>
            <a:br/>
            <a:r>
              <a:rPr>
                <a:latin typeface="Courier"/>
              </a:rPr>
              <a:t>        </a:t>
            </a:r>
            <a:r>
              <a:rPr b="1">
                <a:solidFill>
                  <a:srgbClr val="007020"/>
                </a:solidFill>
                <a:latin typeface="Courier"/>
              </a:rPr>
              <a:t>return</a:t>
            </a:r>
            <a:r>
              <a:rPr>
                <a:latin typeface="Courier"/>
              </a:rPr>
              <a:t> torch.stack(outs, </a:t>
            </a:r>
            <a:r>
              <a:rPr>
                <a:solidFill>
                  <a:srgbClr val="40A070"/>
                </a:solidFill>
                <a:latin typeface="Courier"/>
              </a:rPr>
              <a:t>1</a:t>
            </a:r>
            <a:r>
              <a:rPr>
                <a:latin typeface="Courier"/>
              </a:rPr>
              <a:t>), h</a:t>
            </a:r>
            <a:br/>
            <a:br/>
            <a:r>
              <a:rPr>
                <a:latin typeface="Courier"/>
              </a:rPr>
              <a:t>rnn </a:t>
            </a:r>
            <a:r>
              <a:rPr>
                <a:solidFill>
                  <a:srgbClr val="666666"/>
                </a:solidFill>
                <a:latin typeface="Courier"/>
              </a:rPr>
              <a:t>=</a:t>
            </a:r>
            <a:r>
              <a:rPr>
                <a:latin typeface="Courier"/>
              </a:rPr>
              <a:t> RNN(</a:t>
            </a:r>
            <a:r>
              <a:rPr>
                <a:solidFill>
                  <a:srgbClr val="40A070"/>
                </a:solidFill>
                <a:latin typeface="Courier"/>
              </a:rPr>
              <a:t>5</a:t>
            </a:r>
            <a:r>
              <a:rPr>
                <a:latin typeface="Courier"/>
              </a:rPr>
              <a:t>, </a:t>
            </a:r>
            <a:r>
              <a:rPr>
                <a:solidFill>
                  <a:srgbClr val="40A070"/>
                </a:solidFill>
                <a:latin typeface="Courier"/>
              </a:rPr>
              <a:t>7</a:t>
            </a:r>
            <a:r>
              <a:rPr>
                <a:latin typeface="Courier"/>
              </a:rPr>
              <a:t>)</a:t>
            </a:r>
            <a:br/>
            <a:r>
              <a:rPr i="1">
                <a:solidFill>
                  <a:srgbClr val="60A0B0"/>
                </a:solidFill>
                <a:latin typeface="Courier"/>
              </a:rPr>
              <a:t># total parameters: 5×7 + 7 + 7×7 + 7 = 98</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PyTorch example</a:t>
            </a:r>
          </a:p>
        </p:txBody>
      </p:sp>
      <p:sp>
        <p:nvSpPr>
          <p:cNvPr id="3" name="Content Placeholder 2"/>
          <p:cNvSpPr>
            <a:spLocks noGrp="1"/>
          </p:cNvSpPr>
          <p:nvPr>
            <p:ph idx="1"/>
          </p:nvPr>
        </p:nvSpPr>
        <p:spPr/>
        <p:txBody>
          <a:bodyPr>
            <a:normAutofit/>
          </a:bodyPr>
          <a:lstStyle/>
          <a:p>
            <a:pPr lvl="0" indent="0">
              <a:buNone/>
            </a:pPr>
            <a:r>
              <a:rPr>
                <a:latin typeface="Courier"/>
              </a:rPr>
              <a:t>rnn </a:t>
            </a:r>
            <a:r>
              <a:rPr>
                <a:solidFill>
                  <a:srgbClr val="666666"/>
                </a:solidFill>
                <a:latin typeface="Courier"/>
              </a:rPr>
              <a:t>=</a:t>
            </a:r>
            <a:r>
              <a:rPr>
                <a:latin typeface="Courier"/>
              </a:rPr>
              <a:t> nn.RNN(input_size</a:t>
            </a:r>
            <a:r>
              <a:rPr>
                <a:solidFill>
                  <a:srgbClr val="666666"/>
                </a:solidFill>
                <a:latin typeface="Courier"/>
              </a:rPr>
              <a:t>=</a:t>
            </a:r>
            <a:r>
              <a:rPr>
                <a:solidFill>
                  <a:srgbClr val="40A070"/>
                </a:solidFill>
                <a:latin typeface="Courier"/>
              </a:rPr>
              <a:t>100</a:t>
            </a:r>
            <a:r>
              <a:rPr>
                <a:latin typeface="Courier"/>
              </a:rPr>
              <a:t>,</a:t>
            </a:r>
            <a:br/>
            <a:r>
              <a:rPr>
                <a:latin typeface="Courier"/>
              </a:rPr>
              <a:t>             hidden_size</a:t>
            </a:r>
            <a:r>
              <a:rPr>
                <a:solidFill>
                  <a:srgbClr val="666666"/>
                </a:solidFill>
                <a:latin typeface="Courier"/>
              </a:rPr>
              <a:t>=</a:t>
            </a:r>
            <a:r>
              <a:rPr>
                <a:solidFill>
                  <a:srgbClr val="40A070"/>
                </a:solidFill>
                <a:latin typeface="Courier"/>
              </a:rPr>
              <a:t>256</a:t>
            </a:r>
            <a:r>
              <a:rPr>
                <a:latin typeface="Courier"/>
              </a:rPr>
              <a:t>,</a:t>
            </a:r>
            <a:br/>
            <a:r>
              <a:rPr>
                <a:latin typeface="Courier"/>
              </a:rPr>
              <a:t>             batch_first</a:t>
            </a:r>
            <a:r>
              <a:rPr>
                <a:solidFill>
                  <a:srgbClr val="666666"/>
                </a:solidFill>
                <a:latin typeface="Courier"/>
              </a:rPr>
              <a:t>=</a:t>
            </a:r>
            <a:r>
              <a:rPr>
                <a:solidFill>
                  <a:srgbClr val="19177C"/>
                </a:solidFill>
                <a:latin typeface="Courier"/>
              </a:rPr>
              <a:t>True</a:t>
            </a:r>
            <a:r>
              <a:rPr>
                <a:latin typeface="Courier"/>
              </a:rPr>
              <a:t>)</a:t>
            </a:r>
            <a:br/>
            <a:br/>
            <a:r>
              <a:rPr>
                <a:latin typeface="Courier"/>
              </a:rPr>
              <a:t>x </a:t>
            </a:r>
            <a:r>
              <a:rPr>
                <a:solidFill>
                  <a:srgbClr val="666666"/>
                </a:solidFill>
                <a:latin typeface="Courier"/>
              </a:rPr>
              <a:t>=</a:t>
            </a:r>
            <a:r>
              <a:rPr>
                <a:latin typeface="Courier"/>
              </a:rPr>
              <a:t> torch.randn(</a:t>
            </a:r>
            <a:r>
              <a:rPr>
                <a:solidFill>
                  <a:srgbClr val="40A070"/>
                </a:solidFill>
                <a:latin typeface="Courier"/>
              </a:rPr>
              <a:t>64</a:t>
            </a:r>
            <a:r>
              <a:rPr>
                <a:latin typeface="Courier"/>
              </a:rPr>
              <a:t>, </a:t>
            </a:r>
            <a:r>
              <a:rPr>
                <a:solidFill>
                  <a:srgbClr val="40A070"/>
                </a:solidFill>
                <a:latin typeface="Courier"/>
              </a:rPr>
              <a:t>32</a:t>
            </a:r>
            <a:r>
              <a:rPr>
                <a:latin typeface="Courier"/>
              </a:rPr>
              <a:t>, </a:t>
            </a:r>
            <a:r>
              <a:rPr>
                <a:solidFill>
                  <a:srgbClr val="40A070"/>
                </a:solidFill>
                <a:latin typeface="Courier"/>
              </a:rPr>
              <a:t>100</a:t>
            </a:r>
            <a:r>
              <a:rPr>
                <a:latin typeface="Courier"/>
              </a:rPr>
              <a:t>)</a:t>
            </a:r>
            <a:br/>
            <a:r>
              <a:rPr i="1">
                <a:solidFill>
                  <a:srgbClr val="60A0B0"/>
                </a:solidFill>
                <a:latin typeface="Courier"/>
              </a:rPr>
              <a:t># 64 sequences, 32 steps, 100 features</a:t>
            </a:r>
            <a:br/>
            <a:r>
              <a:rPr>
                <a:latin typeface="Courier"/>
              </a:rPr>
              <a:t>outputs, h_last </a:t>
            </a:r>
            <a:r>
              <a:rPr>
                <a:solidFill>
                  <a:srgbClr val="666666"/>
                </a:solidFill>
                <a:latin typeface="Courier"/>
              </a:rPr>
              <a:t>=</a:t>
            </a:r>
            <a:r>
              <a:rPr>
                <a:latin typeface="Courier"/>
              </a:rPr>
              <a:t> rnn(x)</a:t>
            </a:r>
            <a:br/>
            <a:r>
              <a:rPr>
                <a:latin typeface="Courier"/>
              </a:rPr>
              <a:t>outputs.shape  </a:t>
            </a:r>
            <a:r>
              <a:rPr i="1">
                <a:solidFill>
                  <a:srgbClr val="60A0B0"/>
                </a:solidFill>
                <a:latin typeface="Courier"/>
              </a:rPr>
              <a:t># [64, 32, 256]</a:t>
            </a:r>
            <a:br/>
            <a:r>
              <a:rPr>
                <a:latin typeface="Courier"/>
              </a:rPr>
              <a:t>h_last.shape   </a:t>
            </a:r>
            <a:r>
              <a:rPr i="1">
                <a:solidFill>
                  <a:srgbClr val="60A0B0"/>
                </a:solidFill>
                <a:latin typeface="Courier"/>
              </a:rPr>
              <a:t># [1, 64, 256]</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Back-propagation through time</a:t>
            </a:r>
          </a:p>
        </p:txBody>
      </p:sp>
      <p:pic>
        <p:nvPicPr>
          <p:cNvPr descr="img/bpt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Vanishing and exploding gradients</a:t>
            </a:r>
          </a:p>
        </p:txBody>
      </p:sp>
      <p:pic>
        <p:nvPicPr>
          <p:cNvPr descr="img/vanish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How far back does the gradient reach?</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for</a:t>
            </a:r>
            <a:r>
              <a:rPr>
                <a:latin typeface="Courier"/>
              </a:rPr>
              <a:t> act </a:t>
            </a:r>
            <a:r>
              <a:rPr b="1">
                <a:solidFill>
                  <a:srgbClr val="007020"/>
                </a:solidFill>
                <a:latin typeface="Courier"/>
              </a:rPr>
              <a:t>in</a:t>
            </a:r>
            <a:r>
              <a:rPr>
                <a:latin typeface="Courier"/>
              </a:rPr>
              <a:t> [torch.tanh, torch.relu]:</a:t>
            </a:r>
            <a:br/>
            <a:r>
              <a:rPr>
                <a:latin typeface="Courier"/>
              </a:rPr>
              <a:t>    </a:t>
            </a:r>
            <a:r>
              <a:rPr b="1">
                <a:solidFill>
                  <a:srgbClr val="007020"/>
                </a:solidFill>
                <a:latin typeface="Courier"/>
              </a:rPr>
              <a:t>for</a:t>
            </a:r>
            <a:r>
              <a:rPr>
                <a:latin typeface="Courier"/>
              </a:rPr>
              <a:t> scale </a:t>
            </a:r>
            <a:r>
              <a:rPr b="1">
                <a:solidFill>
                  <a:srgbClr val="007020"/>
                </a:solidFill>
                <a:latin typeface="Courier"/>
              </a:rPr>
              <a:t>in</a:t>
            </a:r>
            <a:r>
              <a:rPr>
                <a:latin typeface="Courier"/>
              </a:rPr>
              <a:t> [</a:t>
            </a:r>
            <a:r>
              <a:rPr>
                <a:solidFill>
                  <a:srgbClr val="40A070"/>
                </a:solidFill>
                <a:latin typeface="Courier"/>
              </a:rPr>
              <a:t>1</a:t>
            </a:r>
            <a:r>
              <a:rPr>
                <a:latin typeface="Courier"/>
              </a:rPr>
              <a:t>, </a:t>
            </a:r>
            <a:r>
              <a:rPr>
                <a:solidFill>
                  <a:srgbClr val="40A070"/>
                </a:solidFill>
                <a:latin typeface="Courier"/>
              </a:rPr>
              <a:t>2</a:t>
            </a:r>
            <a:r>
              <a:rPr>
                <a:latin typeface="Courier"/>
              </a:rPr>
              <a:t>, </a:t>
            </a:r>
            <a:r>
              <a:rPr>
                <a:solidFill>
                  <a:srgbClr val="40A070"/>
                </a:solidFill>
                <a:latin typeface="Courier"/>
              </a:rPr>
              <a:t>4</a:t>
            </a:r>
            <a:r>
              <a:rPr>
                <a:latin typeface="Courier"/>
              </a:rPr>
              <a:t>]:</a:t>
            </a:r>
            <a:br/>
            <a:r>
              <a:rPr>
                <a:latin typeface="Courier"/>
              </a:rPr>
              <a:t>        torch.manual_seed(</a:t>
            </a:r>
            <a:r>
              <a:rPr>
                <a:solidFill>
                  <a:srgbClr val="40A070"/>
                </a:solidFill>
                <a:latin typeface="Courier"/>
              </a:rPr>
              <a:t>0</a:t>
            </a:r>
            <a:r>
              <a:rPr>
                <a:latin typeface="Courier"/>
              </a:rPr>
              <a:t>)</a:t>
            </a:r>
            <a:br/>
            <a:r>
              <a:rPr>
                <a:latin typeface="Courier"/>
              </a:rPr>
              <a:t>        x </a:t>
            </a:r>
            <a:r>
              <a:rPr>
                <a:solidFill>
                  <a:srgbClr val="666666"/>
                </a:solidFill>
                <a:latin typeface="Courier"/>
              </a:rPr>
              <a:t>=</a:t>
            </a:r>
            <a:r>
              <a:rPr>
                <a:latin typeface="Courier"/>
              </a:rPr>
              <a:t> torch.randn(</a:t>
            </a:r>
            <a:r>
              <a:rPr>
                <a:solidFill>
                  <a:srgbClr val="40A070"/>
                </a:solidFill>
                <a:latin typeface="Courier"/>
              </a:rPr>
              <a:t>1</a:t>
            </a:r>
            <a:r>
              <a:rPr>
                <a:latin typeface="Courier"/>
              </a:rPr>
              <a:t>, </a:t>
            </a:r>
            <a:r>
              <a:rPr>
                <a:solidFill>
                  <a:srgbClr val="40A070"/>
                </a:solidFill>
                <a:latin typeface="Courier"/>
              </a:rPr>
              <a:t>100</a:t>
            </a:r>
            <a:r>
              <a:rPr>
                <a:latin typeface="Courier"/>
              </a:rPr>
              <a:t>, </a:t>
            </a:r>
            <a:r>
              <a:rPr>
                <a:solidFill>
                  <a:srgbClr val="40A070"/>
                </a:solidFill>
                <a:latin typeface="Courier"/>
              </a:rPr>
              <a:t>8</a:t>
            </a:r>
            <a:r>
              <a:rPr>
                <a:latin typeface="Courier"/>
              </a:rPr>
              <a:t>,</a:t>
            </a:r>
            <a:br/>
            <a:r>
              <a:rPr>
                <a:latin typeface="Courier"/>
              </a:rPr>
              <a:t>                        requires_grad</a:t>
            </a:r>
            <a:r>
              <a:rPr>
                <a:solidFill>
                  <a:srgbClr val="666666"/>
                </a:solidFill>
                <a:latin typeface="Courier"/>
              </a:rPr>
              <a:t>=</a:t>
            </a:r>
            <a:r>
              <a:rPr>
                <a:solidFill>
                  <a:srgbClr val="19177C"/>
                </a:solidFill>
                <a:latin typeface="Courier"/>
              </a:rPr>
              <a:t>True</a:t>
            </a:r>
            <a:r>
              <a:rPr>
                <a:latin typeface="Courier"/>
              </a:rPr>
              <a:t>)</a:t>
            </a:r>
            <a:br/>
            <a:r>
              <a:rPr>
                <a:latin typeface="Courier"/>
              </a:rPr>
              <a:t>        rnn </a:t>
            </a:r>
            <a:r>
              <a:rPr>
                <a:solidFill>
                  <a:srgbClr val="666666"/>
                </a:solidFill>
                <a:latin typeface="Courier"/>
              </a:rPr>
              <a:t>=</a:t>
            </a:r>
            <a:r>
              <a:rPr>
                <a:latin typeface="Courier"/>
              </a:rPr>
              <a:t> MyRNN(</a:t>
            </a:r>
            <a:r>
              <a:rPr>
                <a:solidFill>
                  <a:srgbClr val="40A070"/>
                </a:solidFill>
                <a:latin typeface="Courier"/>
              </a:rPr>
              <a:t>8</a:t>
            </a:r>
            <a:r>
              <a:rPr>
                <a:latin typeface="Courier"/>
              </a:rPr>
              <a:t>, </a:t>
            </a:r>
            <a:r>
              <a:rPr>
                <a:solidFill>
                  <a:srgbClr val="40A070"/>
                </a:solidFill>
                <a:latin typeface="Courier"/>
              </a:rPr>
              <a:t>32</a:t>
            </a:r>
            <a:r>
              <a:rPr>
                <a:latin typeface="Courier"/>
              </a:rPr>
              <a:t>, act)</a:t>
            </a:r>
            <a:br/>
            <a:r>
              <a:rPr>
                <a:latin typeface="Courier"/>
              </a:rPr>
              <a:t>        </a:t>
            </a:r>
            <a:r>
              <a:rPr b="1">
                <a:solidFill>
                  <a:srgbClr val="007020"/>
                </a:solidFill>
                <a:latin typeface="Courier"/>
              </a:rPr>
              <a:t>with</a:t>
            </a:r>
            <a:r>
              <a:rPr>
                <a:latin typeface="Courier"/>
              </a:rPr>
              <a:t> torch.no_grad():</a:t>
            </a:r>
            <a:br/>
            <a:r>
              <a:rPr>
                <a:latin typeface="Courier"/>
              </a:rPr>
              <a:t>            rnn.h2h.weight </a:t>
            </a:r>
            <a:r>
              <a:rPr>
                <a:solidFill>
                  <a:srgbClr val="666666"/>
                </a:solidFill>
                <a:latin typeface="Courier"/>
              </a:rPr>
              <a:t>*=</a:t>
            </a:r>
            <a:r>
              <a:rPr>
                <a:latin typeface="Courier"/>
              </a:rPr>
              <a:t> scale</a:t>
            </a:r>
            <a:br/>
            <a:r>
              <a:rPr>
                <a:latin typeface="Courier"/>
              </a:rPr>
              <a:t>        _, h </a:t>
            </a:r>
            <a:r>
              <a:rPr>
                <a:solidFill>
                  <a:srgbClr val="666666"/>
                </a:solidFill>
                <a:latin typeface="Courier"/>
              </a:rPr>
              <a:t>=</a:t>
            </a:r>
            <a:r>
              <a:rPr>
                <a:latin typeface="Courier"/>
              </a:rPr>
              <a:t> rnn(x)</a:t>
            </a:r>
            <a:br/>
            <a:r>
              <a:rPr>
                <a:latin typeface="Courier"/>
              </a:rPr>
              <a:t>        h.</a:t>
            </a:r>
            <a:r>
              <a:rPr>
                <a:solidFill>
                  <a:srgbClr val="008000"/>
                </a:solidFill>
                <a:latin typeface="Courier"/>
              </a:rPr>
              <a:t>sum</a:t>
            </a:r>
            <a:r>
              <a:rPr>
                <a:latin typeface="Courier"/>
              </a:rPr>
              <a:t>().backward()</a:t>
            </a:r>
            <a:br/>
            <a:r>
              <a:rPr>
                <a:latin typeface="Courier"/>
              </a:rPr>
              <a:t>        grad </a:t>
            </a:r>
            <a:r>
              <a:rPr>
                <a:solidFill>
                  <a:srgbClr val="666666"/>
                </a:solidFill>
                <a:latin typeface="Courier"/>
              </a:rPr>
              <a:t>=</a:t>
            </a:r>
            <a:r>
              <a:rPr>
                <a:latin typeface="Courier"/>
              </a:rPr>
              <a:t> x.grad[</a:t>
            </a:r>
            <a:r>
              <a:rPr>
                <a:solidFill>
                  <a:srgbClr val="40A070"/>
                </a:solidFill>
                <a:latin typeface="Courier"/>
              </a:rPr>
              <a:t>0</a:t>
            </a:r>
            <a:r>
              <a:rPr>
                <a:latin typeface="Courier"/>
              </a:rPr>
              <a:t>].norm(dim</a:t>
            </a:r>
            <a:r>
              <a:rPr>
                <a:solidFill>
                  <a:srgbClr val="666666"/>
                </a:solidFill>
                <a:latin typeface="Courier"/>
              </a:rPr>
              <a:t>=</a:t>
            </a:r>
            <a:r>
              <a:rPr>
                <a:solidFill>
                  <a:srgbClr val="40A070"/>
                </a:solidFill>
                <a:latin typeface="Courier"/>
              </a:rPr>
              <a:t>1</a:t>
            </a:r>
            <a:r>
              <a:rPr>
                <a:latin typeface="Courier"/>
              </a:rPr>
              <a:t>)</a:t>
            </a:r>
            <a:br/>
            <a:r>
              <a:rPr>
                <a:latin typeface="Courier"/>
              </a:rPr>
              <a:t>        plt.semilogy(grad)  </a:t>
            </a:r>
            <a:r>
              <a:rPr i="1">
                <a:solidFill>
                  <a:srgbClr val="60A0B0"/>
                </a:solidFill>
                <a:latin typeface="Courier"/>
              </a:rPr>
              <a:t># one value per 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How far back does the gradient reach?</a:t>
            </a:r>
          </a:p>
        </p:txBody>
      </p:sp>
      <p:pic>
        <p:nvPicPr>
          <p:cNvPr descr="img/vanishing_measure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Why tanh, not ReLU?</a:t>
            </a:r>
          </a:p>
        </p:txBody>
      </p:sp>
      <p:sp>
        <p:nvSpPr>
          <p:cNvPr id="3" name="Content Placeholder 2"/>
          <p:cNvSpPr>
            <a:spLocks noGrp="1"/>
          </p:cNvSpPr>
          <p:nvPr>
            <p:ph idx="1"/>
          </p:nvPr>
        </p:nvSpPr>
        <p:spPr/>
        <p:txBody>
          <a:bodyPr>
            <a:normAutofit/>
          </a:bodyPr>
          <a:lstStyle/>
          <a:p>
            <a:pPr lvl="0"/>
            <a:r>
              <a:rPr/>
              <a:t>The same layer is applied T times</a:t>
            </a:r>
          </a:p>
          <a:p>
            <a:pPr lvl="0"/>
            <a:r>
              <a:rPr/>
              <a:t>ReLU is unbounded: the state itself can explode</a:t>
            </a:r>
          </a:p>
          <a:p>
            <a:pPr lvl="0"/>
            <a:r>
              <a:rPr/>
              <a:t>tanh keeps the state in (−1, 1) but gradients vanish</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Long-term memory: the intuition</a:t>
            </a:r>
          </a:p>
        </p:txBody>
      </p:sp>
      <p:pic>
        <p:nvPicPr>
          <p:cNvPr descr="img/lstm_intui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Gates: learned, soft switches</a:t>
            </a:r>
          </a:p>
        </p:txBody>
      </p:sp>
      <p:pic>
        <p:nvPicPr>
          <p:cNvPr descr="img/gat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Three decisions at every step</a:t>
            </a:r>
          </a:p>
        </p:txBody>
      </p:sp>
      <p:sp>
        <p:nvSpPr>
          <p:cNvPr id="3" name="Content Placeholder 2"/>
          <p:cNvSpPr>
            <a:spLocks noGrp="1"/>
          </p:cNvSpPr>
          <p:nvPr>
            <p:ph idx="1"/>
          </p:nvPr>
        </p:nvSpPr>
        <p:spPr/>
        <p:txBody>
          <a:bodyPr>
            <a:normAutofit/>
          </a:bodyPr>
          <a:lstStyle/>
          <a:p>
            <a:pPr lvl="0"/>
            <a:r>
              <a:rPr/>
              <a:t>Forget: what to erase from the memory?</a:t>
            </a:r>
          </a:p>
          <a:p>
            <a:pPr lvl="0"/>
            <a:r>
              <a:rPr/>
              <a:t>Input: what new information to write?</a:t>
            </a:r>
          </a:p>
          <a:p>
            <a:pPr lvl="0"/>
            <a:r>
              <a:rPr/>
              <a:t>Output: what to show from the memory?</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LSTM cell</a:t>
            </a:r>
          </a:p>
        </p:txBody>
      </p:sp>
      <p:pic>
        <p:nvPicPr>
          <p:cNvPr descr="img/lstm_cel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LSTM: the equations</a:t>
            </a:r>
          </a:p>
        </p:txBody>
      </p:sp>
      <p:pic>
        <p:nvPicPr>
          <p:cNvPr descr="img/lstm_equation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Why the gradient survives</a:t>
            </a:r>
          </a:p>
        </p:txBody>
      </p:sp>
      <p:sp>
        <p:nvSpPr>
          <p:cNvPr id="3" name="Content Placeholder 2"/>
          <p:cNvSpPr>
            <a:spLocks noGrp="1"/>
          </p:cNvSpPr>
          <p:nvPr>
            <p:ph idx="1"/>
          </p:nvPr>
        </p:nvSpPr>
        <p:spPr/>
        <p:txBody>
          <a:bodyPr>
            <a:normAutofit/>
          </a:bodyPr>
          <a:lstStyle/>
          <a:p>
            <a:pPr lvl="0" indent="0">
              <a:buNone/>
            </a:pPr>
            <a:r>
              <a:rPr>
                <a:latin typeface="Courier"/>
              </a:rPr>
              <a:t>c_t = f_t * c_(t-1) + i_t * c~_t
d c_t / d c_(t-1) = f_t
</a:t>
            </a:r>
          </a:p>
          <a:p>
            <a:pPr lvl="0"/>
            <a:r>
              <a:rPr/>
              <a:t>No W_hh, no tanh’ on the memory path</a:t>
            </a:r>
          </a:p>
          <a:p>
            <a:pPr lvl="0"/>
            <a:r>
              <a:rPr/>
              <a:t>f ≈ 1: the gradient flows back unchanged</a:t>
            </a:r>
          </a:p>
          <a:p>
            <a:pPr lvl="0"/>
            <a:r>
              <a:rPr/>
              <a:t>The network learns when to forget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GRU: a simpler LSTM</a:t>
            </a:r>
          </a:p>
        </p:txBody>
      </p:sp>
      <p:pic>
        <p:nvPicPr>
          <p:cNvPr descr="img/lstm_to_gru.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GRU: the equations</a:t>
            </a:r>
          </a:p>
        </p:txBody>
      </p:sp>
      <p:pic>
        <p:nvPicPr>
          <p:cNvPr descr="img/gru.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LSTM and GRU in PyTorch</a:t>
            </a:r>
          </a:p>
        </p:txBody>
      </p:sp>
      <p:sp>
        <p:nvSpPr>
          <p:cNvPr id="3" name="Content Placeholder 2"/>
          <p:cNvSpPr>
            <a:spLocks noGrp="1"/>
          </p:cNvSpPr>
          <p:nvPr>
            <p:ph idx="1"/>
          </p:nvPr>
        </p:nvSpPr>
        <p:spPr/>
        <p:txBody>
          <a:bodyPr>
            <a:normAutofit/>
          </a:bodyPr>
          <a:lstStyle/>
          <a:p>
            <a:pPr lvl="0" indent="0">
              <a:buNone/>
            </a:pPr>
            <a:r>
              <a:rPr>
                <a:latin typeface="Courier"/>
              </a:rPr>
              <a:t>x </a:t>
            </a:r>
            <a:r>
              <a:rPr>
                <a:solidFill>
                  <a:srgbClr val="666666"/>
                </a:solidFill>
                <a:latin typeface="Courier"/>
              </a:rPr>
              <a:t>=</a:t>
            </a:r>
            <a:r>
              <a:rPr>
                <a:latin typeface="Courier"/>
              </a:rPr>
              <a:t> torch.randn(</a:t>
            </a:r>
            <a:r>
              <a:rPr>
                <a:solidFill>
                  <a:srgbClr val="40A070"/>
                </a:solidFill>
                <a:latin typeface="Courier"/>
              </a:rPr>
              <a:t>64</a:t>
            </a:r>
            <a:r>
              <a:rPr>
                <a:latin typeface="Courier"/>
              </a:rPr>
              <a:t>, </a:t>
            </a:r>
            <a:r>
              <a:rPr>
                <a:solidFill>
                  <a:srgbClr val="40A070"/>
                </a:solidFill>
                <a:latin typeface="Courier"/>
              </a:rPr>
              <a:t>32</a:t>
            </a:r>
            <a:r>
              <a:rPr>
                <a:latin typeface="Courier"/>
              </a:rPr>
              <a:t>, </a:t>
            </a:r>
            <a:r>
              <a:rPr>
                <a:solidFill>
                  <a:srgbClr val="40A070"/>
                </a:solidFill>
                <a:latin typeface="Courier"/>
              </a:rPr>
              <a:t>100</a:t>
            </a:r>
            <a:r>
              <a:rPr>
                <a:latin typeface="Courier"/>
              </a:rPr>
              <a:t>)</a:t>
            </a:r>
            <a:br/>
            <a:r>
              <a:rPr>
                <a:latin typeface="Courier"/>
              </a:rPr>
              <a:t>lstm </a:t>
            </a:r>
            <a:r>
              <a:rPr>
                <a:solidFill>
                  <a:srgbClr val="666666"/>
                </a:solidFill>
                <a:latin typeface="Courier"/>
              </a:rPr>
              <a:t>=</a:t>
            </a:r>
            <a:r>
              <a:rPr>
                <a:latin typeface="Courier"/>
              </a:rPr>
              <a:t> nn.LSTM(</a:t>
            </a:r>
            <a:r>
              <a:rPr>
                <a:solidFill>
                  <a:srgbClr val="40A070"/>
                </a:solidFill>
                <a:latin typeface="Courier"/>
              </a:rPr>
              <a:t>100</a:t>
            </a:r>
            <a:r>
              <a:rPr>
                <a:latin typeface="Courier"/>
              </a:rPr>
              <a:t>, </a:t>
            </a:r>
            <a:r>
              <a:rPr>
                <a:solidFill>
                  <a:srgbClr val="40A070"/>
                </a:solidFill>
                <a:latin typeface="Courier"/>
              </a:rPr>
              <a:t>256</a:t>
            </a:r>
            <a:r>
              <a:rPr>
                <a:latin typeface="Courier"/>
              </a:rPr>
              <a:t>,</a:t>
            </a:r>
            <a:br/>
            <a:r>
              <a:rPr>
                <a:latin typeface="Courier"/>
              </a:rPr>
              <a:t>               batch_first</a:t>
            </a:r>
            <a:r>
              <a:rPr>
                <a:solidFill>
                  <a:srgbClr val="666666"/>
                </a:solidFill>
                <a:latin typeface="Courier"/>
              </a:rPr>
              <a:t>=</a:t>
            </a:r>
            <a:r>
              <a:rPr>
                <a:solidFill>
                  <a:srgbClr val="19177C"/>
                </a:solidFill>
                <a:latin typeface="Courier"/>
              </a:rPr>
              <a:t>True</a:t>
            </a:r>
            <a:r>
              <a:rPr>
                <a:latin typeface="Courier"/>
              </a:rPr>
              <a:t>)</a:t>
            </a:r>
            <a:br/>
            <a:r>
              <a:rPr>
                <a:latin typeface="Courier"/>
              </a:rPr>
              <a:t>gru </a:t>
            </a:r>
            <a:r>
              <a:rPr>
                <a:solidFill>
                  <a:srgbClr val="666666"/>
                </a:solidFill>
                <a:latin typeface="Courier"/>
              </a:rPr>
              <a:t>=</a:t>
            </a:r>
            <a:r>
              <a:rPr>
                <a:latin typeface="Courier"/>
              </a:rPr>
              <a:t> nn.GRU(</a:t>
            </a:r>
            <a:r>
              <a:rPr>
                <a:solidFill>
                  <a:srgbClr val="40A070"/>
                </a:solidFill>
                <a:latin typeface="Courier"/>
              </a:rPr>
              <a:t>100</a:t>
            </a:r>
            <a:r>
              <a:rPr>
                <a:latin typeface="Courier"/>
              </a:rPr>
              <a:t>, </a:t>
            </a:r>
            <a:r>
              <a:rPr>
                <a:solidFill>
                  <a:srgbClr val="40A070"/>
                </a:solidFill>
                <a:latin typeface="Courier"/>
              </a:rPr>
              <a:t>256</a:t>
            </a:r>
            <a:r>
              <a:rPr>
                <a:latin typeface="Courier"/>
              </a:rPr>
              <a:t>,</a:t>
            </a:r>
            <a:br/>
            <a:r>
              <a:rPr>
                <a:latin typeface="Courier"/>
              </a:rPr>
              <a:t>             batch_first</a:t>
            </a:r>
            <a:r>
              <a:rPr>
                <a:solidFill>
                  <a:srgbClr val="666666"/>
                </a:solidFill>
                <a:latin typeface="Courier"/>
              </a:rPr>
              <a:t>=</a:t>
            </a:r>
            <a:r>
              <a:rPr>
                <a:solidFill>
                  <a:srgbClr val="19177C"/>
                </a:solidFill>
                <a:latin typeface="Courier"/>
              </a:rPr>
              <a:t>True</a:t>
            </a:r>
            <a:r>
              <a:rPr>
                <a:latin typeface="Courier"/>
              </a:rPr>
              <a:t>)</a:t>
            </a:r>
            <a:br/>
            <a:r>
              <a:rPr>
                <a:latin typeface="Courier"/>
              </a:rPr>
              <a:t>out, (h, c) </a:t>
            </a:r>
            <a:r>
              <a:rPr>
                <a:solidFill>
                  <a:srgbClr val="666666"/>
                </a:solidFill>
                <a:latin typeface="Courier"/>
              </a:rPr>
              <a:t>=</a:t>
            </a:r>
            <a:r>
              <a:rPr>
                <a:latin typeface="Courier"/>
              </a:rPr>
              <a:t> lstm(x)</a:t>
            </a:r>
            <a:br/>
            <a:r>
              <a:rPr>
                <a:latin typeface="Courier"/>
              </a:rPr>
              <a:t>out, h </a:t>
            </a:r>
            <a:r>
              <a:rPr>
                <a:solidFill>
                  <a:srgbClr val="666666"/>
                </a:solidFill>
                <a:latin typeface="Courier"/>
              </a:rPr>
              <a:t>=</a:t>
            </a:r>
            <a:r>
              <a:rPr>
                <a:latin typeface="Courier"/>
              </a:rPr>
              <a:t> gru(x)</a:t>
            </a:r>
            <a:br/>
            <a:r>
              <a:rPr>
                <a:latin typeface="Courier"/>
              </a:rPr>
              <a:t>lstm.weight_hh_l0.shape</a:t>
            </a:r>
            <a:br/>
            <a:r>
              <a:rPr>
                <a:latin typeface="Courier"/>
              </a:rPr>
              <a:t>gru.weight_hh_l0.shape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states, or one</a:t>
            </a:r>
          </a:p>
        </p:txBody>
      </p:sp>
      <p:sp>
        <p:nvSpPr>
          <p:cNvPr id="3" name="Content Placeholder 2"/>
          <p:cNvSpPr>
            <a:spLocks noGrp="1"/>
          </p:cNvSpPr>
          <p:nvPr>
            <p:ph idx="1"/>
          </p:nvPr>
        </p:nvSpPr>
        <p:spPr/>
        <p:txBody>
          <a:bodyPr>
            <a:normAutofit/>
          </a:bodyPr>
          <a:lstStyle/>
          <a:p>
            <a:pPr lvl="0" indent="0">
              <a:buNone/>
            </a:pPr>
            <a:r>
              <a:rPr>
                <a:latin typeface="Courier"/>
              </a:rPr>
              <a:t>LSTM h, c: [1, 64, 256]
LSTM W_hh: [1024, 256] (4 blocks)
GRU  h:    [1, 64, 256]
GRU  W_hh: [768, 256]  (3 blocks)
</a:t>
            </a:r>
          </a:p>
          <a:p>
            <a:pPr lvl="0"/>
            <a:r>
              <a:rPr/>
              <a:t>Parameters: LSTM 367k, GRU 275k, RNN 92k</a:t>
            </a:r>
          </a:p>
          <a:p>
            <a:pPr lvl="0"/>
            <a:r>
              <a:rPr/>
              <a:t>Similar results: we use </a:t>
            </a:r>
            <a:r>
              <a:rPr>
                <a:latin typeface="Courier"/>
              </a:rPr>
              <a:t>nn.GRU</a:t>
            </a:r>
            <a:r>
              <a:rPr/>
              <a:t> today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Predicting the next word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Language modelling</a:t>
            </a:r>
          </a:p>
        </p:txBody>
      </p:sp>
      <p:pic>
        <p:nvPicPr>
          <p:cNvPr descr="img/lm_shif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Measuring it: perplexity</a:t>
            </a:r>
          </a:p>
        </p:txBody>
      </p:sp>
      <p:sp>
        <p:nvSpPr>
          <p:cNvPr id="3" name="Content Placeholder 2"/>
          <p:cNvSpPr>
            <a:spLocks noGrp="1"/>
          </p:cNvSpPr>
          <p:nvPr>
            <p:ph idx="1"/>
          </p:nvPr>
        </p:nvSpPr>
        <p:spPr/>
        <p:txBody>
          <a:bodyPr>
            <a:normAutofit/>
          </a:bodyPr>
          <a:lstStyle/>
          <a:p>
            <a:pPr lvl="0" indent="0">
              <a:buNone/>
            </a:pPr>
            <a:r>
              <a:rPr>
                <a:latin typeface="Courier"/>
              </a:rPr>
              <a:t>perplexity = exp(cross-entropy)
</a:t>
            </a:r>
          </a:p>
          <a:p>
            <a:pPr lvl="0"/>
            <a:r>
              <a:rPr/>
              <a:t>How many words the model hesitates between</a:t>
            </a:r>
          </a:p>
          <a:p>
            <a:pPr lvl="0"/>
            <a:r>
              <a:rPr/>
              <a:t>Uniform guess over 10 001 words: 10 001</a:t>
            </a:r>
          </a:p>
          <a:p>
            <a:pPr lvl="0"/>
            <a:r>
              <a:rPr/>
              <a:t>Perfect model: 1</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RNN: one-hot encodings vs embeddings</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def</a:t>
            </a:r>
            <a:r>
              <a:rPr>
                <a:latin typeface="Courier"/>
              </a:rPr>
              <a:t> n_params(</a:t>
            </a:r>
            <a:r>
              <a:rPr>
                <a:solidFill>
                  <a:srgbClr val="666666"/>
                </a:solidFill>
                <a:latin typeface="Courier"/>
              </a:rPr>
              <a:t>*</a:t>
            </a:r>
            <a:r>
              <a:rPr>
                <a:latin typeface="Courier"/>
              </a:rPr>
              <a:t>modules):</a:t>
            </a:r>
            <a:br/>
            <a:r>
              <a:rPr>
                <a:latin typeface="Courier"/>
              </a:rPr>
              <a:t>    </a:t>
            </a:r>
            <a:r>
              <a:rPr b="1">
                <a:solidFill>
                  <a:srgbClr val="007020"/>
                </a:solidFill>
                <a:latin typeface="Courier"/>
              </a:rPr>
              <a:t>return</a:t>
            </a:r>
            <a:r>
              <a:rPr>
                <a:latin typeface="Courier"/>
              </a:rPr>
              <a:t> </a:t>
            </a:r>
            <a:r>
              <a:rPr>
                <a:solidFill>
                  <a:srgbClr val="008000"/>
                </a:solidFill>
                <a:latin typeface="Courier"/>
              </a:rPr>
              <a:t>sum</a:t>
            </a:r>
            <a:r>
              <a:rPr>
                <a:latin typeface="Courier"/>
              </a:rPr>
              <a:t>(p.numel() </a:t>
            </a:r>
            <a:r>
              <a:rPr b="1">
                <a:solidFill>
                  <a:srgbClr val="007020"/>
                </a:solidFill>
                <a:latin typeface="Courier"/>
              </a:rPr>
              <a:t>for</a:t>
            </a:r>
            <a:r>
              <a:rPr>
                <a:latin typeface="Courier"/>
              </a:rPr>
              <a:t> m </a:t>
            </a:r>
            <a:r>
              <a:rPr b="1">
                <a:solidFill>
                  <a:srgbClr val="007020"/>
                </a:solidFill>
                <a:latin typeface="Courier"/>
              </a:rPr>
              <a:t>in</a:t>
            </a:r>
            <a:r>
              <a:rPr>
                <a:latin typeface="Courier"/>
              </a:rPr>
              <a:t> modules</a:t>
            </a:r>
            <a:br/>
            <a:r>
              <a:rPr>
                <a:latin typeface="Courier"/>
              </a:rPr>
              <a:t>               </a:t>
            </a:r>
            <a:r>
              <a:rPr b="1">
                <a:solidFill>
                  <a:srgbClr val="007020"/>
                </a:solidFill>
                <a:latin typeface="Courier"/>
              </a:rPr>
              <a:t>for</a:t>
            </a:r>
            <a:r>
              <a:rPr>
                <a:latin typeface="Courier"/>
              </a:rPr>
              <a:t> p </a:t>
            </a:r>
            <a:r>
              <a:rPr b="1">
                <a:solidFill>
                  <a:srgbClr val="007020"/>
                </a:solidFill>
                <a:latin typeface="Courier"/>
              </a:rPr>
              <a:t>in</a:t>
            </a:r>
            <a:r>
              <a:rPr>
                <a:latin typeface="Courier"/>
              </a:rPr>
              <a:t> m.parameters())</a:t>
            </a:r>
            <a:br/>
            <a:br/>
            <a:r>
              <a:rPr>
                <a:latin typeface="Courier"/>
              </a:rPr>
              <a:t>V </a:t>
            </a:r>
            <a:r>
              <a:rPr>
                <a:solidFill>
                  <a:srgbClr val="666666"/>
                </a:solidFill>
                <a:latin typeface="Courier"/>
              </a:rPr>
              <a:t>=</a:t>
            </a:r>
            <a:r>
              <a:rPr>
                <a:latin typeface="Courier"/>
              </a:rPr>
              <a:t> </a:t>
            </a:r>
            <a:r>
              <a:rPr>
                <a:solidFill>
                  <a:srgbClr val="40A070"/>
                </a:solidFill>
                <a:latin typeface="Courier"/>
              </a:rPr>
              <a:t>10_001</a:t>
            </a:r>
            <a:r>
              <a:rPr>
                <a:latin typeface="Courier"/>
              </a:rPr>
              <a:t>  </a:t>
            </a:r>
            <a:r>
              <a:rPr i="1">
                <a:solidFill>
                  <a:srgbClr val="60A0B0"/>
                </a:solidFill>
                <a:latin typeface="Courier"/>
              </a:rPr>
              <a:t># vocabulary size</a:t>
            </a:r>
            <a:br/>
            <a:r>
              <a:rPr>
                <a:latin typeface="Courier"/>
              </a:rPr>
              <a:t>one_hot </a:t>
            </a:r>
            <a:r>
              <a:rPr>
                <a:solidFill>
                  <a:srgbClr val="666666"/>
                </a:solidFill>
                <a:latin typeface="Courier"/>
              </a:rPr>
              <a:t>=</a:t>
            </a:r>
            <a:r>
              <a:rPr>
                <a:latin typeface="Courier"/>
              </a:rPr>
              <a:t> [nn.GRU(V, </a:t>
            </a:r>
            <a:r>
              <a:rPr>
                <a:solidFill>
                  <a:srgbClr val="40A070"/>
                </a:solidFill>
                <a:latin typeface="Courier"/>
              </a:rPr>
              <a:t>256</a:t>
            </a:r>
            <a:r>
              <a:rPr>
                <a:latin typeface="Courier"/>
              </a:rPr>
              <a:t>),</a:t>
            </a:r>
            <a:br/>
            <a:r>
              <a:rPr>
                <a:latin typeface="Courier"/>
              </a:rPr>
              <a:t>           nn.Linear(</a:t>
            </a:r>
            <a:r>
              <a:rPr>
                <a:solidFill>
                  <a:srgbClr val="40A070"/>
                </a:solidFill>
                <a:latin typeface="Courier"/>
              </a:rPr>
              <a:t>256</a:t>
            </a:r>
            <a:r>
              <a:rPr>
                <a:latin typeface="Courier"/>
              </a:rPr>
              <a:t>, V)]</a:t>
            </a:r>
            <a:br/>
            <a:r>
              <a:rPr>
                <a:latin typeface="Courier"/>
              </a:rPr>
              <a:t>embedded </a:t>
            </a:r>
            <a:r>
              <a:rPr>
                <a:solidFill>
                  <a:srgbClr val="666666"/>
                </a:solidFill>
                <a:latin typeface="Courier"/>
              </a:rPr>
              <a:t>=</a:t>
            </a:r>
            <a:r>
              <a:rPr>
                <a:latin typeface="Courier"/>
              </a:rPr>
              <a:t> [nn.Embedding(V, </a:t>
            </a:r>
            <a:r>
              <a:rPr>
                <a:solidFill>
                  <a:srgbClr val="40A070"/>
                </a:solidFill>
                <a:latin typeface="Courier"/>
              </a:rPr>
              <a:t>100</a:t>
            </a:r>
            <a:r>
              <a:rPr>
                <a:latin typeface="Courier"/>
              </a:rPr>
              <a:t>),</a:t>
            </a:r>
            <a:br/>
            <a:r>
              <a:rPr>
                <a:latin typeface="Courier"/>
              </a:rPr>
              <a:t>            nn.GRU(</a:t>
            </a:r>
            <a:r>
              <a:rPr>
                <a:solidFill>
                  <a:srgbClr val="40A070"/>
                </a:solidFill>
                <a:latin typeface="Courier"/>
              </a:rPr>
              <a:t>100</a:t>
            </a:r>
            <a:r>
              <a:rPr>
                <a:latin typeface="Courier"/>
              </a:rPr>
              <a:t>, </a:t>
            </a:r>
            <a:r>
              <a:rPr>
                <a:solidFill>
                  <a:srgbClr val="40A070"/>
                </a:solidFill>
                <a:latin typeface="Courier"/>
              </a:rPr>
              <a:t>256</a:t>
            </a:r>
            <a:r>
              <a:rPr>
                <a:latin typeface="Courier"/>
              </a:rPr>
              <a:t>),</a:t>
            </a:r>
            <a:br/>
            <a:r>
              <a:rPr>
                <a:latin typeface="Courier"/>
              </a:rPr>
              <a:t>            nn.Linear(</a:t>
            </a:r>
            <a:r>
              <a:rPr>
                <a:solidFill>
                  <a:srgbClr val="40A070"/>
                </a:solidFill>
                <a:latin typeface="Courier"/>
              </a:rPr>
              <a:t>256</a:t>
            </a:r>
            <a:r>
              <a:rPr>
                <a:latin typeface="Courier"/>
              </a:rPr>
              <a:t>, </a:t>
            </a:r>
            <a:r>
              <a:rPr>
                <a:solidFill>
                  <a:srgbClr val="40A070"/>
                </a:solidFill>
                <a:latin typeface="Courier"/>
              </a:rPr>
              <a:t>100</a:t>
            </a:r>
            <a:r>
              <a:rPr>
                <a:latin typeface="Courier"/>
              </a:rPr>
              <a:t>),</a:t>
            </a:r>
            <a:br/>
            <a:r>
              <a:rPr>
                <a:latin typeface="Courier"/>
              </a:rPr>
              <a:t>            nn.Linear(</a:t>
            </a:r>
            <a:r>
              <a:rPr>
                <a:solidFill>
                  <a:srgbClr val="40A070"/>
                </a:solidFill>
                <a:latin typeface="Courier"/>
              </a:rPr>
              <a:t>100</a:t>
            </a:r>
            <a:r>
              <a:rPr>
                <a:latin typeface="Courier"/>
              </a:rPr>
              <a:t>, V)]</a:t>
            </a:r>
            <a:br/>
            <a:r>
              <a:rPr>
                <a:latin typeface="Courier"/>
              </a:rPr>
              <a:t>n_params(</a:t>
            </a:r>
            <a:r>
              <a:rPr>
                <a:solidFill>
                  <a:srgbClr val="666666"/>
                </a:solidFill>
                <a:latin typeface="Courier"/>
              </a:rPr>
              <a:t>*</a:t>
            </a:r>
            <a:r>
              <a:rPr>
                <a:latin typeface="Courier"/>
              </a:rPr>
              <a:t>one_hot), n_params(</a:t>
            </a:r>
            <a:r>
              <a:rPr>
                <a:solidFill>
                  <a:srgbClr val="666666"/>
                </a:solidFill>
                <a:latin typeface="Courier"/>
              </a:rPr>
              <a:t>*</a:t>
            </a:r>
            <a:r>
              <a:rPr>
                <a:latin typeface="Courier"/>
              </a:rPr>
              <a:t>embedded)</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RNN: one-hot encodings vs embeddings</a:t>
            </a:r>
          </a:p>
        </p:txBody>
      </p:sp>
      <p:pic>
        <p:nvPicPr>
          <p:cNvPr descr="img/onehot_cos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Embedding of one-hot selects a column</a:t>
            </a:r>
          </a:p>
        </p:txBody>
      </p:sp>
      <p:pic>
        <p:nvPicPr>
          <p:cNvPr descr="img/onehot_selec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Reminder: Continuous Bag of Words</a:t>
            </a:r>
          </a:p>
        </p:txBody>
      </p:sp>
      <p:pic>
        <p:nvPicPr>
          <p:cNvPr descr="img/cbow_reca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model</a:t>
            </a:r>
          </a:p>
        </p:txBody>
      </p:sp>
      <p:pic>
        <p:nvPicPr>
          <p:cNvPr descr="img/lm_architectur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Takeaways</a:t>
            </a:r>
          </a:p>
        </p:txBody>
      </p:sp>
      <p:sp>
        <p:nvSpPr>
          <p:cNvPr id="3" name="Content Placeholder 2"/>
          <p:cNvSpPr>
            <a:spLocks noGrp="1"/>
          </p:cNvSpPr>
          <p:nvPr>
            <p:ph idx="1"/>
          </p:nvPr>
        </p:nvSpPr>
        <p:spPr/>
        <p:txBody>
          <a:bodyPr>
            <a:normAutofit/>
          </a:bodyPr>
          <a:lstStyle/>
          <a:p>
            <a:pPr lvl="0"/>
            <a:r>
              <a:rPr/>
              <a:t>RNNs share weights across time</a:t>
            </a:r>
          </a:p>
          <a:p>
            <a:pPr lvl="0"/>
            <a:r>
              <a:rPr/>
              <a:t>GRU/LSTM better handle long sequences</a:t>
            </a:r>
          </a:p>
          <a:p>
            <a:pPr lvl="0"/>
            <a:r>
              <a:rPr/>
              <a:t>Instead of one-hot vectors, use embeddings</a:t>
            </a:r>
          </a:p>
          <a:p>
            <a:pPr lvl="0"/>
            <a:r>
              <a:rPr/>
              <a:t>word2vec: a cheap, clean, reusable one</a:t>
            </a:r>
          </a:p>
          <a:p>
            <a:pPr lvl="0"/>
            <a:r>
              <a:rPr/>
              <a:t>Pre-training is usefull when more data is available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10 Recurrent Neural Networks</dc:title>
  <dc:creator>Paul Dubois</dc:creator>
  <cp:keywords/>
  <dcterms:created xsi:type="dcterms:W3CDTF">2026-10-19T14:52:01Z</dcterms:created>
  <dcterms:modified xsi:type="dcterms:W3CDTF">2026-10-19T14:52:01Z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10 — Lecture</vt:lpwstr>
  </property>
  <property fmtid="{D5CDD505-2E9C-101B-9397-08002B2CF9AE}" pid="3" name="subtitle">
    <vt:lpwstr>Advanced Data Science · NYU Paris · 2026</vt:lpwstr>
  </property>
</Properties>
</file>