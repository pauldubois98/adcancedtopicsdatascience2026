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notesMaster" Target="notesMasters/notesMaster1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point of the section: most of the accuracy on tabular and time-stamped data comes from the feature table, not from the estimator.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the room what a “night admission” flag could proxy for: severity, staffing levels, a different referral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Sliding is the default for online prediction; tumbling is what you want when building a training set where rows should be near-independent.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rows are necessarily missing — that is normal, not a bug. But long lag chains explode the missing rate: keep lags short and few. This is a good place to announce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P(missing) on the board and ask, for each mechanism, what it is allowed to be a function of. The mechanism decides which methods are unbiased.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Insist: “MAR” is an assumption you defend, not a property you 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Session 2</a:t>
            </a:r>
            <a:br/>
            <a:r>
              <a:rPr/>
              <a:t>Feature Engineering &amp; Missing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Advanced Data Science · NYU Paris · 2026</a:t>
            </a:r>
            <a:br/>
            <a:br/>
            <a:r>
              <a:rPr/>
              <a:t>Paul Dubois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Week 2 — Lecture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1. Feature engineering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is feature engineering?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1270000">
              <a:buNone/>
            </a:pPr>
            <a:r>
              <a:rPr sz="2000"/>
              <a:t>Turning </a:t>
            </a:r>
            <a:r>
              <a:rPr sz="2000" b="1"/>
              <a:t>raw records</a:t>
            </a:r>
            <a:r>
              <a:rPr sz="2000"/>
              <a:t> into </a:t>
            </a:r>
            <a:r>
              <a:rPr sz="2000" b="1"/>
              <a:t>columns a model can learn from</a:t>
            </a:r>
            <a:r>
              <a:rPr sz="2000"/>
              <a:t>.</a:t>
            </a:r>
          </a:p>
          <a:p>
            <a:pPr lvl="0"/>
            <a:r>
              <a:rPr/>
              <a:t>The model only sees the features you give it</a:t>
            </a:r>
          </a:p>
          <a:p>
            <a:pPr lvl="0"/>
            <a:r>
              <a:rPr/>
              <a:t>A good feature encodes something you know about the </a:t>
            </a:r>
            <a:r>
              <a:rPr i="1"/>
              <a:t>domain</a:t>
            </a:r>
            <a:r>
              <a:rPr/>
              <a:t> or the </a:t>
            </a:r>
            <a:r>
              <a:rPr i="1"/>
              <a:t>data-generating process</a:t>
            </a:r>
          </a:p>
          <a:p>
            <a:pPr lvl="0"/>
            <a:r>
              <a:rPr/>
              <a:t>Cheap features often beat expensive models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Three families of time-aware features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Temporal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When</a:t>
                      </a:r>
                      <a:r>
                        <a:rPr/>
                        <a:t> did it happen?</a:t>
                      </a:r>
                    </a:p>
                  </a:txBody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Aggregation windows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has it been like </a:t>
                      </a:r>
                      <a:r>
                        <a:rPr i="1"/>
                        <a:t>recently</a:t>
                      </a:r>
                      <a:r>
                        <a:rPr/>
                        <a:t>?</a:t>
                      </a:r>
                    </a:p>
                  </a:txBody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Lags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was it </a:t>
                      </a:r>
                      <a:r>
                        <a:rPr i="1"/>
                        <a:t>before</a:t>
                      </a:r>
                      <a:r>
                        <a:rPr/>
                        <a:t>, and how fast is it moving?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Temporal features: decompose the timestamp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 timestamp is a terrible feature; what it </a:t>
            </a:r>
            <a:r>
              <a:rPr i="1"/>
              <a:t>contains</a:t>
            </a:r>
            <a:r>
              <a:rPr/>
              <a:t> is not:</a:t>
            </a:r>
          </a:p>
          <a:p>
            <a:pPr lvl="0" indent="0">
              <a:buNone/>
            </a:pPr>
            <a:r>
              <a:rPr>
                <a:latin typeface="Courier"/>
              </a:rPr>
              <a:t>h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ts.dt.hour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"hour"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0-23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"dow"</a:t>
            </a:r>
            <a:r>
              <a:rPr>
                <a:latin typeface="Courier"/>
              </a:rPr>
              <a:t>]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ts.dt.dayofweek  </a:t>
            </a:r>
            <a:r>
              <a:rPr i="1">
                <a:solidFill>
                  <a:srgbClr val="60A0B0"/>
                </a:solidFill>
                <a:latin typeface="Courier"/>
              </a:rPr>
              <a:t># 0=Mon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"is_weekend"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df[</a:t>
            </a:r>
            <a:r>
              <a:rPr>
                <a:solidFill>
                  <a:srgbClr val="4070A0"/>
                </a:solidFill>
                <a:latin typeface="Courier"/>
              </a:rPr>
              <a:t>"dow"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"is_night"</a:t>
            </a:r>
            <a:r>
              <a:rPr>
                <a:latin typeface="Courier"/>
              </a:rPr>
              <a:t>]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h.between(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"month"</a:t>
            </a:r>
            <a:r>
              <a:rPr>
                <a:latin typeface="Courier"/>
              </a:rPr>
              <a:t>]  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ts.dt.month</a:t>
            </a:r>
          </a:p>
          <a:p>
            <a:pPr lvl="0"/>
            <a:r>
              <a:rPr/>
              <a:t>Captures </a:t>
            </a:r>
            <a:r>
              <a:rPr b="1"/>
              <a:t>admission at 3am</a:t>
            </a:r>
            <a:r>
              <a:rPr/>
              <a:t> vs </a:t>
            </a:r>
            <a:r>
              <a:rPr b="1"/>
              <a:t>admission at 3pm</a:t>
            </a:r>
          </a:p>
          <a:p>
            <a:pPr lvl="0"/>
            <a:r>
              <a:rPr/>
              <a:t>Captures staffing, seasonality, weekend effects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Temporal features: cyclical encoding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Hour 23 and hour 0 are </a:t>
            </a:r>
            <a:r>
              <a:rPr b="1"/>
              <a:t>one hour apart</a:t>
            </a:r>
            <a:r>
              <a:rPr/>
              <a:t>, not 23:</a:t>
            </a:r>
          </a:p>
          <a:p>
            <a:pPr lvl="0" indent="0">
              <a:buNone/>
            </a:pPr>
            <a:r>
              <a:rPr>
                <a:latin typeface="Courier"/>
              </a:rPr>
              <a:t>theta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np.pi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df[</a:t>
            </a:r>
            <a:r>
              <a:rPr>
                <a:solidFill>
                  <a:srgbClr val="4070A0"/>
                </a:solidFill>
                <a:latin typeface="Courier"/>
              </a:rPr>
              <a:t>"hour"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24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"hour_sin"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np.sin(theta)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"hour_cos"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np.cos(theta)</a:t>
            </a:r>
          </a:p>
          <a:p>
            <a:pPr lvl="0"/>
            <a:r>
              <a:rPr/>
              <a:t>Same trick for day-of-week (/7), month (/12), day-of-year (/365)</a:t>
            </a:r>
          </a:p>
          <a:p>
            <a:pPr lvl="0"/>
            <a:r>
              <a:rPr/>
              <a:t>Needs </a:t>
            </a:r>
            <a:r>
              <a:rPr b="1"/>
              <a:t>both</a:t>
            </a:r>
            <a:r>
              <a:rPr/>
              <a:t> sin and cos: one alone is ambiguous</a:t>
            </a:r>
          </a:p>
          <a:p>
            <a:pPr lvl="0"/>
            <a:r>
              <a:rPr/>
              <a:t>Trees can live without it; linear models and NNs cannot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Temporal features: elapsed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Often the strongest single feature in the table:</a:t>
            </a:r>
          </a:p>
          <a:p>
            <a:pPr lvl="0" indent="0">
              <a:buNone/>
            </a:pPr>
            <a:r>
              <a:rPr>
                <a:latin typeface="Courier"/>
              </a:rPr>
              <a:t>hour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pd.Timedelta(</a:t>
            </a:r>
            <a:r>
              <a:rPr>
                <a:solidFill>
                  <a:srgbClr val="4070A0"/>
                </a:solidFill>
                <a:latin typeface="Courier"/>
              </a:rPr>
              <a:t>"1h"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"h_since_admit"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(ts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admit)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hour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"h_since_obs"</a:t>
            </a:r>
            <a:r>
              <a:rPr>
                <a:latin typeface="Courier"/>
              </a:rPr>
              <a:t>]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ts.diff()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hour</a:t>
            </a:r>
          </a:p>
          <a:p>
            <a:pPr lvl="0"/>
            <a:r>
              <a:rPr b="1"/>
              <a:t>Time since</a:t>
            </a:r>
            <a:r>
              <a:rPr/>
              <a:t> an event: how far into the stay are we?</a:t>
            </a:r>
          </a:p>
          <a:p>
            <a:pPr lvl="0"/>
            <a:r>
              <a:rPr b="1"/>
              <a:t>Time between</a:t>
            </a:r>
            <a:r>
              <a:rPr/>
              <a:t> events: a patient measured every 20 minutes is a patient someone is worried about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Aggregation windows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Collapse a patient’s recent history into fixed columns:</a:t>
            </a:r>
          </a:p>
          <a:p>
            <a:pPr lvl="0"/>
            <a:r>
              <a:rPr b="1"/>
              <a:t>last 6h</a:t>
            </a:r>
            <a:r>
              <a:rPr/>
              <a:t> → </a:t>
            </a:r>
            <a:r>
              <a:rPr>
                <a:latin typeface="Courier"/>
              </a:rPr>
              <a:t>hr_mean_6h</a:t>
            </a:r>
            <a:r>
              <a:rPr/>
              <a:t>, </a:t>
            </a:r>
            <a:r>
              <a:rPr>
                <a:latin typeface="Courier"/>
              </a:rPr>
              <a:t>hr_max_6h</a:t>
            </a:r>
            <a:r>
              <a:rPr/>
              <a:t>, </a:t>
            </a:r>
            <a:r>
              <a:rPr>
                <a:latin typeface="Courier"/>
              </a:rPr>
              <a:t>hr_std_6h</a:t>
            </a:r>
          </a:p>
          <a:p>
            <a:pPr lvl="0"/>
            <a:r>
              <a:rPr b="1"/>
              <a:t>last 24h</a:t>
            </a:r>
            <a:r>
              <a:rPr/>
              <a:t> → </a:t>
            </a:r>
            <a:r>
              <a:rPr>
                <a:latin typeface="Courier"/>
              </a:rPr>
              <a:t>hr_mean_24h</a:t>
            </a:r>
            <a:r>
              <a:rPr/>
              <a:t>, </a:t>
            </a:r>
            <a:r>
              <a:rPr>
                <a:latin typeface="Courier"/>
              </a:rPr>
              <a:t>n_obs_24h</a:t>
            </a:r>
          </a:p>
          <a:p>
            <a:pPr lvl="0"/>
            <a:r>
              <a:rPr b="1"/>
              <a:t>whole stay</a:t>
            </a:r>
            <a:r>
              <a:rPr/>
              <a:t> → </a:t>
            </a:r>
            <a:r>
              <a:rPr>
                <a:latin typeface="Courier"/>
              </a:rPr>
              <a:t>hr_mean_all</a:t>
            </a:r>
            <a:r>
              <a:rPr/>
              <a:t>, </a:t>
            </a:r>
            <a:r>
              <a:rPr>
                <a:latin typeface="Courier"/>
              </a:rPr>
              <a:t>creatinine_last</a:t>
            </a:r>
          </a:p>
          <a:p>
            <a:pPr lvl="0" indent="0" marL="0">
              <a:buNone/>
            </a:pPr>
            <a:r>
              <a:rPr/>
              <a:t>Two remarks:</a:t>
            </a:r>
          </a:p>
          <a:p>
            <a:pPr lvl="0"/>
            <a:r>
              <a:rPr b="1"/>
              <a:t>Several windows</a:t>
            </a:r>
            <a:r>
              <a:rPr/>
              <a:t> let the model compare short vs long term</a:t>
            </a:r>
          </a:p>
          <a:p>
            <a:pPr lvl="0"/>
            <a:r>
              <a:rPr>
                <a:latin typeface="Courier"/>
              </a:rPr>
              <a:t>hr_mean_6h - hr_mean_24h</a:t>
            </a:r>
            <a:r>
              <a:rPr/>
              <a:t> is a trend detector in one column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Aggregation windows: in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>
                <a:latin typeface="Courier"/>
              </a:rPr>
              <a:t>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df.groupby(</a:t>
            </a:r>
            <a:r>
              <a:rPr>
                <a:solidFill>
                  <a:srgbClr val="4070A0"/>
                </a:solidFill>
                <a:latin typeface="Courier"/>
              </a:rPr>
              <a:t>"patient"</a:t>
            </a:r>
            <a:r>
              <a:rPr>
                <a:latin typeface="Courier"/>
              </a:rPr>
              <a:t>)     </a:t>
            </a:r>
            <a:r>
              <a:rPr i="1">
                <a:solidFill>
                  <a:srgbClr val="60A0B0"/>
                </a:solidFill>
                <a:latin typeface="Courier"/>
              </a:rPr>
              <a:t># sorted by ts</a:t>
            </a:r>
            <a:br/>
            <a:r>
              <a:rPr>
                <a:latin typeface="Courier"/>
              </a:rPr>
              <a:t>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g.rolling(</a:t>
            </a:r>
            <a:r>
              <a:rPr>
                <a:solidFill>
                  <a:srgbClr val="4070A0"/>
                </a:solidFill>
                <a:latin typeface="Courier"/>
              </a:rPr>
              <a:t>"6h"</a:t>
            </a:r>
            <a:r>
              <a:rPr>
                <a:latin typeface="Courier"/>
              </a:rPr>
              <a:t>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"timestamp"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"hr_mean_6h"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w[</a:t>
            </a:r>
            <a:r>
              <a:rPr>
                <a:solidFill>
                  <a:srgbClr val="4070A0"/>
                </a:solidFill>
                <a:latin typeface="Courier"/>
              </a:rPr>
              <a:t>"heart_rate"</a:t>
            </a:r>
            <a:r>
              <a:rPr>
                <a:latin typeface="Courier"/>
              </a:rPr>
              <a:t>].mean()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"hr_max_6h"</a:t>
            </a:r>
            <a:r>
              <a:rPr>
                <a:latin typeface="Courier"/>
              </a:rPr>
              <a:t>]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w[</a:t>
            </a:r>
            <a:r>
              <a:rPr>
                <a:solidFill>
                  <a:srgbClr val="4070A0"/>
                </a:solidFill>
                <a:latin typeface="Courier"/>
              </a:rPr>
              <a:t>"heart_rate"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"n_obs_6h"</a:t>
            </a:r>
            <a:r>
              <a:rPr>
                <a:latin typeface="Courier"/>
              </a:rPr>
              <a:t>]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w[</a:t>
            </a:r>
            <a:r>
              <a:rPr>
                <a:solidFill>
                  <a:srgbClr val="4070A0"/>
                </a:solidFill>
                <a:latin typeface="Courier"/>
              </a:rPr>
              <a:t>"heart_rate"</a:t>
            </a:r>
            <a:r>
              <a:rPr>
                <a:latin typeface="Courier"/>
              </a:rPr>
              <a:t>].count()</a:t>
            </a:r>
          </a:p>
          <a:p>
            <a:pPr lvl="0"/>
            <a:r>
              <a:rPr/>
              <a:t>Use a </a:t>
            </a:r>
            <a:r>
              <a:rPr b="1"/>
              <a:t>time-based</a:t>
            </a:r>
            <a:r>
              <a:rPr/>
              <a:t> window (</a:t>
            </a:r>
            <a:r>
              <a:rPr>
                <a:latin typeface="Courier"/>
              </a:rPr>
              <a:t>"6h"</a:t>
            </a:r>
            <a:r>
              <a:rPr/>
              <a:t>), not a row-count window (</a:t>
            </a:r>
            <a:r>
              <a:rPr>
                <a:latin typeface="Courier"/>
              </a:rPr>
              <a:t>6</a:t>
            </a:r>
            <a:r>
              <a:rPr/>
              <a:t>): observations are irregularly spaced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Sliding vs tumbling windows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b="1"/>
              <a:t>Sliding (rolling):</a:t>
            </a:r>
            <a:r>
              <a:rPr/>
              <a:t> one value per row, windows overlap</a:t>
            </a:r>
          </a:p>
          <a:p>
            <a:pPr lvl="1" indent="0" marL="342900">
              <a:buNone/>
            </a:pPr>
            <a:r>
              <a:rPr/>
              <a:t>→ prediction at any time</a:t>
            </a:r>
          </a:p>
          <a:p>
            <a:pPr lvl="0"/>
            <a:r>
              <a:rPr b="1"/>
              <a:t>Tumbling:</a:t>
            </a:r>
            <a:r>
              <a:rPr/>
              <a:t> non-overlapping blocks (each 6h bucket once)</a:t>
            </a:r>
          </a:p>
          <a:p>
            <a:pPr lvl="1" indent="0" marL="342900">
              <a:buNone/>
            </a:pPr>
            <a:r>
              <a:rPr/>
              <a:t>→ one row per block, no duplicated information</a:t>
            </a:r>
          </a:p>
          <a:p>
            <a:pPr lvl="0"/>
            <a:r>
              <a:rPr b="1"/>
              <a:t>Expanding:</a:t>
            </a:r>
            <a:r>
              <a:rPr/>
              <a:t> everything since admission</a:t>
            </a:r>
          </a:p>
          <a:p>
            <a:pPr lvl="1" indent="0" marL="342900">
              <a:buNone/>
            </a:pPr>
            <a:r>
              <a:rPr/>
              <a:t>→ “how has the whole stay been?”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Lag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past values themselves:</a:t>
            </a:r>
          </a:p>
          <a:p>
            <a:pPr lvl="0" indent="0">
              <a:buNone/>
            </a:pPr>
            <a:r>
              <a:rPr>
                <a:latin typeface="Courier"/>
              </a:rPr>
              <a:t>hr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df.groupby(</a:t>
            </a:r>
            <a:r>
              <a:rPr>
                <a:solidFill>
                  <a:srgbClr val="4070A0"/>
                </a:solidFill>
                <a:latin typeface="Courier"/>
              </a:rPr>
              <a:t>"patient"</a:t>
            </a:r>
            <a:r>
              <a:rPr>
                <a:latin typeface="Courier"/>
              </a:rPr>
              <a:t>)[</a:t>
            </a:r>
            <a:r>
              <a:rPr>
                <a:solidFill>
                  <a:srgbClr val="4070A0"/>
                </a:solidFill>
                <a:latin typeface="Courier"/>
              </a:rPr>
              <a:t>"heart_rate"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"hr_lag1"</a:t>
            </a:r>
            <a:r>
              <a:rPr>
                <a:latin typeface="Courier"/>
              </a:rPr>
              <a:t>]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hr.shift(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  </a:t>
            </a:r>
            <a:r>
              <a:rPr i="1">
                <a:solidFill>
                  <a:srgbClr val="60A0B0"/>
                </a:solidFill>
                <a:latin typeface="Courier"/>
              </a:rPr>
              <a:t># where it was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"hr_lag2"</a:t>
            </a:r>
            <a:r>
              <a:rPr>
                <a:latin typeface="Courier"/>
              </a:rPr>
              <a:t>]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hr.shift(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"hr_delta"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hr.diff()     </a:t>
            </a:r>
            <a:r>
              <a:rPr i="1">
                <a:solidFill>
                  <a:srgbClr val="60A0B0"/>
                </a:solidFill>
                <a:latin typeface="Courier"/>
              </a:rPr>
              <a:t># how much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"hr_rate"</a:t>
            </a:r>
            <a:r>
              <a:rPr>
                <a:latin typeface="Courier"/>
              </a:rPr>
              <a:t>]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df.hr_delta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df.h_since_obs</a:t>
            </a:r>
          </a:p>
          <a:p>
            <a:pPr lvl="0"/>
            <a:r>
              <a:rPr b="1"/>
              <a:t>Lag:</a:t>
            </a:r>
            <a:r>
              <a:rPr/>
              <a:t> where it was — </a:t>
            </a:r>
            <a:r>
              <a:rPr b="1"/>
              <a:t>difference:</a:t>
            </a:r>
            <a:r>
              <a:rPr/>
              <a:t> how much it moved — </a:t>
            </a:r>
            <a:r>
              <a:rPr b="1"/>
              <a:t>rate:</a:t>
            </a:r>
            <a:r>
              <a:rPr/>
              <a:t> how fast it moved</a:t>
            </a:r>
          </a:p>
          <a:p>
            <a:pPr lvl="0"/>
            <a:r>
              <a:rPr/>
              <a:t>The rate is often the best of the three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Lag features: what they look like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heart_rate</a:t>
                      </a:r>
                    </a:p>
                  </a:txBody>
                  <a:tcPr/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hr_lag1</a:t>
                      </a:r>
                    </a:p>
                  </a:txBody>
                  <a:tcPr/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hr_delta</a:t>
                      </a:r>
                    </a:p>
                  </a:txBody>
                  <a:tcPr/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hr_mean_6h</a:t>
                      </a:r>
                    </a:p>
                  </a:txBody>
                  <a:tcPr/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08:15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14:40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96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+18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96</a:t>
                      </a:r>
                    </a:p>
                  </a:txBody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09:05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102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96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+6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102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2. A catalogue of techniques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Log transformation — </a:t>
            </a:r>
            <a:r>
              <a:rPr i="1"/>
              <a:t>basic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Compress a right-skewed variable so the long tail stops dominating.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length of stay runs 1–90 days; most patients are at 2–3.</a:t>
            </a:r>
          </a:p>
          <a:p>
            <a:pPr lvl="0" indent="0">
              <a:buNone/>
            </a:pPr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"log_los"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np.log1p(df[</a:t>
            </a:r>
            <a:r>
              <a:rPr>
                <a:solidFill>
                  <a:srgbClr val="4070A0"/>
                </a:solidFill>
                <a:latin typeface="Courier"/>
              </a:rPr>
              <a:t>"los_days"</a:t>
            </a:r>
            <a:r>
              <a:rPr>
                <a:latin typeface="Courier"/>
              </a:rPr>
              <a:t>])</a:t>
            </a:r>
          </a:p>
          <a:p>
            <a:pPr lvl="0"/>
            <a:r>
              <a:rPr>
                <a:latin typeface="Courier"/>
              </a:rPr>
              <a:t>log1p</a:t>
            </a:r>
            <a:r>
              <a:rPr/>
              <a:t> so that 0 stays 0</a:t>
            </a:r>
          </a:p>
          <a:p>
            <a:pPr lvl="0"/>
            <a:r>
              <a:rPr/>
              <a:t>The model now learns on </a:t>
            </a:r>
            <a:r>
              <a:rPr b="1"/>
              <a:t>ratios</a:t>
            </a:r>
            <a:r>
              <a:rPr/>
              <a:t>, not differences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One-hot encoding — </a:t>
            </a:r>
            <a:r>
              <a:rPr i="1"/>
              <a:t>basic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Turn an unordered category into one binary column per level.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</a:t>
            </a:r>
            <a:r>
              <a:rPr>
                <a:latin typeface="Courier"/>
              </a:rPr>
              <a:t>admission_type</a:t>
            </a:r>
            <a:r>
              <a:rPr/>
              <a:t> ∈ {emergency, elective, transfer} → 3 columns.</a:t>
            </a:r>
          </a:p>
          <a:p>
            <a:pPr lvl="0" indent="0">
              <a:buNone/>
            </a:pPr>
            <a:r>
              <a:rPr>
                <a:latin typeface="Courier"/>
              </a:rPr>
              <a:t>OneHotEncoder(handle_unknown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"ignore"</a:t>
            </a:r>
            <a:r>
              <a:rPr>
                <a:latin typeface="Courier"/>
              </a:rPr>
              <a:t>)</a:t>
            </a:r>
          </a:p>
          <a:p>
            <a:pPr lvl="0"/>
            <a:r>
              <a:rPr/>
              <a:t>Never encode it as 1/2/3: that invents an order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Standardization — </a:t>
            </a:r>
            <a:r>
              <a:rPr i="1"/>
              <a:t>basic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Centre and rescale so every feature is in comparable units.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</a:t>
            </a:r>
            <a:r>
              <a:rPr>
                <a:latin typeface="Courier"/>
              </a:rPr>
              <a:t>heart_rate</a:t>
            </a:r>
            <a:r>
              <a:rPr/>
              <a:t> ≈ 70, </a:t>
            </a:r>
            <a:r>
              <a:rPr>
                <a:latin typeface="Courier"/>
              </a:rPr>
              <a:t>creatinine</a:t>
            </a:r>
            <a:r>
              <a:rPr/>
              <a:t> ≈ 1.1 — without scaling, any distance or penalty is decided by the heart rate alone.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StandardScaler()      </a:t>
            </a:r>
            <a:r>
              <a:rPr i="1">
                <a:solidFill>
                  <a:srgbClr val="60A0B0"/>
                </a:solidFill>
                <a:latin typeface="Courier"/>
              </a:rPr>
              <a:t># (x - mean) / std</a:t>
            </a:r>
          </a:p>
          <a:p>
            <a:pPr lvl="0"/>
            <a:r>
              <a:rPr/>
              <a:t>Required by kNN, SVM, PCA, penalised regression, NNs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Binning — </a:t>
            </a:r>
            <a:r>
              <a:rPr i="1"/>
              <a:t>basic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Cut a continuous variable into ordered bands.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age → </a:t>
            </a:r>
            <a:r>
              <a:rPr>
                <a:latin typeface="Courier"/>
              </a:rPr>
              <a:t>&lt;18</a:t>
            </a:r>
            <a:r>
              <a:rPr/>
              <a:t>, </a:t>
            </a:r>
            <a:r>
              <a:rPr>
                <a:latin typeface="Courier"/>
              </a:rPr>
              <a:t>18-64</a:t>
            </a:r>
            <a:r>
              <a:rPr/>
              <a:t>, </a:t>
            </a:r>
            <a:r>
              <a:rPr>
                <a:latin typeface="Courier"/>
              </a:rPr>
              <a:t>65-79</a:t>
            </a:r>
            <a:r>
              <a:rPr/>
              <a:t>, </a:t>
            </a:r>
            <a:r>
              <a:rPr>
                <a:latin typeface="Courier"/>
              </a:rPr>
              <a:t>80+</a:t>
            </a:r>
            <a:r>
              <a:rPr/>
              <a:t>, the bands clinicians use.</a:t>
            </a:r>
          </a:p>
          <a:p>
            <a:pPr lvl="0" indent="0">
              <a:buNone/>
            </a:pPr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"age_band"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pd.cut(</a:t>
            </a:r>
            <a:br/>
            <a:r>
              <a:rPr>
                <a:latin typeface="Courier"/>
              </a:rPr>
              <a:t>    df[</a:t>
            </a:r>
            <a:r>
              <a:rPr>
                <a:solidFill>
                  <a:srgbClr val="4070A0"/>
                </a:solidFill>
                <a:latin typeface="Courier"/>
              </a:rPr>
              <a:t>"age"</a:t>
            </a:r>
            <a:r>
              <a:rPr>
                <a:latin typeface="Courier"/>
              </a:rPr>
              <a:t>],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18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120</a:t>
            </a:r>
            <a:r>
              <a:rPr>
                <a:latin typeface="Courier"/>
              </a:rPr>
              <a:t>])</a:t>
            </a:r>
          </a:p>
          <a:p>
            <a:pPr lvl="0"/>
            <a:r>
              <a:rPr/>
              <a:t>Captures a threshold effect a linear term would miss</a:t>
            </a:r>
          </a:p>
          <a:p>
            <a:pPr lvl="0"/>
            <a:r>
              <a:rPr/>
              <a:t>Costs resolution; the cut points are a modelling choice, so justify them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Polynomial features — </a:t>
            </a:r>
            <a:r>
              <a:rPr i="1"/>
              <a:t>intermediate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Add powers of a variable so a linear model can bend.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in-hospital risk is </a:t>
            </a:r>
            <a:r>
              <a:rPr b="1"/>
              <a:t>U-shaped</a:t>
            </a:r>
            <a:r>
              <a:rPr/>
              <a:t> in age — high for infants, low in mid-life, high again in the elderly. </a:t>
            </a:r>
            <a:r>
              <a:rPr>
                <a:latin typeface="Courier"/>
              </a:rPr>
              <a:t>age</a:t>
            </a:r>
            <a:r>
              <a:rPr/>
              <a:t> alone cannot express that; </a:t>
            </a:r>
            <a:r>
              <a:rPr>
                <a:latin typeface="Courier"/>
              </a:rPr>
              <a:t>age²</a:t>
            </a:r>
            <a:r>
              <a:rPr/>
              <a:t> can.</a:t>
            </a:r>
          </a:p>
          <a:p>
            <a:pPr lvl="0" indent="0">
              <a:buNone/>
            </a:pPr>
            <a:r>
              <a:rPr>
                <a:latin typeface="Courier"/>
              </a:rPr>
              <a:t>PolynomialFeatures(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include_bias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</a:p>
          <a:p>
            <a:pPr lvl="0"/>
            <a:r>
              <a:rPr/>
              <a:t>Standardize first, or the powers dominate</a:t>
            </a:r>
          </a:p>
          <a:p>
            <a:pPr lvl="0"/>
            <a:r>
              <a:rPr/>
              <a:t>Degree 3+ overfits fast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Interaction features — </a:t>
            </a:r>
            <a:r>
              <a:rPr i="1"/>
              <a:t>intermediate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effect of one variable depends on another: give the model the product.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a creatinine of 1.4 is mild in a 30-year-old and alarming in an 85-year-old.</a:t>
            </a:r>
          </a:p>
          <a:p>
            <a:pPr lvl="0" indent="0">
              <a:buNone/>
            </a:pPr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"creat_x_age"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df.creatinine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df.age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Lag / rolling features — </a:t>
            </a:r>
            <a:r>
              <a:rPr i="1"/>
              <a:t>intermediate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Where the value was, and what it has been recently.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heart rate now vs 6 hours ago.</a:t>
            </a:r>
          </a:p>
          <a:p>
            <a:pPr lvl="0" indent="0">
              <a:buNone/>
            </a:pPr>
            <a:r>
              <a:rPr>
                <a:latin typeface="Courier"/>
              </a:rPr>
              <a:t>hr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df.groupby(</a:t>
            </a:r>
            <a:r>
              <a:rPr>
                <a:solidFill>
                  <a:srgbClr val="4070A0"/>
                </a:solidFill>
                <a:latin typeface="Courier"/>
              </a:rPr>
              <a:t>"patient"</a:t>
            </a:r>
            <a:r>
              <a:rPr>
                <a:latin typeface="Courier"/>
              </a:rPr>
              <a:t>)[</a:t>
            </a:r>
            <a:r>
              <a:rPr>
                <a:solidFill>
                  <a:srgbClr val="4070A0"/>
                </a:solidFill>
                <a:latin typeface="Courier"/>
              </a:rPr>
              <a:t>"heart_rate"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"hr_lag1"</a:t>
            </a:r>
            <a:r>
              <a:rPr>
                <a:latin typeface="Courier"/>
              </a:rPr>
              <a:t>]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hr.shift(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"hr_delta"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hr.diff()</a:t>
            </a:r>
          </a:p>
          <a:p>
            <a:pPr lvl="0"/>
            <a:r>
              <a:rPr/>
              <a:t>Combine with rolling windows: </a:t>
            </a:r>
            <a:r>
              <a:rPr>
                <a:latin typeface="Courier"/>
              </a:rPr>
              <a:t>hr_mean_6h</a:t>
            </a:r>
            <a:r>
              <a:rPr/>
              <a:t>, </a:t>
            </a:r>
            <a:r>
              <a:rPr>
                <a:latin typeface="Courier"/>
              </a:rPr>
              <a:t>hr_std_24h</a:t>
            </a:r>
          </a:p>
          <a:p>
            <a:pPr lvl="0"/>
            <a:r>
              <a:rPr/>
              <a:t>The workhorse of any time-stamped dataset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Group-relative features — </a:t>
            </a:r>
            <a:r>
              <a:rPr i="1"/>
              <a:t>advanced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Compare a value to its group instead of to the whole population.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a heart rate of 95 is unremarkable in the ICU and high on a general ward — so use the z-score </a:t>
            </a:r>
            <a:r>
              <a:rPr b="1"/>
              <a:t>within the ward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g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df.groupby(</a:t>
            </a:r>
            <a:r>
              <a:rPr>
                <a:solidFill>
                  <a:srgbClr val="4070A0"/>
                </a:solidFill>
                <a:latin typeface="Courier"/>
              </a:rPr>
              <a:t>"ward"</a:t>
            </a:r>
            <a:r>
              <a:rPr>
                <a:latin typeface="Courier"/>
              </a:rPr>
              <a:t>)[</a:t>
            </a:r>
            <a:r>
              <a:rPr>
                <a:solidFill>
                  <a:srgbClr val="4070A0"/>
                </a:solidFill>
                <a:latin typeface="Courier"/>
              </a:rPr>
              <a:t>"heart_rate"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mu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g.transform(</a:t>
            </a:r>
            <a:r>
              <a:rPr>
                <a:solidFill>
                  <a:srgbClr val="4070A0"/>
                </a:solidFill>
                <a:latin typeface="Courier"/>
              </a:rPr>
              <a:t>"mean"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g.transform(</a:t>
            </a:r>
            <a:r>
              <a:rPr>
                <a:solidFill>
                  <a:srgbClr val="4070A0"/>
                </a:solidFill>
                <a:latin typeface="Courier"/>
              </a:rPr>
              <a:t>"std"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"hr_z_ward"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(df.heart_rate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mu)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sd</a:t>
            </a:r>
          </a:p>
          <a:p>
            <a:pPr lvl="0"/>
            <a:r>
              <a:rPr/>
              <a:t>Removes a site effect you do not want the model to learn</a:t>
            </a:r>
          </a:p>
          <a:p>
            <a:pPr lvl="0"/>
            <a:r>
              <a:rPr/>
              <a:t>Also useful per patient: deviation from that patient’s own baseline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Learned embeddings — </a:t>
            </a:r>
            <a:r>
              <a:rPr i="1"/>
              <a:t>advanced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Map a high-cardinality category to a dense vector learned with the model.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15 000 ICD-10 codes → 32 numbers each, trained jointly with the classifier. Codes with similar outcomes end up close together.</a:t>
            </a:r>
          </a:p>
          <a:p>
            <a:pPr lvl="0" indent="0">
              <a:buNone/>
            </a:pPr>
            <a:r>
              <a:rPr>
                <a:latin typeface="Courier"/>
              </a:rPr>
              <a:t>nn.Embedding(num_embeddings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15000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embedding_dim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32</a:t>
            </a:r>
            <a:r>
              <a:rPr>
                <a:latin typeface="Courier"/>
              </a:rPr>
              <a:t>)</a:t>
            </a:r>
          </a:p>
          <a:p>
            <a:pPr lvl="0"/>
            <a:r>
              <a:rPr/>
              <a:t>Replaces a 15 000-column one-hot with 32 dense columns</a:t>
            </a:r>
          </a:p>
          <a:p>
            <a:pPr lvl="0"/>
            <a:r>
              <a:rPr/>
              <a:t>The embedding table itself is often worth inspecting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Representation learning — </a:t>
            </a:r>
            <a:r>
              <a:rPr i="1"/>
              <a:t>advanced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Stop hand-writing features: let the network learn them from the raw signal.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feed the raw ECG waveform to a 1-D CNN instead of the hand-crafted QRS duration, QT interval, and ST elevation.</a:t>
            </a:r>
          </a:p>
          <a:p>
            <a:pPr lvl="0"/>
            <a:r>
              <a:rPr/>
              <a:t>Wins when the raw signal is rich and the dataset is large</a:t>
            </a:r>
          </a:p>
          <a:p>
            <a:pPr lvl="0"/>
            <a:r>
              <a:rPr/>
              <a:t>You trade interpretability for capacity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3. Missing data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Missingness is everywhere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Every real table has holes: a lab that was never ordered, a vital never charted — and the lag features we just built add more.</a:t>
            </a:r>
          </a:p>
          <a:p>
            <a:pPr lvl="0" indent="0" marL="0">
              <a:buNone/>
            </a:pPr>
            <a:r>
              <a:rPr/>
              <a:t>Three bad reflexes:</a:t>
            </a:r>
          </a:p>
          <a:p>
            <a:pPr lvl="0" indent="-342900" marL="342900">
              <a:buAutoNum type="arabicPeriod"/>
            </a:pPr>
            <a:r>
              <a:rPr/>
              <a:t>Drop the rows → you may drop the sickest patients</a:t>
            </a:r>
          </a:p>
          <a:p>
            <a:pPr lvl="0" indent="-342900" marL="342900">
              <a:buAutoNum type="arabicPeriod"/>
            </a:pPr>
            <a:r>
              <a:rPr/>
              <a:t>Fill with 0 → 0 is a </a:t>
            </a:r>
            <a:r>
              <a:rPr i="1"/>
              <a:t>value</a:t>
            </a:r>
            <a:r>
              <a:rPr/>
              <a:t>, and a physiologically absurd one</a:t>
            </a:r>
          </a:p>
          <a:p>
            <a:pPr lvl="0" indent="-342900" marL="342900">
              <a:buAutoNum type="arabicPeriod"/>
            </a:pPr>
            <a:r>
              <a:rPr/>
              <a:t>Fill with the mean → the model now sees a fake, over-confident cohort</a:t>
            </a:r>
          </a:p>
          <a:p>
            <a:pPr lvl="0" indent="0" marL="0">
              <a:buNone/>
            </a:pPr>
            <a:r>
              <a:rPr b="1"/>
              <a:t>The first question is never “what do I fill it with?” but “why is it missing?”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Three mechanisms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Mechanism</a:t>
                      </a:r>
                    </a:p>
                  </a:txBody>
                  <a:tcPr/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Missingness depends on</a:t>
                      </a:r>
                    </a:p>
                  </a:txBody>
                  <a:tcPr/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MCAR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nothing</a:t>
                      </a:r>
                    </a:p>
                  </a:txBody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MAR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observed</a:t>
                      </a:r>
                      <a:r>
                        <a:rPr/>
                        <a:t> data</a:t>
                      </a:r>
                    </a:p>
                  </a:txBody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MNAR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missing value itself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MCAR — missing completely at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>
                <a:latin typeface="Courier"/>
              </a:rPr>
              <a:t>P(missing)</a:t>
            </a:r>
            <a:r>
              <a:rPr/>
              <a:t> depends on </a:t>
            </a:r>
            <a:r>
              <a:rPr b="1"/>
              <a:t>nothing</a:t>
            </a:r>
            <a:r>
              <a:rPr/>
              <a:t>.</a:t>
            </a:r>
          </a:p>
          <a:p>
            <a:pPr lvl="0"/>
            <a:r>
              <a:rPr b="1"/>
              <a:t>Example:</a:t>
            </a:r>
            <a:r>
              <a:rPr/>
              <a:t> a lab analyser broke down for two days; a tube was dropped</a:t>
            </a:r>
          </a:p>
          <a:p>
            <a:pPr lvl="0"/>
            <a:r>
              <a:rPr/>
              <a:t>The observed rows are a </a:t>
            </a:r>
            <a:r>
              <a:rPr b="1"/>
              <a:t>random sample</a:t>
            </a:r>
            <a:r>
              <a:rPr/>
              <a:t> of all rows</a:t>
            </a:r>
          </a:p>
          <a:p>
            <a:pPr lvl="0"/>
            <a:r>
              <a:rPr/>
              <a:t>Deleting rows loses power but does </a:t>
            </a:r>
            <a:r>
              <a:rPr b="1"/>
              <a:t>not</a:t>
            </a:r>
            <a:r>
              <a:rPr/>
              <a:t> bias estimates</a:t>
            </a:r>
          </a:p>
          <a:p>
            <a:pPr lvl="0"/>
            <a:r>
              <a:rPr/>
              <a:t>Rare in practice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MAR — missing at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>
                <a:latin typeface="Courier"/>
              </a:rPr>
              <a:t>P(missing)</a:t>
            </a:r>
            <a:r>
              <a:rPr/>
              <a:t> depends only on the </a:t>
            </a:r>
            <a:r>
              <a:rPr b="1"/>
              <a:t>observed</a:t>
            </a:r>
            <a:r>
              <a:rPr/>
              <a:t> variables.</a:t>
            </a:r>
          </a:p>
          <a:p>
            <a:pPr lvl="0"/>
            <a:r>
              <a:rPr b="1"/>
              <a:t>Example:</a:t>
            </a:r>
            <a:r>
              <a:rPr/>
              <a:t> troponin is ordered mostly for patients over 60 with chest pain</a:t>
            </a:r>
          </a:p>
          <a:p>
            <a:pPr lvl="1" indent="0" marL="342900">
              <a:buNone/>
            </a:pPr>
            <a:r>
              <a:rPr/>
              <a:t>→ missingness depends on </a:t>
            </a:r>
            <a:r>
              <a:rPr>
                <a:latin typeface="Courier"/>
              </a:rPr>
              <a:t>age</a:t>
            </a:r>
            <a:r>
              <a:rPr/>
              <a:t> and </a:t>
            </a:r>
            <a:r>
              <a:rPr>
                <a:latin typeface="Courier"/>
              </a:rPr>
              <a:t>symptom</a:t>
            </a:r>
            <a:r>
              <a:rPr/>
              <a:t>, both of which you </a:t>
            </a:r>
            <a:r>
              <a:rPr i="1"/>
              <a:t>have</a:t>
            </a:r>
          </a:p>
          <a:p>
            <a:pPr lvl="0"/>
            <a:r>
              <a:rPr/>
              <a:t>Given age and symptom, the missing troponins are random</a:t>
            </a:r>
          </a:p>
          <a:p>
            <a:pPr lvl="0"/>
            <a:r>
              <a:rPr b="1"/>
              <a:t>Good news:</a:t>
            </a:r>
            <a:r>
              <a:rPr/>
              <a:t> conditioning on the observed data fixes it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MNAR — missing not at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>
                <a:latin typeface="Courier"/>
              </a:rPr>
              <a:t>P(missing)</a:t>
            </a:r>
            <a:r>
              <a:rPr/>
              <a:t> depends on the </a:t>
            </a:r>
            <a:r>
              <a:rPr b="1"/>
              <a:t>unobserved value itself</a:t>
            </a:r>
            <a:r>
              <a:rPr/>
              <a:t>.</a:t>
            </a:r>
          </a:p>
          <a:p>
            <a:pPr lvl="0"/>
            <a:r>
              <a:rPr b="1"/>
              <a:t>Example:</a:t>
            </a:r>
            <a:r>
              <a:rPr/>
              <a:t> the 6-minute walk test is missing because the patient was </a:t>
            </a:r>
            <a:r>
              <a:rPr b="1"/>
              <a:t>too sick to walk</a:t>
            </a:r>
          </a:p>
          <a:p>
            <a:pPr lvl="0"/>
            <a:r>
              <a:rPr b="1"/>
              <a:t>Example:</a:t>
            </a:r>
            <a:r>
              <a:rPr/>
              <a:t> income missing precisely for the highest earners</a:t>
            </a:r>
          </a:p>
          <a:p>
            <a:pPr lvl="0"/>
            <a:r>
              <a:rPr b="1"/>
              <a:t>No imputation can recover this from the data alone</a:t>
            </a:r>
            <a:r>
              <a:rPr/>
              <a:t>: you need domain knowledge, an explicit model of the missingness, or a sensitivity analysis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Can I test the mechanism?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MCAR vs MAR is </a:t>
            </a:r>
            <a:r>
              <a:rPr b="1"/>
              <a:t>testable-ish</a:t>
            </a:r>
            <a:r>
              <a:rPr/>
              <a:t>: does missingness relate to observed columns?</a:t>
            </a:r>
          </a:p>
          <a:p>
            <a:pPr lvl="0" indent="0">
              <a:buNone/>
            </a:pPr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df[</a:t>
            </a:r>
            <a:r>
              <a:rPr>
                <a:solidFill>
                  <a:srgbClr val="4070A0"/>
                </a:solidFill>
                <a:latin typeface="Courier"/>
              </a:rPr>
              <a:t>"creatinine"</a:t>
            </a:r>
            <a:r>
              <a:rPr>
                <a:latin typeface="Courier"/>
              </a:rPr>
              <a:t>].isna()</a:t>
            </a:r>
            <a:br/>
            <a:r>
              <a:rPr>
                <a:latin typeface="Courier"/>
              </a:rPr>
              <a:t>df.groupby(m)[[</a:t>
            </a:r>
            <a:r>
              <a:rPr>
                <a:solidFill>
                  <a:srgbClr val="4070A0"/>
                </a:solidFill>
                <a:latin typeface="Courier"/>
              </a:rPr>
              <a:t>"age"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"heart_rate"</a:t>
            </a:r>
            <a:r>
              <a:rPr>
                <a:latin typeface="Courier"/>
              </a:rPr>
              <a:t>]].mean()</a:t>
            </a:r>
          </a:p>
          <a:p>
            <a:pPr lvl="0"/>
            <a:r>
              <a:rPr/>
              <a:t>MAR vs MNAR is </a:t>
            </a:r>
            <a:r>
              <a:rPr b="1"/>
              <a:t>not testable</a:t>
            </a:r>
            <a:r>
              <a:rPr/>
              <a:t> (the evidence is, by definition, missing)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Imputation strategies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Strategy</a:t>
                      </a:r>
                    </a:p>
                  </a:txBody>
                  <a:tcPr/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</a:t>
                      </a:r>
                    </a:p>
                  </a:txBody>
                  <a:tcPr/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</a:t>
                      </a:r>
                    </a:p>
                  </a:txBody>
                  <a:tcPr/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Drop rows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MCAR, few rows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 if not MCAR, power loss</a:t>
                      </a:r>
                    </a:p>
                  </a:txBody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Drop column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 ~50% missing, low value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Loses a real signal</a:t>
                      </a:r>
                    </a:p>
                  </a:txBody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/ median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Quick baseline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Shrinks variance, distorts correlations</a:t>
                      </a:r>
                    </a:p>
                  </a:txBody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LOCF / interpolate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 series, dense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Fakes stability, hides trends</a:t>
                      </a:r>
                    </a:p>
                  </a:txBody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kNN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Few features, MAR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Cost, scaling-sensitive</a:t>
                      </a:r>
                    </a:p>
                  </a:txBody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Iterative (MICE)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MAR, many features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Slower, must fit on train only</a:t>
                      </a:r>
                    </a:p>
                  </a:txBody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Model-native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Trees, LightGBM/XGBoost</a:t>
                      </a:r>
                    </a:p>
                  </a:txBody>
                </a:tc>
                <a:tc>
                  <a:txBody>
                    <a:bodyPr>
                      <a:normAutofit/>
                    </a:bodyPr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some learners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Simple imputation in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sklearn.impute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SimpleImputer</a:t>
            </a:r>
            <a:br/>
            <a:br/>
            <a:r>
              <a:rPr>
                <a:latin typeface="Courier"/>
              </a:rPr>
              <a:t>pipe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SimpleImputer(strategy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"median"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add_indicator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LogisticRegression(),</a:t>
            </a:r>
            <a:br/>
            <a:r>
              <a:rPr>
                <a:latin typeface="Courier"/>
              </a:rPr>
              <a:t>)</a:t>
            </a:r>
          </a:p>
          <a:p>
            <a:pPr lvl="0"/>
            <a:r>
              <a:rPr/>
              <a:t>Imputation is a </a:t>
            </a:r>
            <a:r>
              <a:rPr b="1"/>
              <a:t>fitted transform</a:t>
            </a:r>
            <a:r>
              <a:rPr/>
              <a:t>: it learns the medians</a:t>
            </a:r>
          </a:p>
          <a:p>
            <a:pPr lvl="0"/>
            <a:r>
              <a:rPr/>
              <a:t>Put it in the </a:t>
            </a:r>
            <a:r>
              <a:rPr b="1"/>
              <a:t>pipeline</a:t>
            </a:r>
            <a:r>
              <a:rPr/>
              <a:t>, so it is refit inside every CV fold</a:t>
            </a:r>
          </a:p>
          <a:p>
            <a:pPr lvl="0"/>
            <a:r>
              <a:rPr>
                <a:latin typeface="Courier"/>
              </a:rPr>
              <a:t>add_indicator=True</a:t>
            </a:r>
            <a:r>
              <a:rPr/>
              <a:t> gives you the missingness flag for free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Why single imputation is not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You filled in a number and then </a:t>
            </a:r>
            <a:r>
              <a:rPr b="1"/>
              <a:t>pretended you had measured it</a:t>
            </a:r>
            <a:r>
              <a:rPr/>
              <a:t>.</a:t>
            </a:r>
          </a:p>
          <a:p>
            <a:pPr lvl="0"/>
            <a:r>
              <a:rPr/>
              <a:t>The point estimate can be fine</a:t>
            </a:r>
          </a:p>
          <a:p>
            <a:pPr lvl="0"/>
            <a:r>
              <a:rPr/>
              <a:t>The </a:t>
            </a:r>
            <a:r>
              <a:rPr b="1"/>
              <a:t>standard errors are too small</a:t>
            </a:r>
            <a:r>
              <a:rPr/>
              <a:t>: the model has no idea the value was invented</a:t>
            </a:r>
          </a:p>
          <a:p>
            <a:pPr lvl="0"/>
            <a:r>
              <a:rPr/>
              <a:t>Consequence: over-confident intervals, over-confident p-values</a:t>
            </a:r>
          </a:p>
          <a:p>
            <a:pPr lvl="0" indent="0" marL="0">
              <a:buNone/>
            </a:pPr>
            <a:r>
              <a:rPr b="1"/>
              <a:t>Multiple imputation</a:t>
            </a:r>
            <a:r>
              <a:rPr/>
              <a:t> puts that uncertainty back in.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Multiple imputation (MICE)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 b="1"/>
              <a:t>Impute:</a:t>
            </a:r>
            <a:r>
              <a:rPr/>
              <a:t> build m complete datasets (typically m = 5 to 20), each drawing plausible values for a missing column from a model of that column given all the others</a:t>
            </a:r>
          </a:p>
          <a:p>
            <a:pPr lvl="0" indent="-342900" marL="342900">
              <a:buAutoNum type="arabicPeriod"/>
            </a:pPr>
            <a:r>
              <a:rPr b="1"/>
              <a:t>Analyse:</a:t>
            </a:r>
            <a:r>
              <a:rPr/>
              <a:t> run your full analysis </a:t>
            </a:r>
            <a:r>
              <a:rPr i="1"/>
              <a:t>separately</a:t>
            </a:r>
            <a:r>
              <a:rPr/>
              <a:t> on each of the m datasets</a:t>
            </a:r>
          </a:p>
          <a:p>
            <a:pPr lvl="0" indent="-342900" marL="342900">
              <a:buAutoNum type="arabicPeriod"/>
            </a:pPr>
            <a:r>
              <a:rPr b="1"/>
              <a:t>Pool:</a:t>
            </a:r>
            <a:r>
              <a:rPr/>
              <a:t> combine the m results with </a:t>
            </a:r>
            <a:r>
              <a:rPr b="1"/>
              <a:t>Rubin’s rules</a:t>
            </a:r>
          </a:p>
          <a:p>
            <a:pPr lvl="0"/>
            <a:r>
              <a:rPr/>
              <a:t>The m datasets differ </a:t>
            </a:r>
            <a:r>
              <a:rPr b="1"/>
              <a:t>only where data was missing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Rubin’s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>
                <a:latin typeface="Courier"/>
              </a:rPr>
              <a:t>Q_bar = mean(Q_1, ..., Q_m)
T     = U_bar + (1 + 1/m) * B</a:t>
            </a:r>
          </a:p>
          <a:p>
            <a:pPr lvl="0"/>
            <a:r>
              <a:rPr>
                <a:latin typeface="Courier"/>
              </a:rPr>
              <a:t>Q_bar</a:t>
            </a:r>
            <a:r>
              <a:rPr/>
              <a:t>: the </a:t>
            </a:r>
            <a:r>
              <a:rPr b="1"/>
              <a:t>pooled estimate</a:t>
            </a:r>
            <a:r>
              <a:rPr/>
              <a:t>, </a:t>
            </a:r>
            <a:r>
              <a:rPr>
                <a:latin typeface="Courier"/>
              </a:rPr>
              <a:t>T</a:t>
            </a:r>
            <a:r>
              <a:rPr/>
              <a:t>: its </a:t>
            </a:r>
            <a:r>
              <a:rPr b="1"/>
              <a:t>total variance</a:t>
            </a:r>
          </a:p>
          <a:p>
            <a:pPr lvl="0"/>
            <a:r>
              <a:rPr>
                <a:latin typeface="Courier"/>
              </a:rPr>
              <a:t>U_bar</a:t>
            </a:r>
            <a:r>
              <a:rPr/>
              <a:t>: mean of the m sampling variances</a:t>
            </a:r>
          </a:p>
          <a:p>
            <a:pPr lvl="0"/>
            <a:r>
              <a:rPr>
                <a:latin typeface="Courier"/>
              </a:rPr>
              <a:t>B</a:t>
            </a:r>
            <a:r>
              <a:rPr/>
              <a:t>: variance </a:t>
            </a:r>
            <a:r>
              <a:rPr b="1"/>
              <a:t>of</a:t>
            </a:r>
            <a:r>
              <a:rPr/>
              <a:t> the m estimates (“the imputation uncertainty”)</a:t>
            </a:r>
          </a:p>
          <a:p>
            <a:pPr lvl="0"/>
            <a:r>
              <a:rPr/>
              <a:t>That second term </a:t>
            </a:r>
            <a:r>
              <a:rPr>
                <a:latin typeface="Courier"/>
              </a:rPr>
              <a:t>(1 + 1/m) * B</a:t>
            </a:r>
            <a:r>
              <a:rPr/>
              <a:t> is what single imputation throws away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 Feature Engineering &amp; Missing Data</dc:title>
  <dc:creator>Paul Dubois</dc:creator>
  <cp:keywords/>
  <dcterms:created xsi:type="dcterms:W3CDTF">2026-09-05T21:53:30Z</dcterms:created>
  <dcterms:modified xsi:type="dcterms:W3CDTF">2026-09-05T21:53:30Z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Week 2 — Lecture</vt:lpwstr>
  </property>
  <property fmtid="{D5CDD505-2E9C-101B-9397-08002B2CF9AE}" pid="3" name="subtitle">
    <vt:lpwstr>Advanced Data Science · NYU Paris · 2026</vt:lpwstr>
  </property>
</Properties>
</file>