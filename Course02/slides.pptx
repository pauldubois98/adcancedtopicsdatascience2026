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notesMaster" Target="notesMasters/notesMaster1.xml" /><Relationship Id="rId56" Type="http://schemas.openxmlformats.org/officeDocument/2006/relationships/viewProps" Target="viewProps.xml" /><Relationship Id="rId55" Type="http://schemas.openxmlformats.org/officeDocument/2006/relationships/presProps" Target="presProps.xml" /><Relationship Id="rId1" Type="http://schemas.openxmlformats.org/officeDocument/2006/relationships/slideMaster" Target="slideMasters/slideMaster1.xml" /><Relationship Id="rId58" Type="http://schemas.openxmlformats.org/officeDocument/2006/relationships/tableStyles" Target="tableStyles.xml" /><Relationship Id="rId5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point of the section: most of the accuracy on tabular and time-stamped data comes from the feature table, not from the estimator.</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Ask the room what a “night admission” flag could proxy for: severity, staffing levels, a different referral path.</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the model is handed a number, so it measures 23 hours between an admission at 23:00 and one at midnight — two events one hour apart. Right: sin and cos put the clock back on a circle, where the two are neighbours again. The third panel is the answer to “why two columns?”: sin alone gives 6h and 18h the same value. You need both coordinates to name a point on a circle. Reminder that trees do not care — they can cut the raw hour at 23 and at 0 — but any linear model or network does.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patient, thirty hours, measured whenever someone decided to measure them. The two arrows are the two columns: time since admission, and time since the previous observation. The lower panel is the part students miss. The gaps are shrinking, and nobody wrote that down — it is a side effect of a nurse deciding to check more often. The sampling rate is a feature, and often a strong one. Warn them of the flip side: it is also a leakage risk, because the measurement schedule can encode the outcome.</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windows, all ending at the same moment, all producing plain columns. Read the numbers off the right: the 6h mean is 84 and the 24h mean is 80, and the difference between them is a trend detector that costs one subtraction. Point at the irregular spacing again: this is why the window must be “6h” and not “the last 6 rows” — six rows can be forty minutes or fourteen hours.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Sliding is the default for online prediction; tumbling is what you want when building a training set where rows should be near-independent.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signal, three different training tables. Sliding gives one row per moment and consecutive rows share almost all their data — fine for prediction, dangerous when you then do a random train/test split, because the neighbours of a test row are in the training set. Tumbling gives fewer, near-independent rows. Expanding answers “how has the whole stay been?” and grows without bound.</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first rows are necessarily missing — that is normal, not a bug. But long lag chains explode the missing rate: keep lags short and few. This is a good place to announce part 2.</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step of the series, annotated three ways: where it was, how much it moved, how fast it moved. The rate is the one that survives irregular sampling — a jump of +10 means something very different over twenty minutes than over six hours. The black point is the honest caveat: lags are missing at the start of every patient, by construction. Chain four of them and a quarter of your table is holes, which is exactly the bridge into part 3.</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the raw length of stay. Half the axis is occupied by a few dozen patients, and under squared error those few decide the fit. Right: after log1p the shape is close to symmetric. The sentence that makes it click: on a log axis, a fixed distance is a fixed RATIO. +0.69 is “twice as long”, whether you started at 2 days or at 40. That is usually the scale the clinical question actually lives on.</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one column becomes three, one of which is 1. Right: what the integer shortcut would have told the model — that the three categories are evenly spaced and that “elective” sits between the other two. Neither is true, and a linear model will act on both. Mention the practical footnotes: </a:t>
            </a:r>
            <a:r>
              <a:rPr>
                <a:latin typeface="Courier"/>
              </a:rPr>
              <a:t>handle_unknown="ignore"</a:t>
            </a:r>
            <a:r>
              <a:rPr/>
              <a:t> for levels that only appear at test time, and that high-cardinality columns are where one-hot stops being reasonable — which is the “learned embeddings” slide later.</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columns on one axis: creatinine is the red sliver at the left. Any distance between two patients is decided entirely by the heart rate; the creatinine difference moves it by 0.004. Same story for an L2 penalty, which is measured in the units of each coefficient. Then the rule and its trap: fit the scaler on the training fold ONLY. A scaler fitted on the whole dataset has already seen the test rows’ mean, which is leakage — Session 3 builds the pipeline that makes this automatic.</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truth here is a step: risk jumps at 65 and again at 80. The straight red line has to average across the jump and is wrong nearly everywhere; the green bands sit on the data. Two honest costs: everyone inside a band is now identical, so you lost resolution, and the cut points came from you, not from the data. Using the bands clinicians already use is a defensible choice; picking cut points by looking at the outcome is not — that is fitting on the test set by hand.</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In-hospital risk really is U-shaped in age. A single linear term has one slope to spend, so it splits the difference and reports a gentle rise. Add age² and the same linear model traces the U exactly — it is still linear in the weights, which is the point that surprises people. Two warnings on the slide: standardise first, or age² is in the tens of thousands and dominates every penalty; and stop at degree 2 or 3 unless you have a reason.</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an additive model. It is free to give age its own effect and creatinine its own, but the two lines are forced to stay parallel — creatinine has to mean the same thing at 30 as at 85. Right: with the product term, the lines can diverge, and a creatinine of 1.4 becomes mild in the young patient and alarming in the old one. Worth saying: trees get this for free, because a split inside a split IS an interaction. Linear models and, to a lesser extent, networks need you to hand it over.</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95 bpm is +2.6 standard deviations on a general ward and dead average in the ICU. The raw column says one thing; the within-group z-score says what a clinician would say. This also removes a site effect you do not want learned: if the ICU has both higher heart rates and worse outcomes, the raw column lets the model use “heart rate” as a proxy for “which ward”, and that will not transfer to a hospital with a different case mix. Same trick per patient — deviation from their own baseline — is often stronger still.</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Top: one-hot for 15 000 ICD-10 codes — one row is 14 999 zeros and a single 1, and every code is exactly as far from every other. The model cannot know that two cardiac codes are related. Bottom: 32 numbers per code, learned jointly with the classifier, so codes that behave alike end up close. Right: that learned space is worth looking at. Clusters that match clinical groupings are a sanity check; clusters that match something else — a coding habit, a particular hospital — are a warning. Flag that this is the first appearance of representation learning, which is the rest of the course.</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first thing to run on any new table. Rows are features, columns are patients, black is missing. Read the structure out loud: age and sex are complete, bp has scattered holes, and troponin, lactate and walk_test go missing in blocks. Blocks mean a REASON — a test that is only ordered for certain patients, a device only present in the ICU. That reason is often predictive, which is why </a:t>
            </a:r>
            <a:r>
              <a:rPr>
                <a:latin typeface="Courier"/>
              </a:rPr>
              <a:t>add_indicator=True</a:t>
            </a:r>
            <a:r>
              <a:rPr/>
              <a:t> is nearly free accuracy. Also point at hr_lag1: those holes are ones we manufactured last section.</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Write P(missing) on the board and ask, for each mechanism, what it is allowed to be a function of. The mechanism decides which methods are unbiased.</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320 patients, same troponin, three different reasons for the crosses to be missing. Compare the dashed line (the mean of what you kept) with the solid one (the truth). MCAR: the crosses are scattered, the dashed line sits on the solid one, and you have lost only power. MAR: missingness follows AGE, which you have — the marginal mean is biased, but a model that conditions on age can undo it. MNAR: missingness follows the troponin itself, so the whole top of the distribution is gone and your mean is off by 0.6 with nothing in the data to warn you. Say the operational consequence: the first two are handled by method; the third is handled by domain knowledge and a sensitivity analysis, and by writing down what you assumed.</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Insist: “MAR” is an assumption you defend, not a property you prove.</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fill 35% of a column with its mean and you get a spike no patient sits on, and the variance drops from 1.26 to 1.05. Every downstream standard error is now too small. Right: worse than the histogram. Every imputed patient is given the same value regardless of age, so the imputed points lie on a flat line and the correlation with age falls from 0.88 to 0.75. Mean imputation does not just add noise — it actively pulls relationships toward zero. That is the argument for conditional imputation (kNN, MICE) and for keeping the indicator column.</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m completed tables that are identical everywhere except in the holes, where each draws a plausible value from a model of that column given the others. Right: run the analysis m times and the answers disagree — that disagreement is the information single imputation destroys. The pooled interval (black) is wider than the single-imputation one (red), and it is wider by exactly the amount your uncertainty was understated. If they take one thing: the point estimate barely moved; the honesty of the interval is what changed.</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second formula left to right. Ū is the uncertainty you would have had with complete data, averaged over the m runs. B is how much the m estimates disagree — the price of not having measured the value. The (1 + 1/m) is a small-sample correction: with m = 5 you pay 20% extra for having used finitely many imputations. Single imputation reports Ū and stops. Everything to the right of the plus sign is what it throws away, and it is often the larger term.</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 Id="rId3" Type="http://schemas.openxmlformats.org/officeDocument/2006/relationships/image" Target="../media/image1.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image" Target="../media/image2.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 Id="rId3" Type="http://schemas.openxmlformats.org/officeDocument/2006/relationships/image" Target="../media/image3.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 Id="rId3" Type="http://schemas.openxmlformats.org/officeDocument/2006/relationships/image" Target="../media/image4.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 Id="rId3" Type="http://schemas.openxmlformats.org/officeDocument/2006/relationships/image" Target="../media/image5.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 Id="rId3" Type="http://schemas.openxmlformats.org/officeDocument/2006/relationships/image" Target="../media/image6.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 Id="rId3" Type="http://schemas.openxmlformats.org/officeDocument/2006/relationships/image" Target="../media/image7.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 Id="rId3" Type="http://schemas.openxmlformats.org/officeDocument/2006/relationships/image" Target="../media/image8.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 Id="rId3" Type="http://schemas.openxmlformats.org/officeDocument/2006/relationships/image" Target="../media/image9.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 Id="rId3" Type="http://schemas.openxmlformats.org/officeDocument/2006/relationships/image" Target="../media/image10.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 Id="rId3" Type="http://schemas.openxmlformats.org/officeDocument/2006/relationships/image" Target="../media/image11.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 Id="rId3" Type="http://schemas.openxmlformats.org/officeDocument/2006/relationships/image" Target="../media/image12.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 Id="rId3" Type="http://schemas.openxmlformats.org/officeDocument/2006/relationships/image" Target="../media/image13.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 Id="rId3" Type="http://schemas.openxmlformats.org/officeDocument/2006/relationships/image" Target="../media/image14.png"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 Id="rId3" Type="http://schemas.openxmlformats.org/officeDocument/2006/relationships/image" Target="../media/image15.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 Id="rId3" Type="http://schemas.openxmlformats.org/officeDocument/2006/relationships/image" Target="../media/image16.png"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 Id="rId3" Type="http://schemas.openxmlformats.org/officeDocument/2006/relationships/image" Target="../media/image17.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4.xml" /><Relationship Id="rId3" Type="http://schemas.openxmlformats.org/officeDocument/2006/relationships/image" Target="../media/image18.png"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normAutofit/>
          </a:bodyPr>
          <a:lstStyle/>
          <a:p>
            <a:pPr lvl="0" indent="0" marL="0">
              <a:buNone/>
            </a:pPr>
            <a:r>
              <a:rPr/>
              <a:t>Session 2</a:t>
            </a:r>
            <a:br/>
            <a:r>
              <a:rPr/>
              <a:t>Feature Engineering &amp; Missing Data</a:t>
            </a:r>
          </a:p>
        </p:txBody>
      </p:sp>
      <p:sp>
        <p:nvSpPr>
          <p:cNvPr id="3" name="Subtitle 2"/>
          <p:cNvSpPr>
            <a:spLocks noGrp="1"/>
          </p:cNvSpPr>
          <p:nvPr>
            <p:ph idx="1" type="subTitle"/>
          </p:nvPr>
        </p:nvSpPr>
        <p:spPr>
          <a:xfrm>
            <a:off x="1371600" y="2914650"/>
            <a:ext cx="6400800" cy="1314450"/>
          </a:xfrm>
        </p:spPr>
        <p:txBody>
          <a:bodyPr>
            <a:normAutofit/>
          </a:bodyPr>
          <a:lstStyle/>
          <a:p>
            <a:pPr lvl="0" indent="0" marL="0">
              <a:buNone/>
            </a:pPr>
            <a:r>
              <a:rPr/>
              <a:t>Advanced Data Science · NYU Paris · 2026</a:t>
            </a:r>
            <a:br/>
            <a:br/>
            <a:r>
              <a:rPr/>
              <a:t>Paul Dubois</a:t>
            </a:r>
          </a:p>
        </p:txBody>
      </p:sp>
      <p:sp>
        <p:nvSpPr>
          <p:cNvPr id="4" name="Date Placeholder 3"/>
          <p:cNvSpPr>
            <a:spLocks noGrp="1"/>
          </p:cNvSpPr>
          <p:nvPr>
            <p:ph idx="10" sz="half" type="dt"/>
          </p:nvPr>
        </p:nvSpPr>
        <p:spPr/>
        <p:txBody>
          <a:bodyPr>
            <a:normAutofit/>
          </a:bodyPr>
          <a:lstStyle/>
          <a:p>
            <a:pPr lvl="0" indent="0" marL="0">
              <a:buNone/>
            </a:pPr>
            <a:r>
              <a:rPr/>
              <a:t>Week 2 — Lecture</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ormAutofit/>
          </a:bodyPr>
          <a:lstStyle/>
          <a:p>
            <a:pPr lvl="0" indent="0" marL="0">
              <a:buNone/>
            </a:pPr>
            <a:r>
              <a:rPr/>
              <a:t>1. Feature engineering</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What is feature engineering?</a:t>
            </a:r>
          </a:p>
        </p:txBody>
      </p:sp>
      <p:sp>
        <p:nvSpPr>
          <p:cNvPr id="3" name="Content Placeholder 2"/>
          <p:cNvSpPr>
            <a:spLocks noGrp="1"/>
          </p:cNvSpPr>
          <p:nvPr>
            <p:ph idx="1"/>
          </p:nvPr>
        </p:nvSpPr>
        <p:spPr/>
        <p:txBody>
          <a:bodyPr anchor="ctr">
            <a:normAutofit/>
          </a:bodyPr>
          <a:lstStyle/>
          <a:p>
            <a:pPr lvl="0" indent="0" marL="0" algn="ctr">
              <a:buNone/>
            </a:pPr>
            <a:r>
              <a:rPr sz="2000"/>
              <a:t>Turning </a:t>
            </a:r>
            <a:r>
              <a:rPr sz="2000" b="1"/>
              <a:t>raw records</a:t>
            </a:r>
            <a:r>
              <a:rPr sz="2000"/>
              <a:t> into </a:t>
            </a:r>
            <a:r>
              <a:rPr sz="2000" b="1"/>
              <a:t>columns a model can learn from</a:t>
            </a:r>
            <a:r>
              <a:rPr sz="2000"/>
              <a:t>.</a:t>
            </a:r>
          </a:p>
          <a:p>
            <a:pPr lvl="0"/>
            <a:r>
              <a:rPr/>
              <a:t>The model only sees the features you give it</a:t>
            </a:r>
          </a:p>
          <a:p>
            <a:pPr lvl="0"/>
            <a:r>
              <a:rPr/>
              <a:t>A good feature encodes something you know about the </a:t>
            </a:r>
            <a:r>
              <a:rPr i="1"/>
              <a:t>domain</a:t>
            </a:r>
            <a:r>
              <a:rPr/>
              <a:t> or the </a:t>
            </a:r>
            <a:r>
              <a:rPr i="1"/>
              <a:t>data-generating process</a:t>
            </a:r>
          </a:p>
          <a:p>
            <a:pPr lvl="0"/>
            <a:r>
              <a:rPr/>
              <a:t>Cheap features often beat expensive models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Three families of time-aware features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normAutofit/>
                    </a:bodyPr>
                    <a:lstStyle/>
                    <a:p>
                      <a:pPr lvl="0" indent="0" marL="0">
                        <a:buNone/>
                      </a:pPr>
                      <a:r>
                        <a:rPr/>
                        <a:t>Family</a:t>
                      </a:r>
                    </a:p>
                  </a:txBody>
                  <a:tcPr/>
                </a:tc>
                <a:tc>
                  <a:txBody>
                    <a:bodyPr>
                      <a:normAutofit/>
                    </a:bodyPr>
                    <a:lstStyle/>
                    <a:p>
                      <a:pPr lvl="0" indent="0" marL="0">
                        <a:buNone/>
                      </a:pPr>
                      <a:r>
                        <a:rPr/>
                        <a:t>Answers</a:t>
                      </a:r>
                    </a:p>
                  </a:txBody>
                  <a:tcPr/>
                </a:tc>
              </a:tr>
              <a:tr h="0">
                <a:tc>
                  <a:txBody>
                    <a:bodyPr>
                      <a:normAutofit/>
                    </a:bodyPr>
                    <a:lstStyle/>
                    <a:p>
                      <a:pPr lvl="0" indent="0" marL="0">
                        <a:buNone/>
                      </a:pPr>
                      <a:r>
                        <a:rPr b="1"/>
                        <a:t>Temporal</a:t>
                      </a:r>
                    </a:p>
                  </a:txBody>
                </a:tc>
                <a:tc>
                  <a:txBody>
                    <a:bodyPr>
                      <a:normAutofit/>
                    </a:bodyPr>
                    <a:lstStyle/>
                    <a:p>
                      <a:pPr lvl="0" indent="0" marL="0">
                        <a:buNone/>
                      </a:pPr>
                      <a:r>
                        <a:rPr i="1"/>
                        <a:t>When</a:t>
                      </a:r>
                      <a:r>
                        <a:rPr/>
                        <a:t> did it happen?</a:t>
                      </a:r>
                    </a:p>
                  </a:txBody>
                </a:tc>
              </a:tr>
              <a:tr h="0">
                <a:tc>
                  <a:txBody>
                    <a:bodyPr>
                      <a:normAutofit/>
                    </a:bodyPr>
                    <a:lstStyle/>
                    <a:p>
                      <a:pPr lvl="0" indent="0" marL="0">
                        <a:buNone/>
                      </a:pPr>
                      <a:r>
                        <a:rPr b="1"/>
                        <a:t>Aggregation windows</a:t>
                      </a:r>
                    </a:p>
                  </a:txBody>
                </a:tc>
                <a:tc>
                  <a:txBody>
                    <a:bodyPr>
                      <a:normAutofit/>
                    </a:bodyPr>
                    <a:lstStyle/>
                    <a:p>
                      <a:pPr lvl="0" indent="0" marL="0">
                        <a:buNone/>
                      </a:pPr>
                      <a:r>
                        <a:rPr/>
                        <a:t>What has it been like </a:t>
                      </a:r>
                      <a:r>
                        <a:rPr i="1"/>
                        <a:t>recently</a:t>
                      </a:r>
                      <a:r>
                        <a:rPr/>
                        <a:t>?</a:t>
                      </a:r>
                    </a:p>
                  </a:txBody>
                </a:tc>
              </a:tr>
              <a:tr h="0">
                <a:tc>
                  <a:txBody>
                    <a:bodyPr>
                      <a:normAutofit/>
                    </a:bodyPr>
                    <a:lstStyle/>
                    <a:p>
                      <a:pPr lvl="0" indent="0" marL="0">
                        <a:buNone/>
                      </a:pPr>
                      <a:r>
                        <a:rPr b="1"/>
                        <a:t>Lags</a:t>
                      </a:r>
                    </a:p>
                  </a:txBody>
                </a:tc>
                <a:tc>
                  <a:txBody>
                    <a:bodyPr>
                      <a:normAutofit/>
                    </a:bodyPr>
                    <a:lstStyle/>
                    <a:p>
                      <a:pPr lvl="0" indent="0" marL="0">
                        <a:buNone/>
                      </a:pPr>
                      <a:r>
                        <a:rPr/>
                        <a:t>What was it </a:t>
                      </a:r>
                      <a:r>
                        <a:rPr i="1"/>
                        <a:t>before</a:t>
                      </a:r>
                      <a:r>
                        <a:rPr/>
                        <a:t>, and how fast is it moving?</a:t>
                      </a:r>
                    </a:p>
                  </a:txBody>
                </a:tc>
              </a:tr>
            </a:tbl>
          </a:graphicData>
        </a:graphic>
      </p:graphicFrame>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Temporal features: decompose the timestamp</a:t>
            </a:r>
          </a:p>
        </p:txBody>
      </p:sp>
      <p:sp>
        <p:nvSpPr>
          <p:cNvPr id="3" name="Content Placeholder 2"/>
          <p:cNvSpPr>
            <a:spLocks noGrp="1"/>
          </p:cNvSpPr>
          <p:nvPr>
            <p:ph idx="1"/>
          </p:nvPr>
        </p:nvSpPr>
        <p:spPr/>
        <p:txBody>
          <a:bodyPr>
            <a:normAutofit/>
          </a:bodyPr>
          <a:lstStyle/>
          <a:p>
            <a:pPr lvl="0" indent="0" marL="0">
              <a:buNone/>
            </a:pPr>
            <a:r>
              <a:rPr/>
              <a:t>A timestamp is a terrible feature; what it </a:t>
            </a:r>
            <a:r>
              <a:rPr i="1"/>
              <a:t>contains</a:t>
            </a:r>
            <a:r>
              <a:rPr/>
              <a:t> is not:</a:t>
            </a:r>
          </a:p>
          <a:p>
            <a:pPr lvl="0" indent="0">
              <a:buNone/>
            </a:pPr>
            <a:r>
              <a:rPr>
                <a:latin typeface="Courier"/>
              </a:rPr>
              <a:t>h </a:t>
            </a:r>
            <a:r>
              <a:rPr>
                <a:solidFill>
                  <a:srgbClr val="666666"/>
                </a:solidFill>
                <a:latin typeface="Courier"/>
              </a:rPr>
              <a:t>=</a:t>
            </a:r>
            <a:r>
              <a:rPr>
                <a:latin typeface="Courier"/>
              </a:rPr>
              <a:t> ts.dt.hour</a:t>
            </a:r>
            <a:br/>
            <a:r>
              <a:rPr>
                <a:latin typeface="Courier"/>
              </a:rPr>
              <a:t>df[</a:t>
            </a:r>
            <a:r>
              <a:rPr>
                <a:solidFill>
                  <a:srgbClr val="4070A0"/>
                </a:solidFill>
                <a:latin typeface="Courier"/>
              </a:rPr>
              <a:t>"hour"</a:t>
            </a:r>
            <a:r>
              <a:rPr>
                <a:latin typeface="Courier"/>
              </a:rPr>
              <a:t>] </a:t>
            </a:r>
            <a:r>
              <a:rPr>
                <a:solidFill>
                  <a:srgbClr val="666666"/>
                </a:solidFill>
                <a:latin typeface="Courier"/>
              </a:rPr>
              <a:t>=</a:t>
            </a:r>
            <a:r>
              <a:rPr>
                <a:latin typeface="Courier"/>
              </a:rPr>
              <a:t> h                </a:t>
            </a:r>
            <a:r>
              <a:rPr i="1">
                <a:solidFill>
                  <a:srgbClr val="60A0B0"/>
                </a:solidFill>
                <a:latin typeface="Courier"/>
              </a:rPr>
              <a:t># 0-23</a:t>
            </a:r>
            <a:br/>
            <a:r>
              <a:rPr>
                <a:latin typeface="Courier"/>
              </a:rPr>
              <a:t>df[</a:t>
            </a:r>
            <a:r>
              <a:rPr>
                <a:solidFill>
                  <a:srgbClr val="4070A0"/>
                </a:solidFill>
                <a:latin typeface="Courier"/>
              </a:rPr>
              <a:t>"dow"</a:t>
            </a:r>
            <a:r>
              <a:rPr>
                <a:latin typeface="Courier"/>
              </a:rPr>
              <a:t>]  </a:t>
            </a:r>
            <a:r>
              <a:rPr>
                <a:solidFill>
                  <a:srgbClr val="666666"/>
                </a:solidFill>
                <a:latin typeface="Courier"/>
              </a:rPr>
              <a:t>=</a:t>
            </a:r>
            <a:r>
              <a:rPr>
                <a:latin typeface="Courier"/>
              </a:rPr>
              <a:t> ts.dt.dayofweek  </a:t>
            </a:r>
            <a:r>
              <a:rPr i="1">
                <a:solidFill>
                  <a:srgbClr val="60A0B0"/>
                </a:solidFill>
                <a:latin typeface="Courier"/>
              </a:rPr>
              <a:t># 0=Mon</a:t>
            </a:r>
            <a:br/>
            <a:r>
              <a:rPr>
                <a:latin typeface="Courier"/>
              </a:rPr>
              <a:t>df[</a:t>
            </a:r>
            <a:r>
              <a:rPr>
                <a:solidFill>
                  <a:srgbClr val="4070A0"/>
                </a:solidFill>
                <a:latin typeface="Courier"/>
              </a:rPr>
              <a:t>"is_weekend"</a:t>
            </a:r>
            <a:r>
              <a:rPr>
                <a:latin typeface="Courier"/>
              </a:rPr>
              <a:t>] </a:t>
            </a:r>
            <a:r>
              <a:rPr>
                <a:solidFill>
                  <a:srgbClr val="666666"/>
                </a:solidFill>
                <a:latin typeface="Courier"/>
              </a:rPr>
              <a:t>=</a:t>
            </a:r>
            <a:r>
              <a:rPr>
                <a:latin typeface="Courier"/>
              </a:rPr>
              <a:t> df[</a:t>
            </a:r>
            <a:r>
              <a:rPr>
                <a:solidFill>
                  <a:srgbClr val="4070A0"/>
                </a:solidFill>
                <a:latin typeface="Courier"/>
              </a:rPr>
              <a:t>"dow"</a:t>
            </a:r>
            <a:r>
              <a:rPr>
                <a:latin typeface="Courier"/>
              </a:rPr>
              <a:t>] </a:t>
            </a:r>
            <a:r>
              <a:rPr>
                <a:solidFill>
                  <a:srgbClr val="666666"/>
                </a:solidFill>
                <a:latin typeface="Courier"/>
              </a:rPr>
              <a:t>&gt;=</a:t>
            </a:r>
            <a:r>
              <a:rPr>
                <a:latin typeface="Courier"/>
              </a:rPr>
              <a:t> </a:t>
            </a:r>
            <a:r>
              <a:rPr>
                <a:solidFill>
                  <a:srgbClr val="40A070"/>
                </a:solidFill>
                <a:latin typeface="Courier"/>
              </a:rPr>
              <a:t>5</a:t>
            </a:r>
            <a:br/>
            <a:r>
              <a:rPr>
                <a:latin typeface="Courier"/>
              </a:rPr>
              <a:t>df[</a:t>
            </a:r>
            <a:r>
              <a:rPr>
                <a:solidFill>
                  <a:srgbClr val="4070A0"/>
                </a:solidFill>
                <a:latin typeface="Courier"/>
              </a:rPr>
              <a:t>"is_night"</a:t>
            </a:r>
            <a:r>
              <a:rPr>
                <a:latin typeface="Courier"/>
              </a:rPr>
              <a:t>]   </a:t>
            </a:r>
            <a:r>
              <a:rPr>
                <a:solidFill>
                  <a:srgbClr val="666666"/>
                </a:solidFill>
                <a:latin typeface="Courier"/>
              </a:rPr>
              <a:t>=</a:t>
            </a:r>
            <a:r>
              <a:rPr>
                <a:latin typeface="Courier"/>
              </a:rPr>
              <a:t> h.between(</a:t>
            </a:r>
            <a:r>
              <a:rPr>
                <a:solidFill>
                  <a:srgbClr val="40A070"/>
                </a:solidFill>
                <a:latin typeface="Courier"/>
              </a:rPr>
              <a:t>0</a:t>
            </a:r>
            <a:r>
              <a:rPr>
                <a:latin typeface="Courier"/>
              </a:rPr>
              <a:t>, </a:t>
            </a:r>
            <a:r>
              <a:rPr>
                <a:solidFill>
                  <a:srgbClr val="40A070"/>
                </a:solidFill>
                <a:latin typeface="Courier"/>
              </a:rPr>
              <a:t>6</a:t>
            </a:r>
            <a:r>
              <a:rPr>
                <a:latin typeface="Courier"/>
              </a:rPr>
              <a:t>)</a:t>
            </a:r>
            <a:br/>
            <a:r>
              <a:rPr>
                <a:latin typeface="Courier"/>
              </a:rPr>
              <a:t>df[</a:t>
            </a:r>
            <a:r>
              <a:rPr>
                <a:solidFill>
                  <a:srgbClr val="4070A0"/>
                </a:solidFill>
                <a:latin typeface="Courier"/>
              </a:rPr>
              <a:t>"month"</a:t>
            </a:r>
            <a:r>
              <a:rPr>
                <a:latin typeface="Courier"/>
              </a:rPr>
              <a:t>]      </a:t>
            </a:r>
            <a:r>
              <a:rPr>
                <a:solidFill>
                  <a:srgbClr val="666666"/>
                </a:solidFill>
                <a:latin typeface="Courier"/>
              </a:rPr>
              <a:t>=</a:t>
            </a:r>
            <a:r>
              <a:rPr>
                <a:latin typeface="Courier"/>
              </a:rPr>
              <a:t> ts.dt.month</a:t>
            </a:r>
          </a:p>
          <a:p>
            <a:pPr lvl="0"/>
            <a:r>
              <a:rPr/>
              <a:t>Captures </a:t>
            </a:r>
            <a:r>
              <a:rPr b="1"/>
              <a:t>admission at 3am</a:t>
            </a:r>
            <a:r>
              <a:rPr/>
              <a:t> vs </a:t>
            </a:r>
            <a:r>
              <a:rPr b="1"/>
              <a:t>admission at 3pm</a:t>
            </a:r>
          </a:p>
          <a:p>
            <a:pPr lvl="0"/>
            <a:r>
              <a:rPr/>
              <a:t>Captures staffing, seasonality, weekend effects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Temporal features: cyclical encoding</a:t>
            </a:r>
          </a:p>
        </p:txBody>
      </p:sp>
      <p:sp>
        <p:nvSpPr>
          <p:cNvPr id="3" name="Content Placeholder 2"/>
          <p:cNvSpPr>
            <a:spLocks noGrp="1"/>
          </p:cNvSpPr>
          <p:nvPr>
            <p:ph idx="1"/>
          </p:nvPr>
        </p:nvSpPr>
        <p:spPr/>
        <p:txBody>
          <a:bodyPr>
            <a:normAutofit/>
          </a:bodyPr>
          <a:lstStyle/>
          <a:p>
            <a:pPr lvl="0" indent="0" marL="0">
              <a:buNone/>
            </a:pPr>
            <a:r>
              <a:rPr/>
              <a:t>Hour 23 and hour 0 are </a:t>
            </a:r>
            <a:r>
              <a:rPr b="1"/>
              <a:t>one hour apart</a:t>
            </a:r>
            <a:r>
              <a:rPr/>
              <a:t>, not 23:</a:t>
            </a:r>
          </a:p>
          <a:p>
            <a:pPr lvl="0" indent="0">
              <a:buNone/>
            </a:pPr>
            <a:r>
              <a:rPr>
                <a:latin typeface="Courier"/>
              </a:rPr>
              <a:t>theta </a:t>
            </a:r>
            <a:r>
              <a:rPr>
                <a:solidFill>
                  <a:srgbClr val="666666"/>
                </a:solidFill>
                <a:latin typeface="Courier"/>
              </a:rPr>
              <a:t>=</a:t>
            </a:r>
            <a:r>
              <a:rPr>
                <a:latin typeface="Courier"/>
              </a:rPr>
              <a:t> </a:t>
            </a:r>
            <a:r>
              <a:rPr>
                <a:solidFill>
                  <a:srgbClr val="40A070"/>
                </a:solidFill>
                <a:latin typeface="Courier"/>
              </a:rPr>
              <a:t>2</a:t>
            </a:r>
            <a:r>
              <a:rPr>
                <a:latin typeface="Courier"/>
              </a:rPr>
              <a:t> </a:t>
            </a:r>
            <a:r>
              <a:rPr>
                <a:solidFill>
                  <a:srgbClr val="666666"/>
                </a:solidFill>
                <a:latin typeface="Courier"/>
              </a:rPr>
              <a:t>*</a:t>
            </a:r>
            <a:r>
              <a:rPr>
                <a:latin typeface="Courier"/>
              </a:rPr>
              <a:t> np.pi </a:t>
            </a:r>
            <a:r>
              <a:rPr>
                <a:solidFill>
                  <a:srgbClr val="666666"/>
                </a:solidFill>
                <a:latin typeface="Courier"/>
              </a:rPr>
              <a:t>*</a:t>
            </a:r>
            <a:r>
              <a:rPr>
                <a:latin typeface="Courier"/>
              </a:rPr>
              <a:t> df[</a:t>
            </a:r>
            <a:r>
              <a:rPr>
                <a:solidFill>
                  <a:srgbClr val="4070A0"/>
                </a:solidFill>
                <a:latin typeface="Courier"/>
              </a:rPr>
              <a:t>"hour"</a:t>
            </a:r>
            <a:r>
              <a:rPr>
                <a:latin typeface="Courier"/>
              </a:rPr>
              <a:t>] </a:t>
            </a:r>
            <a:r>
              <a:rPr>
                <a:solidFill>
                  <a:srgbClr val="666666"/>
                </a:solidFill>
                <a:latin typeface="Courier"/>
              </a:rPr>
              <a:t>/</a:t>
            </a:r>
            <a:r>
              <a:rPr>
                <a:latin typeface="Courier"/>
              </a:rPr>
              <a:t> </a:t>
            </a:r>
            <a:r>
              <a:rPr>
                <a:solidFill>
                  <a:srgbClr val="40A070"/>
                </a:solidFill>
                <a:latin typeface="Courier"/>
              </a:rPr>
              <a:t>24</a:t>
            </a:r>
            <a:br/>
            <a:r>
              <a:rPr>
                <a:latin typeface="Courier"/>
              </a:rPr>
              <a:t>df[</a:t>
            </a:r>
            <a:r>
              <a:rPr>
                <a:solidFill>
                  <a:srgbClr val="4070A0"/>
                </a:solidFill>
                <a:latin typeface="Courier"/>
              </a:rPr>
              <a:t>"hour_sin"</a:t>
            </a:r>
            <a:r>
              <a:rPr>
                <a:latin typeface="Courier"/>
              </a:rPr>
              <a:t>] </a:t>
            </a:r>
            <a:r>
              <a:rPr>
                <a:solidFill>
                  <a:srgbClr val="666666"/>
                </a:solidFill>
                <a:latin typeface="Courier"/>
              </a:rPr>
              <a:t>=</a:t>
            </a:r>
            <a:r>
              <a:rPr>
                <a:latin typeface="Courier"/>
              </a:rPr>
              <a:t> np.sin(theta)</a:t>
            </a:r>
            <a:br/>
            <a:r>
              <a:rPr>
                <a:latin typeface="Courier"/>
              </a:rPr>
              <a:t>df[</a:t>
            </a:r>
            <a:r>
              <a:rPr>
                <a:solidFill>
                  <a:srgbClr val="4070A0"/>
                </a:solidFill>
                <a:latin typeface="Courier"/>
              </a:rPr>
              <a:t>"hour_cos"</a:t>
            </a:r>
            <a:r>
              <a:rPr>
                <a:latin typeface="Courier"/>
              </a:rPr>
              <a:t>] </a:t>
            </a:r>
            <a:r>
              <a:rPr>
                <a:solidFill>
                  <a:srgbClr val="666666"/>
                </a:solidFill>
                <a:latin typeface="Courier"/>
              </a:rPr>
              <a:t>=</a:t>
            </a:r>
            <a:r>
              <a:rPr>
                <a:latin typeface="Courier"/>
              </a:rPr>
              <a:t> np.cos(theta)</a:t>
            </a:r>
          </a:p>
          <a:p>
            <a:pPr lvl="0"/>
            <a:r>
              <a:rPr/>
              <a:t>Same trick for day-of-week (/7), month (/12), day-of-year (/365)</a:t>
            </a:r>
          </a:p>
          <a:p>
            <a:pPr lvl="0"/>
            <a:r>
              <a:rPr/>
              <a:t>Needs </a:t>
            </a:r>
            <a:r>
              <a:rPr b="1"/>
              <a:t>both</a:t>
            </a:r>
            <a:r>
              <a:rPr/>
              <a:t> sin and cos: one alone is ambiguous</a:t>
            </a:r>
          </a:p>
          <a:p>
            <a:pPr lvl="0"/>
            <a:r>
              <a:rPr/>
              <a:t>Trees can live without it; linear models and NNs cannot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Cyclical encoding</a:t>
            </a:r>
          </a:p>
        </p:txBody>
      </p:sp>
      <p:pic>
        <p:nvPicPr>
          <p:cNvPr descr="img/cyclical.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Temporal features: elapsed time</a:t>
            </a:r>
          </a:p>
        </p:txBody>
      </p:sp>
      <p:sp>
        <p:nvSpPr>
          <p:cNvPr id="3" name="Content Placeholder 2"/>
          <p:cNvSpPr>
            <a:spLocks noGrp="1"/>
          </p:cNvSpPr>
          <p:nvPr>
            <p:ph idx="1"/>
          </p:nvPr>
        </p:nvSpPr>
        <p:spPr/>
        <p:txBody>
          <a:bodyPr>
            <a:normAutofit/>
          </a:bodyPr>
          <a:lstStyle/>
          <a:p>
            <a:pPr lvl="0" indent="0" marL="0">
              <a:buNone/>
            </a:pPr>
            <a:r>
              <a:rPr/>
              <a:t>Often the strongest single feature in the table:</a:t>
            </a:r>
          </a:p>
          <a:p>
            <a:pPr lvl="0" indent="0">
              <a:buNone/>
            </a:pPr>
            <a:r>
              <a:rPr>
                <a:latin typeface="Courier"/>
              </a:rPr>
              <a:t>hour </a:t>
            </a:r>
            <a:r>
              <a:rPr>
                <a:solidFill>
                  <a:srgbClr val="666666"/>
                </a:solidFill>
                <a:latin typeface="Courier"/>
              </a:rPr>
              <a:t>=</a:t>
            </a:r>
            <a:r>
              <a:rPr>
                <a:latin typeface="Courier"/>
              </a:rPr>
              <a:t> pd.Timedelta(</a:t>
            </a:r>
            <a:r>
              <a:rPr>
                <a:solidFill>
                  <a:srgbClr val="4070A0"/>
                </a:solidFill>
                <a:latin typeface="Courier"/>
              </a:rPr>
              <a:t>"1h"</a:t>
            </a:r>
            <a:r>
              <a:rPr>
                <a:latin typeface="Courier"/>
              </a:rPr>
              <a:t>)</a:t>
            </a:r>
            <a:br/>
            <a:br/>
            <a:r>
              <a:rPr>
                <a:latin typeface="Courier"/>
              </a:rPr>
              <a:t>df[</a:t>
            </a:r>
            <a:r>
              <a:rPr>
                <a:solidFill>
                  <a:srgbClr val="4070A0"/>
                </a:solidFill>
                <a:latin typeface="Courier"/>
              </a:rPr>
              <a:t>"h_since_admit"</a:t>
            </a:r>
            <a:r>
              <a:rPr>
                <a:latin typeface="Courier"/>
              </a:rPr>
              <a:t>] </a:t>
            </a:r>
            <a:r>
              <a:rPr>
                <a:solidFill>
                  <a:srgbClr val="666666"/>
                </a:solidFill>
                <a:latin typeface="Courier"/>
              </a:rPr>
              <a:t>=</a:t>
            </a:r>
            <a:r>
              <a:rPr>
                <a:latin typeface="Courier"/>
              </a:rPr>
              <a:t> (ts </a:t>
            </a:r>
            <a:r>
              <a:rPr>
                <a:solidFill>
                  <a:srgbClr val="666666"/>
                </a:solidFill>
                <a:latin typeface="Courier"/>
              </a:rPr>
              <a:t>-</a:t>
            </a:r>
            <a:r>
              <a:rPr>
                <a:latin typeface="Courier"/>
              </a:rPr>
              <a:t> admit) </a:t>
            </a:r>
            <a:r>
              <a:rPr>
                <a:solidFill>
                  <a:srgbClr val="666666"/>
                </a:solidFill>
                <a:latin typeface="Courier"/>
              </a:rPr>
              <a:t>/</a:t>
            </a:r>
            <a:r>
              <a:rPr>
                <a:latin typeface="Courier"/>
              </a:rPr>
              <a:t> hour</a:t>
            </a:r>
            <a:br/>
            <a:r>
              <a:rPr>
                <a:latin typeface="Courier"/>
              </a:rPr>
              <a:t>df[</a:t>
            </a:r>
            <a:r>
              <a:rPr>
                <a:solidFill>
                  <a:srgbClr val="4070A0"/>
                </a:solidFill>
                <a:latin typeface="Courier"/>
              </a:rPr>
              <a:t>"h_since_obs"</a:t>
            </a:r>
            <a:r>
              <a:rPr>
                <a:latin typeface="Courier"/>
              </a:rPr>
              <a:t>]   </a:t>
            </a:r>
            <a:r>
              <a:rPr>
                <a:solidFill>
                  <a:srgbClr val="666666"/>
                </a:solidFill>
                <a:latin typeface="Courier"/>
              </a:rPr>
              <a:t>=</a:t>
            </a:r>
            <a:r>
              <a:rPr>
                <a:latin typeface="Courier"/>
              </a:rPr>
              <a:t> ts.diff() </a:t>
            </a:r>
            <a:r>
              <a:rPr>
                <a:solidFill>
                  <a:srgbClr val="666666"/>
                </a:solidFill>
                <a:latin typeface="Courier"/>
              </a:rPr>
              <a:t>/</a:t>
            </a:r>
            <a:r>
              <a:rPr>
                <a:latin typeface="Courier"/>
              </a:rPr>
              <a:t> hour</a:t>
            </a:r>
          </a:p>
          <a:p>
            <a:pPr lvl="0"/>
            <a:r>
              <a:rPr b="1"/>
              <a:t>Time since</a:t>
            </a:r>
            <a:r>
              <a:rPr/>
              <a:t> an event: how far into the stay are we?</a:t>
            </a:r>
          </a:p>
          <a:p>
            <a:pPr lvl="0"/>
            <a:r>
              <a:rPr b="1"/>
              <a:t>Time between</a:t>
            </a:r>
            <a:r>
              <a:rPr/>
              <a:t> events: a patient measured every 20 minutes is a patient someone is worried about</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Elapsed time</a:t>
            </a:r>
          </a:p>
        </p:txBody>
      </p:sp>
      <p:pic>
        <p:nvPicPr>
          <p:cNvPr descr="img/elapsed.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Aggregation windows</a:t>
            </a:r>
          </a:p>
        </p:txBody>
      </p:sp>
      <p:sp>
        <p:nvSpPr>
          <p:cNvPr id="3" name="Content Placeholder 2"/>
          <p:cNvSpPr>
            <a:spLocks noGrp="1"/>
          </p:cNvSpPr>
          <p:nvPr>
            <p:ph idx="1"/>
          </p:nvPr>
        </p:nvSpPr>
        <p:spPr/>
        <p:txBody>
          <a:bodyPr>
            <a:normAutofit/>
          </a:bodyPr>
          <a:lstStyle/>
          <a:p>
            <a:pPr lvl="0" indent="0" marL="0">
              <a:buNone/>
            </a:pPr>
            <a:r>
              <a:rPr/>
              <a:t>Collapse a patient’s recent history into fixed columns:</a:t>
            </a:r>
          </a:p>
          <a:p>
            <a:pPr lvl="0"/>
            <a:r>
              <a:rPr b="1"/>
              <a:t>last 6h</a:t>
            </a:r>
            <a:r>
              <a:rPr/>
              <a:t> → </a:t>
            </a:r>
            <a:r>
              <a:rPr>
                <a:latin typeface="Courier"/>
              </a:rPr>
              <a:t>hr_mean_6h</a:t>
            </a:r>
            <a:r>
              <a:rPr/>
              <a:t>, </a:t>
            </a:r>
            <a:r>
              <a:rPr>
                <a:latin typeface="Courier"/>
              </a:rPr>
              <a:t>hr_max_6h</a:t>
            </a:r>
            <a:r>
              <a:rPr/>
              <a:t>, </a:t>
            </a:r>
            <a:r>
              <a:rPr>
                <a:latin typeface="Courier"/>
              </a:rPr>
              <a:t>hr_std_6h</a:t>
            </a:r>
          </a:p>
          <a:p>
            <a:pPr lvl="0"/>
            <a:r>
              <a:rPr b="1"/>
              <a:t>last 24h</a:t>
            </a:r>
            <a:r>
              <a:rPr/>
              <a:t> → </a:t>
            </a:r>
            <a:r>
              <a:rPr>
                <a:latin typeface="Courier"/>
              </a:rPr>
              <a:t>hr_mean_24h</a:t>
            </a:r>
            <a:r>
              <a:rPr/>
              <a:t>, </a:t>
            </a:r>
            <a:r>
              <a:rPr>
                <a:latin typeface="Courier"/>
              </a:rPr>
              <a:t>n_obs_24h</a:t>
            </a:r>
          </a:p>
          <a:p>
            <a:pPr lvl="0"/>
            <a:r>
              <a:rPr b="1"/>
              <a:t>whole stay</a:t>
            </a:r>
            <a:r>
              <a:rPr/>
              <a:t> → </a:t>
            </a:r>
            <a:r>
              <a:rPr>
                <a:latin typeface="Courier"/>
              </a:rPr>
              <a:t>hr_mean_all</a:t>
            </a:r>
            <a:r>
              <a:rPr/>
              <a:t>, </a:t>
            </a:r>
            <a:r>
              <a:rPr>
                <a:latin typeface="Courier"/>
              </a:rPr>
              <a:t>creatinine_last</a:t>
            </a:r>
          </a:p>
          <a:p>
            <a:pPr lvl="0" indent="0" marL="0">
              <a:buNone/>
            </a:pPr>
            <a:r>
              <a:rPr/>
              <a:t>Two remarks:</a:t>
            </a:r>
          </a:p>
          <a:p>
            <a:pPr lvl="0"/>
            <a:r>
              <a:rPr b="1"/>
              <a:t>Several windows</a:t>
            </a:r>
            <a:r>
              <a:rPr/>
              <a:t> let the model compare short vs long term</a:t>
            </a:r>
          </a:p>
          <a:p>
            <a:pPr lvl="0"/>
            <a:r>
              <a:rPr>
                <a:latin typeface="Courier"/>
              </a:rPr>
              <a:t>hr_mean_6h - hr_mean_24h</a:t>
            </a:r>
            <a:r>
              <a:rPr/>
              <a:t> is a trend detector in one column</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Aggregation windows: in code</a:t>
            </a:r>
          </a:p>
        </p:txBody>
      </p:sp>
      <p:sp>
        <p:nvSpPr>
          <p:cNvPr id="3" name="Content Placeholder 2"/>
          <p:cNvSpPr>
            <a:spLocks noGrp="1"/>
          </p:cNvSpPr>
          <p:nvPr>
            <p:ph idx="1"/>
          </p:nvPr>
        </p:nvSpPr>
        <p:spPr/>
        <p:txBody>
          <a:bodyPr>
            <a:normAutofit/>
          </a:bodyPr>
          <a:lstStyle/>
          <a:p>
            <a:pPr lvl="0" indent="0">
              <a:buNone/>
            </a:pPr>
            <a:r>
              <a:rPr>
                <a:latin typeface="Courier"/>
              </a:rPr>
              <a:t>g </a:t>
            </a:r>
            <a:r>
              <a:rPr>
                <a:solidFill>
                  <a:srgbClr val="666666"/>
                </a:solidFill>
                <a:latin typeface="Courier"/>
              </a:rPr>
              <a:t>=</a:t>
            </a:r>
            <a:r>
              <a:rPr>
                <a:latin typeface="Courier"/>
              </a:rPr>
              <a:t> df.groupby(</a:t>
            </a:r>
            <a:r>
              <a:rPr>
                <a:solidFill>
                  <a:srgbClr val="4070A0"/>
                </a:solidFill>
                <a:latin typeface="Courier"/>
              </a:rPr>
              <a:t>"patient"</a:t>
            </a:r>
            <a:r>
              <a:rPr>
                <a:latin typeface="Courier"/>
              </a:rPr>
              <a:t>)     </a:t>
            </a:r>
            <a:r>
              <a:rPr i="1">
                <a:solidFill>
                  <a:srgbClr val="60A0B0"/>
                </a:solidFill>
                <a:latin typeface="Courier"/>
              </a:rPr>
              <a:t># sorted by ts</a:t>
            </a:r>
            <a:br/>
            <a:r>
              <a:rPr>
                <a:latin typeface="Courier"/>
              </a:rPr>
              <a:t>w </a:t>
            </a:r>
            <a:r>
              <a:rPr>
                <a:solidFill>
                  <a:srgbClr val="666666"/>
                </a:solidFill>
                <a:latin typeface="Courier"/>
              </a:rPr>
              <a:t>=</a:t>
            </a:r>
            <a:r>
              <a:rPr>
                <a:latin typeface="Courier"/>
              </a:rPr>
              <a:t> g.rolling(</a:t>
            </a:r>
            <a:r>
              <a:rPr>
                <a:solidFill>
                  <a:srgbClr val="4070A0"/>
                </a:solidFill>
                <a:latin typeface="Courier"/>
              </a:rPr>
              <a:t>"6h"</a:t>
            </a:r>
            <a:r>
              <a:rPr>
                <a:latin typeface="Courier"/>
              </a:rPr>
              <a:t>, on</a:t>
            </a:r>
            <a:r>
              <a:rPr>
                <a:solidFill>
                  <a:srgbClr val="666666"/>
                </a:solidFill>
                <a:latin typeface="Courier"/>
              </a:rPr>
              <a:t>=</a:t>
            </a:r>
            <a:r>
              <a:rPr>
                <a:solidFill>
                  <a:srgbClr val="4070A0"/>
                </a:solidFill>
                <a:latin typeface="Courier"/>
              </a:rPr>
              <a:t>"timestamp"</a:t>
            </a:r>
            <a:r>
              <a:rPr>
                <a:latin typeface="Courier"/>
              </a:rPr>
              <a:t>)</a:t>
            </a:r>
            <a:br/>
            <a:br/>
            <a:r>
              <a:rPr>
                <a:latin typeface="Courier"/>
              </a:rPr>
              <a:t>df[</a:t>
            </a:r>
            <a:r>
              <a:rPr>
                <a:solidFill>
                  <a:srgbClr val="4070A0"/>
                </a:solidFill>
                <a:latin typeface="Courier"/>
              </a:rPr>
              <a:t>"hr_mean_6h"</a:t>
            </a:r>
            <a:r>
              <a:rPr>
                <a:latin typeface="Courier"/>
              </a:rPr>
              <a:t>] </a:t>
            </a:r>
            <a:r>
              <a:rPr>
                <a:solidFill>
                  <a:srgbClr val="666666"/>
                </a:solidFill>
                <a:latin typeface="Courier"/>
              </a:rPr>
              <a:t>=</a:t>
            </a:r>
            <a:r>
              <a:rPr>
                <a:latin typeface="Courier"/>
              </a:rPr>
              <a:t> w[</a:t>
            </a:r>
            <a:r>
              <a:rPr>
                <a:solidFill>
                  <a:srgbClr val="4070A0"/>
                </a:solidFill>
                <a:latin typeface="Courier"/>
              </a:rPr>
              <a:t>"heart_rate"</a:t>
            </a:r>
            <a:r>
              <a:rPr>
                <a:latin typeface="Courier"/>
              </a:rPr>
              <a:t>].mean()</a:t>
            </a:r>
            <a:br/>
            <a:r>
              <a:rPr>
                <a:latin typeface="Courier"/>
              </a:rPr>
              <a:t>df[</a:t>
            </a:r>
            <a:r>
              <a:rPr>
                <a:solidFill>
                  <a:srgbClr val="4070A0"/>
                </a:solidFill>
                <a:latin typeface="Courier"/>
              </a:rPr>
              <a:t>"hr_max_6h"</a:t>
            </a:r>
            <a:r>
              <a:rPr>
                <a:latin typeface="Courier"/>
              </a:rPr>
              <a:t>]  </a:t>
            </a:r>
            <a:r>
              <a:rPr>
                <a:solidFill>
                  <a:srgbClr val="666666"/>
                </a:solidFill>
                <a:latin typeface="Courier"/>
              </a:rPr>
              <a:t>=</a:t>
            </a:r>
            <a:r>
              <a:rPr>
                <a:latin typeface="Courier"/>
              </a:rPr>
              <a:t> w[</a:t>
            </a:r>
            <a:r>
              <a:rPr>
                <a:solidFill>
                  <a:srgbClr val="4070A0"/>
                </a:solidFill>
                <a:latin typeface="Courier"/>
              </a:rPr>
              <a:t>"heart_rate"</a:t>
            </a:r>
            <a:r>
              <a:rPr>
                <a:latin typeface="Courier"/>
              </a:rPr>
              <a:t>].</a:t>
            </a:r>
            <a:r>
              <a:rPr>
                <a:solidFill>
                  <a:srgbClr val="008000"/>
                </a:solidFill>
                <a:latin typeface="Courier"/>
              </a:rPr>
              <a:t>max</a:t>
            </a:r>
            <a:r>
              <a:rPr>
                <a:latin typeface="Courier"/>
              </a:rPr>
              <a:t>()</a:t>
            </a:r>
            <a:br/>
            <a:r>
              <a:rPr>
                <a:latin typeface="Courier"/>
              </a:rPr>
              <a:t>df[</a:t>
            </a:r>
            <a:r>
              <a:rPr>
                <a:solidFill>
                  <a:srgbClr val="4070A0"/>
                </a:solidFill>
                <a:latin typeface="Courier"/>
              </a:rPr>
              <a:t>"n_obs_6h"</a:t>
            </a:r>
            <a:r>
              <a:rPr>
                <a:latin typeface="Courier"/>
              </a:rPr>
              <a:t>]   </a:t>
            </a:r>
            <a:r>
              <a:rPr>
                <a:solidFill>
                  <a:srgbClr val="666666"/>
                </a:solidFill>
                <a:latin typeface="Courier"/>
              </a:rPr>
              <a:t>=</a:t>
            </a:r>
            <a:r>
              <a:rPr>
                <a:latin typeface="Courier"/>
              </a:rPr>
              <a:t> w[</a:t>
            </a:r>
            <a:r>
              <a:rPr>
                <a:solidFill>
                  <a:srgbClr val="4070A0"/>
                </a:solidFill>
                <a:latin typeface="Courier"/>
              </a:rPr>
              <a:t>"heart_rate"</a:t>
            </a:r>
            <a:r>
              <a:rPr>
                <a:latin typeface="Courier"/>
              </a:rPr>
              <a:t>].count()</a:t>
            </a:r>
          </a:p>
          <a:p>
            <a:pPr lvl="0"/>
            <a:r>
              <a:rPr/>
              <a:t>Use a </a:t>
            </a:r>
            <a:r>
              <a:rPr b="1"/>
              <a:t>time-based</a:t>
            </a:r>
            <a:r>
              <a:rPr/>
              <a:t> window (</a:t>
            </a:r>
            <a:r>
              <a:rPr>
                <a:latin typeface="Courier"/>
              </a:rPr>
              <a:t>"6h"</a:t>
            </a:r>
            <a:r>
              <a:rPr/>
              <a:t>), not a row-count window (</a:t>
            </a:r>
            <a:r>
              <a:rPr>
                <a:latin typeface="Courier"/>
              </a:rPr>
              <a:t>6</a:t>
            </a:r>
            <a:r>
              <a:rPr/>
              <a:t>): observations are irregularly spaced</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Window</a:t>
            </a:r>
          </a:p>
        </p:txBody>
      </p:sp>
      <p:pic>
        <p:nvPicPr>
          <p:cNvPr descr="img/windows.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Sliding vs tumbling windows</a:t>
            </a:r>
          </a:p>
        </p:txBody>
      </p:sp>
      <p:sp>
        <p:nvSpPr>
          <p:cNvPr id="3" name="Content Placeholder 2"/>
          <p:cNvSpPr>
            <a:spLocks noGrp="1"/>
          </p:cNvSpPr>
          <p:nvPr>
            <p:ph idx="1"/>
          </p:nvPr>
        </p:nvSpPr>
        <p:spPr/>
        <p:txBody>
          <a:bodyPr>
            <a:normAutofit/>
          </a:bodyPr>
          <a:lstStyle/>
          <a:p>
            <a:pPr lvl="0"/>
            <a:r>
              <a:rPr b="1"/>
              <a:t>Sliding (rolling):</a:t>
            </a:r>
            <a:r>
              <a:rPr/>
              <a:t> one value per row, windows overlap</a:t>
            </a:r>
          </a:p>
          <a:p>
            <a:pPr lvl="1" indent="0" marL="342900">
              <a:buNone/>
            </a:pPr>
            <a:r>
              <a:rPr/>
              <a:t>→ prediction at any time</a:t>
            </a:r>
          </a:p>
          <a:p>
            <a:pPr lvl="0"/>
            <a:r>
              <a:rPr b="1"/>
              <a:t>Tumbling:</a:t>
            </a:r>
            <a:r>
              <a:rPr/>
              <a:t> non-overlapping blocks (each 6h bucket once)</a:t>
            </a:r>
          </a:p>
          <a:p>
            <a:pPr lvl="1" indent="0" marL="342900">
              <a:buNone/>
            </a:pPr>
            <a:r>
              <a:rPr/>
              <a:t>→ one row per block, no duplicated information</a:t>
            </a:r>
          </a:p>
          <a:p>
            <a:pPr lvl="0"/>
            <a:r>
              <a:rPr b="1"/>
              <a:t>Expanding:</a:t>
            </a:r>
            <a:r>
              <a:rPr/>
              <a:t> everything since admission</a:t>
            </a:r>
          </a:p>
          <a:p>
            <a:pPr lvl="1" indent="0" marL="342900">
              <a:buNone/>
            </a:pPr>
            <a:r>
              <a:rPr/>
              <a:t>→ “how has the whole stay been?”</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Sliding, tumbling, expanding</a:t>
            </a:r>
          </a:p>
        </p:txBody>
      </p:sp>
      <p:pic>
        <p:nvPicPr>
          <p:cNvPr descr="img/window_types.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Lag features</a:t>
            </a:r>
          </a:p>
        </p:txBody>
      </p:sp>
      <p:sp>
        <p:nvSpPr>
          <p:cNvPr id="3" name="Content Placeholder 2"/>
          <p:cNvSpPr>
            <a:spLocks noGrp="1"/>
          </p:cNvSpPr>
          <p:nvPr>
            <p:ph idx="1"/>
          </p:nvPr>
        </p:nvSpPr>
        <p:spPr/>
        <p:txBody>
          <a:bodyPr>
            <a:normAutofit/>
          </a:bodyPr>
          <a:lstStyle/>
          <a:p>
            <a:pPr lvl="0" indent="0" marL="0">
              <a:buNone/>
            </a:pPr>
            <a:r>
              <a:rPr/>
              <a:t>The past values themselves:</a:t>
            </a:r>
          </a:p>
          <a:p>
            <a:pPr lvl="0" indent="0">
              <a:buNone/>
            </a:pPr>
            <a:r>
              <a:rPr>
                <a:latin typeface="Courier"/>
              </a:rPr>
              <a:t>hr </a:t>
            </a:r>
            <a:r>
              <a:rPr>
                <a:solidFill>
                  <a:srgbClr val="666666"/>
                </a:solidFill>
                <a:latin typeface="Courier"/>
              </a:rPr>
              <a:t>=</a:t>
            </a:r>
            <a:r>
              <a:rPr>
                <a:latin typeface="Courier"/>
              </a:rPr>
              <a:t> df.groupby(</a:t>
            </a:r>
            <a:r>
              <a:rPr>
                <a:solidFill>
                  <a:srgbClr val="4070A0"/>
                </a:solidFill>
                <a:latin typeface="Courier"/>
              </a:rPr>
              <a:t>"patient"</a:t>
            </a:r>
            <a:r>
              <a:rPr>
                <a:latin typeface="Courier"/>
              </a:rPr>
              <a:t>)[</a:t>
            </a:r>
            <a:r>
              <a:rPr>
                <a:solidFill>
                  <a:srgbClr val="4070A0"/>
                </a:solidFill>
                <a:latin typeface="Courier"/>
              </a:rPr>
              <a:t>"heart_rate"</a:t>
            </a:r>
            <a:r>
              <a:rPr>
                <a:latin typeface="Courier"/>
              </a:rPr>
              <a:t>]</a:t>
            </a:r>
            <a:br/>
            <a:br/>
            <a:r>
              <a:rPr>
                <a:latin typeface="Courier"/>
              </a:rPr>
              <a:t>df[</a:t>
            </a:r>
            <a:r>
              <a:rPr>
                <a:solidFill>
                  <a:srgbClr val="4070A0"/>
                </a:solidFill>
                <a:latin typeface="Courier"/>
              </a:rPr>
              <a:t>"hr_lag1"</a:t>
            </a:r>
            <a:r>
              <a:rPr>
                <a:latin typeface="Courier"/>
              </a:rPr>
              <a:t>]  </a:t>
            </a:r>
            <a:r>
              <a:rPr>
                <a:solidFill>
                  <a:srgbClr val="666666"/>
                </a:solidFill>
                <a:latin typeface="Courier"/>
              </a:rPr>
              <a:t>=</a:t>
            </a:r>
            <a:r>
              <a:rPr>
                <a:latin typeface="Courier"/>
              </a:rPr>
              <a:t> hr.shift(</a:t>
            </a:r>
            <a:r>
              <a:rPr>
                <a:solidFill>
                  <a:srgbClr val="40A070"/>
                </a:solidFill>
                <a:latin typeface="Courier"/>
              </a:rPr>
              <a:t>1</a:t>
            </a:r>
            <a:r>
              <a:rPr>
                <a:latin typeface="Courier"/>
              </a:rPr>
              <a:t>)   </a:t>
            </a:r>
            <a:r>
              <a:rPr i="1">
                <a:solidFill>
                  <a:srgbClr val="60A0B0"/>
                </a:solidFill>
                <a:latin typeface="Courier"/>
              </a:rPr>
              <a:t># where it was</a:t>
            </a:r>
            <a:br/>
            <a:r>
              <a:rPr>
                <a:latin typeface="Courier"/>
              </a:rPr>
              <a:t>df[</a:t>
            </a:r>
            <a:r>
              <a:rPr>
                <a:solidFill>
                  <a:srgbClr val="4070A0"/>
                </a:solidFill>
                <a:latin typeface="Courier"/>
              </a:rPr>
              <a:t>"hr_lag2"</a:t>
            </a:r>
            <a:r>
              <a:rPr>
                <a:latin typeface="Courier"/>
              </a:rPr>
              <a:t>]  </a:t>
            </a:r>
            <a:r>
              <a:rPr>
                <a:solidFill>
                  <a:srgbClr val="666666"/>
                </a:solidFill>
                <a:latin typeface="Courier"/>
              </a:rPr>
              <a:t>=</a:t>
            </a:r>
            <a:r>
              <a:rPr>
                <a:latin typeface="Courier"/>
              </a:rPr>
              <a:t> hr.shift(</a:t>
            </a:r>
            <a:r>
              <a:rPr>
                <a:solidFill>
                  <a:srgbClr val="40A070"/>
                </a:solidFill>
                <a:latin typeface="Courier"/>
              </a:rPr>
              <a:t>2</a:t>
            </a:r>
            <a:r>
              <a:rPr>
                <a:latin typeface="Courier"/>
              </a:rPr>
              <a:t>)</a:t>
            </a:r>
            <a:br/>
            <a:r>
              <a:rPr>
                <a:latin typeface="Courier"/>
              </a:rPr>
              <a:t>df[</a:t>
            </a:r>
            <a:r>
              <a:rPr>
                <a:solidFill>
                  <a:srgbClr val="4070A0"/>
                </a:solidFill>
                <a:latin typeface="Courier"/>
              </a:rPr>
              <a:t>"hr_delta"</a:t>
            </a:r>
            <a:r>
              <a:rPr>
                <a:latin typeface="Courier"/>
              </a:rPr>
              <a:t>] </a:t>
            </a:r>
            <a:r>
              <a:rPr>
                <a:solidFill>
                  <a:srgbClr val="666666"/>
                </a:solidFill>
                <a:latin typeface="Courier"/>
              </a:rPr>
              <a:t>=</a:t>
            </a:r>
            <a:r>
              <a:rPr>
                <a:latin typeface="Courier"/>
              </a:rPr>
              <a:t> hr.diff()     </a:t>
            </a:r>
            <a:r>
              <a:rPr i="1">
                <a:solidFill>
                  <a:srgbClr val="60A0B0"/>
                </a:solidFill>
                <a:latin typeface="Courier"/>
              </a:rPr>
              <a:t># how much</a:t>
            </a:r>
            <a:br/>
            <a:r>
              <a:rPr>
                <a:latin typeface="Courier"/>
              </a:rPr>
              <a:t>df[</a:t>
            </a:r>
            <a:r>
              <a:rPr>
                <a:solidFill>
                  <a:srgbClr val="4070A0"/>
                </a:solidFill>
                <a:latin typeface="Courier"/>
              </a:rPr>
              <a:t>"hr_rate"</a:t>
            </a:r>
            <a:r>
              <a:rPr>
                <a:latin typeface="Courier"/>
              </a:rPr>
              <a:t>]  </a:t>
            </a:r>
            <a:r>
              <a:rPr>
                <a:solidFill>
                  <a:srgbClr val="666666"/>
                </a:solidFill>
                <a:latin typeface="Courier"/>
              </a:rPr>
              <a:t>=</a:t>
            </a:r>
            <a:r>
              <a:rPr>
                <a:latin typeface="Courier"/>
              </a:rPr>
              <a:t> df.hr_delta </a:t>
            </a:r>
            <a:r>
              <a:rPr>
                <a:solidFill>
                  <a:srgbClr val="666666"/>
                </a:solidFill>
                <a:latin typeface="Courier"/>
              </a:rPr>
              <a:t>/</a:t>
            </a:r>
            <a:r>
              <a:rPr>
                <a:latin typeface="Courier"/>
              </a:rPr>
              <a:t> df.h_since_obs</a:t>
            </a:r>
          </a:p>
          <a:p>
            <a:pPr lvl="0"/>
            <a:r>
              <a:rPr b="1"/>
              <a:t>Lag:</a:t>
            </a:r>
            <a:r>
              <a:rPr/>
              <a:t> where it was — </a:t>
            </a:r>
            <a:r>
              <a:rPr b="1"/>
              <a:t>difference:</a:t>
            </a:r>
            <a:r>
              <a:rPr/>
              <a:t> how much it moved — </a:t>
            </a:r>
            <a:r>
              <a:rPr b="1"/>
              <a:t>rate:</a:t>
            </a:r>
            <a:r>
              <a:rPr/>
              <a:t> how fast it moved</a:t>
            </a:r>
          </a:p>
          <a:p>
            <a:pPr lvl="0"/>
            <a:r>
              <a:rPr/>
              <a:t>The rate is often the best of the three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Lag features: what they look like</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638300"/>
                <a:gridCol w="1638300"/>
                <a:gridCol w="1638300"/>
                <a:gridCol w="1638300"/>
                <a:gridCol w="1638300"/>
              </a:tblGrid>
              <a:tr h="0">
                <a:tc>
                  <a:txBody>
                    <a:bodyPr>
                      <a:normAutofit/>
                    </a:bodyPr>
                    <a:lstStyle/>
                    <a:p>
                      <a:pPr lvl="0" indent="0" marL="0">
                        <a:buNone/>
                      </a:pPr>
                      <a:r>
                        <a:rPr/>
                        <a:t>t</a:t>
                      </a:r>
                    </a:p>
                  </a:txBody>
                  <a:tcPr/>
                </a:tc>
                <a:tc>
                  <a:txBody>
                    <a:bodyPr>
                      <a:normAutofit/>
                    </a:bodyPr>
                    <a:lstStyle/>
                    <a:p>
                      <a:pPr lvl="0" indent="0" marL="0">
                        <a:buNone/>
                      </a:pPr>
                      <a:r>
                        <a:rPr/>
                        <a:t>heart_rate</a:t>
                      </a:r>
                    </a:p>
                  </a:txBody>
                  <a:tcPr/>
                </a:tc>
                <a:tc>
                  <a:txBody>
                    <a:bodyPr>
                      <a:normAutofit/>
                    </a:bodyPr>
                    <a:lstStyle/>
                    <a:p>
                      <a:pPr lvl="0" indent="0" marL="0">
                        <a:buNone/>
                      </a:pPr>
                      <a:r>
                        <a:rPr/>
                        <a:t>hr_lag1</a:t>
                      </a:r>
                    </a:p>
                  </a:txBody>
                  <a:tcPr/>
                </a:tc>
                <a:tc>
                  <a:txBody>
                    <a:bodyPr>
                      <a:normAutofit/>
                    </a:bodyPr>
                    <a:lstStyle/>
                    <a:p>
                      <a:pPr lvl="0" indent="0" marL="0">
                        <a:buNone/>
                      </a:pPr>
                      <a:r>
                        <a:rPr/>
                        <a:t>hr_delta</a:t>
                      </a:r>
                    </a:p>
                  </a:txBody>
                  <a:tcPr/>
                </a:tc>
                <a:tc>
                  <a:txBody>
                    <a:bodyPr>
                      <a:normAutofit/>
                    </a:bodyPr>
                    <a:lstStyle/>
                    <a:p>
                      <a:pPr lvl="0" indent="0" marL="0">
                        <a:buNone/>
                      </a:pPr>
                      <a:r>
                        <a:rPr/>
                        <a:t>hr_mean_6h</a:t>
                      </a:r>
                    </a:p>
                  </a:txBody>
                  <a:tcPr/>
                </a:tc>
              </a:tr>
              <a:tr h="0">
                <a:tc>
                  <a:txBody>
                    <a:bodyPr>
                      <a:normAutofit/>
                    </a:bodyPr>
                    <a:lstStyle/>
                    <a:p>
                      <a:pPr lvl="0" indent="0" marL="0">
                        <a:buNone/>
                      </a:pPr>
                      <a:r>
                        <a:rPr/>
                        <a:t>08:15</a:t>
                      </a:r>
                    </a:p>
                  </a:txBody>
                </a:tc>
                <a:tc>
                  <a:txBody>
                    <a:bodyPr>
                      <a:normAutofit/>
                    </a:bodyPr>
                    <a:lstStyle/>
                    <a:p>
                      <a:pPr lvl="0" indent="0" marL="0">
                        <a:buNone/>
                      </a:pPr>
                      <a:r>
                        <a:rPr/>
                        <a:t>78</a:t>
                      </a:r>
                    </a:p>
                  </a:txBody>
                </a:tc>
                <a:tc>
                  <a:txBody>
                    <a:bodyPr>
                      <a:normAutofit/>
                    </a:bodyPr>
                    <a:lstStyle/>
                    <a:p>
                      <a:pPr lvl="0" indent="0" marL="0">
                        <a:buNone/>
                      </a:pPr>
                      <a:r>
                        <a:rPr/>
                        <a:t>—</a:t>
                      </a:r>
                    </a:p>
                  </a:txBody>
                </a:tc>
                <a:tc>
                  <a:txBody>
                    <a:bodyPr>
                      <a:normAutofit/>
                    </a:bodyPr>
                    <a:lstStyle/>
                    <a:p>
                      <a:pPr lvl="0" indent="0" marL="0">
                        <a:buNone/>
                      </a:pPr>
                      <a:r>
                        <a:rPr/>
                        <a:t>—</a:t>
                      </a:r>
                    </a:p>
                  </a:txBody>
                </a:tc>
                <a:tc>
                  <a:txBody>
                    <a:bodyPr>
                      <a:normAutofit/>
                    </a:bodyPr>
                    <a:lstStyle/>
                    <a:p>
                      <a:pPr lvl="0" indent="0" marL="0">
                        <a:buNone/>
                      </a:pPr>
                      <a:r>
                        <a:rPr/>
                        <a:t>78</a:t>
                      </a:r>
                    </a:p>
                  </a:txBody>
                </a:tc>
              </a:tr>
              <a:tr h="0">
                <a:tc>
                  <a:txBody>
                    <a:bodyPr>
                      <a:normAutofit/>
                    </a:bodyPr>
                    <a:lstStyle/>
                    <a:p>
                      <a:pPr lvl="0" indent="0" marL="0">
                        <a:buNone/>
                      </a:pPr>
                      <a:r>
                        <a:rPr/>
                        <a:t>14:40</a:t>
                      </a:r>
                    </a:p>
                  </a:txBody>
                </a:tc>
                <a:tc>
                  <a:txBody>
                    <a:bodyPr>
                      <a:normAutofit/>
                    </a:bodyPr>
                    <a:lstStyle/>
                    <a:p>
                      <a:pPr lvl="0" indent="0" marL="0">
                        <a:buNone/>
                      </a:pPr>
                      <a:r>
                        <a:rPr/>
                        <a:t>96</a:t>
                      </a:r>
                    </a:p>
                  </a:txBody>
                </a:tc>
                <a:tc>
                  <a:txBody>
                    <a:bodyPr>
                      <a:normAutofit/>
                    </a:bodyPr>
                    <a:lstStyle/>
                    <a:p>
                      <a:pPr lvl="0" indent="0" marL="0">
                        <a:buNone/>
                      </a:pPr>
                      <a:r>
                        <a:rPr/>
                        <a:t>78</a:t>
                      </a:r>
                    </a:p>
                  </a:txBody>
                </a:tc>
                <a:tc>
                  <a:txBody>
                    <a:bodyPr>
                      <a:normAutofit/>
                    </a:bodyPr>
                    <a:lstStyle/>
                    <a:p>
                      <a:pPr lvl="0" indent="0" marL="0">
                        <a:buNone/>
                      </a:pPr>
                      <a:r>
                        <a:rPr/>
                        <a:t>+18</a:t>
                      </a:r>
                    </a:p>
                  </a:txBody>
                </a:tc>
                <a:tc>
                  <a:txBody>
                    <a:bodyPr>
                      <a:normAutofit/>
                    </a:bodyPr>
                    <a:lstStyle/>
                    <a:p>
                      <a:pPr lvl="0" indent="0" marL="0">
                        <a:buNone/>
                      </a:pPr>
                      <a:r>
                        <a:rPr/>
                        <a:t>96</a:t>
                      </a:r>
                    </a:p>
                  </a:txBody>
                </a:tc>
              </a:tr>
              <a:tr h="0">
                <a:tc>
                  <a:txBody>
                    <a:bodyPr>
                      <a:normAutofit/>
                    </a:bodyPr>
                    <a:lstStyle/>
                    <a:p>
                      <a:pPr lvl="0" indent="0" marL="0">
                        <a:buNone/>
                      </a:pPr>
                      <a:r>
                        <a:rPr/>
                        <a:t>09:05</a:t>
                      </a:r>
                    </a:p>
                  </a:txBody>
                </a:tc>
                <a:tc>
                  <a:txBody>
                    <a:bodyPr>
                      <a:normAutofit/>
                    </a:bodyPr>
                    <a:lstStyle/>
                    <a:p>
                      <a:pPr lvl="0" indent="0" marL="0">
                        <a:buNone/>
                      </a:pPr>
                      <a:r>
                        <a:rPr/>
                        <a:t>102</a:t>
                      </a:r>
                    </a:p>
                  </a:txBody>
                </a:tc>
                <a:tc>
                  <a:txBody>
                    <a:bodyPr>
                      <a:normAutofit/>
                    </a:bodyPr>
                    <a:lstStyle/>
                    <a:p>
                      <a:pPr lvl="0" indent="0" marL="0">
                        <a:buNone/>
                      </a:pPr>
                      <a:r>
                        <a:rPr/>
                        <a:t>96</a:t>
                      </a:r>
                    </a:p>
                  </a:txBody>
                </a:tc>
                <a:tc>
                  <a:txBody>
                    <a:bodyPr>
                      <a:normAutofit/>
                    </a:bodyPr>
                    <a:lstStyle/>
                    <a:p>
                      <a:pPr lvl="0" indent="0" marL="0">
                        <a:buNone/>
                      </a:pPr>
                      <a:r>
                        <a:rPr/>
                        <a:t>+6</a:t>
                      </a:r>
                    </a:p>
                  </a:txBody>
                </a:tc>
                <a:tc>
                  <a:txBody>
                    <a:bodyPr>
                      <a:normAutofit/>
                    </a:bodyPr>
                    <a:lstStyle/>
                    <a:p>
                      <a:pPr lvl="0" indent="0" marL="0">
                        <a:buNone/>
                      </a:pPr>
                      <a:r>
                        <a:rPr/>
                        <a:t>102</a:t>
                      </a:r>
                    </a:p>
                  </a:txBody>
                </a:tc>
              </a:tr>
            </a:tbl>
          </a:graphicData>
        </a:graphic>
      </p:graphicFrame>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Lag, difference, rate</a:t>
            </a:r>
          </a:p>
        </p:txBody>
      </p:sp>
      <p:pic>
        <p:nvPicPr>
          <p:cNvPr descr="img/lags.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ormAutofit/>
          </a:bodyPr>
          <a:lstStyle/>
          <a:p>
            <a:pPr lvl="0" indent="0" marL="0">
              <a:buNone/>
            </a:pPr>
            <a:r>
              <a:rPr/>
              <a:t>2. A catalogue of techniques</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Log transformation — </a:t>
            </a:r>
            <a:r>
              <a:rPr i="1"/>
              <a:t>basic</a:t>
            </a:r>
          </a:p>
        </p:txBody>
      </p:sp>
      <p:sp>
        <p:nvSpPr>
          <p:cNvPr id="3" name="Content Placeholder 2"/>
          <p:cNvSpPr>
            <a:spLocks noGrp="1"/>
          </p:cNvSpPr>
          <p:nvPr>
            <p:ph idx="1"/>
          </p:nvPr>
        </p:nvSpPr>
        <p:spPr/>
        <p:txBody>
          <a:bodyPr>
            <a:normAutofit/>
          </a:bodyPr>
          <a:lstStyle/>
          <a:p>
            <a:pPr lvl="0" indent="0" marL="0">
              <a:buNone/>
            </a:pPr>
            <a:r>
              <a:rPr/>
              <a:t>Compress a right-skewed variable so the long tail stops dominating.</a:t>
            </a:r>
          </a:p>
          <a:p>
            <a:pPr lvl="0" indent="0" marL="0">
              <a:buNone/>
            </a:pPr>
            <a:r>
              <a:rPr b="1"/>
              <a:t>Example:</a:t>
            </a:r>
            <a:r>
              <a:rPr/>
              <a:t> length of stay runs 1–90 days; most patients are at 2–3.</a:t>
            </a:r>
          </a:p>
          <a:p>
            <a:pPr lvl="0" indent="0">
              <a:buNone/>
            </a:pPr>
            <a:r>
              <a:rPr>
                <a:latin typeface="Courier"/>
              </a:rPr>
              <a:t>df[</a:t>
            </a:r>
            <a:r>
              <a:rPr>
                <a:solidFill>
                  <a:srgbClr val="4070A0"/>
                </a:solidFill>
                <a:latin typeface="Courier"/>
              </a:rPr>
              <a:t>"log_los"</a:t>
            </a:r>
            <a:r>
              <a:rPr>
                <a:latin typeface="Courier"/>
              </a:rPr>
              <a:t>] </a:t>
            </a:r>
            <a:r>
              <a:rPr>
                <a:solidFill>
                  <a:srgbClr val="666666"/>
                </a:solidFill>
                <a:latin typeface="Courier"/>
              </a:rPr>
              <a:t>=</a:t>
            </a:r>
            <a:r>
              <a:rPr>
                <a:latin typeface="Courier"/>
              </a:rPr>
              <a:t> np.log1p(df[</a:t>
            </a:r>
            <a:r>
              <a:rPr>
                <a:solidFill>
                  <a:srgbClr val="4070A0"/>
                </a:solidFill>
                <a:latin typeface="Courier"/>
              </a:rPr>
              <a:t>"los_days"</a:t>
            </a:r>
            <a:r>
              <a:rPr>
                <a:latin typeface="Courier"/>
              </a:rPr>
              <a:t>])</a:t>
            </a:r>
          </a:p>
          <a:p>
            <a:pPr lvl="0"/>
            <a:r>
              <a:rPr>
                <a:latin typeface="Courier"/>
              </a:rPr>
              <a:t>log1p</a:t>
            </a:r>
            <a:r>
              <a:rPr/>
              <a:t> so that 0 stays 0</a:t>
            </a:r>
          </a:p>
          <a:p>
            <a:pPr lvl="0"/>
            <a:r>
              <a:rPr/>
              <a:t>The model now learns on </a:t>
            </a:r>
            <a:r>
              <a:rPr b="1"/>
              <a:t>ratios</a:t>
            </a:r>
            <a:r>
              <a:rPr/>
              <a:t>, not differences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Log transformation example</a:t>
            </a:r>
          </a:p>
        </p:txBody>
      </p:sp>
      <p:pic>
        <p:nvPicPr>
          <p:cNvPr descr="img/log_transform.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One-hot encoding — </a:t>
            </a:r>
            <a:r>
              <a:rPr i="1"/>
              <a:t>basic</a:t>
            </a:r>
          </a:p>
        </p:txBody>
      </p:sp>
      <p:sp>
        <p:nvSpPr>
          <p:cNvPr id="3" name="Content Placeholder 2"/>
          <p:cNvSpPr>
            <a:spLocks noGrp="1"/>
          </p:cNvSpPr>
          <p:nvPr>
            <p:ph idx="1"/>
          </p:nvPr>
        </p:nvSpPr>
        <p:spPr/>
        <p:txBody>
          <a:bodyPr>
            <a:normAutofit/>
          </a:bodyPr>
          <a:lstStyle/>
          <a:p>
            <a:pPr lvl="0" indent="0" marL="0">
              <a:buNone/>
            </a:pPr>
            <a:r>
              <a:rPr/>
              <a:t>Turn an unordered category into one binary column per level.</a:t>
            </a:r>
          </a:p>
          <a:p>
            <a:pPr lvl="0" indent="0" marL="0">
              <a:buNone/>
            </a:pPr>
            <a:r>
              <a:rPr b="1"/>
              <a:t>Example:</a:t>
            </a:r>
            <a:r>
              <a:rPr/>
              <a:t> </a:t>
            </a:r>
            <a:r>
              <a:rPr>
                <a:latin typeface="Courier"/>
              </a:rPr>
              <a:t>admission_type</a:t>
            </a:r>
            <a:r>
              <a:rPr/>
              <a:t> ∈ {emergency, elective, transfer} → 3 columns.</a:t>
            </a:r>
          </a:p>
          <a:p>
            <a:pPr lvl="0" indent="0">
              <a:buNone/>
            </a:pPr>
            <a:r>
              <a:rPr>
                <a:latin typeface="Courier"/>
              </a:rPr>
              <a:t>OneHotEncoder(handle_unknown</a:t>
            </a:r>
            <a:r>
              <a:rPr>
                <a:solidFill>
                  <a:srgbClr val="666666"/>
                </a:solidFill>
                <a:latin typeface="Courier"/>
              </a:rPr>
              <a:t>=</a:t>
            </a:r>
            <a:r>
              <a:rPr>
                <a:solidFill>
                  <a:srgbClr val="4070A0"/>
                </a:solidFill>
                <a:latin typeface="Courier"/>
              </a:rPr>
              <a:t>"ignore"</a:t>
            </a:r>
            <a:r>
              <a:rPr>
                <a:latin typeface="Courier"/>
              </a:rPr>
              <a:t>)</a:t>
            </a:r>
          </a:p>
          <a:p>
            <a:pPr lvl="0"/>
            <a:r>
              <a:rPr/>
              <a:t>Never encode it as 1/2/3: that invents an order</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One-hot encoding example</a:t>
            </a:r>
          </a:p>
        </p:txBody>
      </p:sp>
      <p:pic>
        <p:nvPicPr>
          <p:cNvPr descr="img/onehot.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Standardization — </a:t>
            </a:r>
            <a:r>
              <a:rPr i="1"/>
              <a:t>basic</a:t>
            </a:r>
          </a:p>
        </p:txBody>
      </p:sp>
      <p:sp>
        <p:nvSpPr>
          <p:cNvPr id="3" name="Content Placeholder 2"/>
          <p:cNvSpPr>
            <a:spLocks noGrp="1"/>
          </p:cNvSpPr>
          <p:nvPr>
            <p:ph idx="1"/>
          </p:nvPr>
        </p:nvSpPr>
        <p:spPr/>
        <p:txBody>
          <a:bodyPr>
            <a:normAutofit/>
          </a:bodyPr>
          <a:lstStyle/>
          <a:p>
            <a:pPr lvl="0" indent="0" marL="0">
              <a:buNone/>
            </a:pPr>
            <a:r>
              <a:rPr/>
              <a:t>Centre and rescale so every feature is in comparable units.</a:t>
            </a:r>
          </a:p>
          <a:p>
            <a:pPr lvl="0" indent="0" marL="0">
              <a:buNone/>
            </a:pPr>
            <a:r>
              <a:rPr b="1"/>
              <a:t>Example:</a:t>
            </a:r>
            <a:r>
              <a:rPr/>
              <a:t> </a:t>
            </a:r>
            <a:r>
              <a:rPr>
                <a:latin typeface="Courier"/>
              </a:rPr>
              <a:t>heart_rate</a:t>
            </a:r>
            <a:r>
              <a:rPr/>
              <a:t> ≈ 70, </a:t>
            </a:r>
            <a:r>
              <a:rPr>
                <a:latin typeface="Courier"/>
              </a:rPr>
              <a:t>creatinine</a:t>
            </a:r>
            <a:r>
              <a:rPr/>
              <a:t> ≈ 1.1 — without scaling, any distance or penalty is decided by the heart rate alone.</a:t>
            </a:r>
          </a:p>
          <a:p>
            <a:pPr lvl="0" indent="0">
              <a:buNone/>
            </a:pPr>
            <a:r>
              <a:rPr>
                <a:latin typeface="Courier"/>
              </a:rPr>
              <a:t>StandardScaler()      </a:t>
            </a:r>
            <a:r>
              <a:rPr i="1">
                <a:solidFill>
                  <a:srgbClr val="60A0B0"/>
                </a:solidFill>
                <a:latin typeface="Courier"/>
              </a:rPr>
              <a:t># (x - mean) / std</a:t>
            </a:r>
          </a:p>
          <a:p>
            <a:pPr lvl="0"/>
            <a:r>
              <a:rPr/>
              <a:t>Required by kNN, SVM, PCA, penalised regression, NNs</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Standardization example</a:t>
            </a:r>
          </a:p>
        </p:txBody>
      </p:sp>
      <p:pic>
        <p:nvPicPr>
          <p:cNvPr descr="img/standardize.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Binning — </a:t>
            </a:r>
            <a:r>
              <a:rPr i="1"/>
              <a:t>basic</a:t>
            </a:r>
          </a:p>
        </p:txBody>
      </p:sp>
      <p:sp>
        <p:nvSpPr>
          <p:cNvPr id="3" name="Content Placeholder 2"/>
          <p:cNvSpPr>
            <a:spLocks noGrp="1"/>
          </p:cNvSpPr>
          <p:nvPr>
            <p:ph idx="1"/>
          </p:nvPr>
        </p:nvSpPr>
        <p:spPr/>
        <p:txBody>
          <a:bodyPr>
            <a:normAutofit/>
          </a:bodyPr>
          <a:lstStyle/>
          <a:p>
            <a:pPr lvl="0" indent="0" marL="0">
              <a:buNone/>
            </a:pPr>
            <a:r>
              <a:rPr/>
              <a:t>Cut a continuous variable into ordered bands.</a:t>
            </a:r>
          </a:p>
          <a:p>
            <a:pPr lvl="0" indent="0" marL="0">
              <a:buNone/>
            </a:pPr>
            <a:r>
              <a:rPr b="1"/>
              <a:t>Example:</a:t>
            </a:r>
            <a:r>
              <a:rPr/>
              <a:t> age → </a:t>
            </a:r>
            <a:r>
              <a:rPr>
                <a:latin typeface="Courier"/>
              </a:rPr>
              <a:t>&lt;18</a:t>
            </a:r>
            <a:r>
              <a:rPr/>
              <a:t>, </a:t>
            </a:r>
            <a:r>
              <a:rPr>
                <a:latin typeface="Courier"/>
              </a:rPr>
              <a:t>18-64</a:t>
            </a:r>
            <a:r>
              <a:rPr/>
              <a:t>, </a:t>
            </a:r>
            <a:r>
              <a:rPr>
                <a:latin typeface="Courier"/>
              </a:rPr>
              <a:t>65-79</a:t>
            </a:r>
            <a:r>
              <a:rPr/>
              <a:t>, </a:t>
            </a:r>
            <a:r>
              <a:rPr>
                <a:latin typeface="Courier"/>
              </a:rPr>
              <a:t>80+</a:t>
            </a:r>
            <a:r>
              <a:rPr/>
              <a:t>, the bands clinicians use.</a:t>
            </a:r>
          </a:p>
          <a:p>
            <a:pPr lvl="0" indent="0">
              <a:buNone/>
            </a:pPr>
            <a:r>
              <a:rPr>
                <a:latin typeface="Courier"/>
              </a:rPr>
              <a:t>df[</a:t>
            </a:r>
            <a:r>
              <a:rPr>
                <a:solidFill>
                  <a:srgbClr val="4070A0"/>
                </a:solidFill>
                <a:latin typeface="Courier"/>
              </a:rPr>
              <a:t>"age_band"</a:t>
            </a:r>
            <a:r>
              <a:rPr>
                <a:latin typeface="Courier"/>
              </a:rPr>
              <a:t>] </a:t>
            </a:r>
            <a:r>
              <a:rPr>
                <a:solidFill>
                  <a:srgbClr val="666666"/>
                </a:solidFill>
                <a:latin typeface="Courier"/>
              </a:rPr>
              <a:t>=</a:t>
            </a:r>
            <a:r>
              <a:rPr>
                <a:latin typeface="Courier"/>
              </a:rPr>
              <a:t> pd.cut(</a:t>
            </a:r>
            <a:br/>
            <a:r>
              <a:rPr>
                <a:latin typeface="Courier"/>
              </a:rPr>
              <a:t>    df[</a:t>
            </a:r>
            <a:r>
              <a:rPr>
                <a:solidFill>
                  <a:srgbClr val="4070A0"/>
                </a:solidFill>
                <a:latin typeface="Courier"/>
              </a:rPr>
              <a:t>"age"</a:t>
            </a:r>
            <a:r>
              <a:rPr>
                <a:latin typeface="Courier"/>
              </a:rPr>
              <a:t>], [</a:t>
            </a:r>
            <a:r>
              <a:rPr>
                <a:solidFill>
                  <a:srgbClr val="40A070"/>
                </a:solidFill>
                <a:latin typeface="Courier"/>
              </a:rPr>
              <a:t>0</a:t>
            </a:r>
            <a:r>
              <a:rPr>
                <a:latin typeface="Courier"/>
              </a:rPr>
              <a:t>, </a:t>
            </a:r>
            <a:r>
              <a:rPr>
                <a:solidFill>
                  <a:srgbClr val="40A070"/>
                </a:solidFill>
                <a:latin typeface="Courier"/>
              </a:rPr>
              <a:t>18</a:t>
            </a:r>
            <a:r>
              <a:rPr>
                <a:latin typeface="Courier"/>
              </a:rPr>
              <a:t>, </a:t>
            </a:r>
            <a:r>
              <a:rPr>
                <a:solidFill>
                  <a:srgbClr val="40A070"/>
                </a:solidFill>
                <a:latin typeface="Courier"/>
              </a:rPr>
              <a:t>65</a:t>
            </a:r>
            <a:r>
              <a:rPr>
                <a:latin typeface="Courier"/>
              </a:rPr>
              <a:t>, </a:t>
            </a:r>
            <a:r>
              <a:rPr>
                <a:solidFill>
                  <a:srgbClr val="40A070"/>
                </a:solidFill>
                <a:latin typeface="Courier"/>
              </a:rPr>
              <a:t>80</a:t>
            </a:r>
            <a:r>
              <a:rPr>
                <a:latin typeface="Courier"/>
              </a:rPr>
              <a:t>, </a:t>
            </a:r>
            <a:r>
              <a:rPr>
                <a:solidFill>
                  <a:srgbClr val="40A070"/>
                </a:solidFill>
                <a:latin typeface="Courier"/>
              </a:rPr>
              <a:t>120</a:t>
            </a:r>
            <a:r>
              <a:rPr>
                <a:latin typeface="Courier"/>
              </a:rPr>
              <a:t>])</a:t>
            </a:r>
          </a:p>
          <a:p>
            <a:pPr lvl="0"/>
            <a:r>
              <a:rPr/>
              <a:t>Captures a threshold effect a linear term would miss</a:t>
            </a:r>
          </a:p>
          <a:p>
            <a:pPr lvl="0"/>
            <a:r>
              <a:rPr/>
              <a:t>Costs resolution; the cut points are a modelling choice, so justify them</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Binning example</a:t>
            </a:r>
          </a:p>
        </p:txBody>
      </p:sp>
      <p:pic>
        <p:nvPicPr>
          <p:cNvPr descr="img/binning.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Polynomial features — </a:t>
            </a:r>
            <a:r>
              <a:rPr i="1"/>
              <a:t>intermediate</a:t>
            </a:r>
          </a:p>
        </p:txBody>
      </p:sp>
      <p:sp>
        <p:nvSpPr>
          <p:cNvPr id="3" name="Content Placeholder 2"/>
          <p:cNvSpPr>
            <a:spLocks noGrp="1"/>
          </p:cNvSpPr>
          <p:nvPr>
            <p:ph idx="1"/>
          </p:nvPr>
        </p:nvSpPr>
        <p:spPr/>
        <p:txBody>
          <a:bodyPr>
            <a:normAutofit/>
          </a:bodyPr>
          <a:lstStyle/>
          <a:p>
            <a:pPr lvl="0" indent="0" marL="0">
              <a:buNone/>
            </a:pPr>
            <a:r>
              <a:rPr/>
              <a:t>Add powers of a variable so a linear model can bend.</a:t>
            </a:r>
          </a:p>
          <a:p>
            <a:pPr lvl="0" indent="0" marL="0">
              <a:buNone/>
            </a:pPr>
            <a:r>
              <a:rPr b="1"/>
              <a:t>Example:</a:t>
            </a:r>
            <a:r>
              <a:rPr/>
              <a:t> in-hospital risk is </a:t>
            </a:r>
            <a:r>
              <a:rPr b="1"/>
              <a:t>U-shaped</a:t>
            </a:r>
            <a:r>
              <a:rPr/>
              <a:t> in age — high for infants, low in mid-life, high again in the elderly. </a:t>
            </a:r>
            <a:r>
              <a:rPr>
                <a:latin typeface="Courier"/>
              </a:rPr>
              <a:t>age</a:t>
            </a:r>
            <a:r>
              <a:rPr/>
              <a:t> alone cannot express that; </a:t>
            </a:r>
            <a:r>
              <a:rPr>
                <a:latin typeface="Courier"/>
              </a:rPr>
              <a:t>age²</a:t>
            </a:r>
            <a:r>
              <a:rPr/>
              <a:t> can.</a:t>
            </a:r>
          </a:p>
          <a:p>
            <a:pPr lvl="0" indent="0">
              <a:buNone/>
            </a:pPr>
            <a:r>
              <a:rPr>
                <a:latin typeface="Courier"/>
              </a:rPr>
              <a:t>PolynomialFeatures(</a:t>
            </a:r>
            <a:r>
              <a:rPr>
                <a:solidFill>
                  <a:srgbClr val="40A070"/>
                </a:solidFill>
                <a:latin typeface="Courier"/>
              </a:rPr>
              <a:t>2</a:t>
            </a:r>
            <a:r>
              <a:rPr>
                <a:latin typeface="Courier"/>
              </a:rPr>
              <a:t>, include_bias</a:t>
            </a:r>
            <a:r>
              <a:rPr>
                <a:solidFill>
                  <a:srgbClr val="666666"/>
                </a:solidFill>
                <a:latin typeface="Courier"/>
              </a:rPr>
              <a:t>=</a:t>
            </a:r>
            <a:r>
              <a:rPr>
                <a:solidFill>
                  <a:srgbClr val="19177C"/>
                </a:solidFill>
                <a:latin typeface="Courier"/>
              </a:rPr>
              <a:t>False</a:t>
            </a:r>
            <a:r>
              <a:rPr>
                <a:latin typeface="Courier"/>
              </a:rPr>
              <a:t>)</a:t>
            </a:r>
          </a:p>
          <a:p>
            <a:pPr lvl="0"/>
            <a:r>
              <a:rPr/>
              <a:t>Standardize first, or the powers dominate</a:t>
            </a:r>
          </a:p>
          <a:p>
            <a:pPr lvl="0"/>
            <a:r>
              <a:rPr/>
              <a:t>Degree 3+ overfits fast</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Polynomial features example</a:t>
            </a:r>
          </a:p>
        </p:txBody>
      </p:sp>
      <p:pic>
        <p:nvPicPr>
          <p:cNvPr descr="img/polynomial.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Interaction features — </a:t>
            </a:r>
            <a:r>
              <a:rPr i="1"/>
              <a:t>intermediate</a:t>
            </a:r>
          </a:p>
        </p:txBody>
      </p:sp>
      <p:sp>
        <p:nvSpPr>
          <p:cNvPr id="3" name="Content Placeholder 2"/>
          <p:cNvSpPr>
            <a:spLocks noGrp="1"/>
          </p:cNvSpPr>
          <p:nvPr>
            <p:ph idx="1"/>
          </p:nvPr>
        </p:nvSpPr>
        <p:spPr/>
        <p:txBody>
          <a:bodyPr>
            <a:normAutofit/>
          </a:bodyPr>
          <a:lstStyle/>
          <a:p>
            <a:pPr lvl="0" indent="0" marL="0">
              <a:buNone/>
            </a:pPr>
            <a:r>
              <a:rPr/>
              <a:t>The effect of one variable depends on another: give the model the product.</a:t>
            </a:r>
          </a:p>
          <a:p>
            <a:pPr lvl="0" indent="0" marL="0">
              <a:buNone/>
            </a:pPr>
            <a:r>
              <a:rPr b="1"/>
              <a:t>Example:</a:t>
            </a:r>
            <a:r>
              <a:rPr/>
              <a:t> a creatinine of 1.4 is mild in a 30-year-old and alarming in an 85-year-old.</a:t>
            </a:r>
          </a:p>
          <a:p>
            <a:pPr lvl="0" indent="0">
              <a:buNone/>
            </a:pPr>
            <a:r>
              <a:rPr>
                <a:latin typeface="Courier"/>
              </a:rPr>
              <a:t>df[</a:t>
            </a:r>
            <a:r>
              <a:rPr>
                <a:solidFill>
                  <a:srgbClr val="4070A0"/>
                </a:solidFill>
                <a:latin typeface="Courier"/>
              </a:rPr>
              <a:t>"creat_x_age"</a:t>
            </a:r>
            <a:r>
              <a:rPr>
                <a:latin typeface="Courier"/>
              </a:rPr>
              <a:t>] </a:t>
            </a:r>
            <a:r>
              <a:rPr>
                <a:solidFill>
                  <a:srgbClr val="666666"/>
                </a:solidFill>
                <a:latin typeface="Courier"/>
              </a:rPr>
              <a:t>=</a:t>
            </a:r>
            <a:r>
              <a:rPr>
                <a:latin typeface="Courier"/>
              </a:rPr>
              <a:t> df.creatinine </a:t>
            </a:r>
            <a:r>
              <a:rPr>
                <a:solidFill>
                  <a:srgbClr val="666666"/>
                </a:solidFill>
                <a:latin typeface="Courier"/>
              </a:rPr>
              <a:t>*</a:t>
            </a:r>
            <a:r>
              <a:rPr>
                <a:latin typeface="Courier"/>
              </a:rPr>
              <a:t> df.age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Interactions example</a:t>
            </a:r>
          </a:p>
        </p:txBody>
      </p:sp>
      <p:pic>
        <p:nvPicPr>
          <p:cNvPr descr="img/interaction.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Lag / rolling features — </a:t>
            </a:r>
            <a:r>
              <a:rPr i="1"/>
              <a:t>intermediate</a:t>
            </a:r>
          </a:p>
        </p:txBody>
      </p:sp>
      <p:sp>
        <p:nvSpPr>
          <p:cNvPr id="3" name="Content Placeholder 2"/>
          <p:cNvSpPr>
            <a:spLocks noGrp="1"/>
          </p:cNvSpPr>
          <p:nvPr>
            <p:ph idx="1"/>
          </p:nvPr>
        </p:nvSpPr>
        <p:spPr/>
        <p:txBody>
          <a:bodyPr>
            <a:normAutofit/>
          </a:bodyPr>
          <a:lstStyle/>
          <a:p>
            <a:pPr lvl="0" indent="0" marL="0">
              <a:buNone/>
            </a:pPr>
            <a:r>
              <a:rPr/>
              <a:t>Where the value was, and what it has been recently.</a:t>
            </a:r>
          </a:p>
          <a:p>
            <a:pPr lvl="0" indent="0" marL="0">
              <a:buNone/>
            </a:pPr>
            <a:r>
              <a:rPr b="1"/>
              <a:t>Example:</a:t>
            </a:r>
            <a:r>
              <a:rPr/>
              <a:t> heart rate now vs 6 hours ago.</a:t>
            </a:r>
          </a:p>
          <a:p>
            <a:pPr lvl="0" indent="0">
              <a:buNone/>
            </a:pPr>
            <a:r>
              <a:rPr>
                <a:latin typeface="Courier"/>
              </a:rPr>
              <a:t>hr </a:t>
            </a:r>
            <a:r>
              <a:rPr>
                <a:solidFill>
                  <a:srgbClr val="666666"/>
                </a:solidFill>
                <a:latin typeface="Courier"/>
              </a:rPr>
              <a:t>=</a:t>
            </a:r>
            <a:r>
              <a:rPr>
                <a:latin typeface="Courier"/>
              </a:rPr>
              <a:t> df.groupby(</a:t>
            </a:r>
            <a:r>
              <a:rPr>
                <a:solidFill>
                  <a:srgbClr val="4070A0"/>
                </a:solidFill>
                <a:latin typeface="Courier"/>
              </a:rPr>
              <a:t>"patient"</a:t>
            </a:r>
            <a:r>
              <a:rPr>
                <a:latin typeface="Courier"/>
              </a:rPr>
              <a:t>)[</a:t>
            </a:r>
            <a:r>
              <a:rPr>
                <a:solidFill>
                  <a:srgbClr val="4070A0"/>
                </a:solidFill>
                <a:latin typeface="Courier"/>
              </a:rPr>
              <a:t>"heart_rate"</a:t>
            </a:r>
            <a:r>
              <a:rPr>
                <a:latin typeface="Courier"/>
              </a:rPr>
              <a:t>]</a:t>
            </a:r>
            <a:br/>
            <a:r>
              <a:rPr>
                <a:latin typeface="Courier"/>
              </a:rPr>
              <a:t>df[</a:t>
            </a:r>
            <a:r>
              <a:rPr>
                <a:solidFill>
                  <a:srgbClr val="4070A0"/>
                </a:solidFill>
                <a:latin typeface="Courier"/>
              </a:rPr>
              <a:t>"hr_lag1"</a:t>
            </a:r>
            <a:r>
              <a:rPr>
                <a:latin typeface="Courier"/>
              </a:rPr>
              <a:t>]  </a:t>
            </a:r>
            <a:r>
              <a:rPr>
                <a:solidFill>
                  <a:srgbClr val="666666"/>
                </a:solidFill>
                <a:latin typeface="Courier"/>
              </a:rPr>
              <a:t>=</a:t>
            </a:r>
            <a:r>
              <a:rPr>
                <a:latin typeface="Courier"/>
              </a:rPr>
              <a:t> hr.shift(</a:t>
            </a:r>
            <a:r>
              <a:rPr>
                <a:solidFill>
                  <a:srgbClr val="40A070"/>
                </a:solidFill>
                <a:latin typeface="Courier"/>
              </a:rPr>
              <a:t>1</a:t>
            </a:r>
            <a:r>
              <a:rPr>
                <a:latin typeface="Courier"/>
              </a:rPr>
              <a:t>)</a:t>
            </a:r>
            <a:br/>
            <a:r>
              <a:rPr>
                <a:latin typeface="Courier"/>
              </a:rPr>
              <a:t>df[</a:t>
            </a:r>
            <a:r>
              <a:rPr>
                <a:solidFill>
                  <a:srgbClr val="4070A0"/>
                </a:solidFill>
                <a:latin typeface="Courier"/>
              </a:rPr>
              <a:t>"hr_delta"</a:t>
            </a:r>
            <a:r>
              <a:rPr>
                <a:latin typeface="Courier"/>
              </a:rPr>
              <a:t>] </a:t>
            </a:r>
            <a:r>
              <a:rPr>
                <a:solidFill>
                  <a:srgbClr val="666666"/>
                </a:solidFill>
                <a:latin typeface="Courier"/>
              </a:rPr>
              <a:t>=</a:t>
            </a:r>
            <a:r>
              <a:rPr>
                <a:latin typeface="Courier"/>
              </a:rPr>
              <a:t> hr.diff()</a:t>
            </a:r>
          </a:p>
          <a:p>
            <a:pPr lvl="0"/>
            <a:r>
              <a:rPr/>
              <a:t>Combine with rolling windows: </a:t>
            </a:r>
            <a:r>
              <a:rPr>
                <a:latin typeface="Courier"/>
              </a:rPr>
              <a:t>hr_mean_6h</a:t>
            </a:r>
            <a:r>
              <a:rPr/>
              <a:t>, </a:t>
            </a:r>
            <a:r>
              <a:rPr>
                <a:latin typeface="Courier"/>
              </a:rPr>
              <a:t>hr_std_24h</a:t>
            </a:r>
          </a:p>
          <a:p>
            <a:pPr lvl="0"/>
            <a:r>
              <a:rPr/>
              <a:t>The workhorse of any time-stamped dataset</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Group-relative features — </a:t>
            </a:r>
            <a:r>
              <a:rPr i="1"/>
              <a:t>advanced</a:t>
            </a:r>
          </a:p>
        </p:txBody>
      </p:sp>
      <p:sp>
        <p:nvSpPr>
          <p:cNvPr id="3" name="Content Placeholder 2"/>
          <p:cNvSpPr>
            <a:spLocks noGrp="1"/>
          </p:cNvSpPr>
          <p:nvPr>
            <p:ph idx="1"/>
          </p:nvPr>
        </p:nvSpPr>
        <p:spPr/>
        <p:txBody>
          <a:bodyPr>
            <a:normAutofit/>
          </a:bodyPr>
          <a:lstStyle/>
          <a:p>
            <a:pPr lvl="0" indent="0" marL="0">
              <a:buNone/>
            </a:pPr>
            <a:r>
              <a:rPr/>
              <a:t>Compare a value to its group instead of to the whole population.</a:t>
            </a:r>
          </a:p>
          <a:p>
            <a:pPr lvl="0" indent="0" marL="0">
              <a:buNone/>
            </a:pPr>
            <a:r>
              <a:rPr b="1"/>
              <a:t>Example:</a:t>
            </a:r>
            <a:r>
              <a:rPr/>
              <a:t> a heart rate of 95 is unremarkable in the ICU and high on a general ward — so use the z-score </a:t>
            </a:r>
            <a:r>
              <a:rPr b="1"/>
              <a:t>within the ward</a:t>
            </a:r>
            <a:r>
              <a:rPr/>
              <a:t>.</a:t>
            </a:r>
          </a:p>
          <a:p>
            <a:pPr lvl="0" indent="0">
              <a:buNone/>
            </a:pPr>
            <a:r>
              <a:rPr>
                <a:latin typeface="Courier"/>
              </a:rPr>
              <a:t>g  </a:t>
            </a:r>
            <a:r>
              <a:rPr>
                <a:solidFill>
                  <a:srgbClr val="666666"/>
                </a:solidFill>
                <a:latin typeface="Courier"/>
              </a:rPr>
              <a:t>=</a:t>
            </a:r>
            <a:r>
              <a:rPr>
                <a:latin typeface="Courier"/>
              </a:rPr>
              <a:t> df.groupby(</a:t>
            </a:r>
            <a:r>
              <a:rPr>
                <a:solidFill>
                  <a:srgbClr val="4070A0"/>
                </a:solidFill>
                <a:latin typeface="Courier"/>
              </a:rPr>
              <a:t>"ward"</a:t>
            </a:r>
            <a:r>
              <a:rPr>
                <a:latin typeface="Courier"/>
              </a:rPr>
              <a:t>)[</a:t>
            </a:r>
            <a:r>
              <a:rPr>
                <a:solidFill>
                  <a:srgbClr val="4070A0"/>
                </a:solidFill>
                <a:latin typeface="Courier"/>
              </a:rPr>
              <a:t>"heart_rate"</a:t>
            </a:r>
            <a:r>
              <a:rPr>
                <a:latin typeface="Courier"/>
              </a:rPr>
              <a:t>]</a:t>
            </a:r>
            <a:br/>
            <a:r>
              <a:rPr>
                <a:latin typeface="Courier"/>
              </a:rPr>
              <a:t>mu </a:t>
            </a:r>
            <a:r>
              <a:rPr>
                <a:solidFill>
                  <a:srgbClr val="666666"/>
                </a:solidFill>
                <a:latin typeface="Courier"/>
              </a:rPr>
              <a:t>=</a:t>
            </a:r>
            <a:r>
              <a:rPr>
                <a:latin typeface="Courier"/>
              </a:rPr>
              <a:t> g.transform(</a:t>
            </a:r>
            <a:r>
              <a:rPr>
                <a:solidFill>
                  <a:srgbClr val="4070A0"/>
                </a:solidFill>
                <a:latin typeface="Courier"/>
              </a:rPr>
              <a:t>"mean"</a:t>
            </a:r>
            <a:r>
              <a:rPr>
                <a:latin typeface="Courier"/>
              </a:rPr>
              <a:t>)</a:t>
            </a:r>
            <a:br/>
            <a:r>
              <a:rPr>
                <a:latin typeface="Courier"/>
              </a:rPr>
              <a:t>sd </a:t>
            </a:r>
            <a:r>
              <a:rPr>
                <a:solidFill>
                  <a:srgbClr val="666666"/>
                </a:solidFill>
                <a:latin typeface="Courier"/>
              </a:rPr>
              <a:t>=</a:t>
            </a:r>
            <a:r>
              <a:rPr>
                <a:latin typeface="Courier"/>
              </a:rPr>
              <a:t> g.transform(</a:t>
            </a:r>
            <a:r>
              <a:rPr>
                <a:solidFill>
                  <a:srgbClr val="4070A0"/>
                </a:solidFill>
                <a:latin typeface="Courier"/>
              </a:rPr>
              <a:t>"std"</a:t>
            </a:r>
            <a:r>
              <a:rPr>
                <a:latin typeface="Courier"/>
              </a:rPr>
              <a:t>)</a:t>
            </a:r>
            <a:br/>
            <a:r>
              <a:rPr>
                <a:latin typeface="Courier"/>
              </a:rPr>
              <a:t>df[</a:t>
            </a:r>
            <a:r>
              <a:rPr>
                <a:solidFill>
                  <a:srgbClr val="4070A0"/>
                </a:solidFill>
                <a:latin typeface="Courier"/>
              </a:rPr>
              <a:t>"hr_z_ward"</a:t>
            </a:r>
            <a:r>
              <a:rPr>
                <a:latin typeface="Courier"/>
              </a:rPr>
              <a:t>] </a:t>
            </a:r>
            <a:r>
              <a:rPr>
                <a:solidFill>
                  <a:srgbClr val="666666"/>
                </a:solidFill>
                <a:latin typeface="Courier"/>
              </a:rPr>
              <a:t>=</a:t>
            </a:r>
            <a:r>
              <a:rPr>
                <a:latin typeface="Courier"/>
              </a:rPr>
              <a:t> (df.heart_rate </a:t>
            </a:r>
            <a:r>
              <a:rPr>
                <a:solidFill>
                  <a:srgbClr val="666666"/>
                </a:solidFill>
                <a:latin typeface="Courier"/>
              </a:rPr>
              <a:t>-</a:t>
            </a:r>
            <a:r>
              <a:rPr>
                <a:latin typeface="Courier"/>
              </a:rPr>
              <a:t> mu) </a:t>
            </a:r>
            <a:r>
              <a:rPr>
                <a:solidFill>
                  <a:srgbClr val="666666"/>
                </a:solidFill>
                <a:latin typeface="Courier"/>
              </a:rPr>
              <a:t>/</a:t>
            </a:r>
            <a:r>
              <a:rPr>
                <a:latin typeface="Courier"/>
              </a:rPr>
              <a:t> sd</a:t>
            </a:r>
          </a:p>
          <a:p>
            <a:pPr lvl="0"/>
            <a:r>
              <a:rPr/>
              <a:t>Removes a site effect you do not want the model to learn</a:t>
            </a:r>
          </a:p>
          <a:p>
            <a:pPr lvl="0"/>
            <a:r>
              <a:rPr/>
              <a:t>Also useful per patient: deviation from that patient’s own baseline</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Group-relative features example</a:t>
            </a:r>
          </a:p>
        </p:txBody>
      </p:sp>
      <p:pic>
        <p:nvPicPr>
          <p:cNvPr descr="img/group_relative.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Learned embeddings — </a:t>
            </a:r>
            <a:r>
              <a:rPr i="1"/>
              <a:t>advanced</a:t>
            </a:r>
          </a:p>
        </p:txBody>
      </p:sp>
      <p:sp>
        <p:nvSpPr>
          <p:cNvPr id="3" name="Content Placeholder 2"/>
          <p:cNvSpPr>
            <a:spLocks noGrp="1"/>
          </p:cNvSpPr>
          <p:nvPr>
            <p:ph idx="1"/>
          </p:nvPr>
        </p:nvSpPr>
        <p:spPr/>
        <p:txBody>
          <a:bodyPr>
            <a:normAutofit/>
          </a:bodyPr>
          <a:lstStyle/>
          <a:p>
            <a:pPr lvl="0" indent="0" marL="0">
              <a:buNone/>
            </a:pPr>
            <a:r>
              <a:rPr/>
              <a:t>Map a high-cardinality category to a dense vector learned with the model.</a:t>
            </a:r>
          </a:p>
          <a:p>
            <a:pPr lvl="0" indent="0" marL="0">
              <a:buNone/>
            </a:pPr>
            <a:r>
              <a:rPr b="1"/>
              <a:t>Example:</a:t>
            </a:r>
            <a:r>
              <a:rPr/>
              <a:t> 15 000 ICD-10 codes → 32 numbers each, trained jointly with the classifier. Codes with similar outcomes end up close together.</a:t>
            </a:r>
          </a:p>
          <a:p>
            <a:pPr lvl="0" indent="0">
              <a:buNone/>
            </a:pPr>
            <a:r>
              <a:rPr>
                <a:latin typeface="Courier"/>
              </a:rPr>
              <a:t>nn.Embedding(num_embeddings</a:t>
            </a:r>
            <a:r>
              <a:rPr>
                <a:solidFill>
                  <a:srgbClr val="666666"/>
                </a:solidFill>
                <a:latin typeface="Courier"/>
              </a:rPr>
              <a:t>=</a:t>
            </a:r>
            <a:r>
              <a:rPr>
                <a:solidFill>
                  <a:srgbClr val="40A070"/>
                </a:solidFill>
                <a:latin typeface="Courier"/>
              </a:rPr>
              <a:t>15000</a:t>
            </a:r>
            <a:r>
              <a:rPr>
                <a:latin typeface="Courier"/>
              </a:rPr>
              <a:t>,</a:t>
            </a:r>
            <a:br/>
            <a:r>
              <a:rPr>
                <a:latin typeface="Courier"/>
              </a:rPr>
              <a:t>             embedding_dim</a:t>
            </a:r>
            <a:r>
              <a:rPr>
                <a:solidFill>
                  <a:srgbClr val="666666"/>
                </a:solidFill>
                <a:latin typeface="Courier"/>
              </a:rPr>
              <a:t>=</a:t>
            </a:r>
            <a:r>
              <a:rPr>
                <a:solidFill>
                  <a:srgbClr val="40A070"/>
                </a:solidFill>
                <a:latin typeface="Courier"/>
              </a:rPr>
              <a:t>32</a:t>
            </a:r>
            <a:r>
              <a:rPr>
                <a:latin typeface="Courier"/>
              </a:rPr>
              <a:t>)</a:t>
            </a:r>
          </a:p>
          <a:p>
            <a:pPr lvl="0"/>
            <a:r>
              <a:rPr/>
              <a:t>Replaces a 15 000-column one-hot with 32 dense columns</a:t>
            </a:r>
          </a:p>
          <a:p>
            <a:pPr lvl="0"/>
            <a:r>
              <a:rPr/>
              <a:t>The embedding table itself is often worth inspecting</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Embeddings example</a:t>
            </a:r>
          </a:p>
        </p:txBody>
      </p:sp>
      <p:pic>
        <p:nvPicPr>
          <p:cNvPr descr="img/embedding.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Representation learning — </a:t>
            </a:r>
            <a:r>
              <a:rPr i="1"/>
              <a:t>advanced</a:t>
            </a:r>
          </a:p>
        </p:txBody>
      </p:sp>
      <p:sp>
        <p:nvSpPr>
          <p:cNvPr id="3" name="Content Placeholder 2"/>
          <p:cNvSpPr>
            <a:spLocks noGrp="1"/>
          </p:cNvSpPr>
          <p:nvPr>
            <p:ph idx="1"/>
          </p:nvPr>
        </p:nvSpPr>
        <p:spPr/>
        <p:txBody>
          <a:bodyPr>
            <a:normAutofit/>
          </a:bodyPr>
          <a:lstStyle/>
          <a:p>
            <a:pPr lvl="0" indent="0" marL="0">
              <a:buNone/>
            </a:pPr>
            <a:r>
              <a:rPr/>
              <a:t>Stop hand-writing features: let the network learn them from the raw signal.</a:t>
            </a:r>
          </a:p>
          <a:p>
            <a:pPr lvl="0" indent="0" marL="0">
              <a:buNone/>
            </a:pPr>
            <a:r>
              <a:rPr b="1"/>
              <a:t>Example:</a:t>
            </a:r>
            <a:r>
              <a:rPr/>
              <a:t> feed the raw ECG waveform to a 1-D CNN instead of the hand-crafted QRS duration, QT interval, and ST elevation.</a:t>
            </a:r>
          </a:p>
          <a:p>
            <a:pPr lvl="0"/>
            <a:r>
              <a:rPr/>
              <a:t>Wins when the raw signal is rich and the dataset is large</a:t>
            </a:r>
          </a:p>
          <a:p>
            <a:pPr lvl="0"/>
            <a:r>
              <a:rPr/>
              <a:t>You trade interpretability for capacity</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ormAutofit/>
          </a:bodyPr>
          <a:lstStyle/>
          <a:p>
            <a:pPr lvl="0" indent="0" marL="0">
              <a:buNone/>
            </a:pPr>
            <a:r>
              <a:rPr/>
              <a:t>3. Missing data</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Missingness is everywhere</a:t>
            </a:r>
          </a:p>
        </p:txBody>
      </p:sp>
      <p:sp>
        <p:nvSpPr>
          <p:cNvPr id="3" name="Content Placeholder 2"/>
          <p:cNvSpPr>
            <a:spLocks noGrp="1"/>
          </p:cNvSpPr>
          <p:nvPr>
            <p:ph idx="1"/>
          </p:nvPr>
        </p:nvSpPr>
        <p:spPr/>
        <p:txBody>
          <a:bodyPr>
            <a:normAutofit/>
          </a:bodyPr>
          <a:lstStyle/>
          <a:p>
            <a:pPr lvl="0" indent="0" marL="0">
              <a:buNone/>
            </a:pPr>
            <a:r>
              <a:rPr/>
              <a:t>Every real table has holes: a lab that was never ordered, a vital never charted — and the lag features we just built add more.</a:t>
            </a:r>
          </a:p>
          <a:p>
            <a:pPr lvl="0" indent="0" marL="0">
              <a:buNone/>
            </a:pPr>
            <a:r>
              <a:rPr/>
              <a:t>Three bad reflexes:</a:t>
            </a:r>
          </a:p>
          <a:p>
            <a:pPr lvl="0" indent="-342900" marL="342900">
              <a:buAutoNum type="arabicPeriod"/>
            </a:pPr>
            <a:r>
              <a:rPr/>
              <a:t>Drop the rows → you may drop the sickest patients</a:t>
            </a:r>
          </a:p>
          <a:p>
            <a:pPr lvl="0" indent="-342900" marL="342900">
              <a:buAutoNum type="arabicPeriod"/>
            </a:pPr>
            <a:r>
              <a:rPr/>
              <a:t>Fill with 0 → 0 is a </a:t>
            </a:r>
            <a:r>
              <a:rPr i="1"/>
              <a:t>value</a:t>
            </a:r>
            <a:r>
              <a:rPr/>
              <a:t>, and a physiologically absurd one</a:t>
            </a:r>
          </a:p>
          <a:p>
            <a:pPr lvl="0" indent="-342900" marL="342900">
              <a:buAutoNum type="arabicPeriod"/>
            </a:pPr>
            <a:r>
              <a:rPr/>
              <a:t>Fill with the mean → the model now sees a fake, over-confident cohort</a:t>
            </a:r>
          </a:p>
          <a:p>
            <a:pPr lvl="0" indent="0" marL="0">
              <a:buNone/>
            </a:pPr>
            <a:r>
              <a:rPr b="1"/>
              <a:t>The first question is never “what do I fill it with?” but “why is it missing?”</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Look at the holes first</a:t>
            </a:r>
          </a:p>
        </p:txBody>
      </p:sp>
      <p:pic>
        <p:nvPicPr>
          <p:cNvPr descr="img/missing_map.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Three mechanisms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normAutofit/>
                    </a:bodyPr>
                    <a:lstStyle/>
                    <a:p>
                      <a:pPr lvl="0" indent="0" marL="0">
                        <a:buNone/>
                      </a:pPr>
                      <a:r>
                        <a:rPr/>
                        <a:t>Mechanism</a:t>
                      </a:r>
                    </a:p>
                  </a:txBody>
                  <a:tcPr/>
                </a:tc>
                <a:tc>
                  <a:txBody>
                    <a:bodyPr>
                      <a:normAutofit/>
                    </a:bodyPr>
                    <a:lstStyle/>
                    <a:p>
                      <a:pPr lvl="0" indent="0" marL="0">
                        <a:buNone/>
                      </a:pPr>
                      <a:r>
                        <a:rPr/>
                        <a:t>Missingness depends on</a:t>
                      </a:r>
                    </a:p>
                  </a:txBody>
                  <a:tcPr/>
                </a:tc>
              </a:tr>
              <a:tr h="0">
                <a:tc>
                  <a:txBody>
                    <a:bodyPr>
                      <a:normAutofit/>
                    </a:bodyPr>
                    <a:lstStyle/>
                    <a:p>
                      <a:pPr lvl="0" indent="0" marL="0">
                        <a:buNone/>
                      </a:pPr>
                      <a:r>
                        <a:rPr b="1"/>
                        <a:t>MCAR</a:t>
                      </a:r>
                    </a:p>
                  </a:txBody>
                </a:tc>
                <a:tc>
                  <a:txBody>
                    <a:bodyPr>
                      <a:normAutofit/>
                    </a:bodyPr>
                    <a:lstStyle/>
                    <a:p>
                      <a:pPr lvl="0" indent="0" marL="0">
                        <a:buNone/>
                      </a:pPr>
                      <a:r>
                        <a:rPr/>
                        <a:t>nothing</a:t>
                      </a:r>
                    </a:p>
                  </a:txBody>
                </a:tc>
              </a:tr>
              <a:tr h="0">
                <a:tc>
                  <a:txBody>
                    <a:bodyPr>
                      <a:normAutofit/>
                    </a:bodyPr>
                    <a:lstStyle/>
                    <a:p>
                      <a:pPr lvl="0" indent="0" marL="0">
                        <a:buNone/>
                      </a:pPr>
                      <a:r>
                        <a:rPr b="1"/>
                        <a:t>MAR</a:t>
                      </a:r>
                    </a:p>
                  </a:txBody>
                </a:tc>
                <a:tc>
                  <a:txBody>
                    <a:bodyPr>
                      <a:normAutofit/>
                    </a:bodyPr>
                    <a:lstStyle/>
                    <a:p>
                      <a:pPr lvl="0" indent="0" marL="0">
                        <a:buNone/>
                      </a:pPr>
                      <a:r>
                        <a:rPr/>
                        <a:t>the </a:t>
                      </a:r>
                      <a:r>
                        <a:rPr b="1"/>
                        <a:t>observed</a:t>
                      </a:r>
                      <a:r>
                        <a:rPr/>
                        <a:t> data</a:t>
                      </a:r>
                    </a:p>
                  </a:txBody>
                </a:tc>
              </a:tr>
              <a:tr h="0">
                <a:tc>
                  <a:txBody>
                    <a:bodyPr>
                      <a:normAutofit/>
                    </a:bodyPr>
                    <a:lstStyle/>
                    <a:p>
                      <a:pPr lvl="0" indent="0" marL="0">
                        <a:buNone/>
                      </a:pPr>
                      <a:r>
                        <a:rPr b="1"/>
                        <a:t>MNAR</a:t>
                      </a:r>
                    </a:p>
                  </a:txBody>
                </a:tc>
                <a:tc>
                  <a:txBody>
                    <a:bodyPr>
                      <a:normAutofit/>
                    </a:bodyPr>
                    <a:lstStyle/>
                    <a:p>
                      <a:pPr lvl="0" indent="0" marL="0">
                        <a:buNone/>
                      </a:pPr>
                      <a:r>
                        <a:rPr/>
                        <a:t>the </a:t>
                      </a:r>
                      <a:r>
                        <a:rPr b="1"/>
                        <a:t>missing value itself</a:t>
                      </a:r>
                    </a:p>
                  </a:txBody>
                </a:tc>
              </a:tr>
            </a:tbl>
          </a:graphicData>
        </a:graphic>
      </p:graphicFrame>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MCAR — missing completely at random</a:t>
            </a:r>
          </a:p>
        </p:txBody>
      </p:sp>
      <p:sp>
        <p:nvSpPr>
          <p:cNvPr id="3" name="Content Placeholder 2"/>
          <p:cNvSpPr>
            <a:spLocks noGrp="1"/>
          </p:cNvSpPr>
          <p:nvPr>
            <p:ph idx="1"/>
          </p:nvPr>
        </p:nvSpPr>
        <p:spPr/>
        <p:txBody>
          <a:bodyPr>
            <a:normAutofit/>
          </a:bodyPr>
          <a:lstStyle/>
          <a:p>
            <a:pPr lvl="0" indent="0" marL="0">
              <a:buNone/>
            </a:pPr>
            <a:r>
              <a:rPr>
                <a:latin typeface="Courier"/>
              </a:rPr>
              <a:t>P(missing)</a:t>
            </a:r>
            <a:r>
              <a:rPr/>
              <a:t> depends on </a:t>
            </a:r>
            <a:r>
              <a:rPr b="1"/>
              <a:t>nothing</a:t>
            </a:r>
            <a:r>
              <a:rPr/>
              <a:t>.</a:t>
            </a:r>
          </a:p>
          <a:p>
            <a:pPr lvl="0"/>
            <a:r>
              <a:rPr b="1"/>
              <a:t>Example:</a:t>
            </a:r>
            <a:r>
              <a:rPr/>
              <a:t> a lab analyser broke down for two days; a tube was dropped</a:t>
            </a:r>
          </a:p>
          <a:p>
            <a:pPr lvl="0"/>
            <a:r>
              <a:rPr/>
              <a:t>The observed rows are a </a:t>
            </a:r>
            <a:r>
              <a:rPr b="1"/>
              <a:t>random sample</a:t>
            </a:r>
            <a:r>
              <a:rPr/>
              <a:t> of all rows</a:t>
            </a:r>
          </a:p>
          <a:p>
            <a:pPr lvl="0"/>
            <a:r>
              <a:rPr/>
              <a:t>Deleting rows loses power but does </a:t>
            </a:r>
            <a:r>
              <a:rPr b="1"/>
              <a:t>not</a:t>
            </a:r>
            <a:r>
              <a:rPr/>
              <a:t> bias estimates</a:t>
            </a:r>
          </a:p>
          <a:p>
            <a:pPr lvl="0"/>
            <a:r>
              <a:rPr/>
              <a:t>Rare in practice</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MAR — missing at random</a:t>
            </a:r>
          </a:p>
        </p:txBody>
      </p:sp>
      <p:sp>
        <p:nvSpPr>
          <p:cNvPr id="3" name="Content Placeholder 2"/>
          <p:cNvSpPr>
            <a:spLocks noGrp="1"/>
          </p:cNvSpPr>
          <p:nvPr>
            <p:ph idx="1"/>
          </p:nvPr>
        </p:nvSpPr>
        <p:spPr/>
        <p:txBody>
          <a:bodyPr>
            <a:normAutofit/>
          </a:bodyPr>
          <a:lstStyle/>
          <a:p>
            <a:pPr lvl="0" indent="0" marL="0">
              <a:buNone/>
            </a:pPr>
            <a:r>
              <a:rPr>
                <a:latin typeface="Courier"/>
              </a:rPr>
              <a:t>P(missing)</a:t>
            </a:r>
            <a:r>
              <a:rPr/>
              <a:t> depends only on the </a:t>
            </a:r>
            <a:r>
              <a:rPr b="1"/>
              <a:t>observed</a:t>
            </a:r>
            <a:r>
              <a:rPr/>
              <a:t> variables.</a:t>
            </a:r>
          </a:p>
          <a:p>
            <a:pPr lvl="0"/>
            <a:r>
              <a:rPr b="1"/>
              <a:t>Example:</a:t>
            </a:r>
            <a:r>
              <a:rPr/>
              <a:t> troponin is ordered mostly for patients over 60 with chest pain</a:t>
            </a:r>
          </a:p>
          <a:p>
            <a:pPr lvl="1" indent="0" marL="342900">
              <a:buNone/>
            </a:pPr>
            <a:r>
              <a:rPr/>
              <a:t>→ missingness depends on </a:t>
            </a:r>
            <a:r>
              <a:rPr>
                <a:latin typeface="Courier"/>
              </a:rPr>
              <a:t>age</a:t>
            </a:r>
            <a:r>
              <a:rPr/>
              <a:t> and </a:t>
            </a:r>
            <a:r>
              <a:rPr>
                <a:latin typeface="Courier"/>
              </a:rPr>
              <a:t>symptom</a:t>
            </a:r>
            <a:r>
              <a:rPr/>
              <a:t>, both of which you </a:t>
            </a:r>
            <a:r>
              <a:rPr i="1"/>
              <a:t>have</a:t>
            </a:r>
          </a:p>
          <a:p>
            <a:pPr lvl="0"/>
            <a:r>
              <a:rPr/>
              <a:t>Given age and symptom, the missing troponins are random</a:t>
            </a:r>
          </a:p>
          <a:p>
            <a:pPr lvl="0"/>
            <a:r>
              <a:rPr b="1"/>
              <a:t>Good news:</a:t>
            </a:r>
            <a:r>
              <a:rPr/>
              <a:t> conditioning on the observed data fixes it</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MNAR — missing not at random</a:t>
            </a:r>
          </a:p>
        </p:txBody>
      </p:sp>
      <p:sp>
        <p:nvSpPr>
          <p:cNvPr id="3" name="Content Placeholder 2"/>
          <p:cNvSpPr>
            <a:spLocks noGrp="1"/>
          </p:cNvSpPr>
          <p:nvPr>
            <p:ph idx="1"/>
          </p:nvPr>
        </p:nvSpPr>
        <p:spPr/>
        <p:txBody>
          <a:bodyPr>
            <a:normAutofit/>
          </a:bodyPr>
          <a:lstStyle/>
          <a:p>
            <a:pPr lvl="0" indent="0" marL="0">
              <a:buNone/>
            </a:pPr>
            <a:r>
              <a:rPr>
                <a:latin typeface="Courier"/>
              </a:rPr>
              <a:t>P(missing)</a:t>
            </a:r>
            <a:r>
              <a:rPr/>
              <a:t> depends on the </a:t>
            </a:r>
            <a:r>
              <a:rPr b="1"/>
              <a:t>unobserved value itself</a:t>
            </a:r>
            <a:r>
              <a:rPr/>
              <a:t>.</a:t>
            </a:r>
          </a:p>
          <a:p>
            <a:pPr lvl="0"/>
            <a:r>
              <a:rPr b="1"/>
              <a:t>Example:</a:t>
            </a:r>
            <a:r>
              <a:rPr/>
              <a:t> the 6-minute walk test is missing because the patient was </a:t>
            </a:r>
            <a:r>
              <a:rPr b="1"/>
              <a:t>too sick to walk</a:t>
            </a:r>
          </a:p>
          <a:p>
            <a:pPr lvl="0"/>
            <a:r>
              <a:rPr b="1"/>
              <a:t>Example:</a:t>
            </a:r>
            <a:r>
              <a:rPr/>
              <a:t> income missing precisely for the highest earners</a:t>
            </a:r>
          </a:p>
          <a:p>
            <a:pPr lvl="0"/>
            <a:r>
              <a:rPr b="1"/>
              <a:t>No imputation can recover this from the data alone</a:t>
            </a:r>
            <a:r>
              <a:rPr/>
              <a:t>: you need domain knowledge, an explicit model of the missingness, or a sensitivity analysis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The three mechanisms</a:t>
            </a:r>
          </a:p>
        </p:txBody>
      </p:sp>
      <p:pic>
        <p:nvPicPr>
          <p:cNvPr descr="img/mechanisms.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Can I test the mechanism?</a:t>
            </a:r>
          </a:p>
        </p:txBody>
      </p:sp>
      <p:sp>
        <p:nvSpPr>
          <p:cNvPr id="3" name="Content Placeholder 2"/>
          <p:cNvSpPr>
            <a:spLocks noGrp="1"/>
          </p:cNvSpPr>
          <p:nvPr>
            <p:ph idx="1"/>
          </p:nvPr>
        </p:nvSpPr>
        <p:spPr/>
        <p:txBody>
          <a:bodyPr>
            <a:normAutofit/>
          </a:bodyPr>
          <a:lstStyle/>
          <a:p>
            <a:pPr lvl="0" indent="0" marL="0">
              <a:buNone/>
            </a:pPr>
            <a:r>
              <a:rPr/>
              <a:t>MCAR vs MAR is </a:t>
            </a:r>
            <a:r>
              <a:rPr b="1"/>
              <a:t>testable-ish</a:t>
            </a:r>
            <a:r>
              <a:rPr/>
              <a:t>: does missingness relate to observed columns?</a:t>
            </a:r>
          </a:p>
          <a:p>
            <a:pPr lvl="0" indent="0">
              <a:buNone/>
            </a:pPr>
            <a:r>
              <a:rPr>
                <a:latin typeface="Courier"/>
              </a:rPr>
              <a:t>m </a:t>
            </a:r>
            <a:r>
              <a:rPr>
                <a:solidFill>
                  <a:srgbClr val="666666"/>
                </a:solidFill>
                <a:latin typeface="Courier"/>
              </a:rPr>
              <a:t>=</a:t>
            </a:r>
            <a:r>
              <a:rPr>
                <a:latin typeface="Courier"/>
              </a:rPr>
              <a:t> df[</a:t>
            </a:r>
            <a:r>
              <a:rPr>
                <a:solidFill>
                  <a:srgbClr val="4070A0"/>
                </a:solidFill>
                <a:latin typeface="Courier"/>
              </a:rPr>
              <a:t>"creatinine"</a:t>
            </a:r>
            <a:r>
              <a:rPr>
                <a:latin typeface="Courier"/>
              </a:rPr>
              <a:t>].isna()</a:t>
            </a:r>
            <a:br/>
            <a:r>
              <a:rPr>
                <a:latin typeface="Courier"/>
              </a:rPr>
              <a:t>df.groupby(m)[[</a:t>
            </a:r>
            <a:r>
              <a:rPr>
                <a:solidFill>
                  <a:srgbClr val="4070A0"/>
                </a:solidFill>
                <a:latin typeface="Courier"/>
              </a:rPr>
              <a:t>"age"</a:t>
            </a:r>
            <a:r>
              <a:rPr>
                <a:latin typeface="Courier"/>
              </a:rPr>
              <a:t>, </a:t>
            </a:r>
            <a:r>
              <a:rPr>
                <a:solidFill>
                  <a:srgbClr val="4070A0"/>
                </a:solidFill>
                <a:latin typeface="Courier"/>
              </a:rPr>
              <a:t>"heart_rate"</a:t>
            </a:r>
            <a:r>
              <a:rPr>
                <a:latin typeface="Courier"/>
              </a:rPr>
              <a:t>]].mean()</a:t>
            </a:r>
          </a:p>
          <a:p>
            <a:pPr lvl="0"/>
            <a:r>
              <a:rPr/>
              <a:t>MAR vs MNAR is </a:t>
            </a:r>
            <a:r>
              <a:rPr b="1"/>
              <a:t>not testable</a:t>
            </a:r>
            <a:r>
              <a:rPr/>
              <a:t> (the evidence is, by definition, missing)</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Imputation strategies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normAutofit/>
                    </a:bodyPr>
                    <a:lstStyle/>
                    <a:p>
                      <a:pPr lvl="0" indent="0" marL="0">
                        <a:buNone/>
                      </a:pPr>
                      <a:r>
                        <a:rPr/>
                        <a:t>Strategy</a:t>
                      </a:r>
                    </a:p>
                  </a:txBody>
                  <a:tcPr/>
                </a:tc>
                <a:tc>
                  <a:txBody>
                    <a:bodyPr>
                      <a:normAutofit/>
                    </a:bodyPr>
                    <a:lstStyle/>
                    <a:p>
                      <a:pPr lvl="0" indent="0" marL="0">
                        <a:buNone/>
                      </a:pPr>
                      <a:r>
                        <a:rPr/>
                        <a:t>Use when</a:t>
                      </a:r>
                    </a:p>
                  </a:txBody>
                  <a:tcPr/>
                </a:tc>
                <a:tc>
                  <a:txBody>
                    <a:bodyPr>
                      <a:normAutofit/>
                    </a:bodyPr>
                    <a:lstStyle/>
                    <a:p>
                      <a:pPr lvl="0" indent="0" marL="0">
                        <a:buNone/>
                      </a:pPr>
                      <a:r>
                        <a:rPr/>
                        <a:t>Risk</a:t>
                      </a:r>
                    </a:p>
                  </a:txBody>
                  <a:tcPr/>
                </a:tc>
              </a:tr>
              <a:tr h="0">
                <a:tc>
                  <a:txBody>
                    <a:bodyPr>
                      <a:normAutofit/>
                    </a:bodyPr>
                    <a:lstStyle/>
                    <a:p>
                      <a:pPr lvl="0" indent="0" marL="0">
                        <a:buNone/>
                      </a:pPr>
                      <a:r>
                        <a:rPr/>
                        <a:t>Drop rows</a:t>
                      </a:r>
                    </a:p>
                  </a:txBody>
                </a:tc>
                <a:tc>
                  <a:txBody>
                    <a:bodyPr>
                      <a:normAutofit/>
                    </a:bodyPr>
                    <a:lstStyle/>
                    <a:p>
                      <a:pPr lvl="0" indent="0" marL="0">
                        <a:buNone/>
                      </a:pPr>
                      <a:r>
                        <a:rPr/>
                        <a:t>MCAR, few rows</a:t>
                      </a:r>
                    </a:p>
                  </a:txBody>
                </a:tc>
                <a:tc>
                  <a:txBody>
                    <a:bodyPr>
                      <a:normAutofit/>
                    </a:bodyPr>
                    <a:lstStyle/>
                    <a:p>
                      <a:pPr lvl="0" indent="0" marL="0">
                        <a:buNone/>
                      </a:pPr>
                      <a:r>
                        <a:rPr/>
                        <a:t>Bias if not MCAR, power loss</a:t>
                      </a:r>
                    </a:p>
                  </a:txBody>
                </a:tc>
              </a:tr>
              <a:tr h="0">
                <a:tc>
                  <a:txBody>
                    <a:bodyPr>
                      <a:normAutofit/>
                    </a:bodyPr>
                    <a:lstStyle/>
                    <a:p>
                      <a:pPr lvl="0" indent="0" marL="0">
                        <a:buNone/>
                      </a:pPr>
                      <a:r>
                        <a:rPr/>
                        <a:t>Drop column</a:t>
                      </a:r>
                    </a:p>
                  </a:txBody>
                </a:tc>
                <a:tc>
                  <a:txBody>
                    <a:bodyPr>
                      <a:normAutofit/>
                    </a:bodyPr>
                    <a:lstStyle/>
                    <a:p>
                      <a:pPr lvl="0" indent="0" marL="0">
                        <a:buNone/>
                      </a:pPr>
                      <a:r>
                        <a:rPr/>
                        <a:t>&gt; ~50% missing, low value</a:t>
                      </a:r>
                    </a:p>
                  </a:txBody>
                </a:tc>
                <a:tc>
                  <a:txBody>
                    <a:bodyPr>
                      <a:normAutofit/>
                    </a:bodyPr>
                    <a:lstStyle/>
                    <a:p>
                      <a:pPr lvl="0" indent="0" marL="0">
                        <a:buNone/>
                      </a:pPr>
                      <a:r>
                        <a:rPr/>
                        <a:t>Loses a real signal</a:t>
                      </a:r>
                    </a:p>
                  </a:txBody>
                </a:tc>
              </a:tr>
              <a:tr h="0">
                <a:tc>
                  <a:txBody>
                    <a:bodyPr>
                      <a:normAutofit/>
                    </a:bodyPr>
                    <a:lstStyle/>
                    <a:p>
                      <a:pPr lvl="0" indent="0" marL="0">
                        <a:buNone/>
                      </a:pPr>
                      <a:r>
                        <a:rPr/>
                        <a:t>Mean / median</a:t>
                      </a:r>
                    </a:p>
                  </a:txBody>
                </a:tc>
                <a:tc>
                  <a:txBody>
                    <a:bodyPr>
                      <a:normAutofit/>
                    </a:bodyPr>
                    <a:lstStyle/>
                    <a:p>
                      <a:pPr lvl="0" indent="0" marL="0">
                        <a:buNone/>
                      </a:pPr>
                      <a:r>
                        <a:rPr/>
                        <a:t>Quick baseline</a:t>
                      </a:r>
                    </a:p>
                  </a:txBody>
                </a:tc>
                <a:tc>
                  <a:txBody>
                    <a:bodyPr>
                      <a:normAutofit/>
                    </a:bodyPr>
                    <a:lstStyle/>
                    <a:p>
                      <a:pPr lvl="0" indent="0" marL="0">
                        <a:buNone/>
                      </a:pPr>
                      <a:r>
                        <a:rPr/>
                        <a:t>Shrinks variance, distorts correlations</a:t>
                      </a:r>
                    </a:p>
                  </a:txBody>
                </a:tc>
              </a:tr>
              <a:tr h="0">
                <a:tc>
                  <a:txBody>
                    <a:bodyPr>
                      <a:normAutofit/>
                    </a:bodyPr>
                    <a:lstStyle/>
                    <a:p>
                      <a:pPr lvl="0" indent="0" marL="0">
                        <a:buNone/>
                      </a:pPr>
                      <a:r>
                        <a:rPr/>
                        <a:t>LOCF / interpolate</a:t>
                      </a:r>
                    </a:p>
                  </a:txBody>
                </a:tc>
                <a:tc>
                  <a:txBody>
                    <a:bodyPr>
                      <a:normAutofit/>
                    </a:bodyPr>
                    <a:lstStyle/>
                    <a:p>
                      <a:pPr lvl="0" indent="0" marL="0">
                        <a:buNone/>
                      </a:pPr>
                      <a:r>
                        <a:rPr/>
                        <a:t>Time series, dense</a:t>
                      </a:r>
                    </a:p>
                  </a:txBody>
                </a:tc>
                <a:tc>
                  <a:txBody>
                    <a:bodyPr>
                      <a:normAutofit/>
                    </a:bodyPr>
                    <a:lstStyle/>
                    <a:p>
                      <a:pPr lvl="0" indent="0" marL="0">
                        <a:buNone/>
                      </a:pPr>
                      <a:r>
                        <a:rPr/>
                        <a:t>Fakes stability, hides trends</a:t>
                      </a:r>
                    </a:p>
                  </a:txBody>
                </a:tc>
              </a:tr>
              <a:tr h="0">
                <a:tc>
                  <a:txBody>
                    <a:bodyPr>
                      <a:normAutofit/>
                    </a:bodyPr>
                    <a:lstStyle/>
                    <a:p>
                      <a:pPr lvl="0" indent="0" marL="0">
                        <a:buNone/>
                      </a:pPr>
                      <a:r>
                        <a:rPr/>
                        <a:t>kNN</a:t>
                      </a:r>
                    </a:p>
                  </a:txBody>
                </a:tc>
                <a:tc>
                  <a:txBody>
                    <a:bodyPr>
                      <a:normAutofit/>
                    </a:bodyPr>
                    <a:lstStyle/>
                    <a:p>
                      <a:pPr lvl="0" indent="0" marL="0">
                        <a:buNone/>
                      </a:pPr>
                      <a:r>
                        <a:rPr/>
                        <a:t>Few features, MAR</a:t>
                      </a:r>
                    </a:p>
                  </a:txBody>
                </a:tc>
                <a:tc>
                  <a:txBody>
                    <a:bodyPr>
                      <a:normAutofit/>
                    </a:bodyPr>
                    <a:lstStyle/>
                    <a:p>
                      <a:pPr lvl="0" indent="0" marL="0">
                        <a:buNone/>
                      </a:pPr>
                      <a:r>
                        <a:rPr/>
                        <a:t>Cost, scaling-sensitive</a:t>
                      </a:r>
                    </a:p>
                  </a:txBody>
                </a:tc>
              </a:tr>
              <a:tr h="0">
                <a:tc>
                  <a:txBody>
                    <a:bodyPr>
                      <a:normAutofit/>
                    </a:bodyPr>
                    <a:lstStyle/>
                    <a:p>
                      <a:pPr lvl="0" indent="0" marL="0">
                        <a:buNone/>
                      </a:pPr>
                      <a:r>
                        <a:rPr/>
                        <a:t>Iterative (MICE)</a:t>
                      </a:r>
                    </a:p>
                  </a:txBody>
                </a:tc>
                <a:tc>
                  <a:txBody>
                    <a:bodyPr>
                      <a:normAutofit/>
                    </a:bodyPr>
                    <a:lstStyle/>
                    <a:p>
                      <a:pPr lvl="0" indent="0" marL="0">
                        <a:buNone/>
                      </a:pPr>
                      <a:r>
                        <a:rPr/>
                        <a:t>MAR, many features</a:t>
                      </a:r>
                    </a:p>
                  </a:txBody>
                </a:tc>
                <a:tc>
                  <a:txBody>
                    <a:bodyPr>
                      <a:normAutofit/>
                    </a:bodyPr>
                    <a:lstStyle/>
                    <a:p>
                      <a:pPr lvl="0" indent="0" marL="0">
                        <a:buNone/>
                      </a:pPr>
                      <a:r>
                        <a:rPr/>
                        <a:t>Slower, must fit on train only</a:t>
                      </a:r>
                    </a:p>
                  </a:txBody>
                </a:tc>
              </a:tr>
              <a:tr h="0">
                <a:tc>
                  <a:txBody>
                    <a:bodyPr>
                      <a:normAutofit/>
                    </a:bodyPr>
                    <a:lstStyle/>
                    <a:p>
                      <a:pPr lvl="0" indent="0" marL="0">
                        <a:buNone/>
                      </a:pPr>
                      <a:r>
                        <a:rPr/>
                        <a:t>Model-native</a:t>
                      </a:r>
                    </a:p>
                  </a:txBody>
                </a:tc>
                <a:tc>
                  <a:txBody>
                    <a:bodyPr>
                      <a:normAutofit/>
                    </a:bodyPr>
                    <a:lstStyle/>
                    <a:p>
                      <a:pPr lvl="0" indent="0" marL="0">
                        <a:buNone/>
                      </a:pPr>
                      <a:r>
                        <a:rPr/>
                        <a:t>Trees, LightGBM/XGBoost</a:t>
                      </a:r>
                    </a:p>
                  </a:txBody>
                </a:tc>
                <a:tc>
                  <a:txBody>
                    <a:bodyPr>
                      <a:normAutofit/>
                    </a:bodyPr>
                    <a:lstStyle/>
                    <a:p>
                      <a:pPr lvl="0" indent="0" marL="0">
                        <a:buNone/>
                      </a:pPr>
                      <a:r>
                        <a:rPr/>
                        <a:t>Only some learners</a:t>
                      </a:r>
                    </a:p>
                  </a:txBody>
                </a:tc>
              </a:tr>
            </a:tbl>
          </a:graphicData>
        </a:graphic>
      </p:graphicFrame>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Simple imputation in code</a:t>
            </a:r>
          </a:p>
        </p:txBody>
      </p:sp>
      <p:sp>
        <p:nvSpPr>
          <p:cNvPr id="3" name="Content Placeholder 2"/>
          <p:cNvSpPr>
            <a:spLocks noGrp="1"/>
          </p:cNvSpPr>
          <p:nvPr>
            <p:ph idx="1"/>
          </p:nvPr>
        </p:nvSpPr>
        <p:spPr/>
        <p:txBody>
          <a:bodyPr>
            <a:normAutofit/>
          </a:bodyPr>
          <a:lstStyle/>
          <a:p>
            <a:pPr lvl="0" indent="0">
              <a:buNone/>
            </a:pPr>
            <a:r>
              <a:rPr b="1">
                <a:solidFill>
                  <a:srgbClr val="008000"/>
                </a:solidFill>
                <a:latin typeface="Courier"/>
              </a:rPr>
              <a:t>from</a:t>
            </a:r>
            <a:r>
              <a:rPr>
                <a:latin typeface="Courier"/>
              </a:rPr>
              <a:t> sklearn.impute </a:t>
            </a:r>
            <a:r>
              <a:rPr b="1">
                <a:solidFill>
                  <a:srgbClr val="008000"/>
                </a:solidFill>
                <a:latin typeface="Courier"/>
              </a:rPr>
              <a:t>import</a:t>
            </a:r>
            <a:r>
              <a:rPr>
                <a:latin typeface="Courier"/>
              </a:rPr>
              <a:t> SimpleImputer</a:t>
            </a:r>
            <a:br/>
            <a:br/>
            <a:r>
              <a:rPr>
                <a:latin typeface="Courier"/>
              </a:rPr>
              <a:t>pipe </a:t>
            </a:r>
            <a:r>
              <a:rPr>
                <a:solidFill>
                  <a:srgbClr val="666666"/>
                </a:solidFill>
                <a:latin typeface="Courier"/>
              </a:rPr>
              <a:t>=</a:t>
            </a:r>
            <a:r>
              <a:rPr>
                <a:latin typeface="Courier"/>
              </a:rPr>
              <a:t> make_pipeline(</a:t>
            </a:r>
            <a:br/>
            <a:r>
              <a:rPr>
                <a:latin typeface="Courier"/>
              </a:rPr>
              <a:t>    SimpleImputer(strategy</a:t>
            </a:r>
            <a:r>
              <a:rPr>
                <a:solidFill>
                  <a:srgbClr val="666666"/>
                </a:solidFill>
                <a:latin typeface="Courier"/>
              </a:rPr>
              <a:t>=</a:t>
            </a:r>
            <a:r>
              <a:rPr>
                <a:solidFill>
                  <a:srgbClr val="4070A0"/>
                </a:solidFill>
                <a:latin typeface="Courier"/>
              </a:rPr>
              <a:t>"median"</a:t>
            </a:r>
            <a:r>
              <a:rPr>
                <a:latin typeface="Courier"/>
              </a:rPr>
              <a:t>,</a:t>
            </a:r>
            <a:br/>
            <a:r>
              <a:rPr>
                <a:latin typeface="Courier"/>
              </a:rPr>
              <a:t>                  add_indicator</a:t>
            </a:r>
            <a:r>
              <a:rPr>
                <a:solidFill>
                  <a:srgbClr val="666666"/>
                </a:solidFill>
                <a:latin typeface="Courier"/>
              </a:rPr>
              <a:t>=</a:t>
            </a:r>
            <a:r>
              <a:rPr>
                <a:solidFill>
                  <a:srgbClr val="19177C"/>
                </a:solidFill>
                <a:latin typeface="Courier"/>
              </a:rPr>
              <a:t>True</a:t>
            </a:r>
            <a:r>
              <a:rPr>
                <a:latin typeface="Courier"/>
              </a:rPr>
              <a:t>),</a:t>
            </a:r>
            <a:br/>
            <a:r>
              <a:rPr>
                <a:latin typeface="Courier"/>
              </a:rPr>
              <a:t>    StandardScaler(),</a:t>
            </a:r>
            <a:br/>
            <a:r>
              <a:rPr>
                <a:latin typeface="Courier"/>
              </a:rPr>
              <a:t>    LogisticRegression(),</a:t>
            </a:r>
            <a:br/>
            <a:r>
              <a:rPr>
                <a:latin typeface="Courier"/>
              </a:rPr>
              <a:t>)</a:t>
            </a:r>
          </a:p>
          <a:p>
            <a:pPr lvl="0"/>
            <a:r>
              <a:rPr/>
              <a:t>Imputation is a </a:t>
            </a:r>
            <a:r>
              <a:rPr b="1"/>
              <a:t>fitted transform</a:t>
            </a:r>
            <a:r>
              <a:rPr/>
              <a:t>: it learns the medians</a:t>
            </a:r>
          </a:p>
          <a:p>
            <a:pPr lvl="0"/>
            <a:r>
              <a:rPr/>
              <a:t>Put it in the </a:t>
            </a:r>
            <a:r>
              <a:rPr b="1"/>
              <a:t>pipeline</a:t>
            </a:r>
            <a:r>
              <a:rPr/>
              <a:t>, so it is refit inside every CV fold</a:t>
            </a:r>
          </a:p>
          <a:p>
            <a:pPr lvl="0"/>
            <a:r>
              <a:rPr>
                <a:latin typeface="Courier"/>
              </a:rPr>
              <a:t>add_indicator=True</a:t>
            </a:r>
            <a:r>
              <a:rPr/>
              <a:t> gives you the missingness flag for free</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What mean imputation does to the data</a:t>
            </a:r>
          </a:p>
        </p:txBody>
      </p:sp>
      <p:pic>
        <p:nvPicPr>
          <p:cNvPr descr="img/mean_impute.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Why single imputation is not enough</a:t>
            </a:r>
          </a:p>
        </p:txBody>
      </p:sp>
      <p:sp>
        <p:nvSpPr>
          <p:cNvPr id="3" name="Content Placeholder 2"/>
          <p:cNvSpPr>
            <a:spLocks noGrp="1"/>
          </p:cNvSpPr>
          <p:nvPr>
            <p:ph idx="1"/>
          </p:nvPr>
        </p:nvSpPr>
        <p:spPr/>
        <p:txBody>
          <a:bodyPr>
            <a:normAutofit/>
          </a:bodyPr>
          <a:lstStyle/>
          <a:p>
            <a:pPr lvl="0" indent="0" marL="0">
              <a:buNone/>
            </a:pPr>
            <a:r>
              <a:rPr/>
              <a:t>You filled in a number and then </a:t>
            </a:r>
            <a:r>
              <a:rPr b="1"/>
              <a:t>pretended you had measured it</a:t>
            </a:r>
            <a:r>
              <a:rPr/>
              <a:t>.</a:t>
            </a:r>
          </a:p>
          <a:p>
            <a:pPr lvl="0"/>
            <a:r>
              <a:rPr/>
              <a:t>The point estimate can be fine</a:t>
            </a:r>
          </a:p>
          <a:p>
            <a:pPr lvl="0"/>
            <a:r>
              <a:rPr/>
              <a:t>The </a:t>
            </a:r>
            <a:r>
              <a:rPr b="1"/>
              <a:t>standard errors are too small</a:t>
            </a:r>
            <a:r>
              <a:rPr/>
              <a:t>: the model has no idea the value was invented</a:t>
            </a:r>
          </a:p>
          <a:p>
            <a:pPr lvl="0"/>
            <a:r>
              <a:rPr/>
              <a:t>Consequence: over-confident intervals, over-confident p-values</a:t>
            </a:r>
          </a:p>
          <a:p>
            <a:pPr lvl="0" indent="0" marL="0">
              <a:buNone/>
            </a:pPr>
            <a:r>
              <a:rPr b="1"/>
              <a:t>Multiple imputation</a:t>
            </a:r>
            <a:r>
              <a:rPr/>
              <a:t> puts that uncertainty back in.</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Multiple imputation (MICE)</a:t>
            </a:r>
          </a:p>
        </p:txBody>
      </p:sp>
      <p:sp>
        <p:nvSpPr>
          <p:cNvPr id="3" name="Content Placeholder 2"/>
          <p:cNvSpPr>
            <a:spLocks noGrp="1"/>
          </p:cNvSpPr>
          <p:nvPr>
            <p:ph idx="1"/>
          </p:nvPr>
        </p:nvSpPr>
        <p:spPr/>
        <p:txBody>
          <a:bodyPr>
            <a:normAutofit/>
          </a:bodyPr>
          <a:lstStyle/>
          <a:p>
            <a:pPr lvl="0" indent="-342900" marL="342900">
              <a:buAutoNum type="arabicPeriod"/>
            </a:pPr>
            <a:r>
              <a:rPr b="1"/>
              <a:t>Impute:</a:t>
            </a:r>
            <a:r>
              <a:rPr/>
              <a:t> build m complete datasets (typically m = 5 to 20), each drawing plausible values for a missing column from a model of that column given all the others</a:t>
            </a:r>
          </a:p>
          <a:p>
            <a:pPr lvl="0" indent="-342900" marL="342900">
              <a:buAutoNum type="arabicPeriod"/>
            </a:pPr>
            <a:r>
              <a:rPr b="1"/>
              <a:t>Analyse:</a:t>
            </a:r>
            <a:r>
              <a:rPr/>
              <a:t> run your full analysis </a:t>
            </a:r>
            <a:r>
              <a:rPr i="1"/>
              <a:t>separately</a:t>
            </a:r>
            <a:r>
              <a:rPr/>
              <a:t> on each of the m datasets</a:t>
            </a:r>
          </a:p>
          <a:p>
            <a:pPr lvl="0" indent="-342900" marL="342900">
              <a:buAutoNum type="arabicPeriod"/>
            </a:pPr>
            <a:r>
              <a:rPr b="1"/>
              <a:t>Pool:</a:t>
            </a:r>
            <a:r>
              <a:rPr/>
              <a:t> combine the m results with </a:t>
            </a:r>
            <a:r>
              <a:rPr b="1"/>
              <a:t>Rubin’s rules</a:t>
            </a:r>
          </a:p>
          <a:p>
            <a:pPr lvl="0"/>
            <a:r>
              <a:rPr/>
              <a:t>The m datasets differ </a:t>
            </a:r>
            <a:r>
              <a:rPr b="1"/>
              <a:t>only where data was missing</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Multiple imputation illustration</a:t>
            </a:r>
          </a:p>
        </p:txBody>
      </p:sp>
      <p:pic>
        <p:nvPicPr>
          <p:cNvPr descr="img/mice.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ormAutofit/>
          </a:bodyPr>
          <a:lstStyle/>
          <a:p>
            <a:pPr lvl="0" indent="0" marL="0">
              <a:buNone/>
            </a:pPr>
            <a:r>
              <a:rPr/>
              <a:t>Rubin’s rules</a:t>
            </a:r>
          </a:p>
        </p:txBody>
      </p:sp>
      <p:sp>
        <p:nvSpPr>
          <p:cNvPr id="4" name="Text Placeholder 3"/>
          <p:cNvSpPr>
            <a:spLocks noGrp="1"/>
          </p:cNvSpPr>
          <p:nvPr>
            <p:ph idx="2" sz="half" type="body"/>
          </p:nvPr>
        </p:nvSpPr>
        <p:spPr/>
        <p:txBody>
          <a:bodyPr>
            <a:normAutofit/>
          </a:bodyPr>
          <a:lstStyle/>
          <a:p>
            <a:pPr lvl="0" indent="0">
              <a:buNone/>
            </a:pPr>
            <a:r>
              <a:rPr>
                <a:latin typeface="Courier"/>
              </a:rPr>
              <a:t>Q_bar = mean(Q_1, ..., Q_m)
T     = U_bar + (1 + 1/m) * B</a:t>
            </a:r>
          </a:p>
          <a:p>
            <a:pPr lvl="0"/>
            <a:r>
              <a:rPr>
                <a:latin typeface="Courier"/>
              </a:rPr>
              <a:t>Q_bar</a:t>
            </a:r>
            <a:r>
              <a:rPr/>
              <a:t>: the </a:t>
            </a:r>
            <a:r>
              <a:rPr b="1"/>
              <a:t>pooled estimate</a:t>
            </a:r>
            <a:r>
              <a:rPr/>
              <a:t>, </a:t>
            </a:r>
            <a:r>
              <a:rPr>
                <a:latin typeface="Courier"/>
              </a:rPr>
              <a:t>T</a:t>
            </a:r>
            <a:r>
              <a:rPr/>
              <a:t>: its </a:t>
            </a:r>
            <a:r>
              <a:rPr b="1"/>
              <a:t>total variance</a:t>
            </a:r>
          </a:p>
          <a:p>
            <a:pPr lvl="0"/>
            <a:r>
              <a:rPr>
                <a:latin typeface="Courier"/>
              </a:rPr>
              <a:t>U_bar</a:t>
            </a:r>
            <a:r>
              <a:rPr/>
              <a:t>: mean of the m sampling variances</a:t>
            </a:r>
          </a:p>
          <a:p>
            <a:pPr lvl="0"/>
            <a:r>
              <a:rPr>
                <a:latin typeface="Courier"/>
              </a:rPr>
              <a:t>B</a:t>
            </a:r>
            <a:r>
              <a:rPr/>
              <a:t>: variance </a:t>
            </a:r>
            <a:r>
              <a:rPr b="1"/>
              <a:t>of</a:t>
            </a:r>
            <a:r>
              <a:rPr/>
              <a:t> the m estimates (“the imputation uncertainty”)</a:t>
            </a:r>
          </a:p>
          <a:p>
            <a:pPr lvl="0"/>
            <a:r>
              <a:rPr/>
              <a:t>That second term </a:t>
            </a:r>
            <a:r>
              <a:rPr>
                <a:latin typeface="Courier"/>
              </a:rPr>
              <a:t>(1 + 1/m) * B</a:t>
            </a:r>
            <a:r>
              <a:rPr/>
              <a:t> is what single imputation throws away</a:t>
            </a:r>
          </a:p>
        </p:txBody>
      </p:sp>
      <p:pic>
        <p:nvPicPr>
          <p:cNvPr descr="img/eq_rubin.png" id="0" name="Picture 1"/>
          <p:cNvPicPr>
            <a:picLocks noGrp="1" noChangeAspect="1"/>
          </p:cNvPicPr>
          <p:nvPr/>
        </p:nvPicPr>
        <p:blipFill>
          <a:blip r:embed="rId3"/>
          <a:stretch>
            <a:fillRect/>
          </a:stretch>
        </p:blipFill>
        <p:spPr bwMode="auto">
          <a:xfrm>
            <a:off x="3568700" y="1346200"/>
            <a:ext cx="5105400" cy="2108200"/>
          </a:xfrm>
          <a:prstGeom prst="rect">
            <a:avLst/>
          </a:prstGeom>
          <a:noFill/>
          <a:ln w="9525">
            <a:noFill/>
            <a:headEnd/>
            <a:tailEnd/>
          </a:ln>
        </p:spPr>
      </p:pic>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Session 2 Feature Engineering &amp; Missing Data</dc:title>
  <dc:creator>Paul Dubois</dc:creator>
  <cp:keywords/>
  <dcterms:created xsi:type="dcterms:W3CDTF">2026-09-07T16:43:19Z</dcterms:created>
  <dcterms:modified xsi:type="dcterms:W3CDTF">2026-09-07T16:43:19Z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Week 2 — Lecture</vt:lpwstr>
  </property>
  <property fmtid="{D5CDD505-2E9C-101B-9397-08002B2CF9AE}" pid="3" name="subtitle">
    <vt:lpwstr>Advanced Data Science · NYU Paris · 2026</vt:lpwstr>
  </property>
</Properties>
</file>