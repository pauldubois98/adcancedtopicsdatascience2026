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0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notesMaster" Target="notesMasters/notesMaster1.xml" /><Relationship Id="rId107" Type="http://schemas.openxmlformats.org/officeDocument/2006/relationships/viewProps" Target="viewProps.xml" /><Relationship Id="rId106" Type="http://schemas.openxmlformats.org/officeDocument/2006/relationships/presProps" Target="presProps.xml" /><Relationship Id="rId1" Type="http://schemas.openxmlformats.org/officeDocument/2006/relationships/slideMaster" Target="slideMasters/slideMaster1.xml" /><Relationship Id="rId109" Type="http://schemas.openxmlformats.org/officeDocument/2006/relationships/tableStyles" Target="tableStyles.xml" /><Relationship Id="rId10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50.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52.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53.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61.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62.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93.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99.xml" /><Relationship Id="rId1" Type="http://schemas.openxmlformats.org/officeDocument/2006/relationships/notesMaster" Target="../notesMasters/notesMaster1.xml" /></Relationships>
</file>

<file path=ppt/notesSlides/_rels/notesSlide67.xml.rels><?xml version="1.0" encoding="UTF-8"?><Relationships xmlns="http://schemas.openxmlformats.org/package/2006/relationships"><Relationship Id="rId2" Type="http://schemas.openxmlformats.org/officeDocument/2006/relationships/slide" Target="../slides/slide100.xml" /><Relationship Id="rId1" Type="http://schemas.openxmlformats.org/officeDocument/2006/relationships/notesMaster" Target="../notesMasters/notesMaster1.xml" /></Relationships>
</file>

<file path=ppt/notesSlides/_rels/notesSlide68.xml.rels><?xml version="1.0" encoding="UTF-8"?><Relationships xmlns="http://schemas.openxmlformats.org/package/2006/relationships"><Relationship Id="rId2" Type="http://schemas.openxmlformats.org/officeDocument/2006/relationships/slide" Target="../slides/slide101.xml" /><Relationship Id="rId1" Type="http://schemas.openxmlformats.org/officeDocument/2006/relationships/notesMaster" Target="../notesMasters/notesMaster1.xml" /></Relationships>
</file>

<file path=ppt/notesSlides/_rels/notesSlide69.xml.rels><?xml version="1.0" encoding="UTF-8"?><Relationships xmlns="http://schemas.openxmlformats.org/package/2006/relationships"><Relationship Id="rId2" Type="http://schemas.openxmlformats.org/officeDocument/2006/relationships/slide" Target="../slides/slide10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point of the section: most of the accuracy on tabular and time-stamped data comes from the feature table, not from the estimator.</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the room what a “night admission” flag could proxy for: severity, staffing levels, a different referral path.</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model is handed a number, so it measures 23 hours between an admission at 23:00 and one at midnight — two events one hour apart. Right: sin and cos put the clock back on a circle, where the two are neighbours again. The third panel is the answer to “why two columns?”: sin alone gives 6h and 18h the same value. You need both coordinates to name a point on a circle. Reminder that trees do not care — they can cut the raw hour at 23 and at 0 — but any linear model or network does.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patient, thirty hours, measured whenever someone decided to measure them. The two arrows are the two columns: time since admission, and time since the previous observation. The lower panel is the part students miss. The gaps are shrinking, and nobody wrote that down — it is a side effect of a nurse deciding to check more often. The sampling rate is a feature, and often a strong one. Warn them of the flip side: it is also a leakage risk, because the measurement schedule can encode the outcome.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windows, all ending at the same moment, all producing plain columns. Read the numbers off the right: the 6h mean is 84 and the 24h mean is 80, and the difference between them is a trend detector that costs one subtraction. Point at the irregular spacing again: this is why the window must be “6h” and not “the last 6 rows” — six rows can be forty minutes or fourteen hours.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Sliding is the default for online prediction; tumbling is what you want when building a training set where rows should be near-independent.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signal, three different training tables. Sliding gives one row per moment and consecutive rows share almost all their data — fine for prediction, dangerous when you then do a random train/test split, because the neighbours of a test row are in the training set. Tumbling gives fewer, near-independent rows. Expanding answers “how has the whole stay been?” and grows without bound.</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rows are necessarily missing — that is normal, not a bug. But long lag chains explode the missing rate: keep lags short and few. This is a good place to announce part 2.</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step of the series, annotated three ways: where it was, how much it moved, how fast it moved. The rate is the one that survives irregular sampling — a jump of +10 means something very different over twenty minutes than over six hours. The black point is the honest caveat: lags are missing at the start of every patient, by construction. Chain four of them and a quarter of your table is holes, which is exactly the bridge into part 3.</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raw length of stay. Half the axis is occupied by a few dozen patients, and under squared error those few decide the fit. Right: after log1p the shape is close to symmetric. The sentence that makes it click: on a log axis, a fixed distance is a fixed RATIO. +0.69 is “twice as long”, whether you started at 2 days or at 40. That is usually the scale the clinical question actually lives on.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one column becomes three, one of which is 1. Right: what the integer shortcut would have told the model — that the three categories are evenly spaced and that “elective” sits between the other two. Neither is true, and a linear model will act on both. Mention the practical footnotes: </a:t>
            </a:r>
            <a:r>
              <a:rPr>
                <a:latin typeface="Courier"/>
              </a:rPr>
              <a:t>handle_unknown="ignore"</a:t>
            </a:r>
            <a:r>
              <a:rPr/>
              <a:t> for levels that only appear at test time, and that high-cardinality columns are where one-hot stops being reasonable — which is the “learned embeddings” slide later.</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Both columns on one axis: creatinine is the red sliver at the left. Any distance between two patients is decided entirely by the heart rate; the creatinine difference moves it by 0.004. Same story for an L2 penalty, which is measured in the units of each coefficient. Then the rule and its trap: fit the scaler on the training fold ONLY. A scaler fitted on the whole dataset has already seen the test rows’ mean, which is leakage — Session 3 builds the pipeline that makes this automatic.</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truth here is a step: risk jumps at 65 and again at 80. The straight red line has to average across the jump and is wrong nearly everywhere; the green bands sit on the data. Two honest costs: everyone inside a band is now identical, so you lost resolution, and the cut points came from you, not from the data. Using the bands clinicians already use is a defensible choice; picking cut points by looking at the outcome is not — that is fitting on the test set by hand.</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In-hospital risk really is U-shaped in age. A single linear term has one slope to spend, so it splits the difference and reports a gentle rise. Add age² and the same linear model traces the U exactly — it is still linear in the weights, which is the point that surprises people. Two warnings on the slide: standardise first, or age² is in the tens of thousands and dominates every penalty; and stop at degree 2 or 3 unless you have a reason.</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an additive model. It is free to give age its own effect and creatinine its own, but the two lines are forced to stay parallel — creatinine has to mean the same thing at 30 as at 85. Right: with the product term, the lines can diverge, and a creatinine of 1.4 becomes mild in the young patient and alarming in the old one. Worth saying: trees get this for free, because a split inside a split IS an interaction. Linear models and, to a lesser extent, networks need you to hand it over.</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95 bpm is +2.6 standard deviations on a general ward and dead average in the ICU. The raw column says one thing; the within-group z-score says what a clinician would say. This also removes a site effect you do not want learned: if the ICU has both higher heart rates and worse outcomes, the raw column lets the model use “heart rate” as a proxy for “which ward”, and that will not transfer to a hospital with a different case mix. Same trick per patient — deviation from their own baseline — is often stronger still.</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Top: one-hot for 15 000 ICD-10 codes — one row is 14 999 zeros and a single 1, and every code is exactly as far from every other. The model cannot know that two cardiac codes are related. Bottom: 32 numbers per code, learned jointly with the classifier, so codes that behave alike end up close. Right: that learned space is worth looking at. Clusters that match clinical groupings are a sanity check; clusters that match something else — a coding habit, a particular hospital — are a warning. Flag that this is the first appearance of representation learning, which is the rest of the course.</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Write P(missing) on the board and ask, for each mechanism, what it is allowed to be a function of. The mechanism decides which methods are unbiased.</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320 patients, same troponin, three different reasons for the crosses to be missing. Compare the dashed line (the mean of what you kept) with the solid one (the truth). MCAR: the crosses are scattered, the dashed line sits on the solid one, and you have lost only power. MAR: missingness follows AGE, which you have — the marginal mean is biased, but a model that conditions on age can undo it. MNAR: missingness follows the troponin itself, so the whole top of the distribution is gone and your mean is off by 0.6 with nothing in the data to warn you. Say the operational consequence: the first two are handled by method; the third is handled by domain knowledge and a sensitivity analysis, and by writing down what you assumed.</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Insist: “MAR” is an assumption you defend, not a property you prove.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fill 35% of a column with its mean and you get a spike no patient sits on, and the variance drops from 1.26 to 1.05. Every downstream standard error is now too small. Right: worse than the histogram. Every imputed patient is given the same value regardless of age, so the imputed points lie on a flat line and the correlation with age falls from 0.88 to 0.75. Mean imputation does not just add noise — it actively pulls relationships toward zero. That is the argument for conditional imputation (kNN, MICE) and for keeping the indicator column.</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m completed tables that are identical everywhere except in the holes, where each draws a plausible value from a model of that column given the others. Right: run the analysis m times and the answers disagree — that disagreement is the information single imputation destroys. The pooled interval (black) is wider than the single-imputation one (red), and it is wider by exactly the amount your uncertainty was understated. If they take one thing: the point estimate barely moved; the honesty of the interval is what changed.</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second formula left to right. Ū is the uncertainty you would have had with complete data, averaged over the m runs. B is how much the m estimates disagree — the price of not having measured the value. The (1 + 1/m) is a small-sample correction: with m = 5 you pay 20% extra for having used finitely many imputations.</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Single imputation reports Ū and stops. Everything to the right of the plus sign is what it throws away, and it is often the larger term — that is the whole picture. Point at the two coloured pieces: the left one you would have had anyway, the right one exists only because values were missing.</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hinge of the session. The first half was about the columns: how to build them, and what to do about the holes. Everything from here on assumes that table exists and asks the next question — before we spend the rest of the semester on neural networks, we look under the hood of the models that still win on tabular data. Not a catalogue — a handful of mechanisms, each one drawn. The second half is deliberately light on text: the text is me.</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right column aloud, not the left. Every row is a different answer to the same question — “what shape is f?” — and that is the only thing that changes between them. Seven models, and the colours group them into the three families we will actually work in: two linear (a weighted sum, with or without a squash), three built out of trees (one, many averaged, many added), and two that work by distance rather than by fitting a boundary at all. That is also the running order of the second half, so this slide is its table of contents. Promise them we come back to it at the end and put all seven boundaries on one picture.</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Fix the vocabulary once: features X, target y, parameters θ, prediction ŷ, loss. Every model in the second half fills the box differently, but nothing outside the box moves. Stress the last line — the shape of f and the loss are the only two design choices; everything else is arithmetic.</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Regression → a number, scored with squared error. Classification → a label, scored with accuracy / log-loss. Same models on both sides, with a different last step: linear regression ↔ logistic regression, regression tree ↔ classification tree. Say it now, so the parallel is expected rather than surprising later.</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model is two numbers, a slope and an intercept. Right: what “good” means. Ask why we square the residuals rather than take absolute values — answers: it punishes big misses harder, it is differentiable everywhere, and it has a closed form. Squaring is also why one outlier can drag the whole line.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lines, three MSEs. The point: once you have written the loss down, choosing the model stops being taste and becomes arithmetic. Ask the room to rank the lines by eye first, then reveal the numbers — they usually get the order right and the margins wrong.</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minutes maximum. Name every symbol: n rows, y_i truth, w and b the two things we are allowed to change. Note that x_i and y_i are FIXED — the function’s inputs are w and b, which is exactly the flip students find confusing.</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freeze b, sweep w — a parabola. Right: sweep both — nested ellipses with one bottom. The key word is CONVEX: one minimum, no local traps, no random restarts, no seed. This is the property that neural networks will lose in three weeks. (Both panels use standardised columns so the bowl is round enough to read.)</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Because the bowl is quadratic we can jump straight to the bottom: the normal equation. We nevertheless walk down it, because gradient descent is the ONLY option left once the model is a network — and the recitation notebook implements exactly this loop by hand. Point at the step size: too small crawls, too large diverges.</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 features, p weights, one intercept. Each weight is a partial effect — “all else held fixed” — and that clause is where causal claims sneak in illegitimately; Session 13 comes back to it. Say the practical consequence: correlated columns split the credit between themselves, so a weight near zero is not evidence of no effect.</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surprises everyone. Adding x², x³, log x, or an interaction x₁·x₂ as extra COLUMNS keeps the model linear — same normal equation, same bowl. So a linear model is only as limited as your feature table. This is the direct payoff of last week’s feature engineering, and the reason “linear” is not an insult.</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the sigmoid — the score can be anything, the output has to be in [0,1]. Right: because the score is linear, the 0.5 contour is a straight line, always. Emphasise that logistic regression outputs a genuine probability, which is why it is still the default in clinical risk models — Session 4 is about whether that probability is calibrated.</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Squared error on a probability is a bad idea (it is not convex through the sigmoid, and it under-punishes confident mistakes). Cross-entropy is the right loss: it goes to infinity when you are confidently wrong. No closed form here — gradient descent is compulsory. Note that we will meet this exact loss again for every classifier network in the course.</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datasets a first-year student can draw, and logistic regression fails on all three — XOR at chance level. The fix is either better features (we just saw basis expansion) or a model that carves space itself. That is the cue for trees. Ask them what single extra column would rescue the XOR panel: x₁·x₂.</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two panels are the SAME object: follow one path down the tree and you have named one rectangle on the right. Read one path out loud end to end. Say what this buys: no scaling, no dummy encoding, no distributional assumption, and a model a clinician can read off the page.</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algorithm is brutally simple: for every column, for every threshold, compute the impurity of the two children, keep the best pair. Then recurse. Note “greedy” — it never reconsiders an earlier split, so the tree it builds is not the best possible tree; finding that one is NP-hard. That greediness is a source of variance.</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Spend a minute on the mechanics, because the name suggests the wrong thing: it is NOT a feature-selection step, and it is not “use only these 4 columns for this tree”. Walk the three rows: at the root the tree draws 4 of the 12 columns and picks the best split among those 4 only — x7 here — even if the truly best split in the whole table was on x2. Then at the next node it draws 4 again, a fresh draw. So a single tree still gets to use every column somewhere; it just never gets to use the strongest one everywhere. On its own this only makes the tree worse — say that plainly, it is a deliberately handicapped split. The payoff comes in section 3: the dominant column is absent from roughly (1 − k/p) of the nodes, so the tree is forced to tell the second-best story in the data, and two such trees end up genuinely different rather than jittered copies of each other. Flag it as a promise to be cashed at “The knob: max_features”. Give the numbers on the right and flag the two names students trip on: </a:t>
            </a:r>
            <a:r>
              <a:rPr>
                <a:latin typeface="Courier"/>
              </a:rPr>
              <a:t>None</a:t>
            </a:r>
            <a:r>
              <a:rPr/>
              <a:t> means all p columns, which is NOT “no columns” but “no randomness” — that is plain bagging; and </a:t>
            </a:r>
            <a:r>
              <a:rPr>
                <a:latin typeface="Courier"/>
              </a:rPr>
              <a:t>"sqrt"</a:t>
            </a:r>
            <a:r>
              <a:rPr/>
              <a:t> is a string, not a number.</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Gini and entropy agree almost always; the choice between them is not worth a hyperparameter search. Misclassification rate is the one that does NOT work: it is piecewise linear, so it is flat for splits that clearly improve the node — you need a strictly concave measure to reward moving toward purity. For regression trees, replace impurity by variance and the story is identical.</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left to right: one split, then four regions, then sixteen, then one leaf per noisy point. The last panel reaches 100% training accuracy and has clearly learned the noise — the same picture as the degree-15 polynomial from any regression course. Names to give them: max_depth, min_samples_leaf, ccp_alpha (cost-complexity pruning).</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prediction inside a leaf is the mean of its training rows — a constant. So the model is piecewise constant: never smooth, and flat outside the training range. That last point matters a lot in practice: a tree can NEVER extrapolate. Ask what a tree would predict for a 400 m² flat when the largest one it saw was 150 m².</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Training error goes to zero, test error turns around. Same U as always. The honest summary of a single tree: shallow underfits, deep overfits, and the “right” depth is sample-size dependent. This slide is where students expect the answer “so tune the depth” — the next slide says why that is not enough.</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bootstrap resamples of the SAME distribution, three genuinely different boundaries. Because splits are chosen greedily, one row changing near the top of the tree rewrites everything below it. This is high variance in the exact technical sense, and it is not fixed by tuning depth — it is a property of the procedure. Hold this slide: the entire next section is the answer to it.</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Fifty noisy but unbiased guesses, averaged: the spread divides by √50, and the centre does not move. That is the whole trick. Bias is untouched — which is why we deliberately grow DEEP trees (low bias, high variance) and let the average clean up the variance. Averaging shallow trees would just give a confident bad model.</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Define the two symbols before the formula, because everything hangs on them. Fix ONE test row. σ² is the variance of a single tree’s prediction on that row across hypothetical refits — grow a tree on a fresh sample from the same population, ask it again, and see how far the answer moves. It is the tree-instability slide, turned into a number. ρ is the correlation between two trees of the SAME forest on that row — do they move together? do they get the same rows wrong? Note that both are properties of the PROCEDURE over hypothetical datasets, not of the forest you have in memory; students consistently read them as statistics of the fitted model. Now the derivation, three lines. M trees, each of variance σ², each pair correlated by ρ. The variance of a sum is the sum of all M² entries of the covariance matrix: M diagonal terms worth σ², and M(M−1) off-diagonal terms worth ρσ². Divide by M². Read the two terms out. GREEN: what each tree gets wrong on its own, divided by M — the term everybody knows. RED: what they all get wrong together, which averaging cannot see, because it is already inside every single tree. So the design problem is ρ, not σ². Making trees individually better is not the goal; making their MISTAKES independent is. Ask where ρ comes from before moving on: same rows, same columns, same greedy algorithm — of course they agree. Bagging and column subsampling exist to break exactly those.</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Restate the two symbols off the caption line before reading the curves — σ² is one tree’s wobble, ρ is how much two trees of the forest wobble together. Note the y-axis on the left is in UNITS of σ²: 1.0 is “as bad as a single tree”, so the picture is about the fraction of that wobble averaging can remove, whatever σ² happens to be. Left: the formula plotted. At ρ = 0 the variance really does go to zero — the textbook 1/M. At ρ = 0.9 you are done after about five trees and the curve is flat forever; the dotted line each curve settles onto is its own floor, ρσ². Right: the same fact as a count. M/(1 + (M−1)ρ) is how many INDEPENDENT trees your M correlated ones are actually worth, and it saturates at 1/ρ no matter how much compute you buy. At ρ = 0.5, a thousand trees are worth two. That number usually gets a reaction — let it. Three practical readings: (a) a forest that has stopped improving is telling you about ρ, not about M, so more trees is wasted money; (b) real forests land around ρ ≈ 0.1–0.3, so the ceiling is real but not fatal; (c) everything on the next two slides is an attempt to move ρ left — and the slide after those measures whether it worked.</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① Bootstrap the rows — that alone is “bagging”. ② At every split, only √p randomly chosen columns may be tried — that is what makes it a random FOREST rather than bagged trees. Each tree is individually worse than a tree fitted on everything; the average is better. Say that trade-off explicitly, it is the counter-intuitive part.</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Measured, not asserted: 25 columns, 12 informative and 8 redundant, and the U is real. Too many columns allowed → correlated trees → the ρ floor. Too few → each tree is close to random. √p for classification, p/3 for regression are the defaults; both are starting points for the search, which is Session 3’s topic.</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Now ρ stops being a symbol. Left: fit 60 trees, ask each one separately for its predictions on the test rows, and correlate every pair — 1770 pairs. As max_features grows, the trees get individually better (blue, down from 38% to 32% error) and simultaneously more alike (red, up from 0.11 to 0.26). One knob, two effects, opposite signs. This is Breiman’s “strength versus correlation” in one picture. Right: the same runs plotted in ρ-space, each point labelled with its max_features. The forest is worst at BOTH ends, and the winner sits at ρ ≈ 0.21 — not at the lowest correlation available. Say why explicitly: the formula’s floor is ρσ², and σ² is the variance of a single tree, which grows as the trees get weaker. Pushing ρ down by crippling the trees raises σ² faster than it lowers ρ. This is also the honest answer to “why √p?” — it is where those two curves happen to cross for most tabular problems. Nothing deeper. Tune it.</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data, 1 → 10 → 500 trees. The jagged single-tree boundary smooths out, and the colour field becomes a usable probability instead of a hard 0/1. Note that the forest boundary is still made of axis-aligned steps — averaging many staircases approximates a diagonal, it does not become one.</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single most common misconception about forests. n_estimators is a compute budget, not a capacity knob: the curve flattens and stays flat. You stop adding trees when the improvement stops paying for the inference time — typically a few hundred. Contrast this with boosting, two slides from now, where it is not true.</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Top row: the running model. Bottom row: what is left to explain, and the small tree being fitted to it. Nothing here is bootstrapped and nothing is averaged — each tree is fitted to the CURRENT residuals and added with a small learning rate. Watch the residuals flatten. Three trees is already most of the signal.</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one slide to remember from this section. Forest: deep trees, parallel, independent, attacks variance. Boosting: shallow trees, sequential, dependent, attacks bias. This is why boosting usually wins on tabular benchmarks and why it is far easier to break. XGBoost, LightGBM and CatBoost are engineering on top of this picture — Session 3 covers them properly.</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practical difference. The forest curve is flat forever; the boosting curve turns around, because every extra tree adds capacity aimed straight at the residuals. Hence early stopping and a small learning rate — the two knobs you always set. Practical rule: forest for a strong baseline in one line, boosting when you have the time to tune it and a validation set you trust.</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Start from the honest embarrassment of the linear model: when the classes are separable there is not one solution, there are infinitely many, and every one of them has zero training error. Logistic regression breaks the tie almost by accident (it keeps pushing the weights up until the likelihood stops improving), and nothing in the loss says a word about where the boundary should sit inside the gap. Ask the room to vote for one of the four before revealing the next slide. Nearly everyone picks the middle one, which is the whole point: they already have the intuition, the SVM just writes it down.</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SVM’s answer: among all the lines that separate the data, take the one with the widest empty band around it — the margin, the “street”. Left is a genuine separator whose street is 0.21 wide; right is the widest available, 0.91. Both are perfect on the training set, but the left one is one new patient away from being wrong. Then the punchline of the whole method: the fitted line depends ONLY on the circled points, the support vectors — the ones touching the edge of the street. Delete every other row of the training set and refit: you get exactly the same line. Compare that with logistic regression, where every point pulls a little, and with a tree, where one distant row can change a split near the root.</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terms, and they are exactly the trade of Session 3: ‖w‖² is a regularizer — the street width is 2/‖w‖, so shrinking w widens the street — and the hinge sum is the data-fit term. The hinge, max(0, 1 − y·f(x)), is zero as soon as a point is on the correct side AND outside the street; that flat zero region is why most points end up irrelevant and only the support vectors matter. Note what changed from logistic regression: the shape of the model is identical, a linear score wᵀx + b. Only the loss changed — log-loss became hinge loss. Every difference in behaviour comes from that one swap.</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Real data overlaps, so “the widest street with nothing inside it” usually has no solution. The soft margin lets points sit inside the street, or on the wrong side, at a cost of C each. Small C: violations are cheap, the street grows fat, most points end up supporting it — a smooth, heavily regularized boundary. Large C: violations are expensive, the street shrinks around the awkward points and the model starts to chase them. So C is 1/λ, the same knob under a different name, and it is the single hyperparameter people get wrong on this model. Say the practical rules: ALWAYS scale your columns first — this is a distance-based method, an unscaled column silently dominates the norm — and tune C on a log grid.</a:t>
            </a:r>
          </a:p>
        </p:txBody>
      </p:sp>
      <p:sp>
        <p:nvSpPr>
          <p:cNvPr id="4" name="Slide Number Placeholder 3"/>
          <p:cNvSpPr>
            <a:spLocks noGrp="1"/>
          </p:cNvSpPr>
          <p:nvPr>
            <p:ph type="sldNum" sz="quarter" idx="10"/>
          </p:nvPr>
        </p:nvSpPr>
        <p:spPr/>
        <p:txBody>
          <a:bodyPr/>
          <a:lstStyle/>
          <a:p>
            <a:fld id="{18BDFEC3-8487-43E8-A154-7C12CBC1FFF2}" type="slidenum">
              <a:rPr lang="en-US"/>
              <a:t>93</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Left: no straight line can do this. The old fix from section 1 was to add columns by hand — and if we add x₁² + x₂², the two classes separate by a flat plane in 3D, which is a circle when we drop back to 2D. Nothing mysterious yet, it is basis expansion. The trick is what makes it cheap. The SVM’s solution only ever needs DOT PRODUCTS between pairs of points, never the points themselves. A kernel is a function that returns the dot product in the lifted space directly, so we can work in a space with a thousand — or infinitely many — extra columns and never build a single one. That is the sentence to remember: the model is linear in a space we never visit.</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Before listing kernels, say what one IS, because “kernel” sounds like machinery and it is really just a similarity score: K(x, x’) is one number saying how alike two rows count as. Left: the RBF, the one everybody uses. It only looks at the distance between the two points, and gamma sets how fast similarity dies with distance — small gamma, everything is a bit similar to everything; large gamma, only immediate neighbours count. Right: why that matters. The fitted SVM is literally a weighted vote of similarities to the support vectors — one bump per support vector, positive for one class, negative for the other, and the prediction is the sign of the sum. Read the picture left to right: two red support vectors build a red region, two blue ones dig a blue valley, and the boundary is where the sum crosses zero. Two consequences worth saying out loud: this is why gamma is a bias-variance dial (narrow bumps → each point defends its own island → the memorised panel from the previous slide), and why an SVM is closer to k-NN than to a linear model once you kernelise it — the difference being that only the support vectors get to vote.</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rows, and honestly only two matter. LINEAR: no lift at all, and the right choice when p is already large — text, genomics, anything sparse and high-dimensional, where the data is usually separable without any lift and </a:t>
            </a:r>
            <a:r>
              <a:rPr>
                <a:latin typeface="Courier"/>
              </a:rPr>
              <a:t>LinearSVC</a:t>
            </a:r>
            <a:r>
              <a:rPr/>
              <a:t> scales to far more rows. POLYNOMIAL: an explicit lift to all products of degree up to d; it gives you interactions by hand, but it has three knobs and it is numerically touchy — degree 5 on unscaled columns overflows happily. RBF: the default, infinite-dimensional lift, two knobs, and what you should start with. SIGMOID: mostly a historical curiosity, and for some gamma/r it is not even positive semi-definite, so the solver is optimising something with no guarantee behind it. That last point is the rule underneath the table: a function is a legal kernel if it is symmetric and positive semi-definite — Mercer’s condition — which is exactly the condition for “there exists a space in which this is a dot product”. You never check it by hand; you either use one of these or you build new ones from them, since sums, products and positive multiples of kernels are kernels. Then the part students find surprising: x does not have to be a vector. There are kernels for strings, for graphs, for sequences of clinical measurements — anything where you can define a sensible similarity, you can run an SVM on, without ever turning the object into a feature table. That was a big deal in bioinformatics for protein and DNA sequences.</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fits, one dataset. Linear is the plain max-margin line. Polynomial bends it. The RBF kernel is the default and the one worth knowing: it scores a point by its distance to each support vector, so gamma sets how far a support vector’s influence reaches. Small gamma → wide, smooth influence. Large gamma → each point defends a small island around itself, and the fourth panel is what memorisation looks like. C and gamma interact and must be tuned together, always on scaled data — that pair is the standard worked example in the next session’s hyperparameter search. Say where SVMs sit today: excellent on small, clean, well-scaled datasets, wonderful theory, and rarely first choice on a big tabular table because fitting is roughly quadratic in the number of rows and boosting simply beats it there.</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entire algorithm, and it fits in one sentence: to predict for a new row, find the k closest rows in the training set and let them decide — majority vote for a class, mean for a number. Walk the left panel: five nearest, four red, one blue, answer red. There is nothing else; no weights, no loss, no optimiser. So “training” is just storing the table. The cost has simply moved: fitting is free, and every single prediction pays for a scan of the training set. That is the opposite trade from every other model we have seen, and it is why k-NN is awkward in production — the model file is the dataset, which is also a privacy problem when the rows are patients. Two choices are yours to make, and they are the whole model: k, and the distance. Euclidean is the default; Manhattan is better with many columns; and for categorical or mixed rows you need something else entirely (Hamming, Gower). Mention </a:t>
            </a:r>
            <a:r>
              <a:rPr>
                <a:latin typeface="Courier"/>
              </a:rPr>
              <a:t>weights="distance"</a:t>
            </a:r>
            <a:r>
              <a:rPr/>
              <a:t> too — nearer neighbours voting louder is usually a free improvement over a flat vote.</a:t>
            </a:r>
          </a:p>
        </p:txBody>
      </p:sp>
      <p:sp>
        <p:nvSpPr>
          <p:cNvPr id="4" name="Slide Number Placeholder 3"/>
          <p:cNvSpPr>
            <a:spLocks noGrp="1"/>
          </p:cNvSpPr>
          <p:nvPr>
            <p:ph type="sldNum" sz="quarter" idx="10"/>
          </p:nvPr>
        </p:nvSpPr>
        <p:spPr/>
        <p:txBody>
          <a:bodyPr/>
          <a:lstStyle/>
          <a:p>
            <a:fld id="{18BDFEC3-8487-43E8-A154-7C12CBC1FFF2}" type="slidenum">
              <a:rPr lang="en-US"/>
              <a:t>99</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k-NN is the useful contrast: zero training, all the work at prediction time, and k is a pure bias–variance dial. k = 1 memorises, k = 90 flattens everything. It also fails loudly in high dimensions, which is the cleanest way to introduce the curse of dimensionality — and why we scale features before ever computing a distance.</a:t>
            </a:r>
          </a:p>
        </p:txBody>
      </p:sp>
      <p:sp>
        <p:nvSpPr>
          <p:cNvPr id="4" name="Slide Number Placeholder 3"/>
          <p:cNvSpPr>
            <a:spLocks noGrp="1"/>
          </p:cNvSpPr>
          <p:nvPr>
            <p:ph type="sldNum" sz="quarter" idx="10"/>
          </p:nvPr>
        </p:nvSpPr>
        <p:spPr/>
        <p:txBody>
          <a:bodyPr/>
          <a:lstStyle/>
          <a:p>
            <a:fld id="{18BDFEC3-8487-43E8-A154-7C12CBC1FFF2}" type="slidenum">
              <a:rPr lang="en-US"/>
              <a:t>100</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failure modes, and both are about the distance rather than the idea. Scale: the left panel is the same data fitted on raw columns. Income has a spread of 15 000 and age a spread of 9, so every distance is essentially the income gap and the boundary is a set of horizontal lines — age has been silently deleted from the model. Standardise, and the boundary becomes the diagonal the data actually shows. Say the rule: for anything distance-based — k-NN, SVM, k-means, PCA — scaling is not optional, and the scaler must be fitted inside the cross-validation fold, which is next session’s topic. Dimension: the right panel is the curse of dimensionality made concrete. Draw random points, look at the closest and the farthest one from a query: in 2 columns the nearest is ~50 times closer, by 1000 columns the ratio is 0.9 — the nearest point is essentially as far away as the farthest. “Nearest” stops carrying information, so k-NN degrades to guessing. This is also why the answer to “should I add 300 more features?” is different for a tree, which ignores the useless ones, than for k-NN, which averages them straight into the distance.</a:t>
            </a:r>
          </a:p>
        </p:txBody>
      </p:sp>
      <p:sp>
        <p:nvSpPr>
          <p:cNvPr id="4" name="Slide Number Placeholder 3"/>
          <p:cNvSpPr>
            <a:spLocks noGrp="1"/>
          </p:cNvSpPr>
          <p:nvPr>
            <p:ph type="sldNum" sz="quarter" idx="10"/>
          </p:nvPr>
        </p:nvSpPr>
        <p:spPr/>
        <p:txBody>
          <a:bodyPr/>
          <a:lstStyle/>
          <a:p>
            <a:fld id="{18BDFEC3-8487-43E8-A154-7C12CBC1FFF2}" type="slidenum">
              <a:rPr lang="en-US"/>
              <a:t>101</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summary slide of the session: the same 300 points, every model we built, in the order we met them. Read the shapes, not the accuracies — they are all within a few points of each other here, which is itself the lesson. Top row: a straight line; the same line curved by adding columns; raw rectangles; those rectangles averaged into something smooth. Bottom row: rectangles sharpened by boosting; a straight line again, but the widest one; that line bent by an RBF kernel; and a boundary that simply traces wherever the neighbours are. Two questions for the room. First, which one would you ship — and watch them hesitate, because on this data it does not matter, so the answer has to come from somewhere else: the size of the table, the number of junk columns, the inference budget, whether a human has to sign off on it. Second, which of these could you explain to a regulator? That thins the field fast. Close on where the course goes: none of these carve the space for you. They all take the columns you hand them and draw a shape. From next week the model builds its own features, and that changes everything.</a:t>
            </a:r>
          </a:p>
        </p:txBody>
      </p:sp>
      <p:sp>
        <p:nvSpPr>
          <p:cNvPr id="4" name="Slide Number Placeholder 3"/>
          <p:cNvSpPr>
            <a:spLocks noGrp="1"/>
          </p:cNvSpPr>
          <p:nvPr>
            <p:ph type="sldNum" sz="quarter" idx="10"/>
          </p:nvPr>
        </p:nvSpPr>
        <p:spPr/>
        <p:txBody>
          <a:bodyPr/>
          <a:lstStyle/>
          <a:p>
            <a:fld id="{18BDFEC3-8487-43E8-A154-7C12CBC1FFF2}" type="slidenum">
              <a:rPr lang="en-US"/>
              <a:t>103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1.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2.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3.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4.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5.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6.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image" Target="../media/image7.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 Id="rId3" Type="http://schemas.openxmlformats.org/officeDocument/2006/relationships/image" Target="../media/image8.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 Id="rId3" Type="http://schemas.openxmlformats.org/officeDocument/2006/relationships/image" Target="../media/image9.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 Id="rId3" Type="http://schemas.openxmlformats.org/officeDocument/2006/relationships/image" Target="../media/image10.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 Id="rId3" Type="http://schemas.openxmlformats.org/officeDocument/2006/relationships/image" Target="../media/image11.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 Id="rId3" Type="http://schemas.openxmlformats.org/officeDocument/2006/relationships/image" Target="../media/image12.pn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 Id="rId3" Type="http://schemas.openxmlformats.org/officeDocument/2006/relationships/image" Target="../media/image13.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 Id="rId3" Type="http://schemas.openxmlformats.org/officeDocument/2006/relationships/image" Target="../media/image14.png"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image" Target="../media/image15.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 Id="rId3" Type="http://schemas.openxmlformats.org/officeDocument/2006/relationships/image" Target="../media/image16.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 Id="rId3" Type="http://schemas.openxmlformats.org/officeDocument/2006/relationships/image" Target="../media/image17.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 Id="rId3" Type="http://schemas.openxmlformats.org/officeDocument/2006/relationships/image" Target="../media/image18.png"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 Id="rId3" Type="http://schemas.openxmlformats.org/officeDocument/2006/relationships/image" Target="../media/image19.pn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 Id="rId3" Type="http://schemas.openxmlformats.org/officeDocument/2006/relationships/image" Target="../media/image20.png" /></Relationships>
</file>

<file path=ppt/slides/_rels/slide5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 Id="rId3" Type="http://schemas.openxmlformats.org/officeDocument/2006/relationships/image" Target="../media/image21.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image" Target="../media/image22.png"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 Id="rId3" Type="http://schemas.openxmlformats.org/officeDocument/2006/relationships/image" Target="../media/image23.png"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 Id="rId3" Type="http://schemas.openxmlformats.org/officeDocument/2006/relationships/image" Target="../media/image24.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 Id="rId3" Type="http://schemas.openxmlformats.org/officeDocument/2006/relationships/image" Target="../media/image25.pn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 Id="rId3" Type="http://schemas.openxmlformats.org/officeDocument/2006/relationships/image" Target="../media/image26.pn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 Id="rId3" Type="http://schemas.openxmlformats.org/officeDocument/2006/relationships/image" Target="../media/image27.png"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 Id="rId3" Type="http://schemas.openxmlformats.org/officeDocument/2006/relationships/image" Target="../media/image28.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 Id="rId3" Type="http://schemas.openxmlformats.org/officeDocument/2006/relationships/image" Target="../media/image29.png"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 Id="rId3" Type="http://schemas.openxmlformats.org/officeDocument/2006/relationships/image" Target="../media/image30.png" /></Relationships>
</file>

<file path=ppt/slides/_rels/slide6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 Id="rId3" Type="http://schemas.openxmlformats.org/officeDocument/2006/relationships/image" Target="../media/image31.png"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 Id="rId3" Type="http://schemas.openxmlformats.org/officeDocument/2006/relationships/image" Target="../media/image32.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 Id="rId3" Type="http://schemas.openxmlformats.org/officeDocument/2006/relationships/image" Target="../media/image33.png"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 Id="rId3" Type="http://schemas.openxmlformats.org/officeDocument/2006/relationships/image" Target="../media/image34.png"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 Id="rId3" Type="http://schemas.openxmlformats.org/officeDocument/2006/relationships/image" Target="../media/image35.pn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 Id="rId3" Type="http://schemas.openxmlformats.org/officeDocument/2006/relationships/image" Target="../media/image36.pn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 Id="rId3" Type="http://schemas.openxmlformats.org/officeDocument/2006/relationships/image" Target="../media/image37.png"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 Id="rId3" Type="http://schemas.openxmlformats.org/officeDocument/2006/relationships/image" Target="../media/image38.png" /></Relationships>
</file>

<file path=ppt/slides/_rels/slide7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 Id="rId3" Type="http://schemas.openxmlformats.org/officeDocument/2006/relationships/image" Target="../media/image39.pn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 Id="rId3" Type="http://schemas.openxmlformats.org/officeDocument/2006/relationships/image" Target="../media/image40.pn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 Id="rId3" Type="http://schemas.openxmlformats.org/officeDocument/2006/relationships/image" Target="../media/image41.png"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 Id="rId3" Type="http://schemas.openxmlformats.org/officeDocument/2006/relationships/image" Target="../media/image42.png"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 Id="rId3" Type="http://schemas.openxmlformats.org/officeDocument/2006/relationships/image" Target="../media/image43.png"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 Id="rId3" Type="http://schemas.openxmlformats.org/officeDocument/2006/relationships/image" Target="../media/image44.png"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 Id="rId3" Type="http://schemas.openxmlformats.org/officeDocument/2006/relationships/image" Target="../media/image45.png"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 Id="rId3" Type="http://schemas.openxmlformats.org/officeDocument/2006/relationships/image" Target="../media/image46.png" /></Relationships>
</file>

<file path=ppt/slides/_rels/slide8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 Id="rId3" Type="http://schemas.openxmlformats.org/officeDocument/2006/relationships/image" Target="../media/image47.png"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 Id="rId3" Type="http://schemas.openxmlformats.org/officeDocument/2006/relationships/image" Target="../media/image48.pn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 Id="rId3" Type="http://schemas.openxmlformats.org/officeDocument/2006/relationships/image" Target="../media/image49.png" /></Relationships>
</file>

<file path=ppt/slides/_rels/slide8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 Id="rId3" Type="http://schemas.openxmlformats.org/officeDocument/2006/relationships/image" Target="../media/image50.png"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 Id="rId3" Type="http://schemas.openxmlformats.org/officeDocument/2006/relationships/image" Target="../media/image51.png"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 Id="rId3" Type="http://schemas.openxmlformats.org/officeDocument/2006/relationships/image" Target="../media/image52.png"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 Id="rId3" Type="http://schemas.openxmlformats.org/officeDocument/2006/relationships/image" Target="../media/image53.png"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 Id="rId3" Type="http://schemas.openxmlformats.org/officeDocument/2006/relationships/image" Target="../media/image54.png"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 Id="rId3" Type="http://schemas.openxmlformats.org/officeDocument/2006/relationships/image" Target="../media/image55.png"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 Id="rId3" Type="http://schemas.openxmlformats.org/officeDocument/2006/relationships/image" Target="../media/image56.png"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 Id="rId3" Type="http://schemas.openxmlformats.org/officeDocument/2006/relationships/image" Target="../media/image57.png" /></Relationships>
</file>

<file path=ppt/slides/_rels/slide9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 Id="rId3" Type="http://schemas.openxmlformats.org/officeDocument/2006/relationships/image" Target="../media/image58.png"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7.xml" /><Relationship Id="rId3" Type="http://schemas.openxmlformats.org/officeDocument/2006/relationships/image" Target="../media/image59.png"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8.xml" /><Relationship Id="rId3" Type="http://schemas.openxmlformats.org/officeDocument/2006/relationships/image" Target="../media/image60.png" /></Relationships>
</file>

<file path=ppt/slides/_rels/slide10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9.xml" /><Relationship Id="rId3" Type="http://schemas.openxmlformats.org/officeDocument/2006/relationships/image" Target="../media/image61.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normAutofit/>
          </a:bodyPr>
          <a:lstStyle/>
          <a:p>
            <a:pPr lvl="0" indent="0" marL="0">
              <a:buNone/>
            </a:pPr>
            <a:r>
              <a:rPr/>
              <a:t>Session 2</a:t>
            </a:r>
            <a:br/>
            <a:r>
              <a:rPr/>
              <a:t>Feature Engineering, Missing Data &amp; Classical Models</a:t>
            </a:r>
          </a:p>
        </p:txBody>
      </p:sp>
      <p:sp>
        <p:nvSpPr>
          <p:cNvPr id="3" name="Subtitle 2"/>
          <p:cNvSpPr>
            <a:spLocks noGrp="1"/>
          </p:cNvSpPr>
          <p:nvPr>
            <p:ph idx="1" type="subTitle"/>
          </p:nvPr>
        </p:nvSpPr>
        <p:spPr>
          <a:xfrm>
            <a:off x="1371600" y="2914650"/>
            <a:ext cx="6400800" cy="1314450"/>
          </a:xfrm>
        </p:spPr>
        <p:txBody>
          <a:bodyPr>
            <a:normAutofit/>
          </a:bodyPr>
          <a:lstStyle/>
          <a:p>
            <a:pPr lvl="0" indent="0" marL="0">
              <a:buNone/>
            </a:pPr>
            <a:r>
              <a:rPr/>
              <a:t>Advanced Data Science · NYU Paris · 2026</a:t>
            </a:r>
            <a:br/>
            <a:br/>
            <a:r>
              <a:rPr/>
              <a:t>Paul Dubois</a:t>
            </a:r>
          </a:p>
        </p:txBody>
      </p:sp>
      <p:sp>
        <p:nvSpPr>
          <p:cNvPr id="4" name="Date Placeholder 3"/>
          <p:cNvSpPr>
            <a:spLocks noGrp="1"/>
          </p:cNvSpPr>
          <p:nvPr>
            <p:ph idx="10" sz="half" type="dt"/>
          </p:nvPr>
        </p:nvSpPr>
        <p:spPr/>
        <p:txBody>
          <a:bodyPr>
            <a:normAutofit/>
          </a:bodyPr>
          <a:lstStyle/>
          <a:p>
            <a:pPr lvl="0" indent="0" marL="0">
              <a:buNone/>
            </a:pPr>
            <a:r>
              <a:rPr/>
              <a:t>Week 2 — Lecture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 Feature engineering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is feature engineering?</a:t>
            </a:r>
          </a:p>
        </p:txBody>
      </p:sp>
      <p:sp>
        <p:nvSpPr>
          <p:cNvPr id="3" name="Content Placeholder 2"/>
          <p:cNvSpPr>
            <a:spLocks noGrp="1"/>
          </p:cNvSpPr>
          <p:nvPr>
            <p:ph idx="1"/>
          </p:nvPr>
        </p:nvSpPr>
        <p:spPr/>
        <p:txBody>
          <a:bodyPr anchor="ctr">
            <a:normAutofit/>
          </a:bodyPr>
          <a:lstStyle/>
          <a:p>
            <a:pPr lvl="0" indent="0" marL="0" algn="ctr">
              <a:buNone/>
            </a:pPr>
            <a:r>
              <a:rPr sz="2000"/>
              <a:t>Turning </a:t>
            </a:r>
            <a:r>
              <a:rPr sz="2000" b="1"/>
              <a:t>raw records</a:t>
            </a:r>
            <a:r>
              <a:rPr sz="2000"/>
              <a:t> into </a:t>
            </a:r>
            <a:r>
              <a:rPr sz="2000" b="1"/>
              <a:t>columns a model can learn from</a:t>
            </a:r>
            <a:r>
              <a:rPr sz="2000"/>
              <a:t>.</a:t>
            </a:r>
          </a:p>
          <a:p>
            <a:pPr lvl="0"/>
            <a:r>
              <a:rPr/>
              <a:t>The model only sees the features you give it</a:t>
            </a:r>
          </a:p>
          <a:p>
            <a:pPr lvl="0"/>
            <a:r>
              <a:rPr/>
              <a:t>A good feature encodes something you know about the </a:t>
            </a:r>
            <a:r>
              <a:rPr i="1"/>
              <a:t>domain</a:t>
            </a:r>
            <a:r>
              <a:rPr/>
              <a:t> or the </a:t>
            </a:r>
            <a:r>
              <a:rPr i="1"/>
              <a:t>data-generating process</a:t>
            </a:r>
          </a:p>
          <a:p>
            <a:pPr lvl="0"/>
            <a:r>
              <a:rPr/>
              <a:t>Cheap features often beat expensive models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Temporal feature: decompose the timestamp</a:t>
            </a:r>
          </a:p>
        </p:txBody>
      </p:sp>
      <p:sp>
        <p:nvSpPr>
          <p:cNvPr id="3" name="Content Placeholder 2"/>
          <p:cNvSpPr>
            <a:spLocks noGrp="1"/>
          </p:cNvSpPr>
          <p:nvPr>
            <p:ph idx="1"/>
          </p:nvPr>
        </p:nvSpPr>
        <p:spPr/>
        <p:txBody>
          <a:bodyPr>
            <a:normAutofit/>
          </a:bodyPr>
          <a:lstStyle/>
          <a:p>
            <a:pPr lvl="0" indent="0" marL="0">
              <a:buNone/>
            </a:pPr>
            <a:r>
              <a:rPr/>
              <a:t>A timestamp is a terrible feature; what it </a:t>
            </a:r>
            <a:r>
              <a:rPr i="1"/>
              <a:t>contains</a:t>
            </a:r>
            <a:r>
              <a:rPr/>
              <a:t> is not:</a:t>
            </a:r>
          </a:p>
          <a:p>
            <a:pPr lvl="0" indent="0">
              <a:buNone/>
            </a:pPr>
            <a:r>
              <a:rPr>
                <a:latin typeface="Courier"/>
              </a:rPr>
              <a:t>h </a:t>
            </a:r>
            <a:r>
              <a:rPr>
                <a:solidFill>
                  <a:srgbClr val="666666"/>
                </a:solidFill>
                <a:latin typeface="Courier"/>
              </a:rPr>
              <a:t>=</a:t>
            </a:r>
            <a:r>
              <a:rPr>
                <a:latin typeface="Courier"/>
              </a:rPr>
              <a:t> ts.dt.hour</a:t>
            </a:r>
            <a:br/>
            <a:r>
              <a:rPr>
                <a:latin typeface="Courier"/>
              </a:rPr>
              <a:t>df[</a:t>
            </a:r>
            <a:r>
              <a:rPr>
                <a:solidFill>
                  <a:srgbClr val="4070A0"/>
                </a:solidFill>
                <a:latin typeface="Courier"/>
              </a:rPr>
              <a:t>"hour"</a:t>
            </a:r>
            <a:r>
              <a:rPr>
                <a:latin typeface="Courier"/>
              </a:rPr>
              <a:t>] </a:t>
            </a:r>
            <a:r>
              <a:rPr>
                <a:solidFill>
                  <a:srgbClr val="666666"/>
                </a:solidFill>
                <a:latin typeface="Courier"/>
              </a:rPr>
              <a:t>=</a:t>
            </a:r>
            <a:r>
              <a:rPr>
                <a:latin typeface="Courier"/>
              </a:rPr>
              <a:t> h                </a:t>
            </a:r>
            <a:r>
              <a:rPr i="1">
                <a:solidFill>
                  <a:srgbClr val="60A0B0"/>
                </a:solidFill>
                <a:latin typeface="Courier"/>
              </a:rPr>
              <a:t># 0-23</a:t>
            </a:r>
            <a:br/>
            <a:r>
              <a:rPr>
                <a:latin typeface="Courier"/>
              </a:rPr>
              <a:t>df[</a:t>
            </a:r>
            <a:r>
              <a:rPr>
                <a:solidFill>
                  <a:srgbClr val="4070A0"/>
                </a:solidFill>
                <a:latin typeface="Courier"/>
              </a:rPr>
              <a:t>"dow"</a:t>
            </a:r>
            <a:r>
              <a:rPr>
                <a:latin typeface="Courier"/>
              </a:rPr>
              <a:t>]  </a:t>
            </a:r>
            <a:r>
              <a:rPr>
                <a:solidFill>
                  <a:srgbClr val="666666"/>
                </a:solidFill>
                <a:latin typeface="Courier"/>
              </a:rPr>
              <a:t>=</a:t>
            </a:r>
            <a:r>
              <a:rPr>
                <a:latin typeface="Courier"/>
              </a:rPr>
              <a:t> ts.dt.dayofweek  </a:t>
            </a:r>
            <a:r>
              <a:rPr i="1">
                <a:solidFill>
                  <a:srgbClr val="60A0B0"/>
                </a:solidFill>
                <a:latin typeface="Courier"/>
              </a:rPr>
              <a:t># 0=Mon</a:t>
            </a:r>
            <a:br/>
            <a:r>
              <a:rPr>
                <a:latin typeface="Courier"/>
              </a:rPr>
              <a:t>df[</a:t>
            </a:r>
            <a:r>
              <a:rPr>
                <a:solidFill>
                  <a:srgbClr val="4070A0"/>
                </a:solidFill>
                <a:latin typeface="Courier"/>
              </a:rPr>
              <a:t>"is_weekend"</a:t>
            </a:r>
            <a:r>
              <a:rPr>
                <a:latin typeface="Courier"/>
              </a:rPr>
              <a:t>] </a:t>
            </a:r>
            <a:r>
              <a:rPr>
                <a:solidFill>
                  <a:srgbClr val="666666"/>
                </a:solidFill>
                <a:latin typeface="Courier"/>
              </a:rPr>
              <a:t>=</a:t>
            </a:r>
            <a:r>
              <a:rPr>
                <a:latin typeface="Courier"/>
              </a:rPr>
              <a:t> df[</a:t>
            </a:r>
            <a:r>
              <a:rPr>
                <a:solidFill>
                  <a:srgbClr val="4070A0"/>
                </a:solidFill>
                <a:latin typeface="Courier"/>
              </a:rPr>
              <a:t>"dow"</a:t>
            </a:r>
            <a:r>
              <a:rPr>
                <a:latin typeface="Courier"/>
              </a:rPr>
              <a:t>] </a:t>
            </a:r>
            <a:r>
              <a:rPr>
                <a:solidFill>
                  <a:srgbClr val="666666"/>
                </a:solidFill>
                <a:latin typeface="Courier"/>
              </a:rPr>
              <a:t>&gt;=</a:t>
            </a:r>
            <a:r>
              <a:rPr>
                <a:latin typeface="Courier"/>
              </a:rPr>
              <a:t> </a:t>
            </a:r>
            <a:r>
              <a:rPr>
                <a:solidFill>
                  <a:srgbClr val="40A070"/>
                </a:solidFill>
                <a:latin typeface="Courier"/>
              </a:rPr>
              <a:t>5</a:t>
            </a:r>
            <a:br/>
            <a:r>
              <a:rPr>
                <a:latin typeface="Courier"/>
              </a:rPr>
              <a:t>df[</a:t>
            </a:r>
            <a:r>
              <a:rPr>
                <a:solidFill>
                  <a:srgbClr val="4070A0"/>
                </a:solidFill>
                <a:latin typeface="Courier"/>
              </a:rPr>
              <a:t>"is_night"</a:t>
            </a:r>
            <a:r>
              <a:rPr>
                <a:latin typeface="Courier"/>
              </a:rPr>
              <a:t>]   </a:t>
            </a:r>
            <a:r>
              <a:rPr>
                <a:solidFill>
                  <a:srgbClr val="666666"/>
                </a:solidFill>
                <a:latin typeface="Courier"/>
              </a:rPr>
              <a:t>=</a:t>
            </a:r>
            <a:r>
              <a:rPr>
                <a:latin typeface="Courier"/>
              </a:rPr>
              <a:t> h.between(</a:t>
            </a:r>
            <a:r>
              <a:rPr>
                <a:solidFill>
                  <a:srgbClr val="40A070"/>
                </a:solidFill>
                <a:latin typeface="Courier"/>
              </a:rPr>
              <a:t>0</a:t>
            </a:r>
            <a:r>
              <a:rPr>
                <a:latin typeface="Courier"/>
              </a:rPr>
              <a:t>, </a:t>
            </a:r>
            <a:r>
              <a:rPr>
                <a:solidFill>
                  <a:srgbClr val="40A070"/>
                </a:solidFill>
                <a:latin typeface="Courier"/>
              </a:rPr>
              <a:t>6</a:t>
            </a:r>
            <a:r>
              <a:rPr>
                <a:latin typeface="Courier"/>
              </a:rPr>
              <a:t>)</a:t>
            </a:r>
            <a:br/>
            <a:r>
              <a:rPr>
                <a:latin typeface="Courier"/>
              </a:rPr>
              <a:t>df[</a:t>
            </a:r>
            <a:r>
              <a:rPr>
                <a:solidFill>
                  <a:srgbClr val="4070A0"/>
                </a:solidFill>
                <a:latin typeface="Courier"/>
              </a:rPr>
              <a:t>"month"</a:t>
            </a:r>
            <a:r>
              <a:rPr>
                <a:latin typeface="Courier"/>
              </a:rPr>
              <a:t>]      </a:t>
            </a:r>
            <a:r>
              <a:rPr>
                <a:solidFill>
                  <a:srgbClr val="666666"/>
                </a:solidFill>
                <a:latin typeface="Courier"/>
              </a:rPr>
              <a:t>=</a:t>
            </a:r>
            <a:r>
              <a:rPr>
                <a:latin typeface="Courier"/>
              </a:rPr>
              <a:t> ts.dt.month</a:t>
            </a:r>
          </a:p>
          <a:p>
            <a:pPr lvl="0"/>
            <a:r>
              <a:rPr/>
              <a:t>Captures </a:t>
            </a:r>
            <a:r>
              <a:rPr b="1"/>
              <a:t>admission at 3am</a:t>
            </a:r>
            <a:r>
              <a:rPr/>
              <a:t> vs </a:t>
            </a:r>
            <a:r>
              <a:rPr b="1"/>
              <a:t>admission at 3pm</a:t>
            </a:r>
          </a:p>
          <a:p>
            <a:pPr lvl="0"/>
            <a:r>
              <a:rPr/>
              <a:t>Captures staffing, seasonality, weekend effects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Temporal feature: cyclical encoding</a:t>
            </a:r>
          </a:p>
        </p:txBody>
      </p:sp>
      <p:sp>
        <p:nvSpPr>
          <p:cNvPr id="3" name="Content Placeholder 2"/>
          <p:cNvSpPr>
            <a:spLocks noGrp="1"/>
          </p:cNvSpPr>
          <p:nvPr>
            <p:ph idx="1"/>
          </p:nvPr>
        </p:nvSpPr>
        <p:spPr/>
        <p:txBody>
          <a:bodyPr>
            <a:normAutofit/>
          </a:bodyPr>
          <a:lstStyle/>
          <a:p>
            <a:pPr lvl="0" indent="0" marL="0">
              <a:buNone/>
            </a:pPr>
            <a:r>
              <a:rPr/>
              <a:t>Hour 23 and hour 0 are </a:t>
            </a:r>
            <a:r>
              <a:rPr b="1"/>
              <a:t>one hour apart</a:t>
            </a:r>
            <a:r>
              <a:rPr/>
              <a:t>, not 23:</a:t>
            </a:r>
          </a:p>
          <a:p>
            <a:pPr lvl="0" indent="0">
              <a:buNone/>
            </a:pPr>
            <a:r>
              <a:rPr>
                <a:latin typeface="Courier"/>
              </a:rPr>
              <a:t>theta </a:t>
            </a:r>
            <a:r>
              <a:rPr>
                <a:solidFill>
                  <a:srgbClr val="666666"/>
                </a:solidFill>
                <a:latin typeface="Courier"/>
              </a:rPr>
              <a:t>=</a:t>
            </a:r>
            <a:r>
              <a:rPr>
                <a:latin typeface="Courier"/>
              </a:rPr>
              <a:t> </a:t>
            </a:r>
            <a:r>
              <a:rPr>
                <a:solidFill>
                  <a:srgbClr val="40A070"/>
                </a:solidFill>
                <a:latin typeface="Courier"/>
              </a:rPr>
              <a:t>2</a:t>
            </a:r>
            <a:r>
              <a:rPr>
                <a:latin typeface="Courier"/>
              </a:rPr>
              <a:t> </a:t>
            </a:r>
            <a:r>
              <a:rPr>
                <a:solidFill>
                  <a:srgbClr val="666666"/>
                </a:solidFill>
                <a:latin typeface="Courier"/>
              </a:rPr>
              <a:t>*</a:t>
            </a:r>
            <a:r>
              <a:rPr>
                <a:latin typeface="Courier"/>
              </a:rPr>
              <a:t> np.pi </a:t>
            </a:r>
            <a:r>
              <a:rPr>
                <a:solidFill>
                  <a:srgbClr val="666666"/>
                </a:solidFill>
                <a:latin typeface="Courier"/>
              </a:rPr>
              <a:t>*</a:t>
            </a:r>
            <a:r>
              <a:rPr>
                <a:latin typeface="Courier"/>
              </a:rPr>
              <a:t> df[</a:t>
            </a:r>
            <a:r>
              <a:rPr>
                <a:solidFill>
                  <a:srgbClr val="4070A0"/>
                </a:solidFill>
                <a:latin typeface="Courier"/>
              </a:rPr>
              <a:t>"hour"</a:t>
            </a:r>
            <a:r>
              <a:rPr>
                <a:latin typeface="Courier"/>
              </a:rPr>
              <a:t>] </a:t>
            </a:r>
            <a:r>
              <a:rPr>
                <a:solidFill>
                  <a:srgbClr val="666666"/>
                </a:solidFill>
                <a:latin typeface="Courier"/>
              </a:rPr>
              <a:t>/</a:t>
            </a:r>
            <a:r>
              <a:rPr>
                <a:latin typeface="Courier"/>
              </a:rPr>
              <a:t> </a:t>
            </a:r>
            <a:r>
              <a:rPr>
                <a:solidFill>
                  <a:srgbClr val="40A070"/>
                </a:solidFill>
                <a:latin typeface="Courier"/>
              </a:rPr>
              <a:t>24</a:t>
            </a:r>
            <a:br/>
            <a:r>
              <a:rPr>
                <a:latin typeface="Courier"/>
              </a:rPr>
              <a:t>df[</a:t>
            </a:r>
            <a:r>
              <a:rPr>
                <a:solidFill>
                  <a:srgbClr val="4070A0"/>
                </a:solidFill>
                <a:latin typeface="Courier"/>
              </a:rPr>
              <a:t>"hour_sin"</a:t>
            </a:r>
            <a:r>
              <a:rPr>
                <a:latin typeface="Courier"/>
              </a:rPr>
              <a:t>] </a:t>
            </a:r>
            <a:r>
              <a:rPr>
                <a:solidFill>
                  <a:srgbClr val="666666"/>
                </a:solidFill>
                <a:latin typeface="Courier"/>
              </a:rPr>
              <a:t>=</a:t>
            </a:r>
            <a:r>
              <a:rPr>
                <a:latin typeface="Courier"/>
              </a:rPr>
              <a:t> np.sin(theta)</a:t>
            </a:r>
            <a:br/>
            <a:r>
              <a:rPr>
                <a:latin typeface="Courier"/>
              </a:rPr>
              <a:t>df[</a:t>
            </a:r>
            <a:r>
              <a:rPr>
                <a:solidFill>
                  <a:srgbClr val="4070A0"/>
                </a:solidFill>
                <a:latin typeface="Courier"/>
              </a:rPr>
              <a:t>"hour_cos"</a:t>
            </a:r>
            <a:r>
              <a:rPr>
                <a:latin typeface="Courier"/>
              </a:rPr>
              <a:t>] </a:t>
            </a:r>
            <a:r>
              <a:rPr>
                <a:solidFill>
                  <a:srgbClr val="666666"/>
                </a:solidFill>
                <a:latin typeface="Courier"/>
              </a:rPr>
              <a:t>=</a:t>
            </a:r>
            <a:r>
              <a:rPr>
                <a:latin typeface="Courier"/>
              </a:rPr>
              <a:t> np.cos(theta)</a:t>
            </a:r>
          </a:p>
          <a:p>
            <a:pPr lvl="0"/>
            <a:r>
              <a:rPr/>
              <a:t>Same trick for day-of-week (/7), month (/12), day-of-year (/365)</a:t>
            </a:r>
          </a:p>
          <a:p>
            <a:pPr lvl="0"/>
            <a:r>
              <a:rPr/>
              <a:t>Needs </a:t>
            </a:r>
            <a:r>
              <a:rPr b="1"/>
              <a:t>both</a:t>
            </a:r>
            <a:r>
              <a:rPr/>
              <a:t> sin and cos: one alone is ambiguous</a:t>
            </a:r>
          </a:p>
          <a:p>
            <a:pPr lvl="0"/>
            <a:r>
              <a:rPr/>
              <a:t>Trees can live without it; linear models and NNs cannot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Cyclical encoding</a:t>
            </a:r>
          </a:p>
        </p:txBody>
      </p:sp>
      <p:pic>
        <p:nvPicPr>
          <p:cNvPr descr="img/cyclica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Temporal feature: elapsed time</a:t>
            </a:r>
          </a:p>
        </p:txBody>
      </p:sp>
      <p:sp>
        <p:nvSpPr>
          <p:cNvPr id="3" name="Content Placeholder 2"/>
          <p:cNvSpPr>
            <a:spLocks noGrp="1"/>
          </p:cNvSpPr>
          <p:nvPr>
            <p:ph idx="1"/>
          </p:nvPr>
        </p:nvSpPr>
        <p:spPr/>
        <p:txBody>
          <a:bodyPr>
            <a:normAutofit/>
          </a:bodyPr>
          <a:lstStyle/>
          <a:p>
            <a:pPr lvl="0" indent="0" marL="0">
              <a:buNone/>
            </a:pPr>
            <a:r>
              <a:rPr/>
              <a:t>Often the strongest single feature in the table:</a:t>
            </a:r>
          </a:p>
          <a:p>
            <a:pPr lvl="0" indent="0">
              <a:buNone/>
            </a:pPr>
            <a:r>
              <a:rPr>
                <a:latin typeface="Courier"/>
              </a:rPr>
              <a:t>hour </a:t>
            </a:r>
            <a:r>
              <a:rPr>
                <a:solidFill>
                  <a:srgbClr val="666666"/>
                </a:solidFill>
                <a:latin typeface="Courier"/>
              </a:rPr>
              <a:t>=</a:t>
            </a:r>
            <a:r>
              <a:rPr>
                <a:latin typeface="Courier"/>
              </a:rPr>
              <a:t> pd.Timedelta(</a:t>
            </a:r>
            <a:r>
              <a:rPr>
                <a:solidFill>
                  <a:srgbClr val="4070A0"/>
                </a:solidFill>
                <a:latin typeface="Courier"/>
              </a:rPr>
              <a:t>"1h"</a:t>
            </a:r>
            <a:r>
              <a:rPr>
                <a:latin typeface="Courier"/>
              </a:rPr>
              <a:t>)</a:t>
            </a:r>
            <a:br/>
            <a:br/>
            <a:r>
              <a:rPr>
                <a:latin typeface="Courier"/>
              </a:rPr>
              <a:t>df[</a:t>
            </a:r>
            <a:r>
              <a:rPr>
                <a:solidFill>
                  <a:srgbClr val="4070A0"/>
                </a:solidFill>
                <a:latin typeface="Courier"/>
              </a:rPr>
              <a:t>"h_since_admit"</a:t>
            </a:r>
            <a:r>
              <a:rPr>
                <a:latin typeface="Courier"/>
              </a:rPr>
              <a:t>] </a:t>
            </a:r>
            <a:r>
              <a:rPr>
                <a:solidFill>
                  <a:srgbClr val="666666"/>
                </a:solidFill>
                <a:latin typeface="Courier"/>
              </a:rPr>
              <a:t>=</a:t>
            </a:r>
            <a:r>
              <a:rPr>
                <a:latin typeface="Courier"/>
              </a:rPr>
              <a:t> (ts </a:t>
            </a:r>
            <a:r>
              <a:rPr>
                <a:solidFill>
                  <a:srgbClr val="666666"/>
                </a:solidFill>
                <a:latin typeface="Courier"/>
              </a:rPr>
              <a:t>-</a:t>
            </a:r>
            <a:r>
              <a:rPr>
                <a:latin typeface="Courier"/>
              </a:rPr>
              <a:t> admit) </a:t>
            </a:r>
            <a:r>
              <a:rPr>
                <a:solidFill>
                  <a:srgbClr val="666666"/>
                </a:solidFill>
                <a:latin typeface="Courier"/>
              </a:rPr>
              <a:t>/</a:t>
            </a:r>
            <a:r>
              <a:rPr>
                <a:latin typeface="Courier"/>
              </a:rPr>
              <a:t> hour</a:t>
            </a:r>
            <a:br/>
            <a:r>
              <a:rPr>
                <a:latin typeface="Courier"/>
              </a:rPr>
              <a:t>df[</a:t>
            </a:r>
            <a:r>
              <a:rPr>
                <a:solidFill>
                  <a:srgbClr val="4070A0"/>
                </a:solidFill>
                <a:latin typeface="Courier"/>
              </a:rPr>
              <a:t>"h_since_obs"</a:t>
            </a:r>
            <a:r>
              <a:rPr>
                <a:latin typeface="Courier"/>
              </a:rPr>
              <a:t>]   </a:t>
            </a:r>
            <a:r>
              <a:rPr>
                <a:solidFill>
                  <a:srgbClr val="666666"/>
                </a:solidFill>
                <a:latin typeface="Courier"/>
              </a:rPr>
              <a:t>=</a:t>
            </a:r>
            <a:r>
              <a:rPr>
                <a:latin typeface="Courier"/>
              </a:rPr>
              <a:t> ts.diff() </a:t>
            </a:r>
            <a:r>
              <a:rPr>
                <a:solidFill>
                  <a:srgbClr val="666666"/>
                </a:solidFill>
                <a:latin typeface="Courier"/>
              </a:rPr>
              <a:t>/</a:t>
            </a:r>
            <a:r>
              <a:rPr>
                <a:latin typeface="Courier"/>
              </a:rPr>
              <a:t> hour</a:t>
            </a:r>
          </a:p>
          <a:p>
            <a:pPr lvl="0"/>
            <a:r>
              <a:rPr b="1"/>
              <a:t>Time since</a:t>
            </a:r>
            <a:r>
              <a:rPr/>
              <a:t> an event: how far into the stay are we?</a:t>
            </a:r>
          </a:p>
          <a:p>
            <a:pPr lvl="0"/>
            <a:r>
              <a:rPr b="1"/>
              <a:t>Time between</a:t>
            </a:r>
            <a:r>
              <a:rPr/>
              <a:t> events: a patient measured every 20 minutes is a patient someone is worried about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Elapsed time</a:t>
            </a:r>
          </a:p>
        </p:txBody>
      </p:sp>
      <p:pic>
        <p:nvPicPr>
          <p:cNvPr descr="img/elapse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Aggregation windows</a:t>
            </a:r>
          </a:p>
        </p:txBody>
      </p:sp>
      <p:sp>
        <p:nvSpPr>
          <p:cNvPr id="3" name="Content Placeholder 2"/>
          <p:cNvSpPr>
            <a:spLocks noGrp="1"/>
          </p:cNvSpPr>
          <p:nvPr>
            <p:ph idx="1"/>
          </p:nvPr>
        </p:nvSpPr>
        <p:spPr/>
        <p:txBody>
          <a:bodyPr>
            <a:normAutofit/>
          </a:bodyPr>
          <a:lstStyle/>
          <a:p>
            <a:pPr lvl="0" indent="0" marL="0">
              <a:buNone/>
            </a:pPr>
            <a:r>
              <a:rPr/>
              <a:t>Collapse a patient’s recent history into fixed columns:</a:t>
            </a:r>
          </a:p>
          <a:p>
            <a:pPr lvl="0"/>
            <a:r>
              <a:rPr b="1"/>
              <a:t>last 6h</a:t>
            </a:r>
            <a:r>
              <a:rPr/>
              <a:t> → </a:t>
            </a:r>
            <a:r>
              <a:rPr>
                <a:latin typeface="Courier"/>
              </a:rPr>
              <a:t>hr_mean_6h</a:t>
            </a:r>
            <a:r>
              <a:rPr/>
              <a:t>, </a:t>
            </a:r>
            <a:r>
              <a:rPr>
                <a:latin typeface="Courier"/>
              </a:rPr>
              <a:t>hr_max_6h</a:t>
            </a:r>
            <a:r>
              <a:rPr/>
              <a:t>, </a:t>
            </a:r>
            <a:r>
              <a:rPr>
                <a:latin typeface="Courier"/>
              </a:rPr>
              <a:t>hr_std_6h</a:t>
            </a:r>
          </a:p>
          <a:p>
            <a:pPr lvl="0"/>
            <a:r>
              <a:rPr b="1"/>
              <a:t>last 24h</a:t>
            </a:r>
            <a:r>
              <a:rPr/>
              <a:t> → </a:t>
            </a:r>
            <a:r>
              <a:rPr>
                <a:latin typeface="Courier"/>
              </a:rPr>
              <a:t>hr_mean_24h</a:t>
            </a:r>
            <a:r>
              <a:rPr/>
              <a:t>, </a:t>
            </a:r>
            <a:r>
              <a:rPr>
                <a:latin typeface="Courier"/>
              </a:rPr>
              <a:t>n_obs_24h</a:t>
            </a:r>
          </a:p>
          <a:p>
            <a:pPr lvl="0"/>
            <a:r>
              <a:rPr b="1"/>
              <a:t>whole stay</a:t>
            </a:r>
            <a:r>
              <a:rPr/>
              <a:t> → </a:t>
            </a:r>
            <a:r>
              <a:rPr>
                <a:latin typeface="Courier"/>
              </a:rPr>
              <a:t>hr_mean_all</a:t>
            </a:r>
            <a:r>
              <a:rPr/>
              <a:t>, </a:t>
            </a:r>
            <a:r>
              <a:rPr>
                <a:latin typeface="Courier"/>
              </a:rPr>
              <a:t>creatinine_last</a:t>
            </a:r>
          </a:p>
          <a:p>
            <a:pPr lvl="0" indent="0" marL="0">
              <a:buNone/>
            </a:pPr>
            <a:r>
              <a:rPr/>
              <a:t>Two remarks:</a:t>
            </a:r>
          </a:p>
          <a:p>
            <a:pPr lvl="0"/>
            <a:r>
              <a:rPr b="1"/>
              <a:t>Several windows</a:t>
            </a:r>
            <a:r>
              <a:rPr/>
              <a:t> let the model compare short vs long term</a:t>
            </a:r>
          </a:p>
          <a:p>
            <a:pPr lvl="0"/>
            <a:r>
              <a:rPr>
                <a:latin typeface="Courier"/>
              </a:rPr>
              <a:t>hr_mean_6h - hr_mean_24h</a:t>
            </a:r>
            <a:r>
              <a:rPr/>
              <a:t> is a trend detector in one column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Aggregation windows</a:t>
            </a:r>
          </a:p>
        </p:txBody>
      </p:sp>
      <p:sp>
        <p:nvSpPr>
          <p:cNvPr id="3" name="Content Placeholder 2"/>
          <p:cNvSpPr>
            <a:spLocks noGrp="1"/>
          </p:cNvSpPr>
          <p:nvPr>
            <p:ph idx="1"/>
          </p:nvPr>
        </p:nvSpPr>
        <p:spPr/>
        <p:txBody>
          <a:bodyPr>
            <a:normAutofit/>
          </a:bodyPr>
          <a:lstStyle/>
          <a:p>
            <a:pPr lvl="0" indent="0">
              <a:buNone/>
            </a:pPr>
            <a:r>
              <a:rPr>
                <a:latin typeface="Courier"/>
              </a:rPr>
              <a:t>g </a:t>
            </a:r>
            <a:r>
              <a:rPr>
                <a:solidFill>
                  <a:srgbClr val="666666"/>
                </a:solidFill>
                <a:latin typeface="Courier"/>
              </a:rPr>
              <a:t>=</a:t>
            </a:r>
            <a:r>
              <a:rPr>
                <a:latin typeface="Courier"/>
              </a:rPr>
              <a:t> df.groupby(</a:t>
            </a:r>
            <a:r>
              <a:rPr>
                <a:solidFill>
                  <a:srgbClr val="4070A0"/>
                </a:solidFill>
                <a:latin typeface="Courier"/>
              </a:rPr>
              <a:t>"patient"</a:t>
            </a:r>
            <a:r>
              <a:rPr>
                <a:latin typeface="Courier"/>
              </a:rPr>
              <a:t>)     </a:t>
            </a:r>
            <a:r>
              <a:rPr i="1">
                <a:solidFill>
                  <a:srgbClr val="60A0B0"/>
                </a:solidFill>
                <a:latin typeface="Courier"/>
              </a:rPr>
              <a:t># sorted by ts</a:t>
            </a:r>
            <a:br/>
            <a:r>
              <a:rPr>
                <a:latin typeface="Courier"/>
              </a:rPr>
              <a:t>w </a:t>
            </a:r>
            <a:r>
              <a:rPr>
                <a:solidFill>
                  <a:srgbClr val="666666"/>
                </a:solidFill>
                <a:latin typeface="Courier"/>
              </a:rPr>
              <a:t>=</a:t>
            </a:r>
            <a:r>
              <a:rPr>
                <a:latin typeface="Courier"/>
              </a:rPr>
              <a:t> g.rolling(</a:t>
            </a:r>
            <a:r>
              <a:rPr>
                <a:solidFill>
                  <a:srgbClr val="4070A0"/>
                </a:solidFill>
                <a:latin typeface="Courier"/>
              </a:rPr>
              <a:t>"6h"</a:t>
            </a:r>
            <a:r>
              <a:rPr>
                <a:latin typeface="Courier"/>
              </a:rPr>
              <a:t>, on</a:t>
            </a:r>
            <a:r>
              <a:rPr>
                <a:solidFill>
                  <a:srgbClr val="666666"/>
                </a:solidFill>
                <a:latin typeface="Courier"/>
              </a:rPr>
              <a:t>=</a:t>
            </a:r>
            <a:r>
              <a:rPr>
                <a:solidFill>
                  <a:srgbClr val="4070A0"/>
                </a:solidFill>
                <a:latin typeface="Courier"/>
              </a:rPr>
              <a:t>"timestamp"</a:t>
            </a:r>
            <a:r>
              <a:rPr>
                <a:latin typeface="Courier"/>
              </a:rPr>
              <a:t>)</a:t>
            </a:r>
            <a:br/>
            <a:br/>
            <a:r>
              <a:rPr>
                <a:latin typeface="Courier"/>
              </a:rPr>
              <a:t>df[</a:t>
            </a:r>
            <a:r>
              <a:rPr>
                <a:solidFill>
                  <a:srgbClr val="4070A0"/>
                </a:solidFill>
                <a:latin typeface="Courier"/>
              </a:rPr>
              <a:t>"hr_mean_6h"</a:t>
            </a:r>
            <a:r>
              <a:rPr>
                <a:latin typeface="Courier"/>
              </a:rPr>
              <a:t>] </a:t>
            </a:r>
            <a:r>
              <a:rPr>
                <a:solidFill>
                  <a:srgbClr val="666666"/>
                </a:solidFill>
                <a:latin typeface="Courier"/>
              </a:rPr>
              <a:t>=</a:t>
            </a:r>
            <a:r>
              <a:rPr>
                <a:latin typeface="Courier"/>
              </a:rPr>
              <a:t> w[</a:t>
            </a:r>
            <a:r>
              <a:rPr>
                <a:solidFill>
                  <a:srgbClr val="4070A0"/>
                </a:solidFill>
                <a:latin typeface="Courier"/>
              </a:rPr>
              <a:t>"heart_rate"</a:t>
            </a:r>
            <a:r>
              <a:rPr>
                <a:latin typeface="Courier"/>
              </a:rPr>
              <a:t>].mean()</a:t>
            </a:r>
            <a:br/>
            <a:r>
              <a:rPr>
                <a:latin typeface="Courier"/>
              </a:rPr>
              <a:t>df[</a:t>
            </a:r>
            <a:r>
              <a:rPr>
                <a:solidFill>
                  <a:srgbClr val="4070A0"/>
                </a:solidFill>
                <a:latin typeface="Courier"/>
              </a:rPr>
              <a:t>"hr_max_6h"</a:t>
            </a:r>
            <a:r>
              <a:rPr>
                <a:latin typeface="Courier"/>
              </a:rPr>
              <a:t>]  </a:t>
            </a:r>
            <a:r>
              <a:rPr>
                <a:solidFill>
                  <a:srgbClr val="666666"/>
                </a:solidFill>
                <a:latin typeface="Courier"/>
              </a:rPr>
              <a:t>=</a:t>
            </a:r>
            <a:r>
              <a:rPr>
                <a:latin typeface="Courier"/>
              </a:rPr>
              <a:t> w[</a:t>
            </a:r>
            <a:r>
              <a:rPr>
                <a:solidFill>
                  <a:srgbClr val="4070A0"/>
                </a:solidFill>
                <a:latin typeface="Courier"/>
              </a:rPr>
              <a:t>"heart_rate"</a:t>
            </a:r>
            <a:r>
              <a:rPr>
                <a:latin typeface="Courier"/>
              </a:rPr>
              <a:t>].</a:t>
            </a:r>
            <a:r>
              <a:rPr>
                <a:solidFill>
                  <a:srgbClr val="008000"/>
                </a:solidFill>
                <a:latin typeface="Courier"/>
              </a:rPr>
              <a:t>max</a:t>
            </a:r>
            <a:r>
              <a:rPr>
                <a:latin typeface="Courier"/>
              </a:rPr>
              <a:t>()</a:t>
            </a:r>
            <a:br/>
            <a:r>
              <a:rPr>
                <a:latin typeface="Courier"/>
              </a:rPr>
              <a:t>df[</a:t>
            </a:r>
            <a:r>
              <a:rPr>
                <a:solidFill>
                  <a:srgbClr val="4070A0"/>
                </a:solidFill>
                <a:latin typeface="Courier"/>
              </a:rPr>
              <a:t>"n_obs_6h"</a:t>
            </a:r>
            <a:r>
              <a:rPr>
                <a:latin typeface="Courier"/>
              </a:rPr>
              <a:t>]   </a:t>
            </a:r>
            <a:r>
              <a:rPr>
                <a:solidFill>
                  <a:srgbClr val="666666"/>
                </a:solidFill>
                <a:latin typeface="Courier"/>
              </a:rPr>
              <a:t>=</a:t>
            </a:r>
            <a:r>
              <a:rPr>
                <a:latin typeface="Courier"/>
              </a:rPr>
              <a:t> w[</a:t>
            </a:r>
            <a:r>
              <a:rPr>
                <a:solidFill>
                  <a:srgbClr val="4070A0"/>
                </a:solidFill>
                <a:latin typeface="Courier"/>
              </a:rPr>
              <a:t>"heart_rate"</a:t>
            </a:r>
            <a:r>
              <a:rPr>
                <a:latin typeface="Courier"/>
              </a:rPr>
              <a:t>].count()</a:t>
            </a:r>
          </a:p>
          <a:p>
            <a:pPr lvl="0"/>
            <a:r>
              <a:rPr/>
              <a:t>Use a </a:t>
            </a:r>
            <a:r>
              <a:rPr b="1"/>
              <a:t>time-based</a:t>
            </a:r>
            <a:r>
              <a:rPr/>
              <a:t> window (</a:t>
            </a:r>
            <a:r>
              <a:rPr>
                <a:latin typeface="Courier"/>
              </a:rPr>
              <a:t>"6h"</a:t>
            </a:r>
            <a:r>
              <a:rPr/>
              <a:t>), not a row-count window (</a:t>
            </a:r>
            <a:r>
              <a:rPr>
                <a:latin typeface="Courier"/>
              </a:rPr>
              <a:t>6</a:t>
            </a:r>
            <a:r>
              <a:rPr/>
              <a:t>): observations are irregularly spaced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Window</a:t>
            </a:r>
          </a:p>
        </p:txBody>
      </p:sp>
      <p:pic>
        <p:nvPicPr>
          <p:cNvPr descr="img/window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Sliding vs tumbling windows</a:t>
            </a:r>
          </a:p>
        </p:txBody>
      </p:sp>
      <p:sp>
        <p:nvSpPr>
          <p:cNvPr id="3" name="Content Placeholder 2"/>
          <p:cNvSpPr>
            <a:spLocks noGrp="1"/>
          </p:cNvSpPr>
          <p:nvPr>
            <p:ph idx="1"/>
          </p:nvPr>
        </p:nvSpPr>
        <p:spPr/>
        <p:txBody>
          <a:bodyPr>
            <a:normAutofit/>
          </a:bodyPr>
          <a:lstStyle/>
          <a:p>
            <a:pPr lvl="0"/>
            <a:r>
              <a:rPr b="1"/>
              <a:t>Sliding (rolling):</a:t>
            </a:r>
            <a:r>
              <a:rPr/>
              <a:t> one value per row, windows overlap</a:t>
            </a:r>
          </a:p>
          <a:p>
            <a:pPr lvl="1" indent="0" marL="342900">
              <a:buNone/>
            </a:pPr>
            <a:r>
              <a:rPr/>
              <a:t>→ prediction at any time</a:t>
            </a:r>
          </a:p>
          <a:p>
            <a:pPr lvl="0"/>
            <a:r>
              <a:rPr b="1"/>
              <a:t>Tumbling:</a:t>
            </a:r>
            <a:r>
              <a:rPr/>
              <a:t> non-overlapping blocks (each 6h bucket once)</a:t>
            </a:r>
          </a:p>
          <a:p>
            <a:pPr lvl="1" indent="0" marL="342900">
              <a:buNone/>
            </a:pPr>
            <a:r>
              <a:rPr/>
              <a:t>→ one row per block, no duplicated information</a:t>
            </a:r>
          </a:p>
          <a:p>
            <a:pPr lvl="0"/>
            <a:r>
              <a:rPr b="1"/>
              <a:t>Expanding:</a:t>
            </a:r>
            <a:r>
              <a:rPr/>
              <a:t> everything since admission</a:t>
            </a:r>
          </a:p>
          <a:p>
            <a:pPr lvl="1" indent="0" marL="342900">
              <a:buNone/>
            </a:pPr>
            <a:r>
              <a:rPr/>
              <a:t>→ “how has the whole stay been?”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Sliding, tumbling, expanding</a:t>
            </a:r>
          </a:p>
        </p:txBody>
      </p:sp>
      <p:pic>
        <p:nvPicPr>
          <p:cNvPr descr="img/window_typ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Lag features</a:t>
            </a:r>
          </a:p>
        </p:txBody>
      </p:sp>
      <p:sp>
        <p:nvSpPr>
          <p:cNvPr id="3" name="Content Placeholder 2"/>
          <p:cNvSpPr>
            <a:spLocks noGrp="1"/>
          </p:cNvSpPr>
          <p:nvPr>
            <p:ph idx="1"/>
          </p:nvPr>
        </p:nvSpPr>
        <p:spPr/>
        <p:txBody>
          <a:bodyPr>
            <a:normAutofit/>
          </a:bodyPr>
          <a:lstStyle/>
          <a:p>
            <a:pPr lvl="0" indent="0" marL="0">
              <a:buNone/>
            </a:pPr>
            <a:r>
              <a:rPr/>
              <a:t>The past values themselves:</a:t>
            </a:r>
          </a:p>
          <a:p>
            <a:pPr lvl="0" indent="0">
              <a:buNone/>
            </a:pPr>
            <a:r>
              <a:rPr>
                <a:latin typeface="Courier"/>
              </a:rPr>
              <a:t>hr </a:t>
            </a:r>
            <a:r>
              <a:rPr>
                <a:solidFill>
                  <a:srgbClr val="666666"/>
                </a:solidFill>
                <a:latin typeface="Courier"/>
              </a:rPr>
              <a:t>=</a:t>
            </a:r>
            <a:r>
              <a:rPr>
                <a:latin typeface="Courier"/>
              </a:rPr>
              <a:t> df.groupby(</a:t>
            </a:r>
            <a:r>
              <a:rPr>
                <a:solidFill>
                  <a:srgbClr val="4070A0"/>
                </a:solidFill>
                <a:latin typeface="Courier"/>
              </a:rPr>
              <a:t>"patient"</a:t>
            </a:r>
            <a:r>
              <a:rPr>
                <a:latin typeface="Courier"/>
              </a:rPr>
              <a:t>)[</a:t>
            </a:r>
            <a:r>
              <a:rPr>
                <a:solidFill>
                  <a:srgbClr val="4070A0"/>
                </a:solidFill>
                <a:latin typeface="Courier"/>
              </a:rPr>
              <a:t>"heart_rate"</a:t>
            </a:r>
            <a:r>
              <a:rPr>
                <a:latin typeface="Courier"/>
              </a:rPr>
              <a:t>]</a:t>
            </a:r>
            <a:br/>
            <a:br/>
            <a:r>
              <a:rPr>
                <a:latin typeface="Courier"/>
              </a:rPr>
              <a:t>df[</a:t>
            </a:r>
            <a:r>
              <a:rPr>
                <a:solidFill>
                  <a:srgbClr val="4070A0"/>
                </a:solidFill>
                <a:latin typeface="Courier"/>
              </a:rPr>
              <a:t>"hr_lag1"</a:t>
            </a:r>
            <a:r>
              <a:rPr>
                <a:latin typeface="Courier"/>
              </a:rPr>
              <a:t>]  </a:t>
            </a:r>
            <a:r>
              <a:rPr>
                <a:solidFill>
                  <a:srgbClr val="666666"/>
                </a:solidFill>
                <a:latin typeface="Courier"/>
              </a:rPr>
              <a:t>=</a:t>
            </a:r>
            <a:r>
              <a:rPr>
                <a:latin typeface="Courier"/>
              </a:rPr>
              <a:t> hr.shift(</a:t>
            </a:r>
            <a:r>
              <a:rPr>
                <a:solidFill>
                  <a:srgbClr val="40A070"/>
                </a:solidFill>
                <a:latin typeface="Courier"/>
              </a:rPr>
              <a:t>1</a:t>
            </a:r>
            <a:r>
              <a:rPr>
                <a:latin typeface="Courier"/>
              </a:rPr>
              <a:t>)   </a:t>
            </a:r>
            <a:r>
              <a:rPr i="1">
                <a:solidFill>
                  <a:srgbClr val="60A0B0"/>
                </a:solidFill>
                <a:latin typeface="Courier"/>
              </a:rPr>
              <a:t># where it was</a:t>
            </a:r>
            <a:br/>
            <a:r>
              <a:rPr>
                <a:latin typeface="Courier"/>
              </a:rPr>
              <a:t>df[</a:t>
            </a:r>
            <a:r>
              <a:rPr>
                <a:solidFill>
                  <a:srgbClr val="4070A0"/>
                </a:solidFill>
                <a:latin typeface="Courier"/>
              </a:rPr>
              <a:t>"hr_delta"</a:t>
            </a:r>
            <a:r>
              <a:rPr>
                <a:latin typeface="Courier"/>
              </a:rPr>
              <a:t>] </a:t>
            </a:r>
            <a:r>
              <a:rPr>
                <a:solidFill>
                  <a:srgbClr val="666666"/>
                </a:solidFill>
                <a:latin typeface="Courier"/>
              </a:rPr>
              <a:t>=</a:t>
            </a:r>
            <a:r>
              <a:rPr>
                <a:latin typeface="Courier"/>
              </a:rPr>
              <a:t> hr.diff()     </a:t>
            </a:r>
            <a:r>
              <a:rPr i="1">
                <a:solidFill>
                  <a:srgbClr val="60A0B0"/>
                </a:solidFill>
                <a:latin typeface="Courier"/>
              </a:rPr>
              <a:t># how much changed</a:t>
            </a:r>
            <a:br/>
            <a:r>
              <a:rPr>
                <a:latin typeface="Courier"/>
              </a:rPr>
              <a:t>df[</a:t>
            </a:r>
            <a:r>
              <a:rPr>
                <a:solidFill>
                  <a:srgbClr val="4070A0"/>
                </a:solidFill>
                <a:latin typeface="Courier"/>
              </a:rPr>
              <a:t>"hr_rate"</a:t>
            </a:r>
            <a:r>
              <a:rPr>
                <a:latin typeface="Courier"/>
              </a:rPr>
              <a:t>]  </a:t>
            </a:r>
            <a:r>
              <a:rPr>
                <a:solidFill>
                  <a:srgbClr val="666666"/>
                </a:solidFill>
                <a:latin typeface="Courier"/>
              </a:rPr>
              <a:t>=</a:t>
            </a:r>
            <a:r>
              <a:rPr>
                <a:latin typeface="Courier"/>
              </a:rPr>
              <a:t> df.hr_delta </a:t>
            </a:r>
            <a:r>
              <a:rPr>
                <a:solidFill>
                  <a:srgbClr val="666666"/>
                </a:solidFill>
                <a:latin typeface="Courier"/>
              </a:rPr>
              <a:t>/</a:t>
            </a:r>
            <a:r>
              <a:rPr>
                <a:latin typeface="Courier"/>
              </a:rPr>
              <a:t> df.h_since_obs </a:t>
            </a:r>
            <a:r>
              <a:rPr i="1">
                <a:solidFill>
                  <a:srgbClr val="60A0B0"/>
                </a:solidFill>
                <a:latin typeface="Courier"/>
              </a:rPr>
              <a:t># how fast it changes</a:t>
            </a:r>
          </a:p>
          <a:p>
            <a:pPr lvl="0"/>
            <a:r>
              <a:rPr b="1"/>
              <a:t>Lag:</a:t>
            </a:r>
            <a:r>
              <a:rPr/>
              <a:t> where it was — </a:t>
            </a:r>
            <a:r>
              <a:rPr b="1"/>
              <a:t>difference:</a:t>
            </a:r>
            <a:r>
              <a:rPr/>
              <a:t> how much it moved — </a:t>
            </a:r>
            <a:r>
              <a:rPr b="1"/>
              <a:t>rate:</a:t>
            </a:r>
            <a:r>
              <a:rPr/>
              <a:t> how fast it moved</a:t>
            </a:r>
          </a:p>
          <a:p>
            <a:pPr lvl="0"/>
            <a:r>
              <a:rPr/>
              <a:t>The rate is often the best of the three</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Lag features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normAutofit/>
                    </a:bodyPr>
                    <a:lstStyle/>
                    <a:p>
                      <a:pPr lvl="0" indent="0" marL="0">
                        <a:buNone/>
                      </a:pPr>
                      <a:r>
                        <a:rPr/>
                        <a:t>t</a:t>
                      </a:r>
                    </a:p>
                  </a:txBody>
                  <a:tcPr/>
                </a:tc>
                <a:tc>
                  <a:txBody>
                    <a:bodyPr>
                      <a:normAutofit/>
                    </a:bodyPr>
                    <a:lstStyle/>
                    <a:p>
                      <a:pPr lvl="0" indent="0" marL="0">
                        <a:buNone/>
                      </a:pPr>
                      <a:r>
                        <a:rPr/>
                        <a:t>heart_rate</a:t>
                      </a:r>
                    </a:p>
                  </a:txBody>
                  <a:tcPr/>
                </a:tc>
                <a:tc>
                  <a:txBody>
                    <a:bodyPr>
                      <a:normAutofit/>
                    </a:bodyPr>
                    <a:lstStyle/>
                    <a:p>
                      <a:pPr lvl="0" indent="0" marL="0">
                        <a:buNone/>
                      </a:pPr>
                      <a:r>
                        <a:rPr/>
                        <a:t>hr_lag1</a:t>
                      </a:r>
                    </a:p>
                  </a:txBody>
                  <a:tcPr/>
                </a:tc>
                <a:tc>
                  <a:txBody>
                    <a:bodyPr>
                      <a:normAutofit/>
                    </a:bodyPr>
                    <a:lstStyle/>
                    <a:p>
                      <a:pPr lvl="0" indent="0" marL="0">
                        <a:buNone/>
                      </a:pPr>
                      <a:r>
                        <a:rPr/>
                        <a:t>hr_delta</a:t>
                      </a:r>
                    </a:p>
                  </a:txBody>
                  <a:tcPr/>
                </a:tc>
                <a:tc>
                  <a:txBody>
                    <a:bodyPr>
                      <a:normAutofit/>
                    </a:bodyPr>
                    <a:lstStyle/>
                    <a:p>
                      <a:pPr lvl="0" indent="0" marL="0">
                        <a:buNone/>
                      </a:pPr>
                      <a:r>
                        <a:rPr/>
                        <a:t>hr_mean_6h</a:t>
                      </a:r>
                    </a:p>
                  </a:txBody>
                  <a:tcPr/>
                </a:tc>
              </a:tr>
              <a:tr h="0">
                <a:tc>
                  <a:txBody>
                    <a:bodyPr>
                      <a:normAutofit/>
                    </a:bodyPr>
                    <a:lstStyle/>
                    <a:p>
                      <a:pPr lvl="0" indent="0" marL="0">
                        <a:buNone/>
                      </a:pPr>
                      <a:r>
                        <a:rPr/>
                        <a:t>08:15</a:t>
                      </a:r>
                    </a:p>
                  </a:txBody>
                </a:tc>
                <a:tc>
                  <a:txBody>
                    <a:bodyPr>
                      <a:normAutofit/>
                    </a:bodyPr>
                    <a:lstStyle/>
                    <a:p>
                      <a:pPr lvl="0" indent="0" marL="0">
                        <a:buNone/>
                      </a:pPr>
                      <a:r>
                        <a:rPr/>
                        <a:t>78</a:t>
                      </a:r>
                    </a:p>
                  </a:txBody>
                </a:tc>
                <a:tc>
                  <a:txBody>
                    <a:bodyPr>
                      <a:normAutofit/>
                    </a:bodyPr>
                    <a:lstStyle/>
                    <a:p>
                      <a:pPr lvl="0" indent="0" marL="0">
                        <a:buNone/>
                      </a:pPr>
                      <a:r>
                        <a:rPr/>
                        <a:t>—</a:t>
                      </a:r>
                    </a:p>
                  </a:txBody>
                </a:tc>
                <a:tc>
                  <a:txBody>
                    <a:bodyPr>
                      <a:normAutofit/>
                    </a:bodyPr>
                    <a:lstStyle/>
                    <a:p>
                      <a:pPr lvl="0" indent="0" marL="0">
                        <a:buNone/>
                      </a:pPr>
                      <a:r>
                        <a:rPr/>
                        <a:t>—</a:t>
                      </a:r>
                    </a:p>
                  </a:txBody>
                </a:tc>
                <a:tc>
                  <a:txBody>
                    <a:bodyPr>
                      <a:normAutofit/>
                    </a:bodyPr>
                    <a:lstStyle/>
                    <a:p>
                      <a:pPr lvl="0" indent="0" marL="0">
                        <a:buNone/>
                      </a:pPr>
                      <a:r>
                        <a:rPr/>
                        <a:t>78</a:t>
                      </a:r>
                    </a:p>
                  </a:txBody>
                </a:tc>
              </a:tr>
              <a:tr h="0">
                <a:tc>
                  <a:txBody>
                    <a:bodyPr>
                      <a:normAutofit/>
                    </a:bodyPr>
                    <a:lstStyle/>
                    <a:p>
                      <a:pPr lvl="0" indent="0" marL="0">
                        <a:buNone/>
                      </a:pPr>
                      <a:r>
                        <a:rPr/>
                        <a:t>14:40</a:t>
                      </a:r>
                    </a:p>
                  </a:txBody>
                </a:tc>
                <a:tc>
                  <a:txBody>
                    <a:bodyPr>
                      <a:normAutofit/>
                    </a:bodyPr>
                    <a:lstStyle/>
                    <a:p>
                      <a:pPr lvl="0" indent="0" marL="0">
                        <a:buNone/>
                      </a:pPr>
                      <a:r>
                        <a:rPr/>
                        <a:t>96</a:t>
                      </a:r>
                    </a:p>
                  </a:txBody>
                </a:tc>
                <a:tc>
                  <a:txBody>
                    <a:bodyPr>
                      <a:normAutofit/>
                    </a:bodyPr>
                    <a:lstStyle/>
                    <a:p>
                      <a:pPr lvl="0" indent="0" marL="0">
                        <a:buNone/>
                      </a:pPr>
                      <a:r>
                        <a:rPr/>
                        <a:t>78</a:t>
                      </a:r>
                    </a:p>
                  </a:txBody>
                </a:tc>
                <a:tc>
                  <a:txBody>
                    <a:bodyPr>
                      <a:normAutofit/>
                    </a:bodyPr>
                    <a:lstStyle/>
                    <a:p>
                      <a:pPr lvl="0" indent="0" marL="0">
                        <a:buNone/>
                      </a:pPr>
                      <a:r>
                        <a:rPr/>
                        <a:t>+18</a:t>
                      </a:r>
                    </a:p>
                  </a:txBody>
                </a:tc>
                <a:tc>
                  <a:txBody>
                    <a:bodyPr>
                      <a:normAutofit/>
                    </a:bodyPr>
                    <a:lstStyle/>
                    <a:p>
                      <a:pPr lvl="0" indent="0" marL="0">
                        <a:buNone/>
                      </a:pPr>
                      <a:r>
                        <a:rPr/>
                        <a:t>96</a:t>
                      </a:r>
                    </a:p>
                  </a:txBody>
                </a:tc>
              </a:tr>
              <a:tr h="0">
                <a:tc>
                  <a:txBody>
                    <a:bodyPr>
                      <a:normAutofit/>
                    </a:bodyPr>
                    <a:lstStyle/>
                    <a:p>
                      <a:pPr lvl="0" indent="0" marL="0">
                        <a:buNone/>
                      </a:pPr>
                      <a:r>
                        <a:rPr/>
                        <a:t>09:05</a:t>
                      </a:r>
                    </a:p>
                  </a:txBody>
                </a:tc>
                <a:tc>
                  <a:txBody>
                    <a:bodyPr>
                      <a:normAutofit/>
                    </a:bodyPr>
                    <a:lstStyle/>
                    <a:p>
                      <a:pPr lvl="0" indent="0" marL="0">
                        <a:buNone/>
                      </a:pPr>
                      <a:r>
                        <a:rPr/>
                        <a:t>102</a:t>
                      </a:r>
                    </a:p>
                  </a:txBody>
                </a:tc>
                <a:tc>
                  <a:txBody>
                    <a:bodyPr>
                      <a:normAutofit/>
                    </a:bodyPr>
                    <a:lstStyle/>
                    <a:p>
                      <a:pPr lvl="0" indent="0" marL="0">
                        <a:buNone/>
                      </a:pPr>
                      <a:r>
                        <a:rPr/>
                        <a:t>96</a:t>
                      </a:r>
                    </a:p>
                  </a:txBody>
                </a:tc>
                <a:tc>
                  <a:txBody>
                    <a:bodyPr>
                      <a:normAutofit/>
                    </a:bodyPr>
                    <a:lstStyle/>
                    <a:p>
                      <a:pPr lvl="0" indent="0" marL="0">
                        <a:buNone/>
                      </a:pPr>
                      <a:r>
                        <a:rPr/>
                        <a:t>+6</a:t>
                      </a:r>
                    </a:p>
                  </a:txBody>
                </a:tc>
                <a:tc>
                  <a:txBody>
                    <a:bodyPr>
                      <a:normAutofit/>
                    </a:bodyPr>
                    <a:lstStyle/>
                    <a:p>
                      <a:pPr lvl="0" indent="0" marL="0">
                        <a:buNone/>
                      </a:pPr>
                      <a:r>
                        <a:rPr/>
                        <a:t>102</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Lag, difference, rate</a:t>
            </a:r>
          </a:p>
        </p:txBody>
      </p:sp>
      <p:pic>
        <p:nvPicPr>
          <p:cNvPr descr="img/lag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2. A catalogue of techniques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Log transformation</a:t>
            </a:r>
          </a:p>
        </p:txBody>
      </p:sp>
      <p:sp>
        <p:nvSpPr>
          <p:cNvPr id="3" name="Content Placeholder 2"/>
          <p:cNvSpPr>
            <a:spLocks noGrp="1"/>
          </p:cNvSpPr>
          <p:nvPr>
            <p:ph idx="1"/>
          </p:nvPr>
        </p:nvSpPr>
        <p:spPr/>
        <p:txBody>
          <a:bodyPr>
            <a:normAutofit/>
          </a:bodyPr>
          <a:lstStyle/>
          <a:p>
            <a:pPr lvl="0" indent="0" marL="0">
              <a:buNone/>
            </a:pPr>
            <a:r>
              <a:rPr/>
              <a:t>Compress a right-skewed variable so the long tail stops dominating.</a:t>
            </a:r>
          </a:p>
          <a:p>
            <a:pPr lvl="0" indent="0" marL="0">
              <a:buNone/>
            </a:pPr>
            <a:r>
              <a:rPr b="1"/>
              <a:t>Example:</a:t>
            </a:r>
            <a:r>
              <a:rPr/>
              <a:t> length of stay runs 1–90 days; most patients are at 2–3.</a:t>
            </a:r>
          </a:p>
          <a:p>
            <a:pPr lvl="0" indent="0">
              <a:buNone/>
            </a:pPr>
            <a:r>
              <a:rPr>
                <a:latin typeface="Courier"/>
              </a:rPr>
              <a:t>df[</a:t>
            </a:r>
            <a:r>
              <a:rPr>
                <a:solidFill>
                  <a:srgbClr val="4070A0"/>
                </a:solidFill>
                <a:latin typeface="Courier"/>
              </a:rPr>
              <a:t>"log_los"</a:t>
            </a:r>
            <a:r>
              <a:rPr>
                <a:latin typeface="Courier"/>
              </a:rPr>
              <a:t>] </a:t>
            </a:r>
            <a:r>
              <a:rPr>
                <a:solidFill>
                  <a:srgbClr val="666666"/>
                </a:solidFill>
                <a:latin typeface="Courier"/>
              </a:rPr>
              <a:t>=</a:t>
            </a:r>
            <a:r>
              <a:rPr>
                <a:latin typeface="Courier"/>
              </a:rPr>
              <a:t> np.log1p(df[</a:t>
            </a:r>
            <a:r>
              <a:rPr>
                <a:solidFill>
                  <a:srgbClr val="4070A0"/>
                </a:solidFill>
                <a:latin typeface="Courier"/>
              </a:rPr>
              <a:t>"los_days"</a:t>
            </a:r>
            <a:r>
              <a:rPr>
                <a:latin typeface="Courier"/>
              </a:rPr>
              <a:t>])</a:t>
            </a:r>
          </a:p>
          <a:p>
            <a:pPr lvl="0"/>
            <a:r>
              <a:rPr>
                <a:latin typeface="Courier"/>
              </a:rPr>
              <a:t>log1p</a:t>
            </a:r>
            <a:r>
              <a:rPr/>
              <a:t> so that 0 stays 0</a:t>
            </a:r>
          </a:p>
          <a:p>
            <a:pPr lvl="0"/>
            <a:r>
              <a:rPr/>
              <a:t>The model now learns on </a:t>
            </a:r>
            <a:r>
              <a:rPr b="1"/>
              <a:t>ratios</a:t>
            </a:r>
            <a:r>
              <a:rPr/>
              <a:t>, not differences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Log transformation example</a:t>
            </a:r>
          </a:p>
        </p:txBody>
      </p:sp>
      <p:pic>
        <p:nvPicPr>
          <p:cNvPr descr="img/log_transfor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One-hot encoding</a:t>
            </a:r>
          </a:p>
        </p:txBody>
      </p:sp>
      <p:sp>
        <p:nvSpPr>
          <p:cNvPr id="3" name="Content Placeholder 2"/>
          <p:cNvSpPr>
            <a:spLocks noGrp="1"/>
          </p:cNvSpPr>
          <p:nvPr>
            <p:ph idx="1"/>
          </p:nvPr>
        </p:nvSpPr>
        <p:spPr/>
        <p:txBody>
          <a:bodyPr>
            <a:normAutofit/>
          </a:bodyPr>
          <a:lstStyle/>
          <a:p>
            <a:pPr lvl="0" indent="0" marL="0">
              <a:buNone/>
            </a:pPr>
            <a:r>
              <a:rPr/>
              <a:t>Turn an unordered category into one binary column per level.</a:t>
            </a:r>
          </a:p>
          <a:p>
            <a:pPr lvl="0" indent="0" marL="0">
              <a:buNone/>
            </a:pPr>
            <a:r>
              <a:rPr b="1"/>
              <a:t>Example:</a:t>
            </a:r>
            <a:r>
              <a:rPr/>
              <a:t> </a:t>
            </a:r>
            <a:r>
              <a:rPr>
                <a:latin typeface="Courier"/>
              </a:rPr>
              <a:t>admission_type</a:t>
            </a:r>
            <a:r>
              <a:rPr/>
              <a:t> ∈ {emergency, elective, transfer} → 3 columns.</a:t>
            </a:r>
          </a:p>
          <a:p>
            <a:pPr lvl="0" indent="0">
              <a:buNone/>
            </a:pPr>
            <a:r>
              <a:rPr>
                <a:latin typeface="Courier"/>
              </a:rPr>
              <a:t>OneHotEncoder(handle_unknown</a:t>
            </a:r>
            <a:r>
              <a:rPr>
                <a:solidFill>
                  <a:srgbClr val="666666"/>
                </a:solidFill>
                <a:latin typeface="Courier"/>
              </a:rPr>
              <a:t>=</a:t>
            </a:r>
            <a:r>
              <a:rPr>
                <a:solidFill>
                  <a:srgbClr val="4070A0"/>
                </a:solidFill>
                <a:latin typeface="Courier"/>
              </a:rPr>
              <a:t>"ignore"</a:t>
            </a:r>
            <a:r>
              <a:rPr>
                <a:latin typeface="Courier"/>
              </a:rPr>
              <a:t>)</a:t>
            </a:r>
          </a:p>
          <a:p>
            <a:pPr lvl="0"/>
            <a:r>
              <a:rPr/>
              <a:t>Avoid encoding as 1/2/3: it invents an order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One-hot encoding example</a:t>
            </a:r>
          </a:p>
        </p:txBody>
      </p:sp>
      <p:pic>
        <p:nvPicPr>
          <p:cNvPr descr="img/oneho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Standardization</a:t>
            </a:r>
          </a:p>
        </p:txBody>
      </p:sp>
      <p:sp>
        <p:nvSpPr>
          <p:cNvPr id="3" name="Content Placeholder 2"/>
          <p:cNvSpPr>
            <a:spLocks noGrp="1"/>
          </p:cNvSpPr>
          <p:nvPr>
            <p:ph idx="1"/>
          </p:nvPr>
        </p:nvSpPr>
        <p:spPr/>
        <p:txBody>
          <a:bodyPr>
            <a:normAutofit/>
          </a:bodyPr>
          <a:lstStyle/>
          <a:p>
            <a:pPr lvl="0" indent="0" marL="0">
              <a:buNone/>
            </a:pPr>
            <a:r>
              <a:rPr/>
              <a:t>Centre and rescale so every feature is in comparable units.</a:t>
            </a:r>
          </a:p>
          <a:p>
            <a:pPr lvl="0" indent="0" marL="0">
              <a:buNone/>
            </a:pPr>
            <a:r>
              <a:rPr b="1"/>
              <a:t>Example:</a:t>
            </a:r>
            <a:r>
              <a:rPr/>
              <a:t> </a:t>
            </a:r>
            <a:r>
              <a:rPr>
                <a:latin typeface="Courier"/>
              </a:rPr>
              <a:t>heart_rate</a:t>
            </a:r>
            <a:r>
              <a:rPr/>
              <a:t> ≈ 70, </a:t>
            </a:r>
            <a:r>
              <a:rPr>
                <a:latin typeface="Courier"/>
              </a:rPr>
              <a:t>creatinine</a:t>
            </a:r>
            <a:r>
              <a:rPr/>
              <a:t> ≈ 1.1 — without scaling, any distance or penalty is decided by the heart rate alone.</a:t>
            </a:r>
          </a:p>
          <a:p>
            <a:pPr lvl="0" indent="0">
              <a:buNone/>
            </a:pPr>
            <a:r>
              <a:rPr>
                <a:latin typeface="Courier"/>
              </a:rPr>
              <a:t>StandardScaler()      </a:t>
            </a:r>
            <a:r>
              <a:rPr i="1">
                <a:solidFill>
                  <a:srgbClr val="60A0B0"/>
                </a:solidFill>
                <a:latin typeface="Courier"/>
              </a:rPr>
              <a:t># (x - mean) / std</a:t>
            </a:r>
          </a:p>
          <a:p>
            <a:pPr lvl="0"/>
            <a:r>
              <a:rPr/>
              <a:t>Required by kNN, SVM, PCA, penalised regression, NNs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Standardization example</a:t>
            </a:r>
          </a:p>
        </p:txBody>
      </p:sp>
      <p:pic>
        <p:nvPicPr>
          <p:cNvPr descr="img/standardiz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Binning</a:t>
            </a:r>
          </a:p>
        </p:txBody>
      </p:sp>
      <p:sp>
        <p:nvSpPr>
          <p:cNvPr id="3" name="Content Placeholder 2"/>
          <p:cNvSpPr>
            <a:spLocks noGrp="1"/>
          </p:cNvSpPr>
          <p:nvPr>
            <p:ph idx="1"/>
          </p:nvPr>
        </p:nvSpPr>
        <p:spPr/>
        <p:txBody>
          <a:bodyPr>
            <a:normAutofit/>
          </a:bodyPr>
          <a:lstStyle/>
          <a:p>
            <a:pPr lvl="0" indent="0" marL="0">
              <a:buNone/>
            </a:pPr>
            <a:r>
              <a:rPr/>
              <a:t>Cut a continuous variable into ordered bands.</a:t>
            </a:r>
          </a:p>
          <a:p>
            <a:pPr lvl="0" indent="0" marL="0">
              <a:buNone/>
            </a:pPr>
            <a:r>
              <a:rPr b="1"/>
              <a:t>Example:</a:t>
            </a:r>
            <a:r>
              <a:rPr/>
              <a:t> age → </a:t>
            </a:r>
            <a:r>
              <a:rPr>
                <a:latin typeface="Courier"/>
              </a:rPr>
              <a:t>&lt;18</a:t>
            </a:r>
            <a:r>
              <a:rPr/>
              <a:t>, </a:t>
            </a:r>
            <a:r>
              <a:rPr>
                <a:latin typeface="Courier"/>
              </a:rPr>
              <a:t>18-64</a:t>
            </a:r>
            <a:r>
              <a:rPr/>
              <a:t>, </a:t>
            </a:r>
            <a:r>
              <a:rPr>
                <a:latin typeface="Courier"/>
              </a:rPr>
              <a:t>65-79</a:t>
            </a:r>
            <a:r>
              <a:rPr/>
              <a:t>, </a:t>
            </a:r>
            <a:r>
              <a:rPr>
                <a:latin typeface="Courier"/>
              </a:rPr>
              <a:t>80+</a:t>
            </a:r>
            <a:r>
              <a:rPr/>
              <a:t>, the bands clinicians use.</a:t>
            </a:r>
          </a:p>
          <a:p>
            <a:pPr lvl="0" indent="0">
              <a:buNone/>
            </a:pPr>
            <a:r>
              <a:rPr>
                <a:latin typeface="Courier"/>
              </a:rPr>
              <a:t>df[</a:t>
            </a:r>
            <a:r>
              <a:rPr>
                <a:solidFill>
                  <a:srgbClr val="4070A0"/>
                </a:solidFill>
                <a:latin typeface="Courier"/>
              </a:rPr>
              <a:t>"age_band"</a:t>
            </a:r>
            <a:r>
              <a:rPr>
                <a:latin typeface="Courier"/>
              </a:rPr>
              <a:t>] </a:t>
            </a:r>
            <a:r>
              <a:rPr>
                <a:solidFill>
                  <a:srgbClr val="666666"/>
                </a:solidFill>
                <a:latin typeface="Courier"/>
              </a:rPr>
              <a:t>=</a:t>
            </a:r>
            <a:r>
              <a:rPr>
                <a:latin typeface="Courier"/>
              </a:rPr>
              <a:t> pd.cut(</a:t>
            </a:r>
            <a:br/>
            <a:r>
              <a:rPr>
                <a:latin typeface="Courier"/>
              </a:rPr>
              <a:t>    df[</a:t>
            </a:r>
            <a:r>
              <a:rPr>
                <a:solidFill>
                  <a:srgbClr val="4070A0"/>
                </a:solidFill>
                <a:latin typeface="Courier"/>
              </a:rPr>
              <a:t>"age"</a:t>
            </a:r>
            <a:r>
              <a:rPr>
                <a:latin typeface="Courier"/>
              </a:rPr>
              <a:t>], [</a:t>
            </a:r>
            <a:r>
              <a:rPr>
                <a:solidFill>
                  <a:srgbClr val="40A070"/>
                </a:solidFill>
                <a:latin typeface="Courier"/>
              </a:rPr>
              <a:t>0</a:t>
            </a:r>
            <a:r>
              <a:rPr>
                <a:latin typeface="Courier"/>
              </a:rPr>
              <a:t>, </a:t>
            </a:r>
            <a:r>
              <a:rPr>
                <a:solidFill>
                  <a:srgbClr val="40A070"/>
                </a:solidFill>
                <a:latin typeface="Courier"/>
              </a:rPr>
              <a:t>18</a:t>
            </a:r>
            <a:r>
              <a:rPr>
                <a:latin typeface="Courier"/>
              </a:rPr>
              <a:t>, </a:t>
            </a:r>
            <a:r>
              <a:rPr>
                <a:solidFill>
                  <a:srgbClr val="40A070"/>
                </a:solidFill>
                <a:latin typeface="Courier"/>
              </a:rPr>
              <a:t>65</a:t>
            </a:r>
            <a:r>
              <a:rPr>
                <a:latin typeface="Courier"/>
              </a:rPr>
              <a:t>, </a:t>
            </a:r>
            <a:r>
              <a:rPr>
                <a:solidFill>
                  <a:srgbClr val="40A070"/>
                </a:solidFill>
                <a:latin typeface="Courier"/>
              </a:rPr>
              <a:t>80</a:t>
            </a:r>
            <a:r>
              <a:rPr>
                <a:latin typeface="Courier"/>
              </a:rPr>
              <a:t>, </a:t>
            </a:r>
            <a:r>
              <a:rPr>
                <a:solidFill>
                  <a:srgbClr val="40A070"/>
                </a:solidFill>
                <a:latin typeface="Courier"/>
              </a:rPr>
              <a:t>120</a:t>
            </a:r>
            <a:r>
              <a:rPr>
                <a:latin typeface="Courier"/>
              </a:rPr>
              <a:t>])</a:t>
            </a:r>
          </a:p>
          <a:p>
            <a:pPr lvl="0"/>
            <a:r>
              <a:rPr/>
              <a:t>Captures a threshold effect a linear term would miss</a:t>
            </a:r>
          </a:p>
          <a:p>
            <a:pPr lvl="0"/>
            <a:r>
              <a:rPr/>
              <a:t>Costs resolution; the cut points are a modelling choice, so justify them</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Binning example</a:t>
            </a:r>
          </a:p>
        </p:txBody>
      </p:sp>
      <p:pic>
        <p:nvPicPr>
          <p:cNvPr descr="img/binn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Polynomial features</a:t>
            </a:r>
          </a:p>
        </p:txBody>
      </p:sp>
      <p:sp>
        <p:nvSpPr>
          <p:cNvPr id="3" name="Content Placeholder 2"/>
          <p:cNvSpPr>
            <a:spLocks noGrp="1"/>
          </p:cNvSpPr>
          <p:nvPr>
            <p:ph idx="1"/>
          </p:nvPr>
        </p:nvSpPr>
        <p:spPr/>
        <p:txBody>
          <a:bodyPr>
            <a:normAutofit/>
          </a:bodyPr>
          <a:lstStyle/>
          <a:p>
            <a:pPr lvl="0" indent="0" marL="0">
              <a:buNone/>
            </a:pPr>
            <a:r>
              <a:rPr/>
              <a:t>Add powers of a variable so a linear model can bend.</a:t>
            </a:r>
          </a:p>
          <a:p>
            <a:pPr lvl="0" indent="0" marL="0">
              <a:buNone/>
            </a:pPr>
            <a:r>
              <a:rPr b="1"/>
              <a:t>Example:</a:t>
            </a:r>
            <a:r>
              <a:rPr/>
              <a:t> in-hospital risk is </a:t>
            </a:r>
            <a:r>
              <a:rPr b="1"/>
              <a:t>U-shaped</a:t>
            </a:r>
            <a:r>
              <a:rPr/>
              <a:t> in age — high for infants, low in mid-life, high again in the elderly. </a:t>
            </a:r>
            <a:r>
              <a:rPr>
                <a:latin typeface="Courier"/>
              </a:rPr>
              <a:t>age</a:t>
            </a:r>
            <a:r>
              <a:rPr/>
              <a:t> alone cannot express that; </a:t>
            </a:r>
            <a:r>
              <a:rPr>
                <a:latin typeface="Courier"/>
              </a:rPr>
              <a:t>age²</a:t>
            </a:r>
            <a:r>
              <a:rPr/>
              <a:t> can.</a:t>
            </a:r>
          </a:p>
          <a:p>
            <a:pPr lvl="0" indent="0">
              <a:buNone/>
            </a:pPr>
            <a:r>
              <a:rPr>
                <a:latin typeface="Courier"/>
              </a:rPr>
              <a:t>PolynomialFeatures(</a:t>
            </a:r>
            <a:r>
              <a:rPr>
                <a:solidFill>
                  <a:srgbClr val="40A070"/>
                </a:solidFill>
                <a:latin typeface="Courier"/>
              </a:rPr>
              <a:t>2</a:t>
            </a:r>
            <a:r>
              <a:rPr>
                <a:latin typeface="Courier"/>
              </a:rPr>
              <a:t>, include_bias</a:t>
            </a:r>
            <a:r>
              <a:rPr>
                <a:solidFill>
                  <a:srgbClr val="666666"/>
                </a:solidFill>
                <a:latin typeface="Courier"/>
              </a:rPr>
              <a:t>=</a:t>
            </a:r>
            <a:r>
              <a:rPr>
                <a:solidFill>
                  <a:srgbClr val="19177C"/>
                </a:solidFill>
                <a:latin typeface="Courier"/>
              </a:rPr>
              <a:t>False</a:t>
            </a:r>
            <a:r>
              <a:rPr>
                <a:latin typeface="Courier"/>
              </a:rPr>
              <a:t>)</a:t>
            </a:r>
          </a:p>
          <a:p>
            <a:pPr lvl="0"/>
            <a:r>
              <a:rPr/>
              <a:t>Standardize first, or the powers dominate</a:t>
            </a:r>
          </a:p>
          <a:p>
            <a:pPr lvl="0"/>
            <a:r>
              <a:rPr/>
              <a:t>Degree 3+ overfits fast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Polynomial features example</a:t>
            </a:r>
          </a:p>
        </p:txBody>
      </p:sp>
      <p:pic>
        <p:nvPicPr>
          <p:cNvPr descr="img/polynomia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Interaction features</a:t>
            </a:r>
          </a:p>
        </p:txBody>
      </p:sp>
      <p:sp>
        <p:nvSpPr>
          <p:cNvPr id="3" name="Content Placeholder 2"/>
          <p:cNvSpPr>
            <a:spLocks noGrp="1"/>
          </p:cNvSpPr>
          <p:nvPr>
            <p:ph idx="1"/>
          </p:nvPr>
        </p:nvSpPr>
        <p:spPr/>
        <p:txBody>
          <a:bodyPr>
            <a:normAutofit/>
          </a:bodyPr>
          <a:lstStyle/>
          <a:p>
            <a:pPr lvl="0" indent="0" marL="0">
              <a:buNone/>
            </a:pPr>
            <a:r>
              <a:rPr/>
              <a:t>The effect of one variable depends on another: give the model the product.</a:t>
            </a:r>
          </a:p>
          <a:p>
            <a:pPr lvl="0" indent="0" marL="0">
              <a:buNone/>
            </a:pPr>
            <a:r>
              <a:rPr b="1"/>
              <a:t>Example:</a:t>
            </a:r>
            <a:r>
              <a:rPr/>
              <a:t> a creatinine of 1.4 is mild in a 30-year-old and alarming in an 85-year-old.</a:t>
            </a:r>
          </a:p>
          <a:p>
            <a:pPr lvl="0" indent="0">
              <a:buNone/>
            </a:pPr>
            <a:r>
              <a:rPr>
                <a:latin typeface="Courier"/>
              </a:rPr>
              <a:t>df[</a:t>
            </a:r>
            <a:r>
              <a:rPr>
                <a:solidFill>
                  <a:srgbClr val="4070A0"/>
                </a:solidFill>
                <a:latin typeface="Courier"/>
              </a:rPr>
              <a:t>"creat_x_age"</a:t>
            </a:r>
            <a:r>
              <a:rPr>
                <a:latin typeface="Courier"/>
              </a:rPr>
              <a:t>] </a:t>
            </a:r>
            <a:r>
              <a:rPr>
                <a:solidFill>
                  <a:srgbClr val="666666"/>
                </a:solidFill>
                <a:latin typeface="Courier"/>
              </a:rPr>
              <a:t>=</a:t>
            </a:r>
            <a:r>
              <a:rPr>
                <a:latin typeface="Courier"/>
              </a:rPr>
              <a:t> df.creatinine </a:t>
            </a:r>
            <a:r>
              <a:rPr>
                <a:solidFill>
                  <a:srgbClr val="666666"/>
                </a:solidFill>
                <a:latin typeface="Courier"/>
              </a:rPr>
              <a:t>*</a:t>
            </a:r>
            <a:r>
              <a:rPr>
                <a:latin typeface="Courier"/>
              </a:rPr>
              <a:t> df.age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Interactions example</a:t>
            </a:r>
          </a:p>
        </p:txBody>
      </p:sp>
      <p:pic>
        <p:nvPicPr>
          <p:cNvPr descr="img/interac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Group-relative features</a:t>
            </a:r>
          </a:p>
        </p:txBody>
      </p:sp>
      <p:sp>
        <p:nvSpPr>
          <p:cNvPr id="3" name="Content Placeholder 2"/>
          <p:cNvSpPr>
            <a:spLocks noGrp="1"/>
          </p:cNvSpPr>
          <p:nvPr>
            <p:ph idx="1"/>
          </p:nvPr>
        </p:nvSpPr>
        <p:spPr/>
        <p:txBody>
          <a:bodyPr>
            <a:normAutofit/>
          </a:bodyPr>
          <a:lstStyle/>
          <a:p>
            <a:pPr lvl="0" indent="0" marL="0">
              <a:buNone/>
            </a:pPr>
            <a:r>
              <a:rPr/>
              <a:t>Compare a value to its group instead of to the whole population.</a:t>
            </a:r>
          </a:p>
          <a:p>
            <a:pPr lvl="0" indent="0" marL="0">
              <a:buNone/>
            </a:pPr>
            <a:r>
              <a:rPr b="1"/>
              <a:t>Example:</a:t>
            </a:r>
            <a:r>
              <a:rPr/>
              <a:t> a heart rate of 95 is unremarkable in the ICU and high on a general ward.</a:t>
            </a:r>
          </a:p>
          <a:p>
            <a:pPr lvl="0" indent="0">
              <a:buNone/>
            </a:pPr>
            <a:r>
              <a:rPr>
                <a:latin typeface="Courier"/>
              </a:rPr>
              <a:t>g  </a:t>
            </a:r>
            <a:r>
              <a:rPr>
                <a:solidFill>
                  <a:srgbClr val="666666"/>
                </a:solidFill>
                <a:latin typeface="Courier"/>
              </a:rPr>
              <a:t>=</a:t>
            </a:r>
            <a:r>
              <a:rPr>
                <a:latin typeface="Courier"/>
              </a:rPr>
              <a:t> df.groupby(</a:t>
            </a:r>
            <a:r>
              <a:rPr>
                <a:solidFill>
                  <a:srgbClr val="4070A0"/>
                </a:solidFill>
                <a:latin typeface="Courier"/>
              </a:rPr>
              <a:t>"ward"</a:t>
            </a:r>
            <a:r>
              <a:rPr>
                <a:latin typeface="Courier"/>
              </a:rPr>
              <a:t>)[</a:t>
            </a:r>
            <a:r>
              <a:rPr>
                <a:solidFill>
                  <a:srgbClr val="4070A0"/>
                </a:solidFill>
                <a:latin typeface="Courier"/>
              </a:rPr>
              <a:t>"heart_rate"</a:t>
            </a:r>
            <a:r>
              <a:rPr>
                <a:latin typeface="Courier"/>
              </a:rPr>
              <a:t>]</a:t>
            </a:r>
            <a:br/>
            <a:r>
              <a:rPr>
                <a:latin typeface="Courier"/>
              </a:rPr>
              <a:t>mu </a:t>
            </a:r>
            <a:r>
              <a:rPr>
                <a:solidFill>
                  <a:srgbClr val="666666"/>
                </a:solidFill>
                <a:latin typeface="Courier"/>
              </a:rPr>
              <a:t>=</a:t>
            </a:r>
            <a:r>
              <a:rPr>
                <a:latin typeface="Courier"/>
              </a:rPr>
              <a:t> g.transform(</a:t>
            </a:r>
            <a:r>
              <a:rPr>
                <a:solidFill>
                  <a:srgbClr val="4070A0"/>
                </a:solidFill>
                <a:latin typeface="Courier"/>
              </a:rPr>
              <a:t>"mean"</a:t>
            </a:r>
            <a:r>
              <a:rPr>
                <a:latin typeface="Courier"/>
              </a:rPr>
              <a:t>)</a:t>
            </a:r>
            <a:br/>
            <a:r>
              <a:rPr>
                <a:latin typeface="Courier"/>
              </a:rPr>
              <a:t>sd </a:t>
            </a:r>
            <a:r>
              <a:rPr>
                <a:solidFill>
                  <a:srgbClr val="666666"/>
                </a:solidFill>
                <a:latin typeface="Courier"/>
              </a:rPr>
              <a:t>=</a:t>
            </a:r>
            <a:r>
              <a:rPr>
                <a:latin typeface="Courier"/>
              </a:rPr>
              <a:t> g.transform(</a:t>
            </a:r>
            <a:r>
              <a:rPr>
                <a:solidFill>
                  <a:srgbClr val="4070A0"/>
                </a:solidFill>
                <a:latin typeface="Courier"/>
              </a:rPr>
              <a:t>"std"</a:t>
            </a:r>
            <a:r>
              <a:rPr>
                <a:latin typeface="Courier"/>
              </a:rPr>
              <a:t>)</a:t>
            </a:r>
            <a:br/>
            <a:r>
              <a:rPr>
                <a:latin typeface="Courier"/>
              </a:rPr>
              <a:t>df[</a:t>
            </a:r>
            <a:r>
              <a:rPr>
                <a:solidFill>
                  <a:srgbClr val="4070A0"/>
                </a:solidFill>
                <a:latin typeface="Courier"/>
              </a:rPr>
              <a:t>"hr_z_ward"</a:t>
            </a:r>
            <a:r>
              <a:rPr>
                <a:latin typeface="Courier"/>
              </a:rPr>
              <a:t>] </a:t>
            </a:r>
            <a:r>
              <a:rPr>
                <a:solidFill>
                  <a:srgbClr val="666666"/>
                </a:solidFill>
                <a:latin typeface="Courier"/>
              </a:rPr>
              <a:t>=</a:t>
            </a:r>
            <a:r>
              <a:rPr>
                <a:latin typeface="Courier"/>
              </a:rPr>
              <a:t> (df.heart_rate </a:t>
            </a:r>
            <a:r>
              <a:rPr>
                <a:solidFill>
                  <a:srgbClr val="666666"/>
                </a:solidFill>
                <a:latin typeface="Courier"/>
              </a:rPr>
              <a:t>-</a:t>
            </a:r>
            <a:r>
              <a:rPr>
                <a:latin typeface="Courier"/>
              </a:rPr>
              <a:t> mu) </a:t>
            </a:r>
            <a:r>
              <a:rPr>
                <a:solidFill>
                  <a:srgbClr val="666666"/>
                </a:solidFill>
                <a:latin typeface="Courier"/>
              </a:rPr>
              <a:t>/</a:t>
            </a:r>
            <a:r>
              <a:rPr>
                <a:latin typeface="Courier"/>
              </a:rPr>
              <a:t> sd</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Group-relative features example</a:t>
            </a:r>
          </a:p>
        </p:txBody>
      </p:sp>
      <p:pic>
        <p:nvPicPr>
          <p:cNvPr descr="img/group_relativ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Learned embeddings</a:t>
            </a:r>
          </a:p>
        </p:txBody>
      </p:sp>
      <p:sp>
        <p:nvSpPr>
          <p:cNvPr id="3" name="Content Placeholder 2"/>
          <p:cNvSpPr>
            <a:spLocks noGrp="1"/>
          </p:cNvSpPr>
          <p:nvPr>
            <p:ph idx="1"/>
          </p:nvPr>
        </p:nvSpPr>
        <p:spPr/>
        <p:txBody>
          <a:bodyPr>
            <a:normAutofit/>
          </a:bodyPr>
          <a:lstStyle/>
          <a:p>
            <a:pPr lvl="0" indent="0" marL="0">
              <a:buNone/>
            </a:pPr>
            <a:r>
              <a:rPr/>
              <a:t>Map a high-cardinality category to a dense vector learned with the model.</a:t>
            </a:r>
          </a:p>
          <a:p>
            <a:pPr lvl="0" indent="0" marL="0">
              <a:buNone/>
            </a:pPr>
            <a:r>
              <a:rPr b="1"/>
              <a:t>Example:</a:t>
            </a:r>
            <a:r>
              <a:rPr/>
              <a:t> 15 000 ICD-10 codes → 32 numbers each, trained jointly with the classifier. Codes with similar outcomes end up close together.</a:t>
            </a:r>
          </a:p>
          <a:p>
            <a:pPr lvl="0" indent="0">
              <a:buNone/>
            </a:pPr>
            <a:r>
              <a:rPr>
                <a:latin typeface="Courier"/>
              </a:rPr>
              <a:t>nn.Embedding(num_embeddings</a:t>
            </a:r>
            <a:r>
              <a:rPr>
                <a:solidFill>
                  <a:srgbClr val="666666"/>
                </a:solidFill>
                <a:latin typeface="Courier"/>
              </a:rPr>
              <a:t>=</a:t>
            </a:r>
            <a:r>
              <a:rPr>
                <a:solidFill>
                  <a:srgbClr val="40A070"/>
                </a:solidFill>
                <a:latin typeface="Courier"/>
              </a:rPr>
              <a:t>15000</a:t>
            </a:r>
            <a:r>
              <a:rPr>
                <a:latin typeface="Courier"/>
              </a:rPr>
              <a:t>,</a:t>
            </a:r>
            <a:br/>
            <a:r>
              <a:rPr>
                <a:latin typeface="Courier"/>
              </a:rPr>
              <a:t>             embedding_dim</a:t>
            </a:r>
            <a:r>
              <a:rPr>
                <a:solidFill>
                  <a:srgbClr val="666666"/>
                </a:solidFill>
                <a:latin typeface="Courier"/>
              </a:rPr>
              <a:t>=</a:t>
            </a:r>
            <a:r>
              <a:rPr>
                <a:solidFill>
                  <a:srgbClr val="40A070"/>
                </a:solidFill>
                <a:latin typeface="Courier"/>
              </a:rPr>
              <a:t>32</a:t>
            </a:r>
            <a:r>
              <a:rPr>
                <a:latin typeface="Courier"/>
              </a:rPr>
              <a:t>)</a:t>
            </a:r>
          </a:p>
          <a:p>
            <a:pPr lvl="0"/>
            <a:r>
              <a:rPr/>
              <a:t>Replaces a 15 000-column one-hot with 32 dense columns</a:t>
            </a:r>
          </a:p>
          <a:p>
            <a:pPr lvl="0"/>
            <a:r>
              <a:rPr/>
              <a:t>The embedding table itself is often worth inspecting</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Embeddings example</a:t>
            </a:r>
          </a:p>
        </p:txBody>
      </p:sp>
      <p:pic>
        <p:nvPicPr>
          <p:cNvPr descr="img/embedd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Representation learning</a:t>
            </a:r>
          </a:p>
        </p:txBody>
      </p:sp>
      <p:sp>
        <p:nvSpPr>
          <p:cNvPr id="3" name="Content Placeholder 2"/>
          <p:cNvSpPr>
            <a:spLocks noGrp="1"/>
          </p:cNvSpPr>
          <p:nvPr>
            <p:ph idx="1"/>
          </p:nvPr>
        </p:nvSpPr>
        <p:spPr/>
        <p:txBody>
          <a:bodyPr>
            <a:normAutofit/>
          </a:bodyPr>
          <a:lstStyle/>
          <a:p>
            <a:pPr lvl="0" indent="0" marL="0">
              <a:buNone/>
            </a:pPr>
            <a:r>
              <a:rPr/>
              <a:t>Stop hand-writing features: a the network learn them from the raw signal.</a:t>
            </a:r>
          </a:p>
          <a:p>
            <a:pPr lvl="0" indent="0" marL="0">
              <a:buNone/>
            </a:pPr>
            <a:r>
              <a:rPr b="1"/>
              <a:t>Example:</a:t>
            </a:r>
            <a:r>
              <a:rPr/>
              <a:t> feed the raw ECG waveform to a 1-D CNN instead of the hand-crafted QRS duration, QT interval, and ST elevation.</a:t>
            </a:r>
          </a:p>
          <a:p>
            <a:pPr lvl="0"/>
            <a:r>
              <a:rPr/>
              <a:t>Wins when the raw signal is rich and the dataset is large</a:t>
            </a:r>
          </a:p>
          <a:p>
            <a:pPr lvl="0"/>
            <a:r>
              <a:rPr/>
              <a:t>You trade interpretability for capacity</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3. Missing data</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Missingness is everywhere</a:t>
            </a:r>
          </a:p>
        </p:txBody>
      </p:sp>
      <p:sp>
        <p:nvSpPr>
          <p:cNvPr id="3" name="Content Placeholder 2"/>
          <p:cNvSpPr>
            <a:spLocks noGrp="1"/>
          </p:cNvSpPr>
          <p:nvPr>
            <p:ph idx="1"/>
          </p:nvPr>
        </p:nvSpPr>
        <p:spPr/>
        <p:txBody>
          <a:bodyPr>
            <a:normAutofit/>
          </a:bodyPr>
          <a:lstStyle/>
          <a:p>
            <a:pPr lvl="0" indent="0" marL="0">
              <a:buNone/>
            </a:pPr>
            <a:r>
              <a:rPr/>
              <a:t>Every real table has holes: a lab that was never ordered, a vital never charted…</a:t>
            </a:r>
          </a:p>
          <a:p>
            <a:pPr lvl="0" indent="0" marL="0">
              <a:buNone/>
            </a:pPr>
            <a:r>
              <a:rPr/>
              <a:t>Three bad reflexes:</a:t>
            </a:r>
          </a:p>
          <a:p>
            <a:pPr lvl="0" indent="-342900" marL="342900">
              <a:buAutoNum type="arabicPeriod"/>
            </a:pPr>
            <a:r>
              <a:rPr/>
              <a:t>Drop the rows → you may drop important information</a:t>
            </a:r>
          </a:p>
          <a:p>
            <a:pPr lvl="0" indent="-342900" marL="342900">
              <a:buAutoNum type="arabicPeriod"/>
            </a:pPr>
            <a:r>
              <a:rPr/>
              <a:t>Fill with 0 → 0 is a </a:t>
            </a:r>
            <a:r>
              <a:rPr i="1"/>
              <a:t>value</a:t>
            </a:r>
            <a:r>
              <a:rPr/>
              <a:t>, and an absurd one</a:t>
            </a:r>
          </a:p>
          <a:p>
            <a:pPr lvl="0" indent="-342900" marL="342900">
              <a:buAutoNum type="arabicPeriod"/>
            </a:pPr>
            <a:r>
              <a:rPr/>
              <a:t>Fill with the mean → the model now sees a fake, over-confident cohort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Three mechanisms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normAutofit/>
                    </a:bodyPr>
                    <a:lstStyle/>
                    <a:p>
                      <a:pPr lvl="0" indent="0" marL="0">
                        <a:buNone/>
                      </a:pPr>
                      <a:r>
                        <a:rPr/>
                        <a:t>Mechanism</a:t>
                      </a:r>
                    </a:p>
                  </a:txBody>
                  <a:tcPr/>
                </a:tc>
                <a:tc>
                  <a:txBody>
                    <a:bodyPr>
                      <a:normAutofit/>
                    </a:bodyPr>
                    <a:lstStyle/>
                    <a:p>
                      <a:pPr lvl="0" indent="0" marL="0">
                        <a:buNone/>
                      </a:pPr>
                      <a:r>
                        <a:rPr/>
                        <a:t>Missingness depends on</a:t>
                      </a:r>
                    </a:p>
                  </a:txBody>
                  <a:tcPr/>
                </a:tc>
              </a:tr>
              <a:tr h="0">
                <a:tc>
                  <a:txBody>
                    <a:bodyPr>
                      <a:normAutofit/>
                    </a:bodyPr>
                    <a:lstStyle/>
                    <a:p>
                      <a:pPr lvl="0" indent="0" marL="0">
                        <a:buNone/>
                      </a:pPr>
                      <a:r>
                        <a:rPr b="1"/>
                        <a:t>MCAR</a:t>
                      </a:r>
                    </a:p>
                  </a:txBody>
                </a:tc>
                <a:tc>
                  <a:txBody>
                    <a:bodyPr>
                      <a:normAutofit/>
                    </a:bodyPr>
                    <a:lstStyle/>
                    <a:p>
                      <a:pPr lvl="0" indent="0" marL="0">
                        <a:buNone/>
                      </a:pPr>
                      <a:r>
                        <a:rPr/>
                        <a:t>nothing</a:t>
                      </a:r>
                    </a:p>
                  </a:txBody>
                </a:tc>
              </a:tr>
              <a:tr h="0">
                <a:tc>
                  <a:txBody>
                    <a:bodyPr>
                      <a:normAutofit/>
                    </a:bodyPr>
                    <a:lstStyle/>
                    <a:p>
                      <a:pPr lvl="0" indent="0" marL="0">
                        <a:buNone/>
                      </a:pPr>
                      <a:r>
                        <a:rPr b="1"/>
                        <a:t>MAR</a:t>
                      </a:r>
                    </a:p>
                  </a:txBody>
                </a:tc>
                <a:tc>
                  <a:txBody>
                    <a:bodyPr>
                      <a:normAutofit/>
                    </a:bodyPr>
                    <a:lstStyle/>
                    <a:p>
                      <a:pPr lvl="0" indent="0" marL="0">
                        <a:buNone/>
                      </a:pPr>
                      <a:r>
                        <a:rPr/>
                        <a:t>the </a:t>
                      </a:r>
                      <a:r>
                        <a:rPr b="1"/>
                        <a:t>observed</a:t>
                      </a:r>
                      <a:r>
                        <a:rPr/>
                        <a:t> data</a:t>
                      </a:r>
                    </a:p>
                  </a:txBody>
                </a:tc>
              </a:tr>
              <a:tr h="0">
                <a:tc>
                  <a:txBody>
                    <a:bodyPr>
                      <a:normAutofit/>
                    </a:bodyPr>
                    <a:lstStyle/>
                    <a:p>
                      <a:pPr lvl="0" indent="0" marL="0">
                        <a:buNone/>
                      </a:pPr>
                      <a:r>
                        <a:rPr b="1"/>
                        <a:t>MNAR</a:t>
                      </a:r>
                    </a:p>
                  </a:txBody>
                </a:tc>
                <a:tc>
                  <a:txBody>
                    <a:bodyPr>
                      <a:normAutofit/>
                    </a:bodyPr>
                    <a:lstStyle/>
                    <a:p>
                      <a:pPr lvl="0" indent="0" marL="0">
                        <a:buNone/>
                      </a:pPr>
                      <a:r>
                        <a:rPr/>
                        <a:t>the </a:t>
                      </a:r>
                      <a:r>
                        <a:rPr b="1"/>
                        <a:t>missing value itself</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MCAR — missing completely at random</a:t>
            </a:r>
          </a:p>
        </p:txBody>
      </p:sp>
      <p:sp>
        <p:nvSpPr>
          <p:cNvPr id="3" name="Content Placeholder 2"/>
          <p:cNvSpPr>
            <a:spLocks noGrp="1"/>
          </p:cNvSpPr>
          <p:nvPr>
            <p:ph idx="1"/>
          </p:nvPr>
        </p:nvSpPr>
        <p:spPr/>
        <p:txBody>
          <a:bodyPr>
            <a:normAutofit/>
          </a:bodyPr>
          <a:lstStyle/>
          <a:p>
            <a:pPr lvl="0" indent="0" marL="0">
              <a:buNone/>
            </a:pPr>
            <a:r>
              <a:rPr>
                <a:latin typeface="Courier"/>
              </a:rPr>
              <a:t>P(missing)</a:t>
            </a:r>
            <a:r>
              <a:rPr/>
              <a:t> depends on </a:t>
            </a:r>
            <a:r>
              <a:rPr b="1"/>
              <a:t>nothing</a:t>
            </a:r>
            <a:r>
              <a:rPr/>
              <a:t>.</a:t>
            </a:r>
          </a:p>
          <a:p>
            <a:pPr lvl="0"/>
            <a:r>
              <a:rPr b="1"/>
              <a:t>Example:</a:t>
            </a:r>
            <a:r>
              <a:rPr/>
              <a:t> a lab analyser broke down for two days; a tube was dropped</a:t>
            </a:r>
          </a:p>
          <a:p>
            <a:pPr lvl="0"/>
            <a:r>
              <a:rPr/>
              <a:t>The observed rows are a </a:t>
            </a:r>
            <a:r>
              <a:rPr b="1"/>
              <a:t>random sample</a:t>
            </a:r>
            <a:r>
              <a:rPr/>
              <a:t> of all rows</a:t>
            </a:r>
          </a:p>
          <a:p>
            <a:pPr lvl="0"/>
            <a:r>
              <a:rPr/>
              <a:t>Deleting rows loses power but does </a:t>
            </a:r>
            <a:r>
              <a:rPr b="1"/>
              <a:t>not</a:t>
            </a:r>
            <a:r>
              <a:rPr/>
              <a:t> bias estimates</a:t>
            </a:r>
          </a:p>
          <a:p>
            <a:pPr lvl="0"/>
            <a:r>
              <a:rPr/>
              <a:t>Rare in practice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MAR — missing at random</a:t>
            </a:r>
          </a:p>
        </p:txBody>
      </p:sp>
      <p:sp>
        <p:nvSpPr>
          <p:cNvPr id="3" name="Content Placeholder 2"/>
          <p:cNvSpPr>
            <a:spLocks noGrp="1"/>
          </p:cNvSpPr>
          <p:nvPr>
            <p:ph idx="1"/>
          </p:nvPr>
        </p:nvSpPr>
        <p:spPr/>
        <p:txBody>
          <a:bodyPr>
            <a:normAutofit/>
          </a:bodyPr>
          <a:lstStyle/>
          <a:p>
            <a:pPr lvl="0" indent="0" marL="0">
              <a:buNone/>
            </a:pPr>
            <a:r>
              <a:rPr>
                <a:latin typeface="Courier"/>
              </a:rPr>
              <a:t>P(missing)</a:t>
            </a:r>
            <a:r>
              <a:rPr/>
              <a:t> depends only on the </a:t>
            </a:r>
            <a:r>
              <a:rPr b="1"/>
              <a:t>observed</a:t>
            </a:r>
            <a:r>
              <a:rPr/>
              <a:t> variables.</a:t>
            </a:r>
          </a:p>
          <a:p>
            <a:pPr lvl="0"/>
            <a:r>
              <a:rPr b="1"/>
              <a:t>Example:</a:t>
            </a:r>
            <a:r>
              <a:rPr/>
              <a:t> troponin is ordered mostly for patients over 60 with chest pain</a:t>
            </a:r>
          </a:p>
          <a:p>
            <a:pPr lvl="1" indent="0" marL="342900">
              <a:buNone/>
            </a:pPr>
            <a:r>
              <a:rPr/>
              <a:t>→ missingness depends on </a:t>
            </a:r>
            <a:r>
              <a:rPr>
                <a:latin typeface="Courier"/>
              </a:rPr>
              <a:t>age</a:t>
            </a:r>
            <a:r>
              <a:rPr/>
              <a:t> and </a:t>
            </a:r>
            <a:r>
              <a:rPr>
                <a:latin typeface="Courier"/>
              </a:rPr>
              <a:t>symptom</a:t>
            </a:r>
            <a:r>
              <a:rPr/>
              <a:t>, both of which you </a:t>
            </a:r>
            <a:r>
              <a:rPr i="1"/>
              <a:t>have</a:t>
            </a:r>
          </a:p>
          <a:p>
            <a:pPr lvl="0"/>
            <a:r>
              <a:rPr/>
              <a:t>Given age and symptom, the missing troponins are random</a:t>
            </a:r>
          </a:p>
          <a:p>
            <a:pPr lvl="0"/>
            <a:r>
              <a:rPr b="1"/>
              <a:t>Good news:</a:t>
            </a:r>
            <a:r>
              <a:rPr/>
              <a:t> conditioning on the observed data fixes it</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MNAR — missing not at random</a:t>
            </a:r>
          </a:p>
        </p:txBody>
      </p:sp>
      <p:sp>
        <p:nvSpPr>
          <p:cNvPr id="3" name="Content Placeholder 2"/>
          <p:cNvSpPr>
            <a:spLocks noGrp="1"/>
          </p:cNvSpPr>
          <p:nvPr>
            <p:ph idx="1"/>
          </p:nvPr>
        </p:nvSpPr>
        <p:spPr/>
        <p:txBody>
          <a:bodyPr>
            <a:normAutofit/>
          </a:bodyPr>
          <a:lstStyle/>
          <a:p>
            <a:pPr lvl="0" indent="0" marL="0">
              <a:buNone/>
            </a:pPr>
            <a:r>
              <a:rPr>
                <a:latin typeface="Courier"/>
              </a:rPr>
              <a:t>P(missing)</a:t>
            </a:r>
            <a:r>
              <a:rPr/>
              <a:t> depends on the </a:t>
            </a:r>
            <a:r>
              <a:rPr b="1"/>
              <a:t>unobserved value itself</a:t>
            </a:r>
            <a:r>
              <a:rPr/>
              <a:t>.</a:t>
            </a:r>
          </a:p>
          <a:p>
            <a:pPr lvl="0"/>
            <a:r>
              <a:rPr b="1"/>
              <a:t>Example:</a:t>
            </a:r>
            <a:r>
              <a:rPr/>
              <a:t> the 6-minute walk test is missing because the patient was </a:t>
            </a:r>
            <a:r>
              <a:rPr b="1"/>
              <a:t>too sick to walk</a:t>
            </a:r>
          </a:p>
          <a:p>
            <a:pPr lvl="0"/>
            <a:r>
              <a:rPr b="1"/>
              <a:t>Example:</a:t>
            </a:r>
            <a:r>
              <a:rPr/>
              <a:t> income missing precisely for the highest earners</a:t>
            </a:r>
          </a:p>
          <a:p>
            <a:pPr lvl="0"/>
            <a:r>
              <a:rPr b="1"/>
              <a:t>No imputation can recover this from the data alone</a:t>
            </a:r>
            <a:r>
              <a:rPr/>
              <a:t>: you need domain knowledge, an explicit model of the missingness, or a sensitivity analysis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three mechanisms</a:t>
            </a:r>
          </a:p>
        </p:txBody>
      </p:sp>
      <p:pic>
        <p:nvPicPr>
          <p:cNvPr descr="img/mechanism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Test the mechanism?</a:t>
            </a:r>
          </a:p>
        </p:txBody>
      </p:sp>
      <p:sp>
        <p:nvSpPr>
          <p:cNvPr id="3" name="Content Placeholder 2"/>
          <p:cNvSpPr>
            <a:spLocks noGrp="1"/>
          </p:cNvSpPr>
          <p:nvPr>
            <p:ph idx="1"/>
          </p:nvPr>
        </p:nvSpPr>
        <p:spPr/>
        <p:txBody>
          <a:bodyPr>
            <a:normAutofit/>
          </a:bodyPr>
          <a:lstStyle/>
          <a:p>
            <a:pPr lvl="0" indent="0" marL="0">
              <a:buNone/>
            </a:pPr>
            <a:r>
              <a:rPr/>
              <a:t>MCAR vs MAR is </a:t>
            </a:r>
            <a:r>
              <a:rPr b="1"/>
              <a:t>testable-ish</a:t>
            </a:r>
            <a:r>
              <a:rPr/>
              <a:t>: does missingness relate to observed columns?</a:t>
            </a:r>
          </a:p>
          <a:p>
            <a:pPr lvl="0" indent="0">
              <a:buNone/>
            </a:pPr>
            <a:r>
              <a:rPr>
                <a:latin typeface="Courier"/>
              </a:rPr>
              <a:t>m </a:t>
            </a:r>
            <a:r>
              <a:rPr>
                <a:solidFill>
                  <a:srgbClr val="666666"/>
                </a:solidFill>
                <a:latin typeface="Courier"/>
              </a:rPr>
              <a:t>=</a:t>
            </a:r>
            <a:r>
              <a:rPr>
                <a:latin typeface="Courier"/>
              </a:rPr>
              <a:t> df[</a:t>
            </a:r>
            <a:r>
              <a:rPr>
                <a:solidFill>
                  <a:srgbClr val="4070A0"/>
                </a:solidFill>
                <a:latin typeface="Courier"/>
              </a:rPr>
              <a:t>"creatinine"</a:t>
            </a:r>
            <a:r>
              <a:rPr>
                <a:latin typeface="Courier"/>
              </a:rPr>
              <a:t>].isna()</a:t>
            </a:r>
            <a:br/>
            <a:r>
              <a:rPr>
                <a:latin typeface="Courier"/>
              </a:rPr>
              <a:t>df.groupby(m)[[</a:t>
            </a:r>
            <a:r>
              <a:rPr>
                <a:solidFill>
                  <a:srgbClr val="4070A0"/>
                </a:solidFill>
                <a:latin typeface="Courier"/>
              </a:rPr>
              <a:t>"age"</a:t>
            </a:r>
            <a:r>
              <a:rPr>
                <a:latin typeface="Courier"/>
              </a:rPr>
              <a:t>, </a:t>
            </a:r>
            <a:r>
              <a:rPr>
                <a:solidFill>
                  <a:srgbClr val="4070A0"/>
                </a:solidFill>
                <a:latin typeface="Courier"/>
              </a:rPr>
              <a:t>"heart_rate"</a:t>
            </a:r>
            <a:r>
              <a:rPr>
                <a:latin typeface="Courier"/>
              </a:rPr>
              <a:t>]].mean()</a:t>
            </a:r>
          </a:p>
          <a:p>
            <a:pPr lvl="0"/>
            <a:r>
              <a:rPr/>
              <a:t>MAR vs MNAR is </a:t>
            </a:r>
            <a:r>
              <a:rPr b="1"/>
              <a:t>not testable</a:t>
            </a:r>
            <a:r>
              <a:rPr/>
              <a:t> (the evidence is, by definition, missing)</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Imputation strategies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normAutofit/>
                    </a:bodyPr>
                    <a:lstStyle/>
                    <a:p>
                      <a:pPr lvl="0" indent="0" marL="0">
                        <a:buNone/>
                      </a:pPr>
                      <a:r>
                        <a:rPr/>
                        <a:t>Strategy</a:t>
                      </a:r>
                    </a:p>
                  </a:txBody>
                  <a:tcPr/>
                </a:tc>
                <a:tc>
                  <a:txBody>
                    <a:bodyPr>
                      <a:normAutofit/>
                    </a:bodyPr>
                    <a:lstStyle/>
                    <a:p>
                      <a:pPr lvl="0" indent="0" marL="0">
                        <a:buNone/>
                      </a:pPr>
                      <a:r>
                        <a:rPr/>
                        <a:t>Use when</a:t>
                      </a:r>
                    </a:p>
                  </a:txBody>
                  <a:tcPr/>
                </a:tc>
                <a:tc>
                  <a:txBody>
                    <a:bodyPr>
                      <a:normAutofit/>
                    </a:bodyPr>
                    <a:lstStyle/>
                    <a:p>
                      <a:pPr lvl="0" indent="0" marL="0">
                        <a:buNone/>
                      </a:pPr>
                      <a:r>
                        <a:rPr/>
                        <a:t>Risk</a:t>
                      </a:r>
                    </a:p>
                  </a:txBody>
                  <a:tcPr/>
                </a:tc>
              </a:tr>
              <a:tr h="0">
                <a:tc>
                  <a:txBody>
                    <a:bodyPr>
                      <a:normAutofit/>
                    </a:bodyPr>
                    <a:lstStyle/>
                    <a:p>
                      <a:pPr lvl="0" indent="0" marL="0">
                        <a:buNone/>
                      </a:pPr>
                      <a:r>
                        <a:rPr/>
                        <a:t>Drop rows</a:t>
                      </a:r>
                    </a:p>
                  </a:txBody>
                </a:tc>
                <a:tc>
                  <a:txBody>
                    <a:bodyPr>
                      <a:normAutofit/>
                    </a:bodyPr>
                    <a:lstStyle/>
                    <a:p>
                      <a:pPr lvl="0" indent="0" marL="0">
                        <a:buNone/>
                      </a:pPr>
                      <a:r>
                        <a:rPr/>
                        <a:t>MCAR, few rows</a:t>
                      </a:r>
                    </a:p>
                  </a:txBody>
                </a:tc>
                <a:tc>
                  <a:txBody>
                    <a:bodyPr>
                      <a:normAutofit/>
                    </a:bodyPr>
                    <a:lstStyle/>
                    <a:p>
                      <a:pPr lvl="0" indent="0" marL="0">
                        <a:buNone/>
                      </a:pPr>
                      <a:r>
                        <a:rPr/>
                        <a:t>Bias if not MCAR, power loss</a:t>
                      </a:r>
                    </a:p>
                  </a:txBody>
                </a:tc>
              </a:tr>
              <a:tr h="0">
                <a:tc>
                  <a:txBody>
                    <a:bodyPr>
                      <a:normAutofit/>
                    </a:bodyPr>
                    <a:lstStyle/>
                    <a:p>
                      <a:pPr lvl="0" indent="0" marL="0">
                        <a:buNone/>
                      </a:pPr>
                      <a:r>
                        <a:rPr/>
                        <a:t>Drop column</a:t>
                      </a:r>
                    </a:p>
                  </a:txBody>
                </a:tc>
                <a:tc>
                  <a:txBody>
                    <a:bodyPr>
                      <a:normAutofit/>
                    </a:bodyPr>
                    <a:lstStyle/>
                    <a:p>
                      <a:pPr lvl="0" indent="0" marL="0">
                        <a:buNone/>
                      </a:pPr>
                      <a:r>
                        <a:rPr/>
                        <a:t>&gt; ~50% missing, low value</a:t>
                      </a:r>
                    </a:p>
                  </a:txBody>
                </a:tc>
                <a:tc>
                  <a:txBody>
                    <a:bodyPr>
                      <a:normAutofit/>
                    </a:bodyPr>
                    <a:lstStyle/>
                    <a:p>
                      <a:pPr lvl="0" indent="0" marL="0">
                        <a:buNone/>
                      </a:pPr>
                      <a:r>
                        <a:rPr/>
                        <a:t>Loses a real signal</a:t>
                      </a:r>
                    </a:p>
                  </a:txBody>
                </a:tc>
              </a:tr>
              <a:tr h="0">
                <a:tc>
                  <a:txBody>
                    <a:bodyPr>
                      <a:normAutofit/>
                    </a:bodyPr>
                    <a:lstStyle/>
                    <a:p>
                      <a:pPr lvl="0" indent="0" marL="0">
                        <a:buNone/>
                      </a:pPr>
                      <a:r>
                        <a:rPr/>
                        <a:t>Mean / median</a:t>
                      </a:r>
                    </a:p>
                  </a:txBody>
                </a:tc>
                <a:tc>
                  <a:txBody>
                    <a:bodyPr>
                      <a:normAutofit/>
                    </a:bodyPr>
                    <a:lstStyle/>
                    <a:p>
                      <a:pPr lvl="0" indent="0" marL="0">
                        <a:buNone/>
                      </a:pPr>
                      <a:r>
                        <a:rPr/>
                        <a:t>Quick baseline</a:t>
                      </a:r>
                    </a:p>
                  </a:txBody>
                </a:tc>
                <a:tc>
                  <a:txBody>
                    <a:bodyPr>
                      <a:normAutofit/>
                    </a:bodyPr>
                    <a:lstStyle/>
                    <a:p>
                      <a:pPr lvl="0" indent="0" marL="0">
                        <a:buNone/>
                      </a:pPr>
                      <a:r>
                        <a:rPr/>
                        <a:t>Shrinks variance, distorts correlations</a:t>
                      </a:r>
                    </a:p>
                  </a:txBody>
                </a:tc>
              </a:tr>
              <a:tr h="0">
                <a:tc>
                  <a:txBody>
                    <a:bodyPr>
                      <a:normAutofit/>
                    </a:bodyPr>
                    <a:lstStyle/>
                    <a:p>
                      <a:pPr lvl="0" indent="0" marL="0">
                        <a:buNone/>
                      </a:pPr>
                      <a:r>
                        <a:rPr/>
                        <a:t>LOCF / interpolate</a:t>
                      </a:r>
                    </a:p>
                  </a:txBody>
                </a:tc>
                <a:tc>
                  <a:txBody>
                    <a:bodyPr>
                      <a:normAutofit/>
                    </a:bodyPr>
                    <a:lstStyle/>
                    <a:p>
                      <a:pPr lvl="0" indent="0" marL="0">
                        <a:buNone/>
                      </a:pPr>
                      <a:r>
                        <a:rPr/>
                        <a:t>Time series, dense</a:t>
                      </a:r>
                    </a:p>
                  </a:txBody>
                </a:tc>
                <a:tc>
                  <a:txBody>
                    <a:bodyPr>
                      <a:normAutofit/>
                    </a:bodyPr>
                    <a:lstStyle/>
                    <a:p>
                      <a:pPr lvl="0" indent="0" marL="0">
                        <a:buNone/>
                      </a:pPr>
                      <a:r>
                        <a:rPr/>
                        <a:t>Fakes stability, hides trends</a:t>
                      </a:r>
                    </a:p>
                  </a:txBody>
                </a:tc>
              </a:tr>
              <a:tr h="0">
                <a:tc>
                  <a:txBody>
                    <a:bodyPr>
                      <a:normAutofit/>
                    </a:bodyPr>
                    <a:lstStyle/>
                    <a:p>
                      <a:pPr lvl="0" indent="0" marL="0">
                        <a:buNone/>
                      </a:pPr>
                      <a:r>
                        <a:rPr/>
                        <a:t>kNN</a:t>
                      </a:r>
                    </a:p>
                  </a:txBody>
                </a:tc>
                <a:tc>
                  <a:txBody>
                    <a:bodyPr>
                      <a:normAutofit/>
                    </a:bodyPr>
                    <a:lstStyle/>
                    <a:p>
                      <a:pPr lvl="0" indent="0" marL="0">
                        <a:buNone/>
                      </a:pPr>
                      <a:r>
                        <a:rPr/>
                        <a:t>Few features, MAR</a:t>
                      </a:r>
                    </a:p>
                  </a:txBody>
                </a:tc>
                <a:tc>
                  <a:txBody>
                    <a:bodyPr>
                      <a:normAutofit/>
                    </a:bodyPr>
                    <a:lstStyle/>
                    <a:p>
                      <a:pPr lvl="0" indent="0" marL="0">
                        <a:buNone/>
                      </a:pPr>
                      <a:r>
                        <a:rPr/>
                        <a:t>Cost, scaling-sensitive</a:t>
                      </a:r>
                    </a:p>
                  </a:txBody>
                </a:tc>
              </a:tr>
              <a:tr h="0">
                <a:tc>
                  <a:txBody>
                    <a:bodyPr>
                      <a:normAutofit/>
                    </a:bodyPr>
                    <a:lstStyle/>
                    <a:p>
                      <a:pPr lvl="0" indent="0" marL="0">
                        <a:buNone/>
                      </a:pPr>
                      <a:r>
                        <a:rPr/>
                        <a:t>Iterative (MICE)</a:t>
                      </a:r>
                    </a:p>
                  </a:txBody>
                </a:tc>
                <a:tc>
                  <a:txBody>
                    <a:bodyPr>
                      <a:normAutofit/>
                    </a:bodyPr>
                    <a:lstStyle/>
                    <a:p>
                      <a:pPr lvl="0" indent="0" marL="0">
                        <a:buNone/>
                      </a:pPr>
                      <a:r>
                        <a:rPr/>
                        <a:t>MAR, many features</a:t>
                      </a:r>
                    </a:p>
                  </a:txBody>
                </a:tc>
                <a:tc>
                  <a:txBody>
                    <a:bodyPr>
                      <a:normAutofit/>
                    </a:bodyPr>
                    <a:lstStyle/>
                    <a:p>
                      <a:pPr lvl="0" indent="0" marL="0">
                        <a:buNone/>
                      </a:pPr>
                      <a:r>
                        <a:rPr/>
                        <a:t>Slower, must fit on train only</a:t>
                      </a:r>
                    </a:p>
                  </a:txBody>
                </a:tc>
              </a:tr>
              <a:tr h="0">
                <a:tc>
                  <a:txBody>
                    <a:bodyPr>
                      <a:normAutofit/>
                    </a:bodyPr>
                    <a:lstStyle/>
                    <a:p>
                      <a:pPr lvl="0" indent="0" marL="0">
                        <a:buNone/>
                      </a:pPr>
                      <a:r>
                        <a:rPr/>
                        <a:t>Model-native</a:t>
                      </a:r>
                    </a:p>
                  </a:txBody>
                </a:tc>
                <a:tc>
                  <a:txBody>
                    <a:bodyPr>
                      <a:normAutofit/>
                    </a:bodyPr>
                    <a:lstStyle/>
                    <a:p>
                      <a:pPr lvl="0" indent="0" marL="0">
                        <a:buNone/>
                      </a:pPr>
                      <a:r>
                        <a:rPr/>
                        <a:t>Trees, LightGBM/XGBoost</a:t>
                      </a:r>
                    </a:p>
                  </a:txBody>
                </a:tc>
                <a:tc>
                  <a:txBody>
                    <a:bodyPr>
                      <a:normAutofit/>
                    </a:bodyPr>
                    <a:lstStyle/>
                    <a:p>
                      <a:pPr lvl="0" indent="0" marL="0">
                        <a:buNone/>
                      </a:pPr>
                      <a:r>
                        <a:rPr/>
                        <a:t>Only some learners</a:t>
                      </a:r>
                    </a:p>
                  </a:txBody>
                </a:tc>
              </a:tr>
            </a:tbl>
          </a:graphicData>
        </a:graphic>
      </p:graphicFrame>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Simple imputation in code</a:t>
            </a:r>
          </a:p>
        </p:txBody>
      </p:sp>
      <p:sp>
        <p:nvSpPr>
          <p:cNvPr id="3" name="Content Placeholder 2"/>
          <p:cNvSpPr>
            <a:spLocks noGrp="1"/>
          </p:cNvSpPr>
          <p:nvPr>
            <p:ph idx="1"/>
          </p:nvPr>
        </p:nvSpPr>
        <p:spPr/>
        <p:txBody>
          <a:bodyPr>
            <a:normAutofit/>
          </a:bodyPr>
          <a:lstStyle/>
          <a:p>
            <a:pPr lvl="0" indent="0">
              <a:buNone/>
            </a:pPr>
            <a:r>
              <a:rPr b="1">
                <a:solidFill>
                  <a:srgbClr val="008000"/>
                </a:solidFill>
                <a:latin typeface="Courier"/>
              </a:rPr>
              <a:t>from</a:t>
            </a:r>
            <a:r>
              <a:rPr>
                <a:latin typeface="Courier"/>
              </a:rPr>
              <a:t> sklearn.impute </a:t>
            </a:r>
            <a:r>
              <a:rPr b="1">
                <a:solidFill>
                  <a:srgbClr val="008000"/>
                </a:solidFill>
                <a:latin typeface="Courier"/>
              </a:rPr>
              <a:t>import</a:t>
            </a:r>
            <a:r>
              <a:rPr>
                <a:latin typeface="Courier"/>
              </a:rPr>
              <a:t> SimpleImputer</a:t>
            </a:r>
            <a:br/>
            <a:br/>
            <a:r>
              <a:rPr>
                <a:latin typeface="Courier"/>
              </a:rPr>
              <a:t>pipe </a:t>
            </a:r>
            <a:r>
              <a:rPr>
                <a:solidFill>
                  <a:srgbClr val="666666"/>
                </a:solidFill>
                <a:latin typeface="Courier"/>
              </a:rPr>
              <a:t>=</a:t>
            </a:r>
            <a:r>
              <a:rPr>
                <a:latin typeface="Courier"/>
              </a:rPr>
              <a:t> make_pipeline(</a:t>
            </a:r>
            <a:br/>
            <a:r>
              <a:rPr>
                <a:latin typeface="Courier"/>
              </a:rPr>
              <a:t>    SimpleImputer(strategy</a:t>
            </a:r>
            <a:r>
              <a:rPr>
                <a:solidFill>
                  <a:srgbClr val="666666"/>
                </a:solidFill>
                <a:latin typeface="Courier"/>
              </a:rPr>
              <a:t>=</a:t>
            </a:r>
            <a:r>
              <a:rPr>
                <a:solidFill>
                  <a:srgbClr val="4070A0"/>
                </a:solidFill>
                <a:latin typeface="Courier"/>
              </a:rPr>
              <a:t>"median"</a:t>
            </a:r>
            <a:r>
              <a:rPr>
                <a:latin typeface="Courier"/>
              </a:rPr>
              <a:t>,</a:t>
            </a:r>
            <a:br/>
            <a:r>
              <a:rPr>
                <a:latin typeface="Courier"/>
              </a:rPr>
              <a:t>                  add_indicator</a:t>
            </a:r>
            <a:r>
              <a:rPr>
                <a:solidFill>
                  <a:srgbClr val="666666"/>
                </a:solidFill>
                <a:latin typeface="Courier"/>
              </a:rPr>
              <a:t>=</a:t>
            </a:r>
            <a:r>
              <a:rPr>
                <a:solidFill>
                  <a:srgbClr val="19177C"/>
                </a:solidFill>
                <a:latin typeface="Courier"/>
              </a:rPr>
              <a:t>True</a:t>
            </a:r>
            <a:r>
              <a:rPr>
                <a:latin typeface="Courier"/>
              </a:rPr>
              <a:t>),</a:t>
            </a:r>
            <a:br/>
            <a:r>
              <a:rPr>
                <a:latin typeface="Courier"/>
              </a:rPr>
              <a:t>    StandardScaler(),</a:t>
            </a:r>
            <a:br/>
            <a:r>
              <a:rPr>
                <a:latin typeface="Courier"/>
              </a:rPr>
              <a:t>    LogisticRegression(),</a:t>
            </a:r>
            <a:br/>
            <a:r>
              <a:rPr>
                <a:latin typeface="Courier"/>
              </a:rPr>
              <a:t>)</a:t>
            </a:r>
          </a:p>
          <a:p>
            <a:pPr lvl="0"/>
            <a:r>
              <a:rPr/>
              <a:t>Imputation is a </a:t>
            </a:r>
            <a:r>
              <a:rPr b="1"/>
              <a:t>fitted transform</a:t>
            </a:r>
            <a:r>
              <a:rPr/>
              <a:t>: it learns the medians</a:t>
            </a:r>
          </a:p>
          <a:p>
            <a:pPr lvl="0"/>
            <a:r>
              <a:rPr/>
              <a:t>Put it in the </a:t>
            </a:r>
            <a:r>
              <a:rPr b="1"/>
              <a:t>pipeline</a:t>
            </a:r>
            <a:r>
              <a:rPr/>
              <a:t>, so it is refit inside every CV fold</a:t>
            </a:r>
          </a:p>
          <a:p>
            <a:pPr lvl="0"/>
            <a:r>
              <a:rPr>
                <a:latin typeface="Courier"/>
              </a:rPr>
              <a:t>add_indicator=True</a:t>
            </a:r>
            <a:r>
              <a:rPr/>
              <a:t> gives you the missingness flag for free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What mean imputation does to the data</a:t>
            </a:r>
          </a:p>
        </p:txBody>
      </p:sp>
      <p:pic>
        <p:nvPicPr>
          <p:cNvPr descr="img/mean_imput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Single imputation is not enough</a:t>
            </a:r>
          </a:p>
        </p:txBody>
      </p:sp>
      <p:sp>
        <p:nvSpPr>
          <p:cNvPr id="3" name="Content Placeholder 2"/>
          <p:cNvSpPr>
            <a:spLocks noGrp="1"/>
          </p:cNvSpPr>
          <p:nvPr>
            <p:ph idx="1"/>
          </p:nvPr>
        </p:nvSpPr>
        <p:spPr/>
        <p:txBody>
          <a:bodyPr>
            <a:normAutofit/>
          </a:bodyPr>
          <a:lstStyle/>
          <a:p>
            <a:pPr lvl="0" indent="0" marL="0">
              <a:buNone/>
            </a:pPr>
            <a:r>
              <a:rPr/>
              <a:t>You filled in a number and then </a:t>
            </a:r>
            <a:r>
              <a:rPr b="1"/>
              <a:t>pretended you had measured it</a:t>
            </a:r>
            <a:r>
              <a:rPr/>
              <a:t>.</a:t>
            </a:r>
          </a:p>
          <a:p>
            <a:pPr lvl="0"/>
            <a:r>
              <a:rPr/>
              <a:t>The point estimate can be fine</a:t>
            </a:r>
          </a:p>
          <a:p>
            <a:pPr lvl="0"/>
            <a:r>
              <a:rPr/>
              <a:t>The </a:t>
            </a:r>
            <a:r>
              <a:rPr b="1"/>
              <a:t>standard errors are too small</a:t>
            </a:r>
            <a:r>
              <a:rPr/>
              <a:t>: the model has no idea the value was invented</a:t>
            </a:r>
          </a:p>
          <a:p>
            <a:pPr lvl="0"/>
            <a:r>
              <a:rPr/>
              <a:t>Consequence: over-confident intervals, over-confident p-values</a:t>
            </a:r>
          </a:p>
          <a:p>
            <a:pPr lvl="0" indent="0" marL="0">
              <a:buNone/>
            </a:pPr>
            <a:r>
              <a:rPr b="1"/>
              <a:t>Multiple imputation</a:t>
            </a:r>
            <a:r>
              <a:rPr/>
              <a:t> puts that uncertainty back in.</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Multiple imputation (MICE)</a:t>
            </a:r>
          </a:p>
        </p:txBody>
      </p:sp>
      <p:sp>
        <p:nvSpPr>
          <p:cNvPr id="3" name="Content Placeholder 2"/>
          <p:cNvSpPr>
            <a:spLocks noGrp="1"/>
          </p:cNvSpPr>
          <p:nvPr>
            <p:ph idx="1"/>
          </p:nvPr>
        </p:nvSpPr>
        <p:spPr/>
        <p:txBody>
          <a:bodyPr>
            <a:normAutofit/>
          </a:bodyPr>
          <a:lstStyle/>
          <a:p>
            <a:pPr lvl="0" indent="-342900" marL="342900">
              <a:buAutoNum type="arabicPeriod"/>
            </a:pPr>
            <a:r>
              <a:rPr b="1"/>
              <a:t>Impute:</a:t>
            </a:r>
            <a:r>
              <a:rPr/>
              <a:t> build m complete datasets (typically m = 5 to 20), each drawing plausible values for a missing column from a model of that column given all the others</a:t>
            </a:r>
          </a:p>
          <a:p>
            <a:pPr lvl="0" indent="-342900" marL="342900">
              <a:buAutoNum type="arabicPeriod"/>
            </a:pPr>
            <a:r>
              <a:rPr b="1"/>
              <a:t>Analyse:</a:t>
            </a:r>
            <a:r>
              <a:rPr/>
              <a:t> run your full analysis </a:t>
            </a:r>
            <a:r>
              <a:rPr i="1"/>
              <a:t>separately</a:t>
            </a:r>
            <a:r>
              <a:rPr/>
              <a:t> on each of the m datasets</a:t>
            </a:r>
          </a:p>
          <a:p>
            <a:pPr lvl="0" indent="-342900" marL="342900">
              <a:buAutoNum type="arabicPeriod"/>
            </a:pPr>
            <a:r>
              <a:rPr b="1"/>
              <a:t>Pool:</a:t>
            </a:r>
            <a:r>
              <a:rPr/>
              <a:t> combine the m results with </a:t>
            </a:r>
            <a:r>
              <a:rPr b="1"/>
              <a:t>Rubin’s rules</a:t>
            </a:r>
          </a:p>
          <a:p>
            <a:pPr lvl="0"/>
            <a:r>
              <a:rPr/>
              <a:t>The m datasets differ </a:t>
            </a:r>
            <a:r>
              <a:rPr b="1"/>
              <a:t>only where data was missing</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Multiple imputation</a:t>
            </a:r>
          </a:p>
        </p:txBody>
      </p:sp>
      <p:pic>
        <p:nvPicPr>
          <p:cNvPr descr="img/mi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Rubin’s rules</a:t>
            </a:r>
          </a:p>
        </p:txBody>
      </p:sp>
      <p:sp>
        <p:nvSpPr>
          <p:cNvPr id="3" name="Content Placeholder 2"/>
          <p:cNvSpPr>
            <a:spLocks noGrp="1"/>
          </p:cNvSpPr>
          <p:nvPr>
            <p:ph idx="1"/>
          </p:nvPr>
        </p:nvSpPr>
        <p:spPr/>
        <p:txBody>
          <a:bodyPr>
            <a:normAutofit/>
          </a:bodyPr>
          <a:lstStyle/>
          <a:p>
            <a:pPr lvl="0" indent="0">
              <a:buNone/>
            </a:pPr>
            <a:r>
              <a:rPr>
                <a:latin typeface="Courier"/>
              </a:rPr>
              <a:t>Q_bar = mean(Q_1, ..., Q_m)
T     = U_bar + (1 + 1/m) * B</a:t>
            </a:r>
          </a:p>
          <a:p>
            <a:pPr lvl="0"/>
            <a:r>
              <a:rPr>
                <a:latin typeface="Courier"/>
              </a:rPr>
              <a:t>Q_bar</a:t>
            </a:r>
            <a:r>
              <a:rPr/>
              <a:t>: the </a:t>
            </a:r>
            <a:r>
              <a:rPr b="1"/>
              <a:t>pooled estimate</a:t>
            </a:r>
            <a:r>
              <a:rPr/>
              <a:t>, </a:t>
            </a:r>
            <a:r>
              <a:rPr>
                <a:latin typeface="Courier"/>
              </a:rPr>
              <a:t>T</a:t>
            </a:r>
            <a:r>
              <a:rPr/>
              <a:t>: its </a:t>
            </a:r>
            <a:r>
              <a:rPr b="1"/>
              <a:t>total variance</a:t>
            </a:r>
          </a:p>
          <a:p>
            <a:pPr lvl="0"/>
            <a:r>
              <a:rPr>
                <a:latin typeface="Courier"/>
              </a:rPr>
              <a:t>U_bar</a:t>
            </a:r>
            <a:r>
              <a:rPr/>
              <a:t>: mean of the m sampling variances</a:t>
            </a:r>
          </a:p>
          <a:p>
            <a:pPr lvl="0"/>
            <a:r>
              <a:rPr>
                <a:latin typeface="Courier"/>
              </a:rPr>
              <a:t>B</a:t>
            </a:r>
            <a:r>
              <a:rPr/>
              <a:t>: variance </a:t>
            </a:r>
            <a:r>
              <a:rPr b="1"/>
              <a:t>of</a:t>
            </a:r>
            <a:r>
              <a:rPr/>
              <a:t> the m estimates (“the imputation uncertainty”)</a:t>
            </a:r>
          </a:p>
          <a:p>
            <a:pPr lvl="0"/>
            <a:r>
              <a:rPr/>
              <a:t>That second term </a:t>
            </a:r>
            <a:r>
              <a:rPr>
                <a:latin typeface="Courier"/>
              </a:rPr>
              <a:t>(1 + 1/m) * B</a:t>
            </a:r>
            <a:r>
              <a:rPr/>
              <a:t> is what single imputation throws away</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Rubin’s rules</a:t>
            </a:r>
          </a:p>
        </p:txBody>
      </p:sp>
      <p:pic>
        <p:nvPicPr>
          <p:cNvPr descr="img/eq_rubi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4. From features to models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Main question</a:t>
            </a:r>
          </a:p>
        </p:txBody>
      </p:sp>
      <p:sp>
        <p:nvSpPr>
          <p:cNvPr id="3" name="Content Placeholder 2"/>
          <p:cNvSpPr>
            <a:spLocks noGrp="1"/>
          </p:cNvSpPr>
          <p:nvPr>
            <p:ph idx="1"/>
          </p:nvPr>
        </p:nvSpPr>
        <p:spPr/>
        <p:txBody>
          <a:bodyPr anchor="ctr">
            <a:normAutofit/>
          </a:bodyPr>
          <a:lstStyle/>
          <a:p>
            <a:pPr lvl="0" indent="0" marL="0" algn="ctr">
              <a:buNone/>
            </a:pPr>
            <a:r>
              <a:rPr sz="2000"/>
              <a:t>The feature table is built.</a:t>
            </a:r>
          </a:p>
          <a:p>
            <a:pPr lvl="0" indent="0" marL="0" algn="ctr">
              <a:buNone/>
            </a:pPr>
            <a:r>
              <a:rPr sz="2000"/>
              <a:t>What does each classical model </a:t>
            </a:r>
            <a:r>
              <a:rPr sz="2000" b="1"/>
              <a:t>actually do</a:t>
            </a:r>
            <a:r>
              <a:rPr sz="2000"/>
              <a:t> with it?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Classical models</a:t>
            </a:r>
          </a:p>
        </p:txBody>
      </p:sp>
      <p:pic>
        <p:nvPicPr>
          <p:cNvPr descr="img/map.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model box</a:t>
            </a:r>
          </a:p>
        </p:txBody>
      </p:sp>
      <p:pic>
        <p:nvPicPr>
          <p:cNvPr descr="img/supervise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kinds of target</a:t>
            </a:r>
          </a:p>
        </p:txBody>
      </p:sp>
      <p:pic>
        <p:nvPicPr>
          <p:cNvPr descr="img/task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5. Linear regression</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Fit a line, judge it on the residuals</a:t>
            </a:r>
          </a:p>
        </p:txBody>
      </p:sp>
      <p:pic>
        <p:nvPicPr>
          <p:cNvPr descr="img/linreg_f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Quality is measured by MSE</a:t>
            </a:r>
          </a:p>
        </p:txBody>
      </p:sp>
      <p:pic>
        <p:nvPicPr>
          <p:cNvPr descr="img/linreg_whic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loss</a:t>
            </a:r>
          </a:p>
        </p:txBody>
      </p:sp>
      <p:pic>
        <p:nvPicPr>
          <p:cNvPr descr="img/eq_ms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loss is a bowl</a:t>
            </a:r>
          </a:p>
        </p:txBody>
      </p:sp>
      <p:pic>
        <p:nvPicPr>
          <p:cNvPr descr="img/linreg_los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ways down the bowl</a:t>
            </a:r>
          </a:p>
        </p:txBody>
      </p:sp>
      <p:pic>
        <p:nvPicPr>
          <p:cNvPr descr="img/linreg_gd.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More columns: the line becomes a plane</a:t>
            </a:r>
          </a:p>
        </p:txBody>
      </p:sp>
      <p:pic>
        <p:nvPicPr>
          <p:cNvPr descr="img/linreg_multi.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“Linear” means linear in the </a:t>
            </a:r>
            <a:r>
              <a:rPr i="1"/>
              <a:t>weights</a:t>
            </a:r>
          </a:p>
        </p:txBody>
      </p:sp>
      <p:pic>
        <p:nvPicPr>
          <p:cNvPr descr="img/linreg_basi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Classification: squash the same sum</a:t>
            </a:r>
          </a:p>
        </p:txBody>
      </p:sp>
      <p:pic>
        <p:nvPicPr>
          <p:cNvPr descr="img/logisti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Fitted by maximum likelihood</a:t>
            </a:r>
          </a:p>
        </p:txBody>
      </p:sp>
      <p:pic>
        <p:nvPicPr>
          <p:cNvPr descr="img/eq_logisti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a straight boundary cannot go</a:t>
            </a:r>
          </a:p>
        </p:txBody>
      </p:sp>
      <p:pic>
        <p:nvPicPr>
          <p:cNvPr descr="img/linreg_limit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6. Decision trees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 tree is a sequence of questions</a:t>
            </a:r>
          </a:p>
        </p:txBody>
      </p:sp>
      <p:pic>
        <p:nvPicPr>
          <p:cNvPr descr="img/tree_question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Best thresholds</a:t>
            </a:r>
          </a:p>
        </p:txBody>
      </p:sp>
      <p:pic>
        <p:nvPicPr>
          <p:cNvPr descr="img/tree_spl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Feature selection</a:t>
            </a:r>
          </a:p>
        </p:txBody>
      </p:sp>
      <p:pic>
        <p:nvPicPr>
          <p:cNvPr descr="img/max_featur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“pure” split</a:t>
            </a:r>
          </a:p>
        </p:txBody>
      </p:sp>
      <p:pic>
        <p:nvPicPr>
          <p:cNvPr descr="img/impurit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Depth is the capacity knob</a:t>
            </a:r>
          </a:p>
        </p:txBody>
      </p:sp>
      <p:pic>
        <p:nvPicPr>
          <p:cNvPr descr="img/tree_grow.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Regression trees predict staircases</a:t>
            </a:r>
          </a:p>
        </p:txBody>
      </p:sp>
      <p:pic>
        <p:nvPicPr>
          <p:cNvPr descr="img/tree_regress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And over-fit</a:t>
            </a:r>
          </a:p>
        </p:txBody>
      </p:sp>
      <p:pic>
        <p:nvPicPr>
          <p:cNvPr descr="img/tree_overf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Decision trees problem: instability</a:t>
            </a:r>
          </a:p>
        </p:txBody>
      </p:sp>
      <p:pic>
        <p:nvPicPr>
          <p:cNvPr descr="img/tree_instabilit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7. Random forests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idea</a:t>
            </a:r>
          </a:p>
        </p:txBody>
      </p:sp>
      <p:pic>
        <p:nvPicPr>
          <p:cNvPr descr="img/forest_idea.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Trees must disagree</a:t>
            </a:r>
          </a:p>
        </p:txBody>
      </p:sp>
      <p:pic>
        <p:nvPicPr>
          <p:cNvPr descr="img/eq_forest_varian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Averaging is not magic</a:t>
            </a:r>
          </a:p>
        </p:txBody>
      </p:sp>
      <p:pic>
        <p:nvPicPr>
          <p:cNvPr descr="img/forest_variance.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Two injections of randomness</a:t>
            </a:r>
          </a:p>
        </p:txBody>
      </p:sp>
      <p:pic>
        <p:nvPicPr>
          <p:cNvPr descr="img/forest_diagra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knob: max_features</a:t>
            </a:r>
          </a:p>
        </p:txBody>
      </p:sp>
      <p:pic>
        <p:nvPicPr>
          <p:cNvPr descr="img/forest_featur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Strength against diversity</a:t>
            </a:r>
          </a:p>
        </p:txBody>
      </p:sp>
      <p:pic>
        <p:nvPicPr>
          <p:cNvPr descr="img/forest_correlatio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boundary stops twitching</a:t>
            </a:r>
          </a:p>
        </p:txBody>
      </p:sp>
      <p:pic>
        <p:nvPicPr>
          <p:cNvPr descr="img/forest_boundar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More trees never over-fits</a:t>
            </a:r>
          </a:p>
        </p:txBody>
      </p:sp>
      <p:pic>
        <p:nvPicPr>
          <p:cNvPr descr="img/forest_ntre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8. Boosting</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Combine many trees differently</a:t>
            </a:r>
          </a:p>
        </p:txBody>
      </p:sp>
      <p:pic>
        <p:nvPicPr>
          <p:cNvPr descr="img/boosting_stage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Forest and boosting attack different errors</a:t>
            </a:r>
          </a:p>
        </p:txBody>
      </p:sp>
      <p:pic>
        <p:nvPicPr>
          <p:cNvPr descr="img/bagging_vs_boosting.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Boosting </a:t>
            </a:r>
            <a:r>
              <a:rPr i="1"/>
              <a:t>can</a:t>
            </a:r>
            <a:r>
              <a:rPr/>
              <a:t> overfit</a:t>
            </a:r>
          </a:p>
        </p:txBody>
      </p:sp>
      <p:pic>
        <p:nvPicPr>
          <p:cNvPr descr="img/boosting_overfi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9. Support Vector Machines</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Which line?</a:t>
            </a:r>
          </a:p>
        </p:txBody>
      </p:sp>
      <p:pic>
        <p:nvPicPr>
          <p:cNvPr descr="img/svm_which.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widest street</a:t>
            </a:r>
          </a:p>
        </p:txBody>
      </p:sp>
      <p:pic>
        <p:nvPicPr>
          <p:cNvPr descr="img/svm_margi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loss</a:t>
            </a:r>
          </a:p>
        </p:txBody>
      </p:sp>
      <p:pic>
        <p:nvPicPr>
          <p:cNvPr descr="img/eq_svm.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C: how much misbehaviour do you allow?</a:t>
            </a:r>
          </a:p>
        </p:txBody>
      </p:sp>
      <p:pic>
        <p:nvPicPr>
          <p:cNvPr descr="img/svm_c.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The kernel trick</a:t>
            </a:r>
          </a:p>
        </p:txBody>
      </p:sp>
      <p:pic>
        <p:nvPicPr>
          <p:cNvPr descr="img/svm_kernel.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Radial Basis Function (RBF) kernel</a:t>
            </a:r>
          </a:p>
        </p:txBody>
      </p:sp>
      <p:pic>
        <p:nvPicPr>
          <p:cNvPr descr="img/svm_similarity.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Typical kernels</a:t>
            </a:r>
          </a:p>
        </p:txBody>
      </p:sp>
      <p:pic>
        <p:nvPicPr>
          <p:cNvPr descr="img/svm_kernel_zo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Kernels in practice</a:t>
            </a:r>
          </a:p>
        </p:txBody>
      </p:sp>
      <p:pic>
        <p:nvPicPr>
          <p:cNvPr descr="img/svm_kernel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10. K - Nearest Neighbors</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How a prediction is made</a:t>
            </a:r>
          </a:p>
        </p:txBody>
      </p:sp>
      <p:pic>
        <p:nvPicPr>
          <p:cNvPr descr="img/knn_predict.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No training needed</a:t>
            </a:r>
          </a:p>
        </p:txBody>
      </p:sp>
      <p:pic>
        <p:nvPicPr>
          <p:cNvPr descr="img/knn.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Where k-NN breaks</a:t>
            </a:r>
          </a:p>
        </p:txBody>
      </p:sp>
      <p:pic>
        <p:nvPicPr>
          <p:cNvPr descr="img/knn_pitfalls.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ormAutofit/>
          </a:bodyPr>
          <a:lstStyle/>
          <a:p>
            <a:pPr lvl="0" indent="0" marL="0">
              <a:buNone/>
            </a:pPr>
            <a:r>
              <a:rPr/>
              <a:t>11. Choosing</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indent="0" marL="0">
              <a:buNone/>
            </a:pPr>
            <a:r>
              <a:rPr/>
              <a:t>One dataset, eight boundaries</a:t>
            </a:r>
          </a:p>
        </p:txBody>
      </p:sp>
      <p:pic>
        <p:nvPicPr>
          <p:cNvPr descr="img/zoo.png" id="0" name="Picture 1"/>
          <p:cNvPicPr>
            <a:picLocks noGrp="1" noChangeAspect="1"/>
          </p:cNvPicPr>
          <p:nvPr/>
        </p:nvPicPr>
        <p:blipFill>
          <a:blip r:embed="rId3"/>
          <a:stretch>
            <a:fillRect/>
          </a:stretch>
        </p:blipFill>
        <p:spPr bwMode="auto">
          <a:xfrm>
            <a:off x="457200" y="1193800"/>
            <a:ext cx="8229600" cy="3390900"/>
          </a:xfrm>
          <a:prstGeom prst="rect">
            <a:avLst/>
          </a:prstGeom>
          <a:noFill/>
          <a:ln w="9525">
            <a:noFill/>
            <a:headEnd/>
            <a:tailEnd/>
          </a:ln>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 2 Feature Engineering, Missing Data &amp; Classical Models</dc:title>
  <dc:creator>Paul Dubois</dc:creator>
  <cp:keywords/>
  <dcterms:created xsi:type="dcterms:W3CDTF">2026-09-08T23:15:12Z</dcterms:created>
  <dcterms:modified xsi:type="dcterms:W3CDTF">2026-09-08T23:15:12Z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Week 2 — Lecture</vt:lpwstr>
  </property>
  <property fmtid="{D5CDD505-2E9C-101B-9397-08002B2CF9AE}" pid="3" name="subtitle">
    <vt:lpwstr>Advanced Data Science · NYU Paris · 2026</vt:lpwstr>
  </property>
</Properties>
</file>