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2" r:id="rId4"/>
    <p:sldId id="263" r:id="rId5"/>
    <p:sldId id="265" r:id="rId6"/>
    <p:sldId id="266" r:id="rId7"/>
    <p:sldId id="267" r:id="rId8"/>
    <p:sldId id="289" r:id="rId9"/>
    <p:sldId id="291" r:id="rId10"/>
    <p:sldId id="29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0C5B7-93EB-4041-B67E-DF3D3FCDBF73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07D58-F6A9-421C-A0F4-1C7055BD6DA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85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75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will be extensively discussed in the TD4.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7D23-764C-4404-9D36-DEB150D4E1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69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3F42-3D06-EA74-3C3D-0722F23CF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73EB0-67B6-6BDE-DB40-BD559493C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DFAB-C834-FB01-886D-3D4F56C3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F1C6-E0F5-24F4-7728-691DFEDF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49016-2564-FBA2-44D3-63836400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9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AE9E-5825-71EA-776B-D95AE15D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3116B-7583-2F1E-2AFC-F0066F27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04F8-010B-E6D2-2297-6E3A34B5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F0D5-A277-287B-8E2E-8E188F0E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522-ECB9-B822-095E-A81A7C29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84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DD8C-296F-3531-924D-37EF7CD7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CA013-4E49-3868-5296-B086A891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DFF5-0455-4165-9DAD-4ADB3D2D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E52E-41A5-868E-2358-DD6B9F09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F0FEA-024E-239E-2B2A-9032DC65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900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4A1-B06A-4690-7434-246A9B51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E0E7-80C4-B2B7-9949-395726DB0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C94A9-1DAF-2264-62C7-3A470A1E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54BD-BED6-3258-8687-54B87FD4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B4132-4D53-8FDD-77DD-D67DB69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0FA33-4234-502D-4639-E25770F6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64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04BF-B7AF-D3E5-090F-D64F0B8D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04370-63E9-4F74-D36F-643C43AD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62497-2020-A1E9-672F-68CA20D12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EFAA2-58F3-7455-33D8-F4BC3F2B2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34CFC-418C-B667-9769-DA569E618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15868-F992-8495-6500-A7027D1A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306C5-5398-8D8C-9C05-6A0193E3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840BC-997A-CA46-C0FD-6F3B2DC3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88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4F65-6EA5-CCF5-5E52-0F85B0C3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37277-EDFB-EA63-980A-EE9CF419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D9623-6DF6-A41B-E7D9-340FDB55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210CA-4141-6263-8B30-AAFC8DC8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C07F4-7D8B-E013-BBA8-39ABBB19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FBD5D-7F74-5306-2DC8-1791360C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2CA79-606A-0362-B0CE-AD4B9168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76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9752-5A9D-A57A-38D3-01EE7256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5B8E-9D12-5537-B63E-1E55F5F09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A795C-5C89-024B-E433-3208E199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D1207-CB06-B7D6-D8DE-5A6CE48F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67B28-B228-7AA6-C87B-DCBF7C1D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1C915-2A73-A852-18ED-7AE29852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2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D8D-B968-590E-7787-E3FD1822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DEEDC-24F6-FD14-34FF-F63246C7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307A1-7082-8449-463E-CDE7CAAB4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4B0AD-43EF-B2EA-9C18-5F25DC6D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4AA20-AD1C-6620-1C1B-696CE286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F35D1-2042-62E1-9F27-F9DC4CAD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65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D18E-C2DD-0233-9F72-B65E93BBB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AC55-1CFB-61AD-B5B0-D4D6E3E8D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743D-A838-891D-B4B6-8653A604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FB9B-2E0A-1C9B-AB3F-2C680C88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EE8-CD3F-576C-18C5-7E8280EF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62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E964-48B2-A01E-4D5A-1CB5E9BB3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28F7C-FA40-2B98-920E-E8F3FAC5B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3C3B-6B0D-23AD-7F72-28BE3084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FB89A-59D9-7A4C-FFF5-87C1454D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1CE8-A44D-4973-4F73-CC9A010A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0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322A6-F073-F6A7-E4CD-4073861B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20E9E-4921-3F53-F8D6-3BD0305C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86421-B13B-8962-42DE-6E25375CE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4DF5-B1B5-4139-B72F-69308A643D97}" type="datetimeFigureOut">
              <a:rPr lang="fr-FR" smtClean="0"/>
              <a:t>10/01/2025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9008-08C6-3ED7-454B-2F34643CA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B2FD-69D4-F317-5868-549121CCE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E1D66-4168-42B2-97E9-804D204DB5D9}" type="slidenum">
              <a:rPr lang="fr-FR" smtClean="0"/>
              <a:t>‹#›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5805F-15B5-5A1B-776A-06117A64BB0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7619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A0A2-C176-FB16-D910-3F43F50B9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 lang="en-US" sz="4400"/>
              <a:t>Session 7</a:t>
            </a:r>
            <a:br/>
            <a:r>
              <a:rPr lang="en-US" sz="4400"/>
              <a:t>Width vs Depth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1A83F-9FEE-6699-0C1A-127ABB21B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Advanced Data Science · NYU Paris · 2026</a:t>
            </a:r>
            <a:br/>
            <a:br/>
            <a:r>
              <a:rPr lang="en-US">
                <a:solidFill>
                  <a:schemeClr val="bg1">
                    <a:lumMod val="50000"/>
                  </a:schemeClr>
                </a:solidFill>
              </a:rPr>
              <a:t>Paul Dubois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 lang="en-US"/>
              <a:t>Week 7 — Lecture</a:t>
            </a:r>
          </a:p>
        </p:txBody>
      </p:sp>
    </p:spTree>
    <p:extLst>
      <p:ext uri="{BB962C8B-B14F-4D97-AF65-F5344CB8AC3E}">
        <p14:creationId xmlns:p14="http://schemas.microsoft.com/office/powerpoint/2010/main" val="366775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1AC4214-6FCC-0FCC-A079-2268C72A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0458" y="1401763"/>
            <a:ext cx="5731083" cy="477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9535A4-D8A7-EBBA-1095-BF26A08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Preceptrons</a:t>
            </a:r>
          </a:p>
        </p:txBody>
      </p:sp>
    </p:spTree>
    <p:extLst>
      <p:ext uri="{BB962C8B-B14F-4D97-AF65-F5344CB8AC3E}">
        <p14:creationId xmlns:p14="http://schemas.microsoft.com/office/powerpoint/2010/main" val="212409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35A4-D8A7-EBBA-1095-BF26A08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</a:t>
            </a:r>
            <a:r>
              <a:rPr lang="fr-FR" dirty="0"/>
              <a:t>perceptron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463DC08-8BB9-9C81-614F-83DF2D85A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0457" y="1401763"/>
            <a:ext cx="5683329" cy="477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6C031C-3AC6-6B98-2988-8B3CA4D1C3A0}"/>
              </a:ext>
            </a:extLst>
          </p:cNvPr>
          <p:cNvSpPr txBox="1"/>
          <p:nvPr/>
        </p:nvSpPr>
        <p:spPr>
          <a:xfrm>
            <a:off x="838200" y="620463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“any continuous function can be approximated by a 2 layers perceptron” (with ReLU activation)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8D40C-E0BD-ECB2-FD59-123F63DA568F}"/>
                  </a:ext>
                </a:extLst>
              </p:cNvPr>
              <p:cNvSpPr txBox="1"/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58D40C-E0BD-ECB2-FD59-123F63DA5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9CA6BF-6AA9-C621-DEC2-4BA49110C200}"/>
                  </a:ext>
                </a:extLst>
              </p:cNvPr>
              <p:cNvSpPr txBox="1"/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9CA6BF-6AA9-C621-DEC2-4BA49110C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E37750-D938-BF38-592B-737723EB202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410570" y="3785623"/>
            <a:ext cx="5499818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35A4-D8A7-EBBA-1095-BF26A08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</a:t>
            </a:r>
            <a:r>
              <a:rPr lang="fr-FR" dirty="0"/>
              <a:t>perceptron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506F2-F170-9A0B-C11A-FFE7BE2B740B}"/>
                  </a:ext>
                </a:extLst>
              </p:cNvPr>
              <p:cNvSpPr txBox="1"/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506F2-F170-9A0B-C11A-FFE7BE2B7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471" y="3462457"/>
                <a:ext cx="54809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8343D-2595-6697-17C5-C3800AB12E5A}"/>
                  </a:ext>
                </a:extLst>
              </p:cNvPr>
              <p:cNvSpPr txBox="1"/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08343D-2595-6697-17C5-C3800AB1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388" y="3462457"/>
                <a:ext cx="55483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08BC5108-E200-F61F-FB05-13DB73E4D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7884" y="1401763"/>
            <a:ext cx="3376232" cy="477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6C7DE0-C8BD-A9C4-2FDA-3D10A42710C9}"/>
              </a:ext>
            </a:extLst>
          </p:cNvPr>
          <p:cNvSpPr txBox="1"/>
          <p:nvPr/>
        </p:nvSpPr>
        <p:spPr>
          <a:xfrm>
            <a:off x="838200" y="620463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“any continuous function can be approximated by a 1 hidden layer perceptron” (with ReLU activation)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58561-E49E-71DB-38CF-F025364B1139}"/>
              </a:ext>
            </a:extLst>
          </p:cNvPr>
          <p:cNvSpPr txBox="1"/>
          <p:nvPr/>
        </p:nvSpPr>
        <p:spPr>
          <a:xfrm>
            <a:off x="838200" y="649287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… provided there are enough neurons in the middle layer!</a:t>
            </a:r>
          </a:p>
        </p:txBody>
      </p:sp>
    </p:spTree>
    <p:extLst>
      <p:ext uri="{BB962C8B-B14F-4D97-AF65-F5344CB8AC3E}">
        <p14:creationId xmlns:p14="http://schemas.microsoft.com/office/powerpoint/2010/main" val="95469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FD1A-5438-2E61-2F4E-780EF3D3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hidden layers (rectangular 1D-1D) preceptrons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neurons</a:t>
                </a:r>
              </a:p>
              <a:p>
                <a:endParaRPr lang="en-US" dirty="0"/>
              </a:p>
              <a:p>
                <a:r>
                  <a:rPr lang="en-US" b="1" dirty="0"/>
                  <a:t>Then: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  ∃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98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EAA-ACED-F1E9-E631-B2EBD973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78EA49-D1D7-46A3-67E4-4D73F000C4E3}"/>
              </a:ext>
            </a:extLst>
          </p:cNvPr>
          <p:cNvCxnSpPr/>
          <p:nvPr/>
        </p:nvCxnSpPr>
        <p:spPr>
          <a:xfrm flipV="1">
            <a:off x="6959600" y="741680"/>
            <a:ext cx="0" cy="51714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E7EEC4-7992-229E-4DE2-7D75F3418AC5}"/>
              </a:ext>
            </a:extLst>
          </p:cNvPr>
          <p:cNvCxnSpPr>
            <a:cxnSpLocks/>
          </p:cNvCxnSpPr>
          <p:nvPr/>
        </p:nvCxnSpPr>
        <p:spPr>
          <a:xfrm>
            <a:off x="6177280" y="5201920"/>
            <a:ext cx="5506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62F3D-7736-0E43-297B-826D88837B8D}"/>
                  </a:ext>
                </a:extLst>
              </p:cNvPr>
              <p:cNvSpPr txBox="1"/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462F3D-7736-0E43-297B-826D88837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74E4C4-B7FD-B928-EACA-523D7ED94611}"/>
                  </a:ext>
                </a:extLst>
              </p:cNvPr>
              <p:cNvSpPr txBox="1"/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74E4C4-B7FD-B928-EACA-523D7ED9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F66FADA-8CE6-22EF-292C-3DC9AF1F4A79}"/>
              </a:ext>
            </a:extLst>
          </p:cNvPr>
          <p:cNvSpPr/>
          <p:nvPr/>
        </p:nvSpPr>
        <p:spPr>
          <a:xfrm>
            <a:off x="7315200" y="1932973"/>
            <a:ext cx="4114800" cy="2824220"/>
          </a:xfrm>
          <a:custGeom>
            <a:avLst/>
            <a:gdLst>
              <a:gd name="connsiteX0" fmla="*/ 0 w 3982720"/>
              <a:gd name="connsiteY0" fmla="*/ 1930400 h 1930400"/>
              <a:gd name="connsiteX1" fmla="*/ 1127760 w 3982720"/>
              <a:gd name="connsiteY1" fmla="*/ 690880 h 1930400"/>
              <a:gd name="connsiteX2" fmla="*/ 2509520 w 3982720"/>
              <a:gd name="connsiteY2" fmla="*/ 1351280 h 1930400"/>
              <a:gd name="connsiteX3" fmla="*/ 3982720 w 3982720"/>
              <a:gd name="connsiteY3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720" h="1930400">
                <a:moveTo>
                  <a:pt x="0" y="1930400"/>
                </a:moveTo>
                <a:cubicBezTo>
                  <a:pt x="354753" y="1358900"/>
                  <a:pt x="709507" y="787400"/>
                  <a:pt x="1127760" y="690880"/>
                </a:cubicBezTo>
                <a:cubicBezTo>
                  <a:pt x="1546013" y="594360"/>
                  <a:pt x="2033693" y="1466427"/>
                  <a:pt x="2509520" y="1351280"/>
                </a:cubicBezTo>
                <a:cubicBezTo>
                  <a:pt x="2985347" y="1236133"/>
                  <a:pt x="3484033" y="618066"/>
                  <a:pt x="3982720" y="0"/>
                </a:cubicBezTo>
              </a:path>
            </a:pathLst>
          </a:custGeom>
          <a:noFill/>
          <a:ln w="57150"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33533D-248A-71A0-69FE-B917B5D29677}"/>
              </a:ext>
            </a:extLst>
          </p:cNvPr>
          <p:cNvCxnSpPr>
            <a:cxnSpLocks/>
            <a:stCxn id="16" idx="0"/>
            <a:endCxn id="16" idx="0"/>
          </p:cNvCxnSpPr>
          <p:nvPr/>
        </p:nvCxnSpPr>
        <p:spPr>
          <a:xfrm>
            <a:off x="7315200" y="475719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9395E47-8B1B-75DA-1AEE-2F9C3619071F}"/>
              </a:ext>
            </a:extLst>
          </p:cNvPr>
          <p:cNvGrpSpPr/>
          <p:nvPr/>
        </p:nvGrpSpPr>
        <p:grpSpPr>
          <a:xfrm>
            <a:off x="7315200" y="1932973"/>
            <a:ext cx="4114800" cy="2824219"/>
            <a:chOff x="7315200" y="1932973"/>
            <a:chExt cx="4114800" cy="282422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2EA76B-2D27-F84F-120C-C6E089BF97BB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7315200" y="2943746"/>
              <a:ext cx="1165160" cy="181344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FE5953-EEC6-D0AC-F66A-A3133B4F4A3E}"/>
                </a:ext>
              </a:extLst>
            </p:cNvPr>
            <p:cNvCxnSpPr>
              <a:cxnSpLocks/>
              <a:stCxn id="16" idx="2"/>
              <a:endCxn id="16" idx="1"/>
            </p:cNvCxnSpPr>
            <p:nvPr/>
          </p:nvCxnSpPr>
          <p:spPr>
            <a:xfrm flipH="1" flipV="1">
              <a:off x="8480360" y="2943746"/>
              <a:ext cx="1427584" cy="9661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3A0D5EF-645B-6069-8340-885892A4E67B}"/>
                </a:ext>
              </a:extLst>
            </p:cNvPr>
            <p:cNvCxnSpPr>
              <a:cxnSpLocks/>
              <a:stCxn id="16" idx="3"/>
              <a:endCxn id="16" idx="2"/>
            </p:cNvCxnSpPr>
            <p:nvPr/>
          </p:nvCxnSpPr>
          <p:spPr>
            <a:xfrm flipH="1">
              <a:off x="9907944" y="1932973"/>
              <a:ext cx="1522056" cy="19769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F0D392A-9A06-C371-6E49-EEC86A6C64DE}"/>
              </a:ext>
            </a:extLst>
          </p:cNvPr>
          <p:cNvCxnSpPr/>
          <p:nvPr/>
        </p:nvCxnSpPr>
        <p:spPr>
          <a:xfrm>
            <a:off x="7957820" y="3429000"/>
            <a:ext cx="0" cy="33274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EDF50-97D4-31AF-8F0A-04E80D37D5C9}"/>
              </a:ext>
            </a:extLst>
          </p:cNvPr>
          <p:cNvCxnSpPr>
            <a:cxnSpLocks/>
          </p:cNvCxnSpPr>
          <p:nvPr/>
        </p:nvCxnSpPr>
        <p:spPr>
          <a:xfrm flipV="1">
            <a:off x="730504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3136CE-DEE5-DE82-1A70-B95A5E2CB3B7}"/>
              </a:ext>
            </a:extLst>
          </p:cNvPr>
          <p:cNvCxnSpPr>
            <a:cxnSpLocks/>
          </p:cNvCxnSpPr>
          <p:nvPr/>
        </p:nvCxnSpPr>
        <p:spPr>
          <a:xfrm flipV="1">
            <a:off x="1144016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99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EAA-ACED-F1E9-E631-B2EBD973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.   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B64140-BBE3-E0AE-E14D-2E7EE36DC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285F45-E4AE-1E01-CC79-895E4DBAF5F3}"/>
              </a:ext>
            </a:extLst>
          </p:cNvPr>
          <p:cNvCxnSpPr/>
          <p:nvPr/>
        </p:nvCxnSpPr>
        <p:spPr>
          <a:xfrm flipV="1">
            <a:off x="6959600" y="741680"/>
            <a:ext cx="0" cy="51714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2D4E58-7FC4-5304-392D-25C5FC8BA6E1}"/>
              </a:ext>
            </a:extLst>
          </p:cNvPr>
          <p:cNvCxnSpPr>
            <a:cxnSpLocks/>
          </p:cNvCxnSpPr>
          <p:nvPr/>
        </p:nvCxnSpPr>
        <p:spPr>
          <a:xfrm>
            <a:off x="6177280" y="5201920"/>
            <a:ext cx="55067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05B05C-1D06-594C-D417-E258E0FCA2AD}"/>
                  </a:ext>
                </a:extLst>
              </p:cNvPr>
              <p:cNvSpPr txBox="1"/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05B05C-1D06-594C-D417-E258E0FCA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316" y="5543788"/>
                <a:ext cx="371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53267D-7915-FFC7-CC3F-AFDE776C09CB}"/>
                  </a:ext>
                </a:extLst>
              </p:cNvPr>
              <p:cNvSpPr txBox="1"/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53267D-7915-FFC7-CC3F-AFDE776C0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327" y="5543788"/>
                <a:ext cx="367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376C5F0-2521-691F-9FA5-70DD9A6814F4}"/>
              </a:ext>
            </a:extLst>
          </p:cNvPr>
          <p:cNvSpPr/>
          <p:nvPr/>
        </p:nvSpPr>
        <p:spPr>
          <a:xfrm>
            <a:off x="7315200" y="1932973"/>
            <a:ext cx="4114800" cy="2824220"/>
          </a:xfrm>
          <a:custGeom>
            <a:avLst/>
            <a:gdLst>
              <a:gd name="connsiteX0" fmla="*/ 0 w 3982720"/>
              <a:gd name="connsiteY0" fmla="*/ 1930400 h 1930400"/>
              <a:gd name="connsiteX1" fmla="*/ 1127760 w 3982720"/>
              <a:gd name="connsiteY1" fmla="*/ 690880 h 1930400"/>
              <a:gd name="connsiteX2" fmla="*/ 2509520 w 3982720"/>
              <a:gd name="connsiteY2" fmla="*/ 1351280 h 1930400"/>
              <a:gd name="connsiteX3" fmla="*/ 3982720 w 3982720"/>
              <a:gd name="connsiteY3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720" h="1930400">
                <a:moveTo>
                  <a:pt x="0" y="1930400"/>
                </a:moveTo>
                <a:cubicBezTo>
                  <a:pt x="354753" y="1358900"/>
                  <a:pt x="709507" y="787400"/>
                  <a:pt x="1127760" y="690880"/>
                </a:cubicBezTo>
                <a:cubicBezTo>
                  <a:pt x="1546013" y="594360"/>
                  <a:pt x="2033693" y="1466427"/>
                  <a:pt x="2509520" y="1351280"/>
                </a:cubicBezTo>
                <a:cubicBezTo>
                  <a:pt x="2985347" y="1236133"/>
                  <a:pt x="3484033" y="618066"/>
                  <a:pt x="3982720" y="0"/>
                </a:cubicBezTo>
              </a:path>
            </a:pathLst>
          </a:custGeom>
          <a:noFill/>
          <a:ln w="57150"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EC4BA2-5C31-90F8-2570-B66856DED25D}"/>
              </a:ext>
            </a:extLst>
          </p:cNvPr>
          <p:cNvCxnSpPr>
            <a:cxnSpLocks/>
            <a:stCxn id="11" idx="0"/>
            <a:endCxn id="11" idx="0"/>
          </p:cNvCxnSpPr>
          <p:nvPr/>
        </p:nvCxnSpPr>
        <p:spPr>
          <a:xfrm>
            <a:off x="7315200" y="475719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A07A5B-773D-7F9B-0375-B962A07A78DF}"/>
              </a:ext>
            </a:extLst>
          </p:cNvPr>
          <p:cNvGrpSpPr/>
          <p:nvPr/>
        </p:nvGrpSpPr>
        <p:grpSpPr>
          <a:xfrm>
            <a:off x="7315200" y="1932973"/>
            <a:ext cx="4114800" cy="2824219"/>
            <a:chOff x="7315200" y="1932973"/>
            <a:chExt cx="4114800" cy="282422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EBCD2D1-F20D-E663-23B8-98B42D460F5E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7315200" y="2943746"/>
              <a:ext cx="1165160" cy="181344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509C14-D2AD-6182-3EA9-226FC6121AB2}"/>
                </a:ext>
              </a:extLst>
            </p:cNvPr>
            <p:cNvCxnSpPr>
              <a:cxnSpLocks/>
              <a:stCxn id="11" idx="2"/>
              <a:endCxn id="11" idx="1"/>
            </p:cNvCxnSpPr>
            <p:nvPr/>
          </p:nvCxnSpPr>
          <p:spPr>
            <a:xfrm flipH="1" flipV="1">
              <a:off x="8480360" y="2943746"/>
              <a:ext cx="1427584" cy="9661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2780E7-50D7-D400-0004-9D020DC3DA7A}"/>
                </a:ext>
              </a:extLst>
            </p:cNvPr>
            <p:cNvCxnSpPr>
              <a:cxnSpLocks/>
              <a:stCxn id="11" idx="3"/>
              <a:endCxn id="11" idx="2"/>
            </p:cNvCxnSpPr>
            <p:nvPr/>
          </p:nvCxnSpPr>
          <p:spPr>
            <a:xfrm flipH="1">
              <a:off x="9907944" y="1932973"/>
              <a:ext cx="1522056" cy="19769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39C694-1191-2BBD-D980-05C03F996141}"/>
              </a:ext>
            </a:extLst>
          </p:cNvPr>
          <p:cNvCxnSpPr/>
          <p:nvPr/>
        </p:nvCxnSpPr>
        <p:spPr>
          <a:xfrm>
            <a:off x="7957820" y="3429000"/>
            <a:ext cx="0" cy="33274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409FE7-DD5C-C495-2C04-FEAB1120E25B}"/>
              </a:ext>
            </a:extLst>
          </p:cNvPr>
          <p:cNvCxnSpPr>
            <a:cxnSpLocks/>
          </p:cNvCxnSpPr>
          <p:nvPr/>
        </p:nvCxnSpPr>
        <p:spPr>
          <a:xfrm flipV="1">
            <a:off x="730504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12AB64-4223-BAFA-108B-A5951DA8D22D}"/>
              </a:ext>
            </a:extLst>
          </p:cNvPr>
          <p:cNvCxnSpPr>
            <a:cxnSpLocks/>
          </p:cNvCxnSpPr>
          <p:nvPr/>
        </p:nvCxnSpPr>
        <p:spPr>
          <a:xfrm flipV="1">
            <a:off x="11440160" y="971788"/>
            <a:ext cx="0" cy="4572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9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320-4690-2DB1-6243-2DF841AC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wide networks are better?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978F21-BE81-6EC5-6B80-FCB39C28D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143013" y="2042930"/>
            <a:ext cx="6048987" cy="42768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E9FD03-B201-7307-FB1D-5DFD34604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04707"/>
            <a:ext cx="3784963" cy="5353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CFDF03-A0A9-C2AE-EDA7-A0826A8C8F69}"/>
              </a:ext>
            </a:extLst>
          </p:cNvPr>
          <p:cNvSpPr txBox="1"/>
          <p:nvPr/>
        </p:nvSpPr>
        <p:spPr>
          <a:xfrm>
            <a:off x="4004840" y="2857913"/>
            <a:ext cx="12442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37C4-A928-76F5-24CD-8C3ADF74E144}"/>
              </a:ext>
            </a:extLst>
          </p:cNvPr>
          <p:cNvSpPr txBox="1"/>
          <p:nvPr/>
        </p:nvSpPr>
        <p:spPr>
          <a:xfrm>
            <a:off x="4320631" y="2732521"/>
            <a:ext cx="612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en-US" sz="16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9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FD1A-5438-2E61-2F4E-780EF3D3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0404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layers preceptrons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neurons on each layer</a:t>
                </a:r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∃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.: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ℕ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 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 algn="ctr">
                  <a:buNone/>
                </a:pPr>
                <a:r>
                  <a:rPr lang="en-US" dirty="0"/>
                  <a:t>BUT </a:t>
                </a:r>
              </a:p>
              <a:p>
                <a:pPr marL="0" indent="0" algn="ctr">
                  <a:buNone/>
                </a:pPr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ℕ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   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292374-E8A8-1E0B-48A0-6FEFFBACA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04048" cy="4351338"/>
              </a:xfrm>
              <a:blipFill>
                <a:blip r:embed="rId3"/>
                <a:stretch>
                  <a:fillRect t="-2241" r="-4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BF09BD-9D1F-8E5A-951C-07F811411431}"/>
                  </a:ext>
                </a:extLst>
              </p:cNvPr>
              <p:cNvSpPr txBox="1"/>
              <p:nvPr/>
            </p:nvSpPr>
            <p:spPr>
              <a:xfrm>
                <a:off x="8890006" y="2587386"/>
                <a:ext cx="3072380" cy="8588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parameters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BF09BD-9D1F-8E5A-951C-07F811411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6" y="2587386"/>
                <a:ext cx="3072380" cy="858825"/>
              </a:xfrm>
              <a:prstGeom prst="rect">
                <a:avLst/>
              </a:prstGeom>
              <a:blipFill>
                <a:blip r:embed="rId4"/>
                <a:stretch>
                  <a:fillRect l="-397" t="-4255" r="-2183" b="-15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D94420-657F-7C61-F2E3-2DF58A3C801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983846" y="3016799"/>
            <a:ext cx="906160" cy="60854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9DFEF-F7E5-56D9-B9F6-CD2764402964}"/>
                  </a:ext>
                </a:extLst>
              </p:cNvPr>
              <p:cNvSpPr txBox="1"/>
              <p:nvPr/>
            </p:nvSpPr>
            <p:spPr>
              <a:xfrm>
                <a:off x="8980674" y="4207972"/>
                <a:ext cx="28234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neurons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 parameters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9DFEF-F7E5-56D9-B9F6-CD2764402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674" y="4207972"/>
                <a:ext cx="2823402" cy="830997"/>
              </a:xfrm>
              <a:prstGeom prst="rect">
                <a:avLst/>
              </a:prstGeom>
              <a:blipFill>
                <a:blip r:embed="rId5"/>
                <a:stretch>
                  <a:fillRect l="-648" t="-5839" r="-2592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EBE5EE-06FD-56F0-70CD-C75DD8346ECF}"/>
              </a:ext>
            </a:extLst>
          </p:cNvPr>
          <p:cNvCxnSpPr>
            <a:cxnSpLocks/>
          </p:cNvCxnSpPr>
          <p:nvPr/>
        </p:nvCxnSpPr>
        <p:spPr>
          <a:xfrm flipH="1">
            <a:off x="7983846" y="4512243"/>
            <a:ext cx="906160" cy="60854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75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0320-4690-2DB1-6243-2DF841AC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deep networks are better?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978F21-BE81-6EC5-6B80-FCB39C28D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143013" y="2042930"/>
            <a:ext cx="6048987" cy="42768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E9FD03-B201-7307-FB1D-5DFD34604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04707"/>
            <a:ext cx="3784963" cy="5353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CFDF03-A0A9-C2AE-EDA7-A0826A8C8F69}"/>
              </a:ext>
            </a:extLst>
          </p:cNvPr>
          <p:cNvSpPr txBox="1"/>
          <p:nvPr/>
        </p:nvSpPr>
        <p:spPr>
          <a:xfrm>
            <a:off x="4004840" y="2857913"/>
            <a:ext cx="12442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&lt;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37C4-A928-76F5-24CD-8C3ADF74E144}"/>
              </a:ext>
            </a:extLst>
          </p:cNvPr>
          <p:cNvSpPr txBox="1"/>
          <p:nvPr/>
        </p:nvSpPr>
        <p:spPr>
          <a:xfrm>
            <a:off x="4320631" y="2732521"/>
            <a:ext cx="612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en-US" sz="16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04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Layers Types I</vt:lpstr>
      <vt:lpstr>Preceptrons</vt:lpstr>
      <vt:lpstr>1D perceptron</vt:lpstr>
      <vt:lpstr>1D perceptron</vt:lpstr>
      <vt:lpstr>Theorem</vt:lpstr>
      <vt:lpstr>Proof</vt:lpstr>
      <vt:lpstr>Goal</vt:lpstr>
      <vt:lpstr>So… wide networks are better?</vt:lpstr>
      <vt:lpstr>Theorem</vt:lpstr>
      <vt:lpstr>So… deep networks are better?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Layers Types</dc:title>
  <dc:creator>Romain Lhotte</dc:creator>
  <cp:lastModifiedBy>Paul Dubois</cp:lastModifiedBy>
  <cp:revision>3</cp:revision>
  <dcterms:created xsi:type="dcterms:W3CDTF">2024-01-21T17:44:30Z</dcterms:created>
  <dcterms:modified xsi:type="dcterms:W3CDTF">2025-01-10T18:13:08Z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116e0e-72df-4d64-8d95-ec79a49a5ebe_Enabled">
    <vt:lpwstr>true</vt:lpwstr>
  </property>
  <property fmtid="{D5CDD505-2E9C-101B-9397-08002B2CF9AE}" pid="3" name="MSIP_Label_df116e0e-72df-4d64-8d95-ec79a49a5ebe_SetDate">
    <vt:lpwstr>2025-01-10T18:11:09Z</vt:lpwstr>
  </property>
  <property fmtid="{D5CDD505-2E9C-101B-9397-08002B2CF9AE}" pid="4" name="MSIP_Label_df116e0e-72df-4d64-8d95-ec79a49a5ebe_Method">
    <vt:lpwstr>Standard</vt:lpwstr>
  </property>
  <property fmtid="{D5CDD505-2E9C-101B-9397-08002B2CF9AE}" pid="5" name="MSIP_Label_df116e0e-72df-4d64-8d95-ec79a49a5ebe_Name">
    <vt:lpwstr>Internal</vt:lpwstr>
  </property>
  <property fmtid="{D5CDD505-2E9C-101B-9397-08002B2CF9AE}" pid="6" name="MSIP_Label_df116e0e-72df-4d64-8d95-ec79a49a5ebe_SiteId">
    <vt:lpwstr>efa39904-64bd-4449-9e11-a0567cf564b6</vt:lpwstr>
  </property>
  <property fmtid="{D5CDD505-2E9C-101B-9397-08002B2CF9AE}" pid="7" name="MSIP_Label_df116e0e-72df-4d64-8d95-ec79a49a5ebe_ActionId">
    <vt:lpwstr>632a8ed9-cd96-4268-8f2d-3d092ef99e83</vt:lpwstr>
  </property>
  <property fmtid="{D5CDD505-2E9C-101B-9397-08002B2CF9AE}" pid="8" name="MSIP_Label_df116e0e-72df-4d64-8d95-ec79a49a5ebe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