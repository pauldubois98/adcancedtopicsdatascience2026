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38.svg" ContentType="image/svg"/>
  <Override PartName="/ppt/media/image14.png" ContentType="image/png"/>
  <Override PartName="/ppt/media/image11.gif" ContentType="image/gif"/>
  <Override PartName="/ppt/media/image10.gif" ContentType="image/gif"/>
  <Override PartName="/ppt/media/image4.png" ContentType="image/png"/>
  <Override PartName="/ppt/media/image13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5.png" ContentType="image/png"/>
  <Override PartName="/ppt/media/image37.png" ContentType="image/png"/>
  <Override PartName="/ppt/media/image34.svg" ContentType="image/svg"/>
  <Override PartName="/ppt/media/image9.gif" ContentType="image/gif"/>
  <Override PartName="/ppt/media/image23.png" ContentType="image/png"/>
  <Override PartName="/ppt/media/image36.svg" ContentType="image/svg"/>
  <Override PartName="/ppt/media/image12.gif" ContentType="image/gif"/>
  <Override PartName="/ppt/media/image15.png" ContentType="image/png"/>
  <Override PartName="/ppt/media/image8.gif" ContentType="image/gif"/>
  <Override PartName="/ppt/media/image22.png" ContentType="image/png"/>
  <Override PartName="/ppt/media/image7.png" ContentType="image/png"/>
  <Override PartName="/ppt/media/image16.png" ContentType="image/png"/>
  <Override PartName="/ppt/media/image6.gif" ContentType="image/gif"/>
  <Override PartName="/ppt/media/image18.png" ContentType="image/png"/>
  <Override PartName="/ppt/media/image20.png" ContentType="image/png"/>
  <Override PartName="/ppt/media/image35.png" ContentType="image/png"/>
  <Override PartName="/ppt/media/image3.png" ContentType="image/png"/>
  <Override PartName="/ppt/media/image2.png" ContentType="image/png"/>
  <Override PartName="/ppt/media/image33.png" ContentType="image/png"/>
  <Override PartName="/ppt/media/image1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D3D4DEA-1227-40C2-A799-5971EF0E0C3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 that we understand the general principle of convolutions, let’s look at addons.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First, we see that the output is smaller than the input (unless the kernel is 1x1); can we try to have an output image that is the same size as the input image?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FB112D-C0E0-4548-91F0-E4607063BB5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Yes! By adding some padding. NB: we can add different type of padding: zeros; specific values; torus; reflection; edges…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also enables us to better capture what is happening near the edges.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NB: this padding technique is not always used, as not much Is happening on the edges, and  we usually want to reduce the size of images.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Now, the images are usually very big, we would like to reduce their dimension,  how can we do that?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7A8B50-D314-4E15-BC42-B35F589E6D4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Striding manages to reduce the dimension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Can we try to produce better kernels?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A06F51-247A-4B2C-9FC7-7F4108593F4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Dilation enables us to have larger kernels without increasing the number of parameters.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NB: this dilation technique is not commonly used.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AA9ABC-D5F1-492D-A474-CDBFCF1384F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Group Convolution enables us to have smaller kernels thus reducing the number of parameters.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NB: this grouping technique is not commonly used, as convolutions have few parameters (compared to dense, for example)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888506-329D-4EA3-8CCE-9922AB02AF3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430C9D-7D99-480E-98D9-1525B2DC67B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5BC755-A237-4969-B8B0-3A7CB41A36D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0A87F6-AF22-4C69-A90F-ED81AB2799B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F06760-5909-42D2-96FC-8098A9E1C77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286745-32A2-4A73-B786-B81196AFAB5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Another technique to reduce the images dimension is to add pooling layers: divide the images to rectangles, and either take the average value, or the maximum.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 that max pooling is much more popular than the average.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 fact, average pooling is a convolution, with a uniform kernel, while max pooling introduces non-linearity.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AA7FEC-FA7A-48E6-AB09-7E0CC2D517D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F8BE32-D3ED-45B6-867C-1A4A976A51E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EEDAEF-5C62-4759-A985-1B4EE9E214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43D35F-29EA-4E6E-81E5-65FB3477AF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F9F723F-C460-4F3A-A5FB-4559BD43B3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41661A5-B061-47E8-B8BB-0BAF03CD65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4327290-06AF-4634-8629-9E473BD64E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2C64CC9-6B28-4E28-9BEE-8C4CA2D83B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89B6C7D-D499-421E-8DF0-ACA679C60C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B949613-AB89-48A9-8689-AF7E763782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EC8B69F-DAD3-4A02-8EFC-6BAC15807F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7E5510-EDE0-4781-8AAC-74F6ED1DFD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447FB88-05B0-4A2A-BB23-31C35F5D17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style</a:t>
            </a:r>
            <a:endParaRPr b="0" lang="fr-FR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7E7645-BD2F-4D66-BF51-831726EA5F23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36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Click to edit the outline text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</a:t>
            </a: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568684-8349-403C-A9D0-023EF93CD0D5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7C37F-1B06-4EE6-81F6-6CA603123FC7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B572EF-2F01-441B-AF19-5BF5B0D45F0D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73B5B0-4FEB-4F2E-B0C3-DC5D0C5D2C4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A8F1F0-ED35-4933-A5DE-9DC033245A9B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B3394A-D2BE-46ED-ACA0-65FD20E867C3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A32366-CB7B-4E02-A0CB-78863F22F73B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66572-FC38-4C2D-8803-76C24A3D39E4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DC1F5C-1E86-4C12-8C6C-485F6A629AA7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66609-7426-4E9E-BAAA-175CE95EB2E3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towardsdatascience.com/a-comprehensive-guide-to-convolutional-neural-networks-the-eli5-way-3bd2b1164a53" TargetMode="External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gif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hyperlink" Target="https://github.com/vdumoulin/conv_arithmetic/blob/master/README.md" TargetMode="Externa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gif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gif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8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8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8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svg"/><Relationship Id="rId3" Type="http://schemas.openxmlformats.org/officeDocument/2006/relationships/slideLayout" Target="../slideLayouts/slideLayout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svg"/><Relationship Id="rId3" Type="http://schemas.openxmlformats.org/officeDocument/2006/relationships/image" Target="../media/image37.png"/><Relationship Id="rId4" Type="http://schemas.openxmlformats.org/officeDocument/2006/relationships/image" Target="../media/image38.svg"/><Relationship Id="rId5" Type="http://schemas.openxmlformats.org/officeDocument/2006/relationships/slideLayout" Target="../slideLayouts/slideLayout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Session 9</a:t>
            </a:r>
            <a:br>
              <a:rPr sz="6000"/>
            </a:b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Dense vs Convolutional Neural Networks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Advanced Data Science · NYU Paris · 2026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Paul Dubois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Week 9 — Lecture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Convolutional layer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8" name="Content Placeholder 6" descr="Diagram, engineering drawing&#10;&#10;Description automatically generated"/>
          <p:cNvPicPr/>
          <p:nvPr/>
        </p:nvPicPr>
        <p:blipFill>
          <a:blip r:embed="rId1"/>
          <a:stretch/>
        </p:blipFill>
        <p:spPr>
          <a:xfrm>
            <a:off x="838080" y="2228040"/>
            <a:ext cx="10515240" cy="3546360"/>
          </a:xfrm>
          <a:prstGeom prst="rect">
            <a:avLst/>
          </a:prstGeom>
          <a:ln w="0">
            <a:noFill/>
          </a:ln>
        </p:spPr>
      </p:pic>
      <p:sp>
        <p:nvSpPr>
          <p:cNvPr id="89" name="TextBox 7"/>
          <p:cNvSpPr/>
          <p:nvPr/>
        </p:nvSpPr>
        <p:spPr>
          <a:xfrm>
            <a:off x="69120" y="6211800"/>
            <a:ext cx="1137636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Image credit for this section: “</a:t>
            </a: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A Comprehensive Guide to Convolutional Neural Networks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“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 u="sng">
                <a:solidFill>
                  <a:schemeClr val="dk1"/>
                </a:solidFill>
                <a:uFillTx/>
                <a:latin typeface="Calibri"/>
                <a:hlinkClick r:id="rId2"/>
              </a:rPr>
              <a:t>https://towardsdatascience.com/a-comprehensive-guide-to-convolutional-neural-networks-the-eli5-way-3bd2b1164a53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What is wrong with dense layers?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1" name="Content Placeholder 4" descr="Diagram&#10;&#10;Description automatically generated"/>
          <p:cNvPicPr/>
          <p:nvPr/>
        </p:nvPicPr>
        <p:blipFill>
          <a:blip r:embed="rId1"/>
          <a:stretch/>
        </p:blipFill>
        <p:spPr>
          <a:xfrm>
            <a:off x="129240" y="1825560"/>
            <a:ext cx="5268240" cy="435096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6" descr="Diagram&#10;&#10;Description automatically generated"/>
          <p:cNvPicPr/>
          <p:nvPr/>
        </p:nvPicPr>
        <p:blipFill>
          <a:blip r:embed="rId2"/>
          <a:stretch/>
        </p:blipFill>
        <p:spPr>
          <a:xfrm>
            <a:off x="5730480" y="1825560"/>
            <a:ext cx="5982840" cy="4350960"/>
          </a:xfrm>
          <a:prstGeom prst="rect">
            <a:avLst/>
          </a:prstGeom>
          <a:ln w="0">
            <a:noFill/>
          </a:ln>
        </p:spPr>
      </p:pic>
      <p:cxnSp>
        <p:nvCxnSpPr>
          <p:cNvPr id="93" name="Straight Connector 8"/>
          <p:cNvCxnSpPr/>
          <p:nvPr/>
        </p:nvCxnSpPr>
        <p:spPr>
          <a:xfrm>
            <a:off x="5397840" y="1533960"/>
            <a:ext cx="360" cy="5050080"/>
          </a:xfrm>
          <a:prstGeom prst="straightConnector1">
            <a:avLst/>
          </a:prstGeom>
          <a:ln w="57150"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Where is Wally?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5" name="Picture 3" descr="A large group of people&#10;&#10;Description automatically generated"/>
          <p:cNvPicPr/>
          <p:nvPr/>
        </p:nvPicPr>
        <p:blipFill>
          <a:blip r:embed="rId1"/>
          <a:stretch/>
        </p:blipFill>
        <p:spPr>
          <a:xfrm>
            <a:off x="3512520" y="1690560"/>
            <a:ext cx="5167080" cy="516708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5" descr="Cartoon of a person walking with a cane&#10;&#10;Description automatically generated"/>
          <p:cNvPicPr/>
          <p:nvPr/>
        </p:nvPicPr>
        <p:blipFill>
          <a:blip r:embed="rId2"/>
          <a:stretch/>
        </p:blipFill>
        <p:spPr>
          <a:xfrm>
            <a:off x="3525480" y="1657080"/>
            <a:ext cx="1550880" cy="350064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8" descr="Cartoon of a person walking with a cane&#10;&#10;Description automatically generated"/>
          <p:cNvPicPr/>
          <p:nvPr/>
        </p:nvPicPr>
        <p:blipFill>
          <a:blip r:embed="rId3"/>
          <a:stretch/>
        </p:blipFill>
        <p:spPr>
          <a:xfrm>
            <a:off x="3525480" y="2645280"/>
            <a:ext cx="1550880" cy="350064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9" descr="Cartoon of a person walking with a cane&#10;&#10;Description automatically generated"/>
          <p:cNvPicPr/>
          <p:nvPr/>
        </p:nvPicPr>
        <p:blipFill>
          <a:blip r:embed="rId4"/>
          <a:stretch/>
        </p:blipFill>
        <p:spPr>
          <a:xfrm>
            <a:off x="3525480" y="3633480"/>
            <a:ext cx="1550880" cy="3500640"/>
          </a:xfrm>
          <a:prstGeom prst="rect">
            <a:avLst/>
          </a:prstGeom>
          <a:ln w="0">
            <a:noFill/>
          </a:ln>
        </p:spPr>
      </p:pic>
      <p:sp>
        <p:nvSpPr>
          <p:cNvPr id="99" name="TextBox 10"/>
          <p:cNvSpPr/>
          <p:nvPr/>
        </p:nvSpPr>
        <p:spPr>
          <a:xfrm rot="20164200">
            <a:off x="7913880" y="4416480"/>
            <a:ext cx="1788840" cy="759960"/>
          </a:xfrm>
          <a:prstGeom prst="rect">
            <a:avLst/>
          </a:prstGeom>
          <a:solidFill>
            <a:schemeClr val="bg1">
              <a:alpha val="75000"/>
            </a:schemeClr>
          </a:solidFill>
          <a:ln w="0">
            <a:noFill/>
          </a:ln>
          <a:effectLst>
            <a:softEdge rad="63360"/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400" spc="-1" strike="noStrike">
                <a:solidFill>
                  <a:srgbClr val="00b050"/>
                </a:solidFill>
                <a:latin typeface="Calibri"/>
              </a:rPr>
              <a:t>Found!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006 7.40741E-007 L 0.2931 0.00324 E">
                                      <p:cBhvr>
                                        <p:cTn id="1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nodeType="after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006 -2.22222E-006 L 0.2931 0.00324 E">
                                      <p:cBhvr>
                                        <p:cTn id="2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nodeType="after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nodeType="after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006 -3.7037E-006 L 0.24805 0.00024 E">
                                      <p:cBhvr>
                                        <p:cTn id="3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What is a convolution?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1" name="Content Placeholder 4" descr="A picture containing shape&#10;&#10;Description automatically generated"/>
          <p:cNvPicPr/>
          <p:nvPr/>
        </p:nvPicPr>
        <p:blipFill>
          <a:blip r:embed="rId1"/>
          <a:stretch/>
        </p:blipFill>
        <p:spPr>
          <a:xfrm>
            <a:off x="3749760" y="1509840"/>
            <a:ext cx="6825600" cy="49827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2" name="Table 7"/>
          <p:cNvGraphicFramePr/>
          <p:nvPr/>
        </p:nvGraphicFramePr>
        <p:xfrm>
          <a:off x="1911960" y="2761560"/>
          <a:ext cx="1784160" cy="1860840"/>
        </p:xfrm>
        <a:graphic>
          <a:graphicData uri="http://schemas.openxmlformats.org/drawingml/2006/table">
            <a:tbl>
              <a:tblPr/>
              <a:tblGrid>
                <a:gridCol w="594720"/>
                <a:gridCol w="594720"/>
                <a:gridCol w="594720"/>
              </a:tblGrid>
              <a:tr h="620280"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620280"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620280"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52640" rIns="152640" tIns="76320" bIns="763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3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3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52640" marR="1526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7"/>
          <p:cNvSpPr/>
          <p:nvPr/>
        </p:nvSpPr>
        <p:spPr>
          <a:xfrm>
            <a:off x="2179800" y="4876920"/>
            <a:ext cx="124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24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1" i="1" lang="en-US" sz="2400" spc="-1" strike="noStrike">
                <a:solidFill>
                  <a:schemeClr val="dk1"/>
                </a:solidFill>
                <a:latin typeface="Calibri"/>
              </a:rPr>
              <a:t>Kernel”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What if image is RGB?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5" name="Content Placeholder 4" descr="Diagram&#10;&#10;Description automatically generated"/>
          <p:cNvPicPr/>
          <p:nvPr/>
        </p:nvPicPr>
        <p:blipFill>
          <a:blip r:embed="rId1"/>
          <a:stretch/>
        </p:blipFill>
        <p:spPr>
          <a:xfrm>
            <a:off x="154800" y="1825560"/>
            <a:ext cx="3063600" cy="435096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6" descr="A picture containing calendar&#10;&#10;Description automatically generated"/>
          <p:cNvPicPr/>
          <p:nvPr/>
        </p:nvPicPr>
        <p:blipFill>
          <a:blip r:embed="rId2"/>
          <a:stretch/>
        </p:blipFill>
        <p:spPr>
          <a:xfrm>
            <a:off x="4099320" y="1690560"/>
            <a:ext cx="7984800" cy="4485960"/>
          </a:xfrm>
          <a:prstGeom prst="rect">
            <a:avLst/>
          </a:prstGeom>
          <a:ln w="0">
            <a:noFill/>
          </a:ln>
        </p:spPr>
      </p:pic>
      <p:cxnSp>
        <p:nvCxnSpPr>
          <p:cNvPr id="107" name="Straight Connector 7"/>
          <p:cNvCxnSpPr/>
          <p:nvPr/>
        </p:nvCxnSpPr>
        <p:spPr>
          <a:xfrm>
            <a:off x="3660480" y="1533960"/>
            <a:ext cx="360" cy="5050080"/>
          </a:xfrm>
          <a:prstGeom prst="straightConnector1">
            <a:avLst/>
          </a:prstGeom>
          <a:ln w="57150"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Plain Convolution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9" name="Picture 3" descr="A picture containing businesscard&#10;&#10;Description automatically generated"/>
          <p:cNvPicPr/>
          <p:nvPr/>
        </p:nvPicPr>
        <p:blipFill>
          <a:blip r:embed="rId1"/>
          <a:stretch/>
        </p:blipFill>
        <p:spPr>
          <a:xfrm>
            <a:off x="4122720" y="1996920"/>
            <a:ext cx="3946680" cy="4189320"/>
          </a:xfrm>
          <a:prstGeom prst="rect">
            <a:avLst/>
          </a:prstGeom>
          <a:ln w="0">
            <a:noFill/>
          </a:ln>
        </p:spPr>
      </p:pic>
      <p:sp>
        <p:nvSpPr>
          <p:cNvPr id="110" name="TextBox 4"/>
          <p:cNvSpPr/>
          <p:nvPr/>
        </p:nvSpPr>
        <p:spPr>
          <a:xfrm>
            <a:off x="875520" y="6492960"/>
            <a:ext cx="104241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Animations credits for this section: </a:t>
            </a:r>
            <a:r>
              <a:rPr b="0" lang="en-US" sz="1800" spc="-1" strike="noStrike" u="sng">
                <a:solidFill>
                  <a:schemeClr val="dk1"/>
                </a:solidFill>
                <a:uFillTx/>
                <a:latin typeface="Calibri"/>
                <a:hlinkClick r:id="rId2"/>
              </a:rPr>
              <a:t>https://github.com/vdumoulin/conv_arithmetic/blob/master/README.md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Padding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2" name="Content Placeholder 11" descr="Shape&#10;&#10;Description automatically generated"/>
          <p:cNvPicPr/>
          <p:nvPr/>
        </p:nvPicPr>
        <p:blipFill>
          <a:blip r:embed="rId1"/>
          <a:stretch/>
        </p:blipFill>
        <p:spPr>
          <a:xfrm>
            <a:off x="4309200" y="1690560"/>
            <a:ext cx="4224240" cy="4801680"/>
          </a:xfrm>
          <a:prstGeom prst="rect">
            <a:avLst/>
          </a:prstGeom>
          <a:ln w="0">
            <a:noFill/>
          </a:ln>
        </p:spPr>
      </p:pic>
      <p:cxnSp>
        <p:nvCxnSpPr>
          <p:cNvPr id="113" name="Straight Arrow Connector 14"/>
          <p:cNvCxnSpPr/>
          <p:nvPr/>
        </p:nvCxnSpPr>
        <p:spPr>
          <a:xfrm>
            <a:off x="4308840" y="3455640"/>
            <a:ext cx="1136880" cy="1028160"/>
          </a:xfrm>
          <a:prstGeom prst="straightConnector1">
            <a:avLst/>
          </a:prstGeom>
          <a:ln w="57150">
            <a:solidFill>
              <a:srgbClr val="7030a0"/>
            </a:solidFill>
            <a:tailEnd len="med" type="triangle" w="med"/>
          </a:ln>
        </p:spPr>
      </p:cxnSp>
      <p:sp>
        <p:nvSpPr>
          <p:cNvPr id="114" name="TextBox 26"/>
          <p:cNvSpPr/>
          <p:nvPr/>
        </p:nvSpPr>
        <p:spPr>
          <a:xfrm>
            <a:off x="2793240" y="2871000"/>
            <a:ext cx="1823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7030a0"/>
                </a:solidFill>
                <a:latin typeface="Calibri"/>
              </a:rPr>
              <a:t>Padding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Striding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6" name="Content Placeholder 7" descr="A picture containing businesscard&#10;&#10;Description automatically generated"/>
          <p:cNvPicPr/>
          <p:nvPr/>
        </p:nvPicPr>
        <p:blipFill>
          <a:blip r:embed="rId1"/>
          <a:stretch/>
        </p:blipFill>
        <p:spPr>
          <a:xfrm>
            <a:off x="3820680" y="2035800"/>
            <a:ext cx="4550040" cy="4456800"/>
          </a:xfrm>
          <a:prstGeom prst="rect">
            <a:avLst/>
          </a:prstGeom>
          <a:ln w="0">
            <a:noFill/>
          </a:ln>
        </p:spPr>
      </p:pic>
      <p:cxnSp>
        <p:nvCxnSpPr>
          <p:cNvPr id="117" name="Straight Arrow Connector 18"/>
          <p:cNvCxnSpPr/>
          <p:nvPr/>
        </p:nvCxnSpPr>
        <p:spPr>
          <a:xfrm flipV="1">
            <a:off x="5310720" y="4336560"/>
            <a:ext cx="914760" cy="440280"/>
          </a:xfrm>
          <a:prstGeom prst="straightConnector1">
            <a:avLst/>
          </a:prstGeom>
          <a:ln w="57150">
            <a:solidFill>
              <a:srgbClr val="c00000"/>
            </a:solidFill>
            <a:tailEnd len="med" type="triangle" w="med"/>
          </a:ln>
        </p:spPr>
      </p:cxnSp>
      <p:cxnSp>
        <p:nvCxnSpPr>
          <p:cNvPr id="118" name="Straight Arrow Connector 25"/>
          <p:cNvCxnSpPr/>
          <p:nvPr/>
        </p:nvCxnSpPr>
        <p:spPr>
          <a:xfrm>
            <a:off x="5368680" y="4844880"/>
            <a:ext cx="533160" cy="475200"/>
          </a:xfrm>
          <a:prstGeom prst="straightConnector1">
            <a:avLst/>
          </a:prstGeom>
          <a:ln w="57150">
            <a:solidFill>
              <a:srgbClr val="c00000"/>
            </a:solidFill>
            <a:tailEnd len="med" type="triangle" w="med"/>
          </a:ln>
        </p:spPr>
      </p:cxnSp>
      <p:sp>
        <p:nvSpPr>
          <p:cNvPr id="119" name="TextBox 27"/>
          <p:cNvSpPr/>
          <p:nvPr/>
        </p:nvSpPr>
        <p:spPr>
          <a:xfrm>
            <a:off x="2265480" y="4264200"/>
            <a:ext cx="1623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c00000"/>
                </a:solidFill>
                <a:latin typeface="Calibri"/>
              </a:rPr>
              <a:t>Striding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0" name="Straight Arrow Connector 28"/>
          <p:cNvCxnSpPr/>
          <p:nvPr/>
        </p:nvCxnSpPr>
        <p:spPr>
          <a:xfrm flipV="1">
            <a:off x="5936040" y="4879800"/>
            <a:ext cx="914760" cy="440280"/>
          </a:xfrm>
          <a:prstGeom prst="straightConnector1">
            <a:avLst/>
          </a:prstGeom>
          <a:ln w="57150">
            <a:solidFill>
              <a:srgbClr val="c00000"/>
            </a:solidFill>
            <a:tailEnd len="med" type="triangle" w="med"/>
          </a:ln>
        </p:spPr>
      </p:cxnSp>
      <p:cxnSp>
        <p:nvCxnSpPr>
          <p:cNvPr id="121" name="Straight Arrow Connector 30"/>
          <p:cNvCxnSpPr/>
          <p:nvPr/>
        </p:nvCxnSpPr>
        <p:spPr>
          <a:xfrm>
            <a:off x="6317640" y="4370040"/>
            <a:ext cx="533160" cy="475200"/>
          </a:xfrm>
          <a:prstGeom prst="straightConnector1">
            <a:avLst/>
          </a:prstGeom>
          <a:ln w="57150">
            <a:solidFill>
              <a:srgbClr val="c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Dilation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3" name="Picture 3" descr="A picture containing businesscard, envelope&#10;&#10;Description automatically generated"/>
          <p:cNvPicPr/>
          <p:nvPr/>
        </p:nvPicPr>
        <p:blipFill>
          <a:blip r:embed="rId1"/>
          <a:stretch/>
        </p:blipFill>
        <p:spPr>
          <a:xfrm>
            <a:off x="3567240" y="1614600"/>
            <a:ext cx="5057280" cy="48780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24" name="Table 7"/>
          <p:cNvGraphicFramePr/>
          <p:nvPr/>
        </p:nvGraphicFramePr>
        <p:xfrm>
          <a:off x="1043640" y="1777680"/>
          <a:ext cx="1212840" cy="1265040"/>
        </p:xfrm>
        <a:graphic>
          <a:graphicData uri="http://schemas.openxmlformats.org/drawingml/2006/table">
            <a:tbl>
              <a:tblPr/>
              <a:tblGrid>
                <a:gridCol w="404280"/>
                <a:gridCol w="404280"/>
                <a:gridCol w="404280"/>
              </a:tblGrid>
              <a:tr h="421560"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421560"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421560"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lIns="103680" rIns="103680" tIns="51840" bIns="5184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3680" marR="103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Table 14"/>
          <p:cNvGraphicFramePr/>
          <p:nvPr/>
        </p:nvGraphicFramePr>
        <p:xfrm>
          <a:off x="559800" y="4381560"/>
          <a:ext cx="2180880" cy="2111040"/>
        </p:xfrm>
        <a:graphic>
          <a:graphicData uri="http://schemas.openxmlformats.org/drawingml/2006/table">
            <a:tbl>
              <a:tblPr/>
              <a:tblGrid>
                <a:gridCol w="435960"/>
                <a:gridCol w="435960"/>
                <a:gridCol w="435960"/>
                <a:gridCol w="435960"/>
                <a:gridCol w="435960"/>
              </a:tblGrid>
              <a:tr h="42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421920"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42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421920"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4219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26" name="TextBox 14"/>
          <p:cNvSpPr/>
          <p:nvPr/>
        </p:nvSpPr>
        <p:spPr>
          <a:xfrm>
            <a:off x="2399760" y="3420000"/>
            <a:ext cx="1508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c000"/>
                </a:solidFill>
                <a:latin typeface="Calibri"/>
              </a:rPr>
              <a:t>Dilation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Freeform: Shape 15"/>
          <p:cNvSpPr/>
          <p:nvPr/>
        </p:nvSpPr>
        <p:spPr>
          <a:xfrm>
            <a:off x="2016360" y="3093120"/>
            <a:ext cx="372240" cy="1238040"/>
          </a:xfrm>
          <a:custGeom>
            <a:avLst/>
            <a:gdLst>
              <a:gd name="textAreaLeft" fmla="*/ 0 w 372240"/>
              <a:gd name="textAreaRight" fmla="*/ 372600 w 372240"/>
              <a:gd name="textAreaTop" fmla="*/ 0 h 1238040"/>
              <a:gd name="textAreaBottom" fmla="*/ 1238400 h 1238040"/>
            </a:gdLst>
            <a:ahLst/>
            <a:rect l="textAreaLeft" t="textAreaTop" r="textAreaRight" b="textAreaBottom"/>
            <a:pathLst>
              <a:path w="372645" h="1238491">
                <a:moveTo>
                  <a:pt x="0" y="0"/>
                </a:moveTo>
                <a:cubicBezTo>
                  <a:pt x="174585" y="174585"/>
                  <a:pt x="349170" y="349170"/>
                  <a:pt x="370390" y="555585"/>
                </a:cubicBezTo>
                <a:cubicBezTo>
                  <a:pt x="391610" y="762000"/>
                  <a:pt x="259466" y="1000245"/>
                  <a:pt x="127322" y="1238491"/>
                </a:cubicBezTo>
              </a:path>
            </a:pathLst>
          </a:custGeom>
          <a:noFill/>
          <a:ln w="57150">
            <a:solidFill>
              <a:srgbClr val="ffc000"/>
            </a:solidFill>
            <a:tailEnd len="med" type="arrow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Group convolution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9" name="Content Placeholder 4" descr="Diagram&#10;&#10;Description automatically generated"/>
          <p:cNvPicPr/>
          <p:nvPr/>
        </p:nvPicPr>
        <p:blipFill>
          <a:blip r:embed="rId1"/>
          <a:stretch/>
        </p:blipFill>
        <p:spPr>
          <a:xfrm>
            <a:off x="1522800" y="1848240"/>
            <a:ext cx="9145800" cy="430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Convolution output formula: plain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5032080"/>
          </a:xfrm>
          <a:prstGeom prst="rect">
            <a:avLst/>
          </a:prstGeom>
          <a:blipFill rotWithShape="0">
            <a:blip r:embed="rId1"/>
            <a:stretch>
              <a:fillRect l="-1" t="-1695" r="-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Convolution output formula: padding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5032080"/>
          </a:xfrm>
          <a:prstGeom prst="rect">
            <a:avLst/>
          </a:prstGeom>
          <a:blipFill rotWithShape="0">
            <a:blip r:embed="rId1"/>
            <a:stretch>
              <a:fillRect l="-1" t="-1695" r="-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Convolution output formula: striding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5032080"/>
          </a:xfrm>
          <a:prstGeom prst="rect">
            <a:avLst/>
          </a:prstGeom>
          <a:blipFill rotWithShape="0">
            <a:blip r:embed="rId1"/>
            <a:stretch>
              <a:fillRect l="-1" t="-2668" r="-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Convolution output formula: dilation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325520"/>
            <a:ext cx="10515240" cy="5532120"/>
          </a:xfrm>
          <a:prstGeom prst="rect">
            <a:avLst/>
          </a:prstGeom>
          <a:blipFill rotWithShape="0">
            <a:blip r:embed="rId1"/>
            <a:stretch>
              <a:fillRect l="-1" t="-1874" r="-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Convolution output formula: bias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325520"/>
            <a:ext cx="10515240" cy="5532120"/>
          </a:xfrm>
          <a:prstGeom prst="rect">
            <a:avLst/>
          </a:prstGeom>
          <a:blipFill rotWithShape="0">
            <a:blip r:embed="rId1"/>
            <a:stretch>
              <a:fillRect l="-1" t="-1874" r="-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Pooling layer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1" name="Content Placeholder 10" descr=""/>
          <p:cNvPicPr/>
          <p:nvPr/>
        </p:nvPicPr>
        <p:blipFill>
          <a:blip r:embed="rId1"/>
          <a:stretch/>
        </p:blipFill>
        <p:spPr>
          <a:xfrm>
            <a:off x="2024280" y="2234160"/>
            <a:ext cx="3591000" cy="3533760"/>
          </a:xfrm>
          <a:prstGeom prst="rect">
            <a:avLst/>
          </a:prstGeom>
          <a:ln w="0">
            <a:noFill/>
          </a:ln>
        </p:spPr>
      </p:pic>
      <p:grpSp>
        <p:nvGrpSpPr>
          <p:cNvPr id="142" name="Group 21"/>
          <p:cNvGrpSpPr/>
          <p:nvPr/>
        </p:nvGrpSpPr>
        <p:grpSpPr>
          <a:xfrm>
            <a:off x="5615640" y="1690560"/>
            <a:ext cx="6160680" cy="2017800"/>
            <a:chOff x="5615640" y="1690560"/>
            <a:chExt cx="6160680" cy="2017800"/>
          </a:xfrm>
        </p:grpSpPr>
        <p:pic>
          <p:nvPicPr>
            <p:cNvPr id="143" name="Picture 12" descr=""/>
            <p:cNvPicPr/>
            <p:nvPr/>
          </p:nvPicPr>
          <p:blipFill>
            <a:blip r:embed="rId2"/>
            <a:stretch/>
          </p:blipFill>
          <p:spPr>
            <a:xfrm>
              <a:off x="7139520" y="1690560"/>
              <a:ext cx="1895400" cy="1847880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144" name="Straight Arrow Connector 16"/>
            <p:cNvCxnSpPr>
              <a:endCxn id="143" idx="1"/>
            </p:cNvCxnSpPr>
            <p:nvPr/>
          </p:nvCxnSpPr>
          <p:spPr>
            <a:xfrm flipV="1">
              <a:off x="5615640" y="2614320"/>
              <a:ext cx="1524240" cy="1094400"/>
            </a:xfrm>
            <a:prstGeom prst="straightConnector1">
              <a:avLst/>
            </a:prstGeom>
            <a:ln w="76200">
              <a:solidFill>
                <a:srgbClr val="000000">
                  <a:lumMod val="50000"/>
                  <a:lumOff val="50000"/>
                </a:srgbClr>
              </a:solidFill>
              <a:tailEnd len="med" type="arrow" w="med"/>
            </a:ln>
          </p:spPr>
        </p:cxnSp>
        <p:sp>
          <p:nvSpPr>
            <p:cNvPr id="145" name="TextBox 19"/>
            <p:cNvSpPr/>
            <p:nvPr/>
          </p:nvSpPr>
          <p:spPr>
            <a:xfrm>
              <a:off x="9222480" y="2352960"/>
              <a:ext cx="255384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Calibri"/>
                </a:rPr>
                <a:t>Average pooling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" name="Group 22"/>
          <p:cNvGrpSpPr/>
          <p:nvPr/>
        </p:nvGrpSpPr>
        <p:grpSpPr>
          <a:xfrm>
            <a:off x="5615640" y="4328280"/>
            <a:ext cx="5615280" cy="2012040"/>
            <a:chOff x="5615640" y="4328280"/>
            <a:chExt cx="5615280" cy="2012040"/>
          </a:xfrm>
        </p:grpSpPr>
        <p:pic>
          <p:nvPicPr>
            <p:cNvPr id="147" name="Picture 14" descr=""/>
            <p:cNvPicPr/>
            <p:nvPr/>
          </p:nvPicPr>
          <p:blipFill>
            <a:blip r:embed="rId3"/>
            <a:stretch/>
          </p:blipFill>
          <p:spPr>
            <a:xfrm>
              <a:off x="7139520" y="4483800"/>
              <a:ext cx="1895400" cy="1856520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148" name="Straight Arrow Connector 17"/>
            <p:cNvCxnSpPr/>
            <p:nvPr/>
          </p:nvCxnSpPr>
          <p:spPr>
            <a:xfrm>
              <a:off x="5615640" y="4328280"/>
              <a:ext cx="1523880" cy="1094040"/>
            </a:xfrm>
            <a:prstGeom prst="straightConnector1">
              <a:avLst/>
            </a:prstGeom>
            <a:ln w="76200">
              <a:solidFill>
                <a:srgbClr val="000000">
                  <a:lumMod val="50000"/>
                  <a:lumOff val="50000"/>
                </a:srgbClr>
              </a:solidFill>
              <a:tailEnd len="med" type="arrow" w="med"/>
            </a:ln>
          </p:spPr>
        </p:cxnSp>
        <p:sp>
          <p:nvSpPr>
            <p:cNvPr id="149" name="TextBox 20"/>
            <p:cNvSpPr/>
            <p:nvPr/>
          </p:nvSpPr>
          <p:spPr>
            <a:xfrm>
              <a:off x="9219600" y="5150520"/>
              <a:ext cx="201132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Calibri"/>
                </a:rPr>
                <a:t>Max pooling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" dur="indefinite" restart="never" nodeType="tmRoot">
          <p:childTnLst>
            <p:seq>
              <p:cTn id="71" dur="indefinite" nodeType="mainSeq">
                <p:childTnLst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Max pooling output formula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325520"/>
            <a:ext cx="10515240" cy="5532120"/>
          </a:xfrm>
          <a:prstGeom prst="rect">
            <a:avLst/>
          </a:prstGeom>
          <a:blipFill rotWithShape="0">
            <a:blip r:embed="rId1"/>
            <a:stretch>
              <a:fillRect l="-1" t="-2537" r="-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" dur="indefinite" restart="never" nodeType="tmRoot">
          <p:childTnLst>
            <p:seq>
              <p:cTn id="83" dur="indefinite" nodeType="mainSeq">
                <p:childTnLst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" dur="500"/>
                                        <p:tgtEl>
                                          <p:spTgt spid="1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500"/>
                                        <p:tgtEl>
                                          <p:spTgt spid="1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Comparison with dense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3" name="Picture 8" descr=""/>
          <p:cNvPicPr/>
          <p:nvPr/>
        </p:nvPicPr>
        <p:blipFill>
          <a:blip r:embed="rId1"/>
          <a:stretch/>
        </p:blipFill>
        <p:spPr>
          <a:xfrm>
            <a:off x="5000400" y="1845720"/>
            <a:ext cx="2190960" cy="2298240"/>
          </a:xfrm>
          <a:prstGeom prst="rect">
            <a:avLst/>
          </a:prstGeom>
          <a:ln w="0">
            <a:noFill/>
          </a:ln>
        </p:spPr>
      </p:pic>
      <p:pic>
        <p:nvPicPr>
          <p:cNvPr id="154" name="Picture 10" descr=""/>
          <p:cNvPicPr/>
          <p:nvPr/>
        </p:nvPicPr>
        <p:blipFill>
          <a:blip r:embed="rId2"/>
          <a:stretch/>
        </p:blipFill>
        <p:spPr>
          <a:xfrm>
            <a:off x="247320" y="4299840"/>
            <a:ext cx="11697120" cy="1461960"/>
          </a:xfrm>
          <a:prstGeom prst="rect">
            <a:avLst/>
          </a:prstGeom>
          <a:ln w="0">
            <a:noFill/>
          </a:ln>
        </p:spPr>
      </p:pic>
      <p:sp>
        <p:nvSpPr>
          <p:cNvPr id="155" name="TextBox 11"/>
          <p:cNvSpPr/>
          <p:nvPr/>
        </p:nvSpPr>
        <p:spPr>
          <a:xfrm>
            <a:off x="7848720" y="2035080"/>
            <a:ext cx="1967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accent1"/>
                </a:solidFill>
                <a:latin typeface="Calibri"/>
              </a:rPr>
              <a:t>Convolution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Freeform: Shape 13"/>
          <p:cNvSpPr/>
          <p:nvPr/>
        </p:nvSpPr>
        <p:spPr>
          <a:xfrm>
            <a:off x="5833800" y="1902960"/>
            <a:ext cx="2071440" cy="342360"/>
          </a:xfrm>
          <a:custGeom>
            <a:avLst/>
            <a:gdLst>
              <a:gd name="textAreaLeft" fmla="*/ 0 w 2071440"/>
              <a:gd name="textAreaRight" fmla="*/ 2071800 w 2071440"/>
              <a:gd name="textAreaTop" fmla="*/ 0 h 342360"/>
              <a:gd name="textAreaBottom" fmla="*/ 342720 h 342360"/>
            </a:gdLst>
            <a:ahLst/>
            <a:rect l="textAreaLeft" t="textAreaTop" r="textAreaRight" b="textAreaBottom"/>
            <a:pathLst>
              <a:path w="2071868" h="342588">
                <a:moveTo>
                  <a:pt x="2071868" y="342588"/>
                </a:moveTo>
                <a:cubicBezTo>
                  <a:pt x="1822047" y="212372"/>
                  <a:pt x="1572227" y="82157"/>
                  <a:pt x="1226916" y="30071"/>
                </a:cubicBezTo>
                <a:cubicBezTo>
                  <a:pt x="881605" y="-22015"/>
                  <a:pt x="440802" y="4028"/>
                  <a:pt x="0" y="30071"/>
                </a:cubicBezTo>
              </a:path>
            </a:pathLst>
          </a:custGeom>
          <a:noFill/>
          <a:ln w="57150">
            <a:solidFill>
              <a:srgbClr val="325490"/>
            </a:solidFill>
            <a:tailEnd len="med" type="arrow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Freeform: Shape 14"/>
          <p:cNvSpPr/>
          <p:nvPr/>
        </p:nvSpPr>
        <p:spPr>
          <a:xfrm flipV="1" rot="5400000">
            <a:off x="6693840" y="5491440"/>
            <a:ext cx="995040" cy="419760"/>
          </a:xfrm>
          <a:custGeom>
            <a:avLst/>
            <a:gdLst>
              <a:gd name="textAreaLeft" fmla="*/ 0 w 995040"/>
              <a:gd name="textAreaRight" fmla="*/ 995400 w 995040"/>
              <a:gd name="textAreaTop" fmla="*/ 360 h 419760"/>
              <a:gd name="textAreaBottom" fmla="*/ 420480 h 419760"/>
            </a:gdLst>
            <a:ahLst/>
            <a:rect l="textAreaLeft" t="textAreaTop" r="textAreaRight" b="textAreaBottom"/>
            <a:pathLst>
              <a:path w="2071868" h="342588">
                <a:moveTo>
                  <a:pt x="2071868" y="342588"/>
                </a:moveTo>
                <a:cubicBezTo>
                  <a:pt x="1822047" y="212372"/>
                  <a:pt x="1572227" y="82157"/>
                  <a:pt x="1226916" y="30071"/>
                </a:cubicBezTo>
                <a:cubicBezTo>
                  <a:pt x="881605" y="-22015"/>
                  <a:pt x="440802" y="4028"/>
                  <a:pt x="0" y="30071"/>
                </a:cubicBezTo>
              </a:path>
            </a:pathLst>
          </a:custGeom>
          <a:noFill/>
          <a:ln w="57150">
            <a:solidFill>
              <a:srgbClr val="325490"/>
            </a:solidFill>
            <a:tailEnd len="med" type="arrow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7418520" y="5969520"/>
            <a:ext cx="2735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accent1"/>
                </a:solidFill>
                <a:latin typeface="Calibri"/>
              </a:rPr>
              <a:t>Dense equivalent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9" name="Straight Connector 17"/>
          <p:cNvCxnSpPr/>
          <p:nvPr/>
        </p:nvCxnSpPr>
        <p:spPr>
          <a:xfrm>
            <a:off x="351000" y="4254120"/>
            <a:ext cx="11490120" cy="360"/>
          </a:xfrm>
          <a:prstGeom prst="straightConnector1">
            <a:avLst/>
          </a:prstGeom>
          <a:ln w="57150">
            <a:solidFill>
              <a:srgbClr val="ffffff">
                <a:lumMod val="50000"/>
              </a:srgbClr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SoftMax Layer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61" name="Table 5"/>
          <p:cNvGraphicFramePr/>
          <p:nvPr/>
        </p:nvGraphicFramePr>
        <p:xfrm>
          <a:off x="1365120" y="1690560"/>
          <a:ext cx="752760" cy="4604400"/>
        </p:xfrm>
        <a:graphic>
          <a:graphicData uri="http://schemas.openxmlformats.org/drawingml/2006/table">
            <a:tbl>
              <a:tblPr/>
              <a:tblGrid>
                <a:gridCol w="75312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0.5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9.8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1.7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" name="Table 5"/>
          <p:cNvGraphicFramePr/>
          <p:nvPr/>
        </p:nvGraphicFramePr>
        <p:xfrm>
          <a:off x="5342760" y="1690560"/>
          <a:ext cx="1601640" cy="4604400"/>
        </p:xfrm>
        <a:graphic>
          <a:graphicData uri="http://schemas.openxmlformats.org/drawingml/2006/table">
            <a:tbl>
              <a:tblPr/>
              <a:tblGrid>
                <a:gridCol w="160200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0.09345794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0.02336449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0.14953271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0.45794393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0.07943925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0.19626168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cxnSp>
        <p:nvCxnSpPr>
          <p:cNvPr id="163" name="Straight Arrow Connector 7"/>
          <p:cNvCxnSpPr>
            <a:stCxn id="161" idx="3"/>
            <a:endCxn id="162" idx="1"/>
          </p:cNvCxnSpPr>
          <p:nvPr/>
        </p:nvCxnSpPr>
        <p:spPr>
          <a:xfrm>
            <a:off x="2117880" y="3991680"/>
            <a:ext cx="3225240" cy="360"/>
          </a:xfrm>
          <a:prstGeom prst="straightConnector1">
            <a:avLst/>
          </a:prstGeom>
          <a:ln w="76200">
            <a:solidFill>
              <a:srgbClr val="4472c4"/>
            </a:solidFill>
            <a:tailEnd len="med" type="arrow" w="med"/>
          </a:ln>
        </p:spPr>
      </p:cxnSp>
      <p:sp>
        <p:nvSpPr>
          <p:cNvPr id="164" name="TextBox 12"/>
          <p:cNvSpPr/>
          <p:nvPr/>
        </p:nvSpPr>
        <p:spPr>
          <a:xfrm>
            <a:off x="2347920" y="3013560"/>
            <a:ext cx="2764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Normalize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(divide by the norm)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4" dur="indefinite" restart="never" nodeType="tmRoot">
          <p:childTnLst>
            <p:seq>
              <p:cTn id="125" dur="indefinite" nodeType="mainSeq">
                <p:childTnLst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SoftMax Layer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66" name="Table 5"/>
          <p:cNvGraphicFramePr/>
          <p:nvPr/>
        </p:nvGraphicFramePr>
        <p:xfrm>
          <a:off x="1365120" y="1690560"/>
          <a:ext cx="752760" cy="4604400"/>
        </p:xfrm>
        <a:graphic>
          <a:graphicData uri="http://schemas.openxmlformats.org/drawingml/2006/table">
            <a:tbl>
              <a:tblPr/>
              <a:tblGrid>
                <a:gridCol w="75312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0.5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9.8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1.7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Table 5"/>
          <p:cNvGraphicFramePr/>
          <p:nvPr/>
        </p:nvGraphicFramePr>
        <p:xfrm>
          <a:off x="5342760" y="1690560"/>
          <a:ext cx="1601640" cy="4604400"/>
        </p:xfrm>
        <a:graphic>
          <a:graphicData uri="http://schemas.openxmlformats.org/drawingml/2006/table">
            <a:tbl>
              <a:tblPr/>
              <a:tblGrid>
                <a:gridCol w="160200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-0.11494253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0.02873563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0.18390805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0.56321839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0.09770115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0.24137931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cxnSp>
        <p:nvCxnSpPr>
          <p:cNvPr id="168" name="Straight Arrow Connector 7"/>
          <p:cNvCxnSpPr>
            <a:stCxn id="166" idx="3"/>
            <a:endCxn id="167" idx="1"/>
          </p:cNvCxnSpPr>
          <p:nvPr/>
        </p:nvCxnSpPr>
        <p:spPr>
          <a:xfrm>
            <a:off x="2117880" y="3991680"/>
            <a:ext cx="3225240" cy="360"/>
          </a:xfrm>
          <a:prstGeom prst="straightConnector1">
            <a:avLst/>
          </a:prstGeom>
          <a:ln w="76200">
            <a:solidFill>
              <a:srgbClr val="4472c4"/>
            </a:solidFill>
            <a:tailEnd len="med" type="arrow" w="med"/>
          </a:ln>
        </p:spPr>
      </p:cxnSp>
      <p:sp>
        <p:nvSpPr>
          <p:cNvPr id="169" name="TextBox 12"/>
          <p:cNvSpPr/>
          <p:nvPr/>
        </p:nvSpPr>
        <p:spPr>
          <a:xfrm>
            <a:off x="2347920" y="3013560"/>
            <a:ext cx="2764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Normalize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(divide by the norm)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Oval 2"/>
          <p:cNvSpPr/>
          <p:nvPr/>
        </p:nvSpPr>
        <p:spPr>
          <a:xfrm>
            <a:off x="5458680" y="1805760"/>
            <a:ext cx="1393200" cy="55512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9" dur="indefinite" restart="never" nodeType="tmRoot">
          <p:childTnLst>
            <p:seq>
              <p:cTn id="140" dur="indefinite" nodeType="mainSeq">
                <p:childTnLst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SoftMax Layer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72" name="Table 5"/>
          <p:cNvGraphicFramePr/>
          <p:nvPr/>
        </p:nvGraphicFramePr>
        <p:xfrm>
          <a:off x="838080" y="1690560"/>
          <a:ext cx="752760" cy="4604400"/>
        </p:xfrm>
        <a:graphic>
          <a:graphicData uri="http://schemas.openxmlformats.org/drawingml/2006/table">
            <a:tbl>
              <a:tblPr/>
              <a:tblGrid>
                <a:gridCol w="75312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0.5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9.8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1.7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Table 5"/>
          <p:cNvGraphicFramePr/>
          <p:nvPr/>
        </p:nvGraphicFramePr>
        <p:xfrm>
          <a:off x="4358160" y="1690560"/>
          <a:ext cx="2150280" cy="4604400"/>
        </p:xfrm>
        <a:graphic>
          <a:graphicData uri="http://schemas.openxmlformats.org/drawingml/2006/table">
            <a:tbl>
              <a:tblPr/>
              <a:tblGrid>
                <a:gridCol w="215064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0.135335283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1.64872127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24.5325302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18033.7449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5.47394739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66.6863310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cxnSp>
        <p:nvCxnSpPr>
          <p:cNvPr id="174" name="Straight Arrow Connector 7"/>
          <p:cNvCxnSpPr>
            <a:stCxn id="172" idx="3"/>
            <a:endCxn id="173" idx="1"/>
          </p:cNvCxnSpPr>
          <p:nvPr/>
        </p:nvCxnSpPr>
        <p:spPr>
          <a:xfrm>
            <a:off x="1590840" y="3991680"/>
            <a:ext cx="2767680" cy="360"/>
          </a:xfrm>
          <a:prstGeom prst="straightConnector1">
            <a:avLst/>
          </a:prstGeom>
          <a:ln w="76200">
            <a:solidFill>
              <a:srgbClr val="ff0000"/>
            </a:solidFill>
            <a:tailEnd len="med" type="arrow" w="med"/>
          </a:ln>
        </p:spPr>
      </p:cxnSp>
      <p:sp>
        <p:nvSpPr>
          <p:cNvPr id="175" name="TextBox 12"/>
          <p:cNvSpPr/>
          <p:nvPr/>
        </p:nvSpPr>
        <p:spPr>
          <a:xfrm>
            <a:off x="1816560" y="3429000"/>
            <a:ext cx="2316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ff0000"/>
                </a:solidFill>
                <a:latin typeface="Calibri"/>
              </a:rPr>
              <a:t>Take Exponential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6" name="Table 3"/>
          <p:cNvGraphicFramePr/>
          <p:nvPr/>
        </p:nvGraphicFramePr>
        <p:xfrm>
          <a:off x="9243360" y="1690560"/>
          <a:ext cx="2109960" cy="4604400"/>
        </p:xfrm>
        <a:graphic>
          <a:graphicData uri="http://schemas.openxmlformats.org/drawingml/2006/table">
            <a:tbl>
              <a:tblPr/>
              <a:tblGrid>
                <a:gridCol w="211032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0.0000746380034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0.0000909277026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0.00135297982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0.994568958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0.000301890604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0.00367778046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cxnSp>
        <p:nvCxnSpPr>
          <p:cNvPr id="177" name="Straight Arrow Connector 8"/>
          <p:cNvCxnSpPr>
            <a:stCxn id="173" idx="3"/>
            <a:endCxn id="176" idx="1"/>
          </p:cNvCxnSpPr>
          <p:nvPr/>
        </p:nvCxnSpPr>
        <p:spPr>
          <a:xfrm>
            <a:off x="6508440" y="3991680"/>
            <a:ext cx="2735280" cy="360"/>
          </a:xfrm>
          <a:prstGeom prst="straightConnector1">
            <a:avLst/>
          </a:prstGeom>
          <a:ln w="76200">
            <a:solidFill>
              <a:srgbClr val="4472c4"/>
            </a:solidFill>
            <a:tailEnd len="med" type="arrow" w="med"/>
          </a:ln>
        </p:spPr>
      </p:cxnSp>
      <p:sp>
        <p:nvSpPr>
          <p:cNvPr id="178" name="TextBox 9"/>
          <p:cNvSpPr/>
          <p:nvPr/>
        </p:nvSpPr>
        <p:spPr>
          <a:xfrm>
            <a:off x="7140600" y="3429000"/>
            <a:ext cx="1470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Normalize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8" dur="indefinite" restart="never" nodeType="tmRoot">
          <p:childTnLst>
            <p:seq>
              <p:cTn id="159" dur="indefinite" nodeType="mainSeq">
                <p:childTnLst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SoftMax Layer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80" name="Table 5"/>
          <p:cNvGraphicFramePr/>
          <p:nvPr/>
        </p:nvGraphicFramePr>
        <p:xfrm>
          <a:off x="1365120" y="1690560"/>
          <a:ext cx="752760" cy="4604400"/>
        </p:xfrm>
        <a:graphic>
          <a:graphicData uri="http://schemas.openxmlformats.org/drawingml/2006/table">
            <a:tbl>
              <a:tblPr/>
              <a:tblGrid>
                <a:gridCol w="75312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0.5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9.8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1.7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4.2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Table 5"/>
          <p:cNvGraphicFramePr/>
          <p:nvPr/>
        </p:nvGraphicFramePr>
        <p:xfrm>
          <a:off x="9225000" y="1599120"/>
          <a:ext cx="1601640" cy="4604400"/>
        </p:xfrm>
        <a:graphic>
          <a:graphicData uri="http://schemas.openxmlformats.org/drawingml/2006/table">
            <a:tbl>
              <a:tblPr/>
              <a:tblGrid>
                <a:gridCol w="1602000"/>
              </a:tblGrid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-0.11494253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0.02873563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0.18390805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0.56321839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0.09770115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767160">
                <a:tc>
                  <a:txBody>
                    <a:bodyPr lIns="189000" rIns="189000" tIns="94320" bIns="943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0.24137931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89000" marR="189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  <p:cxnSp>
        <p:nvCxnSpPr>
          <p:cNvPr id="182" name="Straight Arrow Connector 7"/>
          <p:cNvCxnSpPr>
            <a:stCxn id="180" idx="3"/>
            <a:endCxn id="181" idx="1"/>
          </p:cNvCxnSpPr>
          <p:nvPr/>
        </p:nvCxnSpPr>
        <p:spPr>
          <a:xfrm flipV="1">
            <a:off x="2117880" y="3900240"/>
            <a:ext cx="7107480" cy="91800"/>
          </a:xfrm>
          <a:prstGeom prst="straightConnector1">
            <a:avLst/>
          </a:prstGeom>
          <a:ln w="76200">
            <a:solidFill>
              <a:srgbClr val="7030a0"/>
            </a:solidFill>
            <a:tailEnd len="med" type="arrow" w="med"/>
          </a:ln>
        </p:spPr>
      </p:cxnSp>
      <p:sp>
        <p:nvSpPr>
          <p:cNvPr id="183" name="TextBox 12"/>
          <p:cNvSpPr/>
          <p:nvPr/>
        </p:nvSpPr>
        <p:spPr>
          <a:xfrm>
            <a:off x="4076640" y="2595960"/>
            <a:ext cx="31896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Take SoftMax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(take exponential, then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divide by the norm)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3924000" y="4098240"/>
            <a:ext cx="2892240" cy="11188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Normalization: why?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6" name="Picture 2" descr="norm_why"/>
          <p:cNvPicPr/>
          <p:nvPr/>
        </p:nvPicPr>
        <p:blipFill>
          <a:blip r:embed="rId1"/>
          <a:stretch/>
        </p:blipFill>
        <p:spPr>
          <a:xfrm>
            <a:off x="609840" y="1690560"/>
            <a:ext cx="10972080" cy="50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Normalization inside the network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8" name="Picture 2" descr="covariate_shift"/>
          <p:cNvPicPr/>
          <p:nvPr/>
        </p:nvPicPr>
        <p:blipFill>
          <a:blip r:embed="rId1"/>
          <a:stretch/>
        </p:blipFill>
        <p:spPr>
          <a:xfrm>
            <a:off x="609840" y="1690560"/>
            <a:ext cx="10972080" cy="50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Batch Normalization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0" name="Picture 2" descr="bn_equations"/>
          <p:cNvPicPr/>
          <p:nvPr/>
        </p:nvPicPr>
        <p:blipFill>
          <a:blip r:embed="rId1"/>
          <a:stretch/>
        </p:blipFill>
        <p:spPr>
          <a:xfrm>
            <a:off x="609840" y="1690560"/>
            <a:ext cx="10972080" cy="50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Batch Normalization: example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2" name="Picture 2" descr="bn_example"/>
          <p:cNvPicPr/>
          <p:nvPr/>
        </p:nvPicPr>
        <p:blipFill>
          <a:blip r:embed="rId1"/>
          <a:stretch/>
        </p:blipFill>
        <p:spPr>
          <a:xfrm>
            <a:off x="609840" y="1690560"/>
            <a:ext cx="10972080" cy="50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Batch Normalization: train vs eval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4" name="Picture 2" descr="bn_train_eval"/>
          <p:cNvPicPr/>
          <p:nvPr/>
        </p:nvPicPr>
        <p:blipFill>
          <a:blip r:embed="rId1"/>
          <a:stretch/>
        </p:blipFill>
        <p:spPr>
          <a:xfrm>
            <a:off x="609840" y="1690560"/>
            <a:ext cx="10972080" cy="50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Batch Normalization in PyTorch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48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class SkinConvNet(nn.Module):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def __init__(self, hidden_size=64):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super().__init__()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self.conv1 = nn.Conv2d(3, 8, 5, stride=2)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self.bn1 = nn.BatchNorm2d(8)  # per channel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b728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6b7280"/>
                </a:solidFill>
                <a:latin typeface="Courier New"/>
              </a:rPr>
              <a:t>...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self.fc1 = nn.Linear(14 * 14 * 32, hidden_size)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self.bn_fc1 = nn.BatchNorm1d(hidden_size)  # one per neuron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def forward(self, x):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x = self.relu(self.bn1(self.conv1(x)))  # conv -&gt; BN -&gt; ReLU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b728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6b7280"/>
                </a:solidFill>
                <a:latin typeface="Courier New"/>
              </a:rPr>
              <a:t>...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x = self.relu(self.bn_fc1(self.fc1(x)))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model.train()  # before training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b1b1b"/>
                </a:solidFill>
                <a:latin typeface="Courier New"/>
              </a:rPr>
              <a:t>model.eval()   # before testing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Batch Normalization: pros &amp; cons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1769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Why it helps: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Faster training: larger learning rates, fewer epochs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Less sensitive to the weight initialization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Slight regularization: the batch statistics add noise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Limits: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Needs large enough batches (≥ 16-32), otherwise the statistics are noisy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Behaves differently in train and eval: do not forget model.eval()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Not suited to sequences (RNNs, Transformers): use Layer Norm instead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Where: Linear / Conv → BatchNorm → ReLU (the bias of the layer before is then useless: bias=False)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Batch Normalization: results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0" name="Picture 2" descr="bn_results"/>
          <p:cNvPicPr/>
          <p:nvPr/>
        </p:nvPicPr>
        <p:blipFill>
          <a:blip r:embed="rId1"/>
          <a:stretch/>
        </p:blipFill>
        <p:spPr>
          <a:xfrm>
            <a:off x="609840" y="1690560"/>
            <a:ext cx="10972080" cy="50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Other normalizations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2" name="Picture 2" descr="norm_axes"/>
          <p:cNvPicPr/>
          <p:nvPr/>
        </p:nvPicPr>
        <p:blipFill>
          <a:blip r:embed="rId1"/>
          <a:stretch/>
        </p:blipFill>
        <p:spPr>
          <a:xfrm>
            <a:off x="609840" y="1690560"/>
            <a:ext cx="10972080" cy="50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094040" y="851400"/>
            <a:ext cx="5238000" cy="299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Data</a:t>
            </a:r>
            <a:endParaRPr b="0" lang="fr-FR" sz="6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4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806240" y="2129400"/>
            <a:ext cx="2667600" cy="321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Data Augmentation: Images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503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Flip horizontal / vertical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Rotate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Rescale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Crop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Dilate/shrink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white noise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salt/pepper noise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white/black boxes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+ anything that you can think of!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Data Augmentation: Audio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white noise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Shifting tone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Vary speed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Filter frequencies (drop/add low/high frequencies)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Data Augmentation: Text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Synonym substitute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Random insertion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Imbalanced Data: Definition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Binary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3" name="Content Placeholder 1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39880" y="2798280"/>
            <a:ext cx="5157360" cy="3098160"/>
          </a:xfrm>
          <a:prstGeom prst="rect">
            <a:avLst/>
          </a:prstGeom>
          <a:ln w="0">
            <a:noFill/>
          </a:ln>
        </p:spPr>
      </p:pic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Non-Binary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5" name="Content Placeholder 1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72200" y="2789640"/>
            <a:ext cx="5182920" cy="311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Imbalanced Data: Compensation Techniques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Data-level: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Over sampling / Under sampling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Synthetic data generation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Algorithm-level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Cost-sensitive learning / Class weight adjustment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1174</Words>
  <Paragraphs>254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2024-01-21T17:44:30Z</dcterms:created>
  <dc:creator>Romain Lhotte</dc:creator>
  <dc:description/>
  <dc:language>en-US</dc:language>
  <cp:lastModifiedBy/>
  <dcterms:modified xsi:type="dcterms:W3CDTF">2026-10-21T10:39:49Z</dcterms:modified>
  <cp:revision>5</cp:revision>
  <dc:subject/>
  <dc:title>Layers Types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  <property fmtid="{D5CDD505-2E9C-101B-9397-08002B2CF9AE}" pid="4" name="MSIP_Label_df116e0e-72df-4d64-8d95-ec79a49a5ebe_ActionId">
    <vt:lpwstr>632a8ed9-cd96-4268-8f2d-3d092ef99e83</vt:lpwstr>
  </property>
  <property fmtid="{D5CDD505-2E9C-101B-9397-08002B2CF9AE}" pid="5" name="MSIP_Label_df116e0e-72df-4d64-8d95-ec79a49a5ebe_ContentBits">
    <vt:lpwstr>2</vt:lpwstr>
  </property>
  <property fmtid="{D5CDD505-2E9C-101B-9397-08002B2CF9AE}" pid="6" name="MSIP_Label_df116e0e-72df-4d64-8d95-ec79a49a5ebe_Enabled">
    <vt:lpwstr>true</vt:lpwstr>
  </property>
  <property fmtid="{D5CDD505-2E9C-101B-9397-08002B2CF9AE}" pid="7" name="MSIP_Label_df116e0e-72df-4d64-8d95-ec79a49a5ebe_Method">
    <vt:lpwstr>Standard</vt:lpwstr>
  </property>
  <property fmtid="{D5CDD505-2E9C-101B-9397-08002B2CF9AE}" pid="8" name="MSIP_Label_df116e0e-72df-4d64-8d95-ec79a49a5ebe_Name">
    <vt:lpwstr>Internal</vt:lpwstr>
  </property>
  <property fmtid="{D5CDD505-2E9C-101B-9397-08002B2CF9AE}" pid="9" name="MSIP_Label_df116e0e-72df-4d64-8d95-ec79a49a5ebe_SetDate">
    <vt:lpwstr>2025-01-10T18:11:09Z</vt:lpwstr>
  </property>
  <property fmtid="{D5CDD505-2E9C-101B-9397-08002B2CF9AE}" pid="10" name="MSIP_Label_df116e0e-72df-4d64-8d95-ec79a49a5ebe_SiteId">
    <vt:lpwstr>efa39904-64bd-4449-9e11-a0567cf564b6</vt:lpwstr>
  </property>
  <property fmtid="{D5CDD505-2E9C-101B-9397-08002B2CF9AE}" pid="11" name="Notes">
    <vt:i4>13</vt:i4>
  </property>
  <property fmtid="{D5CDD505-2E9C-101B-9397-08002B2CF9AE}" pid="12" name="PresentationFormat">
    <vt:lpwstr>Widescreen</vt:lpwstr>
  </property>
  <property fmtid="{D5CDD505-2E9C-101B-9397-08002B2CF9AE}" pid="13" name="Slides">
    <vt:i4>34</vt:i4>
  </property>
</Properties>
</file>